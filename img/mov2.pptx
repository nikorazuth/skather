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346" r:id="rId3"/>
    <p:sldId id="268" r:id="rId4"/>
    <p:sldId id="271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260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21" autoAdjust="0"/>
    <p:restoredTop sz="94626"/>
  </p:normalViewPr>
  <p:slideViewPr>
    <p:cSldViewPr snapToGrid="0">
      <p:cViewPr varScale="1">
        <p:scale>
          <a:sx n="64" d="100"/>
          <a:sy n="64" d="100"/>
        </p:scale>
        <p:origin x="2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038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996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30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965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7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930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482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921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71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414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20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7908B-2511-324D-860A-77FE7488EF5B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4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Documents%20and%20Settings\Tippens\My%20Documents\PowerPoint%20Files\Mechanics\Projectile-H.avi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3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.jpg"/><Relationship Id="rId7" Type="http://schemas.openxmlformats.org/officeDocument/2006/relationships/image" Target="../media/image5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2.jpg"/><Relationship Id="rId7" Type="http://schemas.openxmlformats.org/officeDocument/2006/relationships/image" Target="../media/image9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7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audio" Target="../media/audio4.wav"/><Relationship Id="rId7" Type="http://schemas.openxmlformats.org/officeDocument/2006/relationships/oleObject" Target="../embeddings/oleObject9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.jp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2.jpg"/><Relationship Id="rId7" Type="http://schemas.openxmlformats.org/officeDocument/2006/relationships/oleObject" Target="../embeddings/oleObject11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audio" Target="../media/audio1.wav"/><Relationship Id="rId7" Type="http://schemas.openxmlformats.org/officeDocument/2006/relationships/image" Target="../media/image16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.jpg"/><Relationship Id="rId4" Type="http://schemas.openxmlformats.org/officeDocument/2006/relationships/audio" Target="../media/audio4.wav"/><Relationship Id="rId9" Type="http://schemas.openxmlformats.org/officeDocument/2006/relationships/image" Target="../media/image1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1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0.wmf"/><Relationship Id="rId4" Type="http://schemas.openxmlformats.org/officeDocument/2006/relationships/image" Target="../media/image2.jpg"/><Relationship Id="rId9" Type="http://schemas.openxmlformats.org/officeDocument/2006/relationships/oleObject" Target="../embeddings/oleObject1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.jpg"/><Relationship Id="rId7" Type="http://schemas.openxmlformats.org/officeDocument/2006/relationships/image" Target="../media/image19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21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22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0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9.wmf"/><Relationship Id="rId4" Type="http://schemas.openxmlformats.org/officeDocument/2006/relationships/image" Target="../media/image2.jpg"/><Relationship Id="rId9" Type="http://schemas.openxmlformats.org/officeDocument/2006/relationships/oleObject" Target="../embeddings/oleObject2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32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2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5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4.wmf"/><Relationship Id="rId4" Type="http://schemas.openxmlformats.org/officeDocument/2006/relationships/image" Target="../media/image2.jpg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2.jpg"/><Relationship Id="rId7" Type="http://schemas.openxmlformats.org/officeDocument/2006/relationships/image" Target="../media/image38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42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41.wmf"/><Relationship Id="rId4" Type="http://schemas.openxmlformats.org/officeDocument/2006/relationships/image" Target="../media/image2.jpg"/><Relationship Id="rId9" Type="http://schemas.openxmlformats.org/officeDocument/2006/relationships/oleObject" Target="../embeddings/oleObject3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audio" Target="../media/audio3.wav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2.jpg"/><Relationship Id="rId7" Type="http://schemas.openxmlformats.org/officeDocument/2006/relationships/image" Target="../media/image44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2.jpg"/><Relationship Id="rId7" Type="http://schemas.openxmlformats.org/officeDocument/2006/relationships/image" Target="../media/image48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7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50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50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51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2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53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54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58.wmf"/><Relationship Id="rId4" Type="http://schemas.openxmlformats.org/officeDocument/2006/relationships/image" Target="../media/image2.jpg"/><Relationship Id="rId9" Type="http://schemas.openxmlformats.org/officeDocument/2006/relationships/oleObject" Target="../embeddings/oleObject5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58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2.jp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60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2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62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2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audio" Target="../media/audio4.wav"/><Relationship Id="rId7" Type="http://schemas.openxmlformats.org/officeDocument/2006/relationships/image" Target="../media/image66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2.jpg"/><Relationship Id="rId4" Type="http://schemas.openxmlformats.org/officeDocument/2006/relationships/audio" Target="../media/audio1.wav"/><Relationship Id="rId9" Type="http://schemas.openxmlformats.org/officeDocument/2006/relationships/image" Target="../media/image6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audio" Target="../media/audio4.wav"/><Relationship Id="rId7" Type="http://schemas.openxmlformats.org/officeDocument/2006/relationships/oleObject" Target="../embeddings/oleObject65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2.jpg"/><Relationship Id="rId10" Type="http://schemas.openxmlformats.org/officeDocument/2006/relationships/image" Target="../media/image69.wmf"/><Relationship Id="rId4" Type="http://schemas.openxmlformats.org/officeDocument/2006/relationships/audio" Target="../media/audio1.wav"/><Relationship Id="rId9" Type="http://schemas.openxmlformats.org/officeDocument/2006/relationships/oleObject" Target="../embeddings/oleObject66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2.jpg"/><Relationship Id="rId4" Type="http://schemas.openxmlformats.org/officeDocument/2006/relationships/audio" Target="../media/audio4.wav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CC1-4FD3-2994-9787-67BD00F7A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1815" y="1122363"/>
            <a:ext cx="5820033" cy="2387600"/>
          </a:xfrm>
        </p:spPr>
        <p:txBody>
          <a:bodyPr/>
          <a:lstStyle/>
          <a:p>
            <a:b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srgbClr val="130F24"/>
                </a:solidFill>
                <a:effectLst/>
                <a:uLnTx/>
                <a:uFillTx/>
                <a:latin typeface="Helvetica" pitchFamily="2" charset="0"/>
                <a:ea typeface="+mj-ea"/>
                <a:cs typeface="+mj-cs"/>
              </a:rPr>
            </a:b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srgbClr val="130F24"/>
                </a:solidFill>
                <a:effectLst/>
                <a:uLnTx/>
                <a:uFillTx/>
                <a:latin typeface="Helvetica" pitchFamily="2" charset="0"/>
                <a:ea typeface="+mj-ea"/>
                <a:cs typeface="+mj-cs"/>
              </a:rPr>
              <a:t>Luis Enrique Mealla Sánchez</a:t>
            </a:r>
            <a:b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srgbClr val="130F24"/>
                </a:solidFill>
                <a:effectLst/>
                <a:uLnTx/>
                <a:uFillTx/>
                <a:latin typeface="Helvetica" pitchFamily="2" charset="0"/>
                <a:ea typeface="+mj-ea"/>
                <a:cs typeface="+mj-cs"/>
              </a:rPr>
            </a:b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srgbClr val="130F24"/>
                </a:solidFill>
                <a:effectLst/>
                <a:uLnTx/>
                <a:uFillTx/>
                <a:latin typeface="Helvetica" pitchFamily="2" charset="0"/>
                <a:ea typeface="+mj-ea"/>
                <a:cs typeface="+mj-cs"/>
              </a:rPr>
              <a:t>enero – mayo 2026</a:t>
            </a:r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3EAEB7-1BBB-A97B-2137-1F4BF9829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1814" y="3744096"/>
            <a:ext cx="5820033" cy="1513703"/>
          </a:xfrm>
        </p:spPr>
        <p:txBody>
          <a:bodyPr/>
          <a:lstStyle/>
          <a:p>
            <a:r>
              <a:rPr lang="es-MX" altLang="es-CO" sz="2400" dirty="0"/>
              <a:t>Movimiento de proyectiles</a:t>
            </a:r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1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FB992-3EA4-9DAA-9EA9-92771530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E37B327-7AA5-43CC-BA47-AEB22E7D5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" y="18171"/>
            <a:ext cx="10079502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800" dirty="0"/>
              <a:t>Objetivos: Después de completar este módulo, deberá: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ADBBAA3E-9A43-4E88-9D6E-C4CD31B0D6A5}"/>
              </a:ext>
            </a:extLst>
          </p:cNvPr>
          <p:cNvGrpSpPr>
            <a:grpSpLocks/>
          </p:cNvGrpSpPr>
          <p:nvPr/>
        </p:nvGrpSpPr>
        <p:grpSpPr bwMode="auto">
          <a:xfrm>
            <a:off x="450165" y="1808871"/>
            <a:ext cx="11408899" cy="2876729"/>
            <a:chOff x="576" y="1104"/>
            <a:chExt cx="4752" cy="2880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9060AA5A-D11F-43ED-A443-5ECCB0B01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104"/>
              <a:ext cx="4752" cy="2880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46F8888-A0B3-4D15-BD09-3EAF3A7A5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200"/>
              <a:ext cx="4704" cy="8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7663" indent="-347663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61963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60000"/>
                </a:spcBef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r>
                <a:rPr lang="es-MX" altLang="es-CO" i="0" dirty="0">
                  <a:latin typeface="+mn-lt"/>
                </a:rPr>
                <a:t>Describir el movimiento de un proyectil al tratar los componentes horizontal y vertical de su posición y velocidad.</a:t>
              </a:r>
            </a:p>
          </p:txBody>
        </p:sp>
      </p:grpSp>
      <p:sp>
        <p:nvSpPr>
          <p:cNvPr id="6" name="Rectangle 14">
            <a:extLst>
              <a:ext uri="{FF2B5EF4-FFF2-40B4-BE49-F238E27FC236}">
                <a16:creationId xmlns:a16="http://schemas.microsoft.com/office/drawing/2014/main" id="{7D9ABD70-2074-4397-930A-CA42D5E71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05" y="2895635"/>
            <a:ext cx="1117642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7663" indent="-34766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1963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Clr>
                <a:schemeClr val="tx1"/>
              </a:buClr>
              <a:buSzPts val="2800"/>
              <a:buFont typeface="Tahoma" panose="020B0604030504040204" pitchFamily="34" charset="0"/>
              <a:buChar char="•"/>
            </a:pPr>
            <a:r>
              <a:rPr kumimoji="0" lang="es-MX" altLang="es-CO" i="0" dirty="0">
                <a:latin typeface="+mn-lt"/>
              </a:rPr>
              <a:t>Resolver para posición, velocidad o tiempo cuando se dan velocidad inicial y ángulo de lanzamiento.</a:t>
            </a:r>
          </a:p>
          <a:p>
            <a:pPr algn="just"/>
            <a:endParaRPr kumimoji="0" lang="es-MX" altLang="es-CO" i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981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BC37464-526B-41C6-ADC2-C5229F617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0300" y="18222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Movimiento de proyectiles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A88DF60C-F00E-4B9F-ABCB-63F2A85F3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92" y="1332914"/>
            <a:ext cx="112400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kumimoji="0" lang="es-MX" altLang="es-CO" sz="2400" i="0" dirty="0"/>
              <a:t>Un proyectil es una partícula que se mueve cerca de la superficie de la Tierra sólo bajo la influencia de su peso (dirigido hacia abajo).</a:t>
            </a:r>
          </a:p>
        </p:txBody>
      </p:sp>
      <p:grpSp>
        <p:nvGrpSpPr>
          <p:cNvPr id="4" name="Group 30">
            <a:extLst>
              <a:ext uri="{FF2B5EF4-FFF2-40B4-BE49-F238E27FC236}">
                <a16:creationId xmlns:a16="http://schemas.microsoft.com/office/drawing/2014/main" id="{720620FF-7125-421A-B7A0-7E30F6CE0A99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4142936"/>
            <a:ext cx="1295400" cy="1195388"/>
            <a:chOff x="1104" y="2160"/>
            <a:chExt cx="816" cy="753"/>
          </a:xfrm>
        </p:grpSpPr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3DBC9959-6DDC-4C8E-85F9-A256D93CF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160"/>
              <a:ext cx="81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i="0"/>
                <a:t>a = g</a:t>
              </a:r>
            </a:p>
          </p:txBody>
        </p:sp>
        <p:sp>
          <p:nvSpPr>
            <p:cNvPr id="6" name="AutoShape 29">
              <a:extLst>
                <a:ext uri="{FF2B5EF4-FFF2-40B4-BE49-F238E27FC236}">
                  <a16:creationId xmlns:a16="http://schemas.microsoft.com/office/drawing/2014/main" id="{15262BE8-842D-4D0F-8BD4-FBB3C9FB0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2507"/>
              <a:ext cx="134" cy="406"/>
            </a:xfrm>
            <a:prstGeom prst="downArrow">
              <a:avLst>
                <a:gd name="adj1" fmla="val 50000"/>
                <a:gd name="adj2" fmla="val 75746"/>
              </a:avLst>
            </a:prstGeom>
            <a:solidFill>
              <a:srgbClr val="66FFCC"/>
            </a:solidFill>
            <a:ln w="2857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kumimoji="0" lang="es-MX" altLang="es-CO" i="0"/>
            </a:p>
          </p:txBody>
        </p:sp>
      </p:grpSp>
      <p:grpSp>
        <p:nvGrpSpPr>
          <p:cNvPr id="7" name="Group 37">
            <a:extLst>
              <a:ext uri="{FF2B5EF4-FFF2-40B4-BE49-F238E27FC236}">
                <a16:creationId xmlns:a16="http://schemas.microsoft.com/office/drawing/2014/main" id="{FBAED274-4A26-47E3-B1BA-4E759508F96A}"/>
              </a:ext>
            </a:extLst>
          </p:cNvPr>
          <p:cNvGrpSpPr>
            <a:grpSpLocks/>
          </p:cNvGrpSpPr>
          <p:nvPr/>
        </p:nvGrpSpPr>
        <p:grpSpPr bwMode="auto">
          <a:xfrm>
            <a:off x="2552700" y="3761936"/>
            <a:ext cx="1219200" cy="838200"/>
            <a:chOff x="672" y="2928"/>
            <a:chExt cx="768" cy="528"/>
          </a:xfrm>
        </p:grpSpPr>
        <p:sp>
          <p:nvSpPr>
            <p:cNvPr id="8" name="Oval 27">
              <a:extLst>
                <a:ext uri="{FF2B5EF4-FFF2-40B4-BE49-F238E27FC236}">
                  <a16:creationId xmlns:a16="http://schemas.microsoft.com/office/drawing/2014/main" id="{E34A4C6F-36D9-4782-AED6-824AEDD19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216"/>
              <a:ext cx="240" cy="240"/>
            </a:xfrm>
            <a:prstGeom prst="ellipse">
              <a:avLst/>
            </a:prstGeom>
            <a:solidFill>
              <a:srgbClr val="66FFCC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AutoShape 13">
              <a:extLst>
                <a:ext uri="{FF2B5EF4-FFF2-40B4-BE49-F238E27FC236}">
                  <a16:creationId xmlns:a16="http://schemas.microsoft.com/office/drawing/2014/main" id="{1A316EF3-274B-4D96-A17F-96CAEB42C4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841911">
              <a:off x="888" y="2712"/>
              <a:ext cx="336" cy="768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10" name="Group 38">
            <a:extLst>
              <a:ext uri="{FF2B5EF4-FFF2-40B4-BE49-F238E27FC236}">
                <a16:creationId xmlns:a16="http://schemas.microsoft.com/office/drawing/2014/main" id="{5764D656-2EBA-42D0-96AD-1A6933395843}"/>
              </a:ext>
            </a:extLst>
          </p:cNvPr>
          <p:cNvGrpSpPr>
            <a:grpSpLocks/>
          </p:cNvGrpSpPr>
          <p:nvPr/>
        </p:nvGrpSpPr>
        <p:grpSpPr bwMode="auto">
          <a:xfrm>
            <a:off x="4152900" y="2999936"/>
            <a:ext cx="685800" cy="1311275"/>
            <a:chOff x="1680" y="2448"/>
            <a:chExt cx="432" cy="826"/>
          </a:xfrm>
        </p:grpSpPr>
        <p:sp>
          <p:nvSpPr>
            <p:cNvPr id="11" name="Oval 20">
              <a:extLst>
                <a:ext uri="{FF2B5EF4-FFF2-40B4-BE49-F238E27FC236}">
                  <a16:creationId xmlns:a16="http://schemas.microsoft.com/office/drawing/2014/main" id="{426905DD-157D-477D-9C2C-5EFFEB30D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48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AF442A04-95A4-4156-A4E8-92317E152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569"/>
              <a:ext cx="0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Text Box 24">
              <a:extLst>
                <a:ext uri="{FF2B5EF4-FFF2-40B4-BE49-F238E27FC236}">
                  <a16:creationId xmlns:a16="http://schemas.microsoft.com/office/drawing/2014/main" id="{FAB26399-2C13-458C-B245-F39D3A44D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92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i="0"/>
                <a:t>W</a:t>
              </a:r>
            </a:p>
          </p:txBody>
        </p:sp>
      </p:grpSp>
      <p:grpSp>
        <p:nvGrpSpPr>
          <p:cNvPr id="14" name="Group 39">
            <a:extLst>
              <a:ext uri="{FF2B5EF4-FFF2-40B4-BE49-F238E27FC236}">
                <a16:creationId xmlns:a16="http://schemas.microsoft.com/office/drawing/2014/main" id="{E808DF63-B333-4C39-93D4-F9319BA55F07}"/>
              </a:ext>
            </a:extLst>
          </p:cNvPr>
          <p:cNvGrpSpPr>
            <a:grpSpLocks/>
          </p:cNvGrpSpPr>
          <p:nvPr/>
        </p:nvGrpSpPr>
        <p:grpSpPr bwMode="auto">
          <a:xfrm>
            <a:off x="5753100" y="2695136"/>
            <a:ext cx="685800" cy="1235075"/>
            <a:chOff x="2688" y="2256"/>
            <a:chExt cx="432" cy="778"/>
          </a:xfrm>
        </p:grpSpPr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1D65576F-7B59-4BC0-9BE8-473FEAF16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256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22">
              <a:extLst>
                <a:ext uri="{FF2B5EF4-FFF2-40B4-BE49-F238E27FC236}">
                  <a16:creationId xmlns:a16="http://schemas.microsoft.com/office/drawing/2014/main" id="{38EC23FC-5539-4EB9-9945-F0E14F88E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0" y="2377"/>
              <a:ext cx="0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25">
              <a:extLst>
                <a:ext uri="{FF2B5EF4-FFF2-40B4-BE49-F238E27FC236}">
                  <a16:creationId xmlns:a16="http://schemas.microsoft.com/office/drawing/2014/main" id="{0F367F3B-F913-4A44-81F1-1E0606F61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68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i="0"/>
                <a:t>W</a:t>
              </a:r>
            </a:p>
          </p:txBody>
        </p:sp>
      </p:grpSp>
      <p:grpSp>
        <p:nvGrpSpPr>
          <p:cNvPr id="18" name="Group 40">
            <a:extLst>
              <a:ext uri="{FF2B5EF4-FFF2-40B4-BE49-F238E27FC236}">
                <a16:creationId xmlns:a16="http://schemas.microsoft.com/office/drawing/2014/main" id="{DFB476CF-95F0-42C6-A3D6-C725705E1AC8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2999936"/>
            <a:ext cx="685800" cy="1235075"/>
            <a:chOff x="3552" y="2448"/>
            <a:chExt cx="432" cy="778"/>
          </a:xfrm>
        </p:grpSpPr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E7567F26-C2FF-4A5D-B669-A8034C65D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448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255FAD71-C783-4FFC-BB26-7BDDA91BE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" y="2557"/>
              <a:ext cx="0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Text Box 26">
              <a:extLst>
                <a:ext uri="{FF2B5EF4-FFF2-40B4-BE49-F238E27FC236}">
                  <a16:creationId xmlns:a16="http://schemas.microsoft.com/office/drawing/2014/main" id="{C0EB7EE5-3CE4-4F4F-BE77-A80594B90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88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i="0"/>
                <a:t>W</a:t>
              </a:r>
            </a:p>
          </p:txBody>
        </p:sp>
      </p:grpSp>
      <p:sp>
        <p:nvSpPr>
          <p:cNvPr id="22" name="Freeform 35">
            <a:extLst>
              <a:ext uri="{FF2B5EF4-FFF2-40B4-BE49-F238E27FC236}">
                <a16:creationId xmlns:a16="http://schemas.microsoft.com/office/drawing/2014/main" id="{04ABE5D8-BD23-4B71-9435-06FD1D31BE35}"/>
              </a:ext>
            </a:extLst>
          </p:cNvPr>
          <p:cNvSpPr>
            <a:spLocks/>
          </p:cNvSpPr>
          <p:nvPr/>
        </p:nvSpPr>
        <p:spPr bwMode="auto">
          <a:xfrm>
            <a:off x="3695700" y="2771336"/>
            <a:ext cx="4800600" cy="838200"/>
          </a:xfrm>
          <a:custGeom>
            <a:avLst/>
            <a:gdLst>
              <a:gd name="T0" fmla="*/ 0 w 3024"/>
              <a:gd name="T1" fmla="*/ 528 h 528"/>
              <a:gd name="T2" fmla="*/ 528 w 3024"/>
              <a:gd name="T3" fmla="*/ 240 h 528"/>
              <a:gd name="T4" fmla="*/ 1056 w 3024"/>
              <a:gd name="T5" fmla="*/ 48 h 528"/>
              <a:gd name="T6" fmla="*/ 1488 w 3024"/>
              <a:gd name="T7" fmla="*/ 0 h 528"/>
              <a:gd name="T8" fmla="*/ 1920 w 3024"/>
              <a:gd name="T9" fmla="*/ 48 h 528"/>
              <a:gd name="T10" fmla="*/ 2448 w 3024"/>
              <a:gd name="T11" fmla="*/ 240 h 528"/>
              <a:gd name="T12" fmla="*/ 3024 w 3024"/>
              <a:gd name="T13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24" h="528">
                <a:moveTo>
                  <a:pt x="0" y="528"/>
                </a:moveTo>
                <a:cubicBezTo>
                  <a:pt x="176" y="424"/>
                  <a:pt x="352" y="320"/>
                  <a:pt x="528" y="240"/>
                </a:cubicBezTo>
                <a:cubicBezTo>
                  <a:pt x="704" y="160"/>
                  <a:pt x="896" y="88"/>
                  <a:pt x="1056" y="48"/>
                </a:cubicBezTo>
                <a:cubicBezTo>
                  <a:pt x="1216" y="8"/>
                  <a:pt x="1344" y="0"/>
                  <a:pt x="1488" y="0"/>
                </a:cubicBezTo>
                <a:cubicBezTo>
                  <a:pt x="1632" y="0"/>
                  <a:pt x="1760" y="8"/>
                  <a:pt x="1920" y="48"/>
                </a:cubicBezTo>
                <a:cubicBezTo>
                  <a:pt x="2080" y="88"/>
                  <a:pt x="2264" y="160"/>
                  <a:pt x="2448" y="240"/>
                </a:cubicBezTo>
                <a:cubicBezTo>
                  <a:pt x="2632" y="320"/>
                  <a:pt x="2828" y="424"/>
                  <a:pt x="3024" y="52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645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Utopia Maximi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Utopia Maximi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Utopia Maximi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Utopia Maximi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autoUpdateAnimBg="0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EDC5EE6-0452-486A-A1C9-56F94A266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29308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Movimiento vertical y horizontal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441F307-ADB4-4B98-B553-BF8DF3411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858107"/>
            <a:ext cx="1143000" cy="381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5C1F386F-5EAF-4D8A-B3B2-50677810F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781907"/>
            <a:ext cx="2895600" cy="3581400"/>
          </a:xfrm>
          <a:prstGeom prst="rect">
            <a:avLst/>
          </a:prstGeom>
          <a:solidFill>
            <a:schemeClr val="tx2"/>
          </a:solidFill>
          <a:ln w="57150">
            <a:solidFill>
              <a:schemeClr val="accent2"/>
            </a:solidFill>
            <a:miter lim="800000"/>
            <a:headEnd/>
            <a:tailEnd/>
          </a:ln>
          <a:effectLst>
            <a:outerShdw dist="107763" dir="81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51020C92-84B7-4C08-94D7-EC0369502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058507"/>
            <a:ext cx="25146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D29EC521-FFD3-4510-95CF-4E52CE13D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4448907"/>
            <a:ext cx="25146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7" name="Line 11">
            <a:extLst>
              <a:ext uri="{FF2B5EF4-FFF2-40B4-BE49-F238E27FC236}">
                <a16:creationId xmlns:a16="http://schemas.microsoft.com/office/drawing/2014/main" id="{F6B6FB36-A68F-49BF-8D38-FE7208FDA8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3878995"/>
            <a:ext cx="2438400" cy="17462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EE8BB734-3000-45F1-879C-7744553BE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086707"/>
            <a:ext cx="16764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1058ED8F-4477-4E20-936E-FB27A65EC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696307"/>
            <a:ext cx="25146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48286E9B-BCE5-43C1-A6A3-9A0635BEE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305907"/>
            <a:ext cx="25146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11" name="Rectangle 31">
            <a:extLst>
              <a:ext uri="{FF2B5EF4-FFF2-40B4-BE49-F238E27FC236}">
                <a16:creationId xmlns:a16="http://schemas.microsoft.com/office/drawing/2014/main" id="{4DCBDC31-8218-4B26-9B17-6423EA795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858107"/>
            <a:ext cx="762000" cy="381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2" name="Line 32">
            <a:extLst>
              <a:ext uri="{FF2B5EF4-FFF2-40B4-BE49-F238E27FC236}">
                <a16:creationId xmlns:a16="http://schemas.microsoft.com/office/drawing/2014/main" id="{83A4BD59-ACF1-4CCB-96DD-E50FFC21C2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086707"/>
            <a:ext cx="3048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13" name="Oval 33">
            <a:extLst>
              <a:ext uri="{FF2B5EF4-FFF2-40B4-BE49-F238E27FC236}">
                <a16:creationId xmlns:a16="http://schemas.microsoft.com/office/drawing/2014/main" id="{15B0AAAC-D4D0-4398-A311-6684B806E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934307"/>
            <a:ext cx="228600" cy="2286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4" name="Oval 34">
            <a:extLst>
              <a:ext uri="{FF2B5EF4-FFF2-40B4-BE49-F238E27FC236}">
                <a16:creationId xmlns:a16="http://schemas.microsoft.com/office/drawing/2014/main" id="{EEBA83A8-800D-47E6-B3B8-78C77BFF7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934307"/>
            <a:ext cx="228600" cy="228600"/>
          </a:xfrm>
          <a:prstGeom prst="ellipse">
            <a:avLst/>
          </a:prstGeom>
          <a:solidFill>
            <a:srgbClr val="FF0066"/>
          </a:solidFill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5" name="Oval 37">
            <a:extLst>
              <a:ext uri="{FF2B5EF4-FFF2-40B4-BE49-F238E27FC236}">
                <a16:creationId xmlns:a16="http://schemas.microsoft.com/office/drawing/2014/main" id="{B29EDBE8-4C78-46C9-896F-A08AB1FDC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934307"/>
            <a:ext cx="228600" cy="2286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grpSp>
        <p:nvGrpSpPr>
          <p:cNvPr id="16" name="Group 40">
            <a:extLst>
              <a:ext uri="{FF2B5EF4-FFF2-40B4-BE49-F238E27FC236}">
                <a16:creationId xmlns:a16="http://schemas.microsoft.com/office/drawing/2014/main" id="{2A481186-3744-463E-A5D8-4E86A10EE26E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781907"/>
            <a:ext cx="4572000" cy="3581400"/>
            <a:chOff x="2400" y="1200"/>
            <a:chExt cx="2880" cy="2256"/>
          </a:xfrm>
        </p:grpSpPr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60846C70-6680-4A96-81B9-9E444E688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200"/>
              <a:ext cx="2880" cy="2256"/>
            </a:xfrm>
            <a:prstGeom prst="rect">
              <a:avLst/>
            </a:prstGeom>
            <a:solidFill>
              <a:schemeClr val="accent2"/>
            </a:solidFill>
            <a:ln w="57150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id="{42384009-4D24-4DDD-A011-B65946C0B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296"/>
              <a:ext cx="2832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kumimoji="0" lang="es-MX" altLang="es-CO" sz="2400" dirty="0"/>
                <a:t>Simultáneamente suelte la bola amarilla y proyecte la bola roja horizontalmente.</a:t>
              </a:r>
            </a:p>
          </p:txBody>
        </p:sp>
        <p:sp>
          <p:nvSpPr>
            <p:cNvPr id="19" name="Rectangle 39">
              <a:extLst>
                <a:ext uri="{FF2B5EF4-FFF2-40B4-BE49-F238E27FC236}">
                  <a16:creationId xmlns:a16="http://schemas.microsoft.com/office/drawing/2014/main" id="{4E9F8D81-EE10-4E11-876D-DDC3B5191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352"/>
              <a:ext cx="1296" cy="96"/>
            </a:xfrm>
            <a:prstGeom prst="rect">
              <a:avLst/>
            </a:prstGeom>
            <a:solidFill>
              <a:srgbClr val="66FF33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20" name="Text Box 41">
            <a:extLst>
              <a:ext uri="{FF2B5EF4-FFF2-40B4-BE49-F238E27FC236}">
                <a16:creationId xmlns:a16="http://schemas.microsoft.com/office/drawing/2014/main" id="{1D05B4A0-C06F-45F0-9D78-656B17D30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067907"/>
            <a:ext cx="4267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0" lang="es-MX" altLang="es-CO" sz="2400" dirty="0"/>
              <a:t>Dé clic a la derecha para observar el movimiento de cada bola.</a:t>
            </a:r>
          </a:p>
        </p:txBody>
      </p:sp>
      <p:sp>
        <p:nvSpPr>
          <p:cNvPr id="21" name="Line 42">
            <a:extLst>
              <a:ext uri="{FF2B5EF4-FFF2-40B4-BE49-F238E27FC236}">
                <a16:creationId xmlns:a16="http://schemas.microsoft.com/office/drawing/2014/main" id="{105D30F0-88EE-43BF-98EA-224F22B819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315307"/>
            <a:ext cx="0" cy="28194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22" name="Arc 43">
            <a:extLst>
              <a:ext uri="{FF2B5EF4-FFF2-40B4-BE49-F238E27FC236}">
                <a16:creationId xmlns:a16="http://schemas.microsoft.com/office/drawing/2014/main" id="{96831AFC-F205-4EE2-834A-FBCB5B60AE51}"/>
              </a:ext>
            </a:extLst>
          </p:cNvPr>
          <p:cNvSpPr>
            <a:spLocks/>
          </p:cNvSpPr>
          <p:nvPr/>
        </p:nvSpPr>
        <p:spPr bwMode="auto">
          <a:xfrm>
            <a:off x="7696200" y="2010507"/>
            <a:ext cx="1447800" cy="2971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pic>
        <p:nvPicPr>
          <p:cNvPr id="23" name="Projectile-H.avi">
            <a:hlinkClick r:id="" action="ppaction://media"/>
            <a:extLst>
              <a:ext uri="{FF2B5EF4-FFF2-40B4-BE49-F238E27FC236}">
                <a16:creationId xmlns:a16="http://schemas.microsoft.com/office/drawing/2014/main" id="{9BA03C31-DD3B-45E3-9FF2-2EEA439EA580}"/>
              </a:ext>
            </a:extLst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781907"/>
            <a:ext cx="297180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52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>
                <p:cTn id="2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video>
          </p:childTnLst>
        </p:cTn>
      </p:par>
    </p:tnLst>
    <p:bldLst>
      <p:bldP spid="2" grpId="0" build="p" autoUpdateAnimBg="0" advAuto="0"/>
      <p:bldP spid="2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A06C4-C6EB-2CC4-EC71-2A2D6DD4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">
            <a:extLst>
              <a:ext uri="{FF2B5EF4-FFF2-40B4-BE49-F238E27FC236}">
                <a16:creationId xmlns:a16="http://schemas.microsoft.com/office/drawing/2014/main" id="{6ED17DEC-9869-458C-BE44-D7E7AC982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886" y="1321826"/>
            <a:ext cx="5002213" cy="358140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accent1"/>
            </a:solidFill>
            <a:miter lim="800000"/>
            <a:headEnd/>
            <a:tailEnd/>
          </a:ln>
          <a:effectLst>
            <a:outerShdw dist="107763" dir="81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530D58-4DF0-45A1-A6D7-39208A918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8314" y="1758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Movimiento vertical y horizontal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F015334-EC65-4295-85D4-BD288F5F1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6086" y="1474226"/>
            <a:ext cx="4876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0" lang="es-MX" altLang="es-CO" sz="2400" dirty="0"/>
              <a:t>Simultáneamente suelte una bola amarilla y proyecte la bola roja horizontalmente.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665E6F5B-F297-47CF-8988-B11CBB15F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886" y="3531626"/>
            <a:ext cx="495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0" lang="es-MX" altLang="es-CO" sz="2400" dirty="0"/>
              <a:t>¿Por qué golpean el suelo al mismo tiempo?</a:t>
            </a:r>
          </a:p>
        </p:txBody>
      </p:sp>
      <p:grpSp>
        <p:nvGrpSpPr>
          <p:cNvPr id="6" name="Group 58">
            <a:extLst>
              <a:ext uri="{FF2B5EF4-FFF2-40B4-BE49-F238E27FC236}">
                <a16:creationId xmlns:a16="http://schemas.microsoft.com/office/drawing/2014/main" id="{D32C7BFF-6F0A-465D-B5A6-87061E8617A8}"/>
              </a:ext>
            </a:extLst>
          </p:cNvPr>
          <p:cNvGrpSpPr>
            <a:grpSpLocks/>
          </p:cNvGrpSpPr>
          <p:nvPr/>
        </p:nvGrpSpPr>
        <p:grpSpPr bwMode="auto">
          <a:xfrm>
            <a:off x="1867486" y="1343196"/>
            <a:ext cx="2895600" cy="3581400"/>
            <a:chOff x="480" y="1200"/>
            <a:chExt cx="1824" cy="2256"/>
          </a:xfrm>
        </p:grpSpPr>
        <p:sp>
          <p:nvSpPr>
            <p:cNvPr id="7" name="Rectangle 47">
              <a:extLst>
                <a:ext uri="{FF2B5EF4-FFF2-40B4-BE49-F238E27FC236}">
                  <a16:creationId xmlns:a16="http://schemas.microsoft.com/office/drawing/2014/main" id="{060C7E2C-740E-4328-875B-1C79D98C8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248"/>
              <a:ext cx="720" cy="2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Rectangle 46">
              <a:extLst>
                <a:ext uri="{FF2B5EF4-FFF2-40B4-BE49-F238E27FC236}">
                  <a16:creationId xmlns:a16="http://schemas.microsoft.com/office/drawing/2014/main" id="{B3CFECDD-B038-4559-A416-79DE99749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200"/>
              <a:ext cx="1824" cy="2256"/>
            </a:xfrm>
            <a:prstGeom prst="rect">
              <a:avLst/>
            </a:prstGeom>
            <a:solidFill>
              <a:schemeClr val="tx2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81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109D6B06-D0AE-4E58-BB0E-28C5FC507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3264"/>
              <a:ext cx="1584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A7FA0B77-693E-47AF-8BC3-9F62ADD10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880"/>
              <a:ext cx="1584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1B59B6B2-B70F-4874-B0BF-4A9DE92C27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2521"/>
              <a:ext cx="1536" cy="1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D3447CB2-57AD-4251-8884-45E6424DC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392"/>
              <a:ext cx="1056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E4F31D4E-DC98-4423-9030-60790C1AE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76"/>
              <a:ext cx="1584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AF2F10D6-FE8E-430E-9B93-41C52B173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160"/>
              <a:ext cx="1584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5" name="Oval 27">
              <a:extLst>
                <a:ext uri="{FF2B5EF4-FFF2-40B4-BE49-F238E27FC236}">
                  <a16:creationId xmlns:a16="http://schemas.microsoft.com/office/drawing/2014/main" id="{CA8E350B-00D3-4EFA-8D95-CE261D6EB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488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Oval 30">
              <a:extLst>
                <a:ext uri="{FF2B5EF4-FFF2-40B4-BE49-F238E27FC236}">
                  <a16:creationId xmlns:a16="http://schemas.microsoft.com/office/drawing/2014/main" id="{250AC73D-4EB0-4ABD-9CF1-FE0B60C77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256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Oval 31">
              <a:extLst>
                <a:ext uri="{FF2B5EF4-FFF2-40B4-BE49-F238E27FC236}">
                  <a16:creationId xmlns:a16="http://schemas.microsoft.com/office/drawing/2014/main" id="{229209CF-8085-4C96-ADBD-EB623AE81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496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Oval 32">
              <a:extLst>
                <a:ext uri="{FF2B5EF4-FFF2-40B4-BE49-F238E27FC236}">
                  <a16:creationId xmlns:a16="http://schemas.microsoft.com/office/drawing/2014/main" id="{98FAEDF0-C434-4660-A59C-0492D1D5D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120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Oval 33">
              <a:extLst>
                <a:ext uri="{FF2B5EF4-FFF2-40B4-BE49-F238E27FC236}">
                  <a16:creationId xmlns:a16="http://schemas.microsoft.com/office/drawing/2014/main" id="{0C0E2A04-54F8-4289-8CAA-91BEB4E2E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84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Oval 34">
              <a:extLst>
                <a:ext uri="{FF2B5EF4-FFF2-40B4-BE49-F238E27FC236}">
                  <a16:creationId xmlns:a16="http://schemas.microsoft.com/office/drawing/2014/main" id="{E00FB3D6-51AF-4D46-9942-C42943BBA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016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Oval 35">
              <a:extLst>
                <a:ext uri="{FF2B5EF4-FFF2-40B4-BE49-F238E27FC236}">
                  <a16:creationId xmlns:a16="http://schemas.microsoft.com/office/drawing/2014/main" id="{F4EA4056-BFB7-44C4-9A4F-DC25A91A9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824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Oval 36">
              <a:extLst>
                <a:ext uri="{FF2B5EF4-FFF2-40B4-BE49-F238E27FC236}">
                  <a16:creationId xmlns:a16="http://schemas.microsoft.com/office/drawing/2014/main" id="{01A032B0-DE7A-4498-A518-5A422D945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632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Oval 38">
              <a:extLst>
                <a:ext uri="{FF2B5EF4-FFF2-40B4-BE49-F238E27FC236}">
                  <a16:creationId xmlns:a16="http://schemas.microsoft.com/office/drawing/2014/main" id="{ADBB88EA-23DF-41F5-ACC1-2EDA50AE5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488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4" name="Oval 37">
              <a:extLst>
                <a:ext uri="{FF2B5EF4-FFF2-40B4-BE49-F238E27FC236}">
                  <a16:creationId xmlns:a16="http://schemas.microsoft.com/office/drawing/2014/main" id="{2967D66A-2FAE-4EF3-AA7B-04CDE1021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632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5" name="Oval 40">
              <a:extLst>
                <a:ext uri="{FF2B5EF4-FFF2-40B4-BE49-F238E27FC236}">
                  <a16:creationId xmlns:a16="http://schemas.microsoft.com/office/drawing/2014/main" id="{8CFB95C8-C0A1-465A-A24E-037129AF1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824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Oval 41">
              <a:extLst>
                <a:ext uri="{FF2B5EF4-FFF2-40B4-BE49-F238E27FC236}">
                  <a16:creationId xmlns:a16="http://schemas.microsoft.com/office/drawing/2014/main" id="{A0814D90-D4FB-4EF3-A405-230DB7519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016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Oval 42">
              <a:extLst>
                <a:ext uri="{FF2B5EF4-FFF2-40B4-BE49-F238E27FC236}">
                  <a16:creationId xmlns:a16="http://schemas.microsoft.com/office/drawing/2014/main" id="{7DB9C6B8-9853-41D0-ABE3-E86036393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256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Oval 43">
              <a:extLst>
                <a:ext uri="{FF2B5EF4-FFF2-40B4-BE49-F238E27FC236}">
                  <a16:creationId xmlns:a16="http://schemas.microsoft.com/office/drawing/2014/main" id="{BA46060B-B8E3-4B20-9DEA-90014B251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496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Oval 44">
              <a:extLst>
                <a:ext uri="{FF2B5EF4-FFF2-40B4-BE49-F238E27FC236}">
                  <a16:creationId xmlns:a16="http://schemas.microsoft.com/office/drawing/2014/main" id="{0947E16F-3647-4EF1-8E6E-E3F54837D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84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Oval 45">
              <a:extLst>
                <a:ext uri="{FF2B5EF4-FFF2-40B4-BE49-F238E27FC236}">
                  <a16:creationId xmlns:a16="http://schemas.microsoft.com/office/drawing/2014/main" id="{B2059A32-5D59-4746-B8D4-6805C8E34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120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Rectangle 48">
              <a:extLst>
                <a:ext uri="{FF2B5EF4-FFF2-40B4-BE49-F238E27FC236}">
                  <a16:creationId xmlns:a16="http://schemas.microsoft.com/office/drawing/2014/main" id="{AAB707F8-E04C-45BA-8BD9-728F77533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248"/>
              <a:ext cx="480" cy="2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2" name="Line 49">
              <a:extLst>
                <a:ext uri="{FF2B5EF4-FFF2-40B4-BE49-F238E27FC236}">
                  <a16:creationId xmlns:a16="http://schemas.microsoft.com/office/drawing/2014/main" id="{E7E5A1B2-8E0D-490F-9EA9-35058D453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392"/>
              <a:ext cx="19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3" name="Oval 50">
              <a:extLst>
                <a:ext uri="{FF2B5EF4-FFF2-40B4-BE49-F238E27FC236}">
                  <a16:creationId xmlns:a16="http://schemas.microsoft.com/office/drawing/2014/main" id="{ED126D57-8848-4EFA-A473-871539621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296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4" name="Oval 51">
              <a:extLst>
                <a:ext uri="{FF2B5EF4-FFF2-40B4-BE49-F238E27FC236}">
                  <a16:creationId xmlns:a16="http://schemas.microsoft.com/office/drawing/2014/main" id="{7B160FB5-5FCE-484A-BA22-9BF9AFBC8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296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5" name="Oval 52">
              <a:extLst>
                <a:ext uri="{FF2B5EF4-FFF2-40B4-BE49-F238E27FC236}">
                  <a16:creationId xmlns:a16="http://schemas.microsoft.com/office/drawing/2014/main" id="{40723178-6E64-4371-BE47-DE21FEA9C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" y="1379"/>
              <a:ext cx="144" cy="144"/>
            </a:xfrm>
            <a:prstGeom prst="ellipse">
              <a:avLst/>
            </a:prstGeom>
            <a:solidFill>
              <a:srgbClr val="FF0066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6" name="Oval 53">
              <a:extLst>
                <a:ext uri="{FF2B5EF4-FFF2-40B4-BE49-F238E27FC236}">
                  <a16:creationId xmlns:a16="http://schemas.microsoft.com/office/drawing/2014/main" id="{6832596F-363C-4BE4-A031-D1B790714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392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Oval 54">
              <a:extLst>
                <a:ext uri="{FF2B5EF4-FFF2-40B4-BE49-F238E27FC236}">
                  <a16:creationId xmlns:a16="http://schemas.microsoft.com/office/drawing/2014/main" id="{CD8A494F-0CB2-4DD3-A89A-45AF3634C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296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8" name="Oval 55">
              <a:extLst>
                <a:ext uri="{FF2B5EF4-FFF2-40B4-BE49-F238E27FC236}">
                  <a16:creationId xmlns:a16="http://schemas.microsoft.com/office/drawing/2014/main" id="{34A38609-787C-4FDD-9A2E-BF5A2398F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392"/>
              <a:ext cx="144" cy="14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39" name="Rectangle 56">
            <a:extLst>
              <a:ext uri="{FF2B5EF4-FFF2-40B4-BE49-F238E27FC236}">
                <a16:creationId xmlns:a16="http://schemas.microsoft.com/office/drawing/2014/main" id="{4152A75D-403D-49D0-8C76-448401803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9086" y="3150626"/>
            <a:ext cx="2057400" cy="152400"/>
          </a:xfrm>
          <a:prstGeom prst="rect">
            <a:avLst/>
          </a:prstGeom>
          <a:solidFill>
            <a:srgbClr val="66FF33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40" name="Text Box 63">
            <a:extLst>
              <a:ext uri="{FF2B5EF4-FFF2-40B4-BE49-F238E27FC236}">
                <a16:creationId xmlns:a16="http://schemas.microsoft.com/office/drawing/2014/main" id="{C5807452-1F76-468F-9943-16FBDBEE1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3514" y="5221458"/>
            <a:ext cx="7924800" cy="830997"/>
          </a:xfrm>
          <a:prstGeom prst="rect">
            <a:avLst/>
          </a:prstGeom>
          <a:solidFill>
            <a:srgbClr val="CC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just"/>
            <a:r>
              <a:rPr lang="es-MX" altLang="es-CO" sz="2400" dirty="0"/>
              <a:t>Una vez comienza el movimiento, el peso hacia abajo es la única fuerza sobre cada bola.</a:t>
            </a:r>
          </a:p>
        </p:txBody>
      </p:sp>
      <p:grpSp>
        <p:nvGrpSpPr>
          <p:cNvPr id="41" name="Group 67">
            <a:extLst>
              <a:ext uri="{FF2B5EF4-FFF2-40B4-BE49-F238E27FC236}">
                <a16:creationId xmlns:a16="http://schemas.microsoft.com/office/drawing/2014/main" id="{C4EE3991-A604-4376-8B8B-C6457AF455CD}"/>
              </a:ext>
            </a:extLst>
          </p:cNvPr>
          <p:cNvGrpSpPr>
            <a:grpSpLocks/>
          </p:cNvGrpSpPr>
          <p:nvPr/>
        </p:nvGrpSpPr>
        <p:grpSpPr bwMode="auto">
          <a:xfrm>
            <a:off x="2400886" y="2714796"/>
            <a:ext cx="1295400" cy="1295400"/>
            <a:chOff x="816" y="1824"/>
            <a:chExt cx="816" cy="816"/>
          </a:xfrm>
        </p:grpSpPr>
        <p:sp>
          <p:nvSpPr>
            <p:cNvPr id="42" name="Line 64">
              <a:extLst>
                <a:ext uri="{FF2B5EF4-FFF2-40B4-BE49-F238E27FC236}">
                  <a16:creationId xmlns:a16="http://schemas.microsoft.com/office/drawing/2014/main" id="{3DA47955-A191-4004-B209-26B46CE8A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824"/>
              <a:ext cx="0" cy="576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3" name="Line 65">
              <a:extLst>
                <a:ext uri="{FF2B5EF4-FFF2-40B4-BE49-F238E27FC236}">
                  <a16:creationId xmlns:a16="http://schemas.microsoft.com/office/drawing/2014/main" id="{E8C4ACF7-4081-40E2-AD4C-2B9453B7E9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824"/>
              <a:ext cx="0" cy="576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4" name="Text Box 66">
              <a:extLst>
                <a:ext uri="{FF2B5EF4-FFF2-40B4-BE49-F238E27FC236}">
                  <a16:creationId xmlns:a16="http://schemas.microsoft.com/office/drawing/2014/main" id="{152AFE6F-63D9-47FF-B979-DA8AF390A6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352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>
                  <a:solidFill>
                    <a:srgbClr val="66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W   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298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topia Maximi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 advAuto="0"/>
      <p:bldP spid="4" grpId="0" autoUpdateAnimBg="0"/>
      <p:bldP spid="5" grpId="0" autoUpdateAnimBg="0"/>
      <p:bldP spid="40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D68CC-9793-3155-206F-B6A5C16B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C162BFA-998D-4283-B3D9-57CE13C70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6043" y="76519"/>
            <a:ext cx="9791114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800" dirty="0"/>
              <a:t>Bola proyectada horizontalmente y otra soltada al mismo tiempo:</a:t>
            </a:r>
          </a:p>
        </p:txBody>
      </p:sp>
      <p:grpSp>
        <p:nvGrpSpPr>
          <p:cNvPr id="3" name="Group 182">
            <a:extLst>
              <a:ext uri="{FF2B5EF4-FFF2-40B4-BE49-F238E27FC236}">
                <a16:creationId xmlns:a16="http://schemas.microsoft.com/office/drawing/2014/main" id="{1BF78294-B618-4272-A69A-C2FEF50A8B30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219519"/>
            <a:ext cx="6858000" cy="4495800"/>
            <a:chOff x="816" y="1104"/>
            <a:chExt cx="4320" cy="283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11247E8-EDE9-4BD6-8C95-8B78C35C0D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04"/>
              <a:ext cx="4320" cy="2832"/>
              <a:chOff x="816" y="1104"/>
              <a:chExt cx="4320" cy="2832"/>
            </a:xfrm>
          </p:grpSpPr>
          <p:sp>
            <p:nvSpPr>
              <p:cNvPr id="25" name="Rectangle 4">
                <a:extLst>
                  <a:ext uri="{FF2B5EF4-FFF2-40B4-BE49-F238E27FC236}">
                    <a16:creationId xmlns:a16="http://schemas.microsoft.com/office/drawing/2014/main" id="{92B5D5EE-5C01-49F7-8B1D-3A6362CAB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4320" cy="2832"/>
              </a:xfrm>
              <a:prstGeom prst="rect">
                <a:avLst/>
              </a:prstGeom>
              <a:solidFill>
                <a:schemeClr val="accent2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6" name="Line 5">
                <a:extLst>
                  <a:ext uri="{FF2B5EF4-FFF2-40B4-BE49-F238E27FC236}">
                    <a16:creationId xmlns:a16="http://schemas.microsoft.com/office/drawing/2014/main" id="{D9CB7BAE-97CC-4ECF-8E6E-9A0A38524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1" y="1945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7" name="Line 6">
                <a:extLst>
                  <a:ext uri="{FF2B5EF4-FFF2-40B4-BE49-F238E27FC236}">
                    <a16:creationId xmlns:a16="http://schemas.microsoft.com/office/drawing/2014/main" id="{6728781B-61AC-43D3-8010-0282F5E49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7" y="1955"/>
                <a:ext cx="2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8" name="Text Box 7">
                <a:extLst>
                  <a:ext uri="{FF2B5EF4-FFF2-40B4-BE49-F238E27FC236}">
                    <a16:creationId xmlns:a16="http://schemas.microsoft.com/office/drawing/2014/main" id="{D687C4E9-3E39-463E-A325-0F36CE3D8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776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000" i="0"/>
                  <a:t>0 s</a:t>
                </a:r>
              </a:p>
            </p:txBody>
          </p:sp>
          <p:sp>
            <p:nvSpPr>
              <p:cNvPr id="29" name="Text Box 8">
                <a:extLst>
                  <a:ext uri="{FF2B5EF4-FFF2-40B4-BE49-F238E27FC236}">
                    <a16:creationId xmlns:a16="http://schemas.microsoft.com/office/drawing/2014/main" id="{AB4F5CCA-6972-4190-9ABF-1A7BEB4499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1584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v</a:t>
                </a:r>
                <a:r>
                  <a:rPr lang="es-MX" altLang="es-CO" sz="2800" baseline="-250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ox</a:t>
                </a:r>
                <a:endParaRPr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Rectangle 9">
                <a:extLst>
                  <a:ext uri="{FF2B5EF4-FFF2-40B4-BE49-F238E27FC236}">
                    <a16:creationId xmlns:a16="http://schemas.microsoft.com/office/drawing/2014/main" id="{3953BED0-BB31-4416-83BD-202CEE7D8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3696"/>
                <a:ext cx="3408" cy="96"/>
              </a:xfrm>
              <a:prstGeom prst="rect">
                <a:avLst/>
              </a:prstGeom>
              <a:solidFill>
                <a:srgbClr val="66FF33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1" name="Line 10">
                <a:extLst>
                  <a:ext uri="{FF2B5EF4-FFF2-40B4-BE49-F238E27FC236}">
                    <a16:creationId xmlns:a16="http://schemas.microsoft.com/office/drawing/2014/main" id="{18605312-4B07-4E60-835C-6AF146C1D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2" name="Line 11">
                <a:extLst>
                  <a:ext uri="{FF2B5EF4-FFF2-40B4-BE49-F238E27FC236}">
                    <a16:creationId xmlns:a16="http://schemas.microsoft.com/office/drawing/2014/main" id="{FAC97BD8-12DE-476A-86C6-6BBE1EE979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824"/>
                <a:ext cx="92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3" name="Line 12">
                <a:extLst>
                  <a:ext uri="{FF2B5EF4-FFF2-40B4-BE49-F238E27FC236}">
                    <a16:creationId xmlns:a16="http://schemas.microsoft.com/office/drawing/2014/main" id="{F19AF1B9-15E3-4F16-9855-9B1A5947E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4" name="Line 13">
                <a:extLst>
                  <a:ext uri="{FF2B5EF4-FFF2-40B4-BE49-F238E27FC236}">
                    <a16:creationId xmlns:a16="http://schemas.microsoft.com/office/drawing/2014/main" id="{99B68122-3146-4A17-8D37-3CE79A388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92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5" name="Line 14">
                <a:extLst>
                  <a:ext uri="{FF2B5EF4-FFF2-40B4-BE49-F238E27FC236}">
                    <a16:creationId xmlns:a16="http://schemas.microsoft.com/office/drawing/2014/main" id="{5B435900-AD98-4FA2-A696-38F34794A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2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6" name="Line 15">
                <a:extLst>
                  <a:ext uri="{FF2B5EF4-FFF2-40B4-BE49-F238E27FC236}">
                    <a16:creationId xmlns:a16="http://schemas.microsoft.com/office/drawing/2014/main" id="{39B00C28-7FCF-4907-89C6-C0FC0779C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2" y="1824"/>
                <a:ext cx="92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D761CA95-49BC-4B7A-8B74-2AD26C7FD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8" name="Line 17">
                <a:extLst>
                  <a:ext uri="{FF2B5EF4-FFF2-40B4-BE49-F238E27FC236}">
                    <a16:creationId xmlns:a16="http://schemas.microsoft.com/office/drawing/2014/main" id="{B4530F50-4294-448D-8FB0-06287AC85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1824"/>
                <a:ext cx="92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9" name="Line 18">
                <a:extLst>
                  <a:ext uri="{FF2B5EF4-FFF2-40B4-BE49-F238E27FC236}">
                    <a16:creationId xmlns:a16="http://schemas.microsoft.com/office/drawing/2014/main" id="{97DC12B2-D1B2-4BA4-BE27-596635F12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4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0" name="Rectangle 19">
                <a:extLst>
                  <a:ext uri="{FF2B5EF4-FFF2-40B4-BE49-F238E27FC236}">
                    <a16:creationId xmlns:a16="http://schemas.microsoft.com/office/drawing/2014/main" id="{DAFF8333-FE13-476F-A6EA-2A213E3BA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824"/>
                <a:ext cx="48" cy="192"/>
              </a:xfrm>
              <a:prstGeom prst="rect">
                <a:avLst/>
              </a:prstGeom>
              <a:solidFill>
                <a:srgbClr val="66FF33"/>
              </a:solidFill>
              <a:ln w="2857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1" name="Rectangle 20">
                <a:extLst>
                  <a:ext uri="{FF2B5EF4-FFF2-40B4-BE49-F238E27FC236}">
                    <a16:creationId xmlns:a16="http://schemas.microsoft.com/office/drawing/2014/main" id="{32770573-2A8D-4BA1-9260-E71A789A6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776"/>
                <a:ext cx="96" cy="288"/>
              </a:xfrm>
              <a:prstGeom prst="rect">
                <a:avLst/>
              </a:prstGeom>
              <a:solidFill>
                <a:srgbClr val="66FF33"/>
              </a:solidFill>
              <a:ln w="2857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2" name="Text Box 21">
                <a:extLst>
                  <a:ext uri="{FF2B5EF4-FFF2-40B4-BE49-F238E27FC236}">
                    <a16:creationId xmlns:a16="http://schemas.microsoft.com/office/drawing/2014/main" id="{C1781F03-41B8-47F7-A550-6057EE361C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1152"/>
                <a:ext cx="427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/>
                <a:r>
                  <a:rPr lang="es-MX" altLang="es-CO" sz="2400" dirty="0"/>
                  <a:t>El movimiento vertical es el mismo para cada bola</a:t>
                </a:r>
              </a:p>
            </p:txBody>
          </p:sp>
          <p:sp>
            <p:nvSpPr>
              <p:cNvPr id="43" name="Oval 22">
                <a:extLst>
                  <a:ext uri="{FF2B5EF4-FFF2-40B4-BE49-F238E27FC236}">
                    <a16:creationId xmlns:a16="http://schemas.microsoft.com/office/drawing/2014/main" id="{73AFF6E0-B366-49DB-826B-8FF586E65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1872"/>
                <a:ext cx="144" cy="144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4" name="Oval 23">
                <a:extLst>
                  <a:ext uri="{FF2B5EF4-FFF2-40B4-BE49-F238E27FC236}">
                    <a16:creationId xmlns:a16="http://schemas.microsoft.com/office/drawing/2014/main" id="{29EE16ED-48BC-4079-95AE-0CA9BCC765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872"/>
                <a:ext cx="144" cy="144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5" name="Line 24">
                <a:extLst>
                  <a:ext uri="{FF2B5EF4-FFF2-40B4-BE49-F238E27FC236}">
                    <a16:creationId xmlns:a16="http://schemas.microsoft.com/office/drawing/2014/main" id="{6F2B4506-A3A7-4200-A466-4650419E1A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36"/>
                <a:ext cx="4320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5" name="Rectangle 25">
              <a:extLst>
                <a:ext uri="{FF2B5EF4-FFF2-40B4-BE49-F238E27FC236}">
                  <a16:creationId xmlns:a16="http://schemas.microsoft.com/office/drawing/2014/main" id="{E9B58036-0372-4DE2-B6D9-E9B021D76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064"/>
              <a:ext cx="576" cy="96"/>
            </a:xfrm>
            <a:prstGeom prst="rect">
              <a:avLst/>
            </a:prstGeom>
            <a:solidFill>
              <a:srgbClr val="66FF33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CE5CB522-4F82-4A8D-8300-95CE596E3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968"/>
              <a:ext cx="1968" cy="1728"/>
            </a:xfrm>
            <a:custGeom>
              <a:avLst/>
              <a:gdLst>
                <a:gd name="T0" fmla="*/ 0 w 1728"/>
                <a:gd name="T1" fmla="*/ 0 h 1584"/>
                <a:gd name="T2" fmla="*/ 720 w 1728"/>
                <a:gd name="T3" fmla="*/ 240 h 1584"/>
                <a:gd name="T4" fmla="*/ 1152 w 1728"/>
                <a:gd name="T5" fmla="*/ 624 h 1584"/>
                <a:gd name="T6" fmla="*/ 1536 w 1728"/>
                <a:gd name="T7" fmla="*/ 1152 h 1584"/>
                <a:gd name="T8" fmla="*/ 1728 w 1728"/>
                <a:gd name="T9" fmla="*/ 1584 h 1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8" h="1584">
                  <a:moveTo>
                    <a:pt x="0" y="0"/>
                  </a:moveTo>
                  <a:cubicBezTo>
                    <a:pt x="264" y="68"/>
                    <a:pt x="528" y="136"/>
                    <a:pt x="720" y="240"/>
                  </a:cubicBezTo>
                  <a:cubicBezTo>
                    <a:pt x="912" y="344"/>
                    <a:pt x="1016" y="472"/>
                    <a:pt x="1152" y="624"/>
                  </a:cubicBezTo>
                  <a:cubicBezTo>
                    <a:pt x="1288" y="776"/>
                    <a:pt x="1440" y="992"/>
                    <a:pt x="1536" y="1152"/>
                  </a:cubicBezTo>
                  <a:cubicBezTo>
                    <a:pt x="1632" y="1312"/>
                    <a:pt x="1696" y="1504"/>
                    <a:pt x="1728" y="158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grpSp>
          <p:nvGrpSpPr>
            <p:cNvPr id="7" name="Group 37">
              <a:extLst>
                <a:ext uri="{FF2B5EF4-FFF2-40B4-BE49-F238E27FC236}">
                  <a16:creationId xmlns:a16="http://schemas.microsoft.com/office/drawing/2014/main" id="{93A7EF48-18B1-4939-A235-F67C6865D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064"/>
              <a:ext cx="3168" cy="250"/>
              <a:chOff x="1824" y="2064"/>
              <a:chExt cx="3168" cy="250"/>
            </a:xfrm>
          </p:grpSpPr>
          <p:sp>
            <p:nvSpPr>
              <p:cNvPr id="21" name="Line 38">
                <a:extLst>
                  <a:ext uri="{FF2B5EF4-FFF2-40B4-BE49-F238E27FC236}">
                    <a16:creationId xmlns:a16="http://schemas.microsoft.com/office/drawing/2014/main" id="{EBAFED09-5156-4E8A-B759-C38B0B9C1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208"/>
                <a:ext cx="27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2" name="Text Box 39">
                <a:extLst>
                  <a:ext uri="{FF2B5EF4-FFF2-40B4-BE49-F238E27FC236}">
                    <a16:creationId xmlns:a16="http://schemas.microsoft.com/office/drawing/2014/main" id="{544A235F-EBBF-46C4-A572-65C56EAE1B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06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000" i="0"/>
                  <a:t>1 s</a:t>
                </a:r>
              </a:p>
            </p:txBody>
          </p:sp>
          <p:sp>
            <p:nvSpPr>
              <p:cNvPr id="23" name="Oval 40">
                <a:extLst>
                  <a:ext uri="{FF2B5EF4-FFF2-40B4-BE49-F238E27FC236}">
                    <a16:creationId xmlns:a16="http://schemas.microsoft.com/office/drawing/2014/main" id="{B3CCA029-46B8-4D6A-952A-35E2224F8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112"/>
                <a:ext cx="144" cy="144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4" name="Oval 41">
                <a:extLst>
                  <a:ext uri="{FF2B5EF4-FFF2-40B4-BE49-F238E27FC236}">
                    <a16:creationId xmlns:a16="http://schemas.microsoft.com/office/drawing/2014/main" id="{07FCC8DE-9AEC-47B7-B60B-916FE7AE6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112"/>
                <a:ext cx="144" cy="144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grpSp>
          <p:nvGrpSpPr>
            <p:cNvPr id="8" name="Group 32">
              <a:extLst>
                <a:ext uri="{FF2B5EF4-FFF2-40B4-BE49-F238E27FC236}">
                  <a16:creationId xmlns:a16="http://schemas.microsoft.com/office/drawing/2014/main" id="{8D562405-35E2-4D6E-A211-F3E909C49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448"/>
              <a:ext cx="3216" cy="250"/>
              <a:chOff x="1776" y="2448"/>
              <a:chExt cx="3216" cy="250"/>
            </a:xfrm>
          </p:grpSpPr>
          <p:sp>
            <p:nvSpPr>
              <p:cNvPr id="17" name="Line 33">
                <a:extLst>
                  <a:ext uri="{FF2B5EF4-FFF2-40B4-BE49-F238E27FC236}">
                    <a16:creationId xmlns:a16="http://schemas.microsoft.com/office/drawing/2014/main" id="{7363EC35-8579-4109-90AD-F897EAC90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592"/>
                <a:ext cx="28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8" name="Text Box 34">
                <a:extLst>
                  <a:ext uri="{FF2B5EF4-FFF2-40B4-BE49-F238E27FC236}">
                    <a16:creationId xmlns:a16="http://schemas.microsoft.com/office/drawing/2014/main" id="{86A417CD-F9B2-4C26-BDFE-73F2699A3B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44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000" i="0"/>
                  <a:t>2 s</a:t>
                </a:r>
              </a:p>
            </p:txBody>
          </p:sp>
          <p:sp>
            <p:nvSpPr>
              <p:cNvPr id="19" name="Oval 35">
                <a:extLst>
                  <a:ext uri="{FF2B5EF4-FFF2-40B4-BE49-F238E27FC236}">
                    <a16:creationId xmlns:a16="http://schemas.microsoft.com/office/drawing/2014/main" id="{EB09EC02-CACA-4E3B-A023-2B40619CD0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496"/>
                <a:ext cx="144" cy="144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0" name="Oval 36">
                <a:extLst>
                  <a:ext uri="{FF2B5EF4-FFF2-40B4-BE49-F238E27FC236}">
                    <a16:creationId xmlns:a16="http://schemas.microsoft.com/office/drawing/2014/main" id="{6E6729BE-85C9-4C9E-860C-FB8ADDC90C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96"/>
                <a:ext cx="144" cy="144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92FED38B-6422-4CF7-9F31-9A2B8B29F5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976"/>
              <a:ext cx="3168" cy="250"/>
              <a:chOff x="1824" y="2976"/>
              <a:chExt cx="3168" cy="250"/>
            </a:xfrm>
          </p:grpSpPr>
          <p:sp>
            <p:nvSpPr>
              <p:cNvPr id="13" name="Line 28">
                <a:extLst>
                  <a:ext uri="{FF2B5EF4-FFF2-40B4-BE49-F238E27FC236}">
                    <a16:creationId xmlns:a16="http://schemas.microsoft.com/office/drawing/2014/main" id="{7305E386-AB17-4036-B267-779EE91A4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3120"/>
                <a:ext cx="28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4" name="Text Box 29">
                <a:extLst>
                  <a:ext uri="{FF2B5EF4-FFF2-40B4-BE49-F238E27FC236}">
                    <a16:creationId xmlns:a16="http://schemas.microsoft.com/office/drawing/2014/main" id="{1B837EBD-87E0-4A9A-BAAE-5B5BEA9DB8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976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000" i="0"/>
                  <a:t>3 s</a:t>
                </a:r>
              </a:p>
            </p:txBody>
          </p:sp>
          <p:sp>
            <p:nvSpPr>
              <p:cNvPr id="15" name="Oval 30">
                <a:extLst>
                  <a:ext uri="{FF2B5EF4-FFF2-40B4-BE49-F238E27FC236}">
                    <a16:creationId xmlns:a16="http://schemas.microsoft.com/office/drawing/2014/main" id="{8394F77D-2AD1-43BF-92B6-2A4979B77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024"/>
                <a:ext cx="144" cy="144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6" name="Oval 31">
                <a:extLst>
                  <a:ext uri="{FF2B5EF4-FFF2-40B4-BE49-F238E27FC236}">
                    <a16:creationId xmlns:a16="http://schemas.microsoft.com/office/drawing/2014/main" id="{6F2A1CB2-7C7E-4CC4-B2CD-DE9ECDC44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3024"/>
                <a:ext cx="144" cy="144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grpSp>
          <p:nvGrpSpPr>
            <p:cNvPr id="10" name="Group 96">
              <a:extLst>
                <a:ext uri="{FF2B5EF4-FFF2-40B4-BE49-F238E27FC236}">
                  <a16:creationId xmlns:a16="http://schemas.microsoft.com/office/drawing/2014/main" id="{89145622-8C67-43AD-9F1B-33E54E256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3552"/>
              <a:ext cx="1031" cy="144"/>
              <a:chOff x="3504" y="3552"/>
              <a:chExt cx="1031" cy="144"/>
            </a:xfrm>
          </p:grpSpPr>
          <p:sp>
            <p:nvSpPr>
              <p:cNvPr id="11" name="Oval 97">
                <a:extLst>
                  <a:ext uri="{FF2B5EF4-FFF2-40B4-BE49-F238E27FC236}">
                    <a16:creationId xmlns:a16="http://schemas.microsoft.com/office/drawing/2014/main" id="{74EC3D20-8FED-4367-80EB-82075CC7D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1" y="3552"/>
                <a:ext cx="144" cy="144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Oval 98">
                <a:extLst>
                  <a:ext uri="{FF2B5EF4-FFF2-40B4-BE49-F238E27FC236}">
                    <a16:creationId xmlns:a16="http://schemas.microsoft.com/office/drawing/2014/main" id="{19452761-19F3-40CA-9FC1-513987829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552"/>
                <a:ext cx="144" cy="144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sp>
        <p:nvSpPr>
          <p:cNvPr id="46" name="Line 183">
            <a:extLst>
              <a:ext uri="{FF2B5EF4-FFF2-40B4-BE49-F238E27FC236}">
                <a16:creationId xmlns:a16="http://schemas.microsoft.com/office/drawing/2014/main" id="{453152B2-FD75-4733-9366-69FE83653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2591119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grpSp>
        <p:nvGrpSpPr>
          <p:cNvPr id="47" name="Group 184">
            <a:extLst>
              <a:ext uri="{FF2B5EF4-FFF2-40B4-BE49-F238E27FC236}">
                <a16:creationId xmlns:a16="http://schemas.microsoft.com/office/drawing/2014/main" id="{A8D6FAD5-121A-441B-B91E-DB89A8FAED2F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438719"/>
            <a:ext cx="3886200" cy="2667000"/>
            <a:chOff x="2016" y="1872"/>
            <a:chExt cx="2448" cy="1680"/>
          </a:xfrm>
        </p:grpSpPr>
        <p:sp>
          <p:nvSpPr>
            <p:cNvPr id="48" name="Text Box 185">
              <a:extLst>
                <a:ext uri="{FF2B5EF4-FFF2-40B4-BE49-F238E27FC236}">
                  <a16:creationId xmlns:a16="http://schemas.microsoft.com/office/drawing/2014/main" id="{916785B0-39DF-493E-BB00-44CC18FC77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21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kumimoji="0" lang="es-MX" altLang="es-CO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9" name="Line 186">
              <a:extLst>
                <a:ext uri="{FF2B5EF4-FFF2-40B4-BE49-F238E27FC236}">
                  <a16:creationId xmlns:a16="http://schemas.microsoft.com/office/drawing/2014/main" id="{C9C9F3DB-4643-44FC-BB5E-85EC13E166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59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50" name="Line 187">
              <a:extLst>
                <a:ext uri="{FF2B5EF4-FFF2-40B4-BE49-F238E27FC236}">
                  <a16:creationId xmlns:a16="http://schemas.microsoft.com/office/drawing/2014/main" id="{1355D856-8BE7-44AB-B6E4-5A1081225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20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51" name="Line 188">
              <a:extLst>
                <a:ext uri="{FF2B5EF4-FFF2-40B4-BE49-F238E27FC236}">
                  <a16:creationId xmlns:a16="http://schemas.microsoft.com/office/drawing/2014/main" id="{68791D41-4BCD-4D6D-BC1A-CF920836EF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52" name="Line 189">
              <a:extLst>
                <a:ext uri="{FF2B5EF4-FFF2-40B4-BE49-F238E27FC236}">
                  <a16:creationId xmlns:a16="http://schemas.microsoft.com/office/drawing/2014/main" id="{9F583F8D-D92A-4447-93D2-3CD47660E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25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53" name="Line 190">
              <a:extLst>
                <a:ext uri="{FF2B5EF4-FFF2-40B4-BE49-F238E27FC236}">
                  <a16:creationId xmlns:a16="http://schemas.microsoft.com/office/drawing/2014/main" id="{DAEF1C3F-65B2-4050-BEB0-06547B269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6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54" name="Line 191">
              <a:extLst>
                <a:ext uri="{FF2B5EF4-FFF2-40B4-BE49-F238E27FC236}">
                  <a16:creationId xmlns:a16="http://schemas.microsoft.com/office/drawing/2014/main" id="{5050A411-D2A4-4937-A824-D37458CC1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6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55" name="Text Box 192">
              <a:extLst>
                <a:ext uri="{FF2B5EF4-FFF2-40B4-BE49-F238E27FC236}">
                  <a16:creationId xmlns:a16="http://schemas.microsoft.com/office/drawing/2014/main" id="{DBDD0123-BB36-47E2-977A-32227E2D8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87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x</a:t>
              </a:r>
              <a:endParaRPr kumimoji="0" lang="es-MX" altLang="es-CO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193">
              <a:extLst>
                <a:ext uri="{FF2B5EF4-FFF2-40B4-BE49-F238E27FC236}">
                  <a16:creationId xmlns:a16="http://schemas.microsoft.com/office/drawing/2014/main" id="{2D943234-83BD-4495-B4E9-9418177E4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20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x</a:t>
              </a:r>
              <a:endParaRPr kumimoji="0" lang="es-MX" altLang="es-CO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194">
              <a:extLst>
                <a:ext uri="{FF2B5EF4-FFF2-40B4-BE49-F238E27FC236}">
                  <a16:creationId xmlns:a16="http://schemas.microsoft.com/office/drawing/2014/main" id="{DBF4AD97-EA0C-4866-8231-EA250B74F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73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x</a:t>
              </a:r>
              <a:endParaRPr kumimoji="0" lang="es-MX" altLang="es-CO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8" name="Text Box 195">
              <a:extLst>
                <a:ext uri="{FF2B5EF4-FFF2-40B4-BE49-F238E27FC236}">
                  <a16:creationId xmlns:a16="http://schemas.microsoft.com/office/drawing/2014/main" id="{76463506-814F-45C1-8082-27095058B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25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kumimoji="0" lang="es-MX" altLang="es-CO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196">
              <a:extLst>
                <a:ext uri="{FF2B5EF4-FFF2-40B4-BE49-F238E27FC236}">
                  <a16:creationId xmlns:a16="http://schemas.microsoft.com/office/drawing/2014/main" id="{DE0938E0-520E-4780-AC77-DE417AFCC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59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kumimoji="0" lang="es-MX" altLang="es-CO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0" name="Text Box 197">
              <a:extLst>
                <a:ext uri="{FF2B5EF4-FFF2-40B4-BE49-F238E27FC236}">
                  <a16:creationId xmlns:a16="http://schemas.microsoft.com/office/drawing/2014/main" id="{B6C3EFED-E7FA-4F63-BE77-DE89F104E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21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kumimoji="0" lang="es-MX" altLang="es-CO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61" name="Group 198">
              <a:extLst>
                <a:ext uri="{FF2B5EF4-FFF2-40B4-BE49-F238E27FC236}">
                  <a16:creationId xmlns:a16="http://schemas.microsoft.com/office/drawing/2014/main" id="{199E19EC-9443-436A-B948-2627A184F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269"/>
              <a:ext cx="11" cy="1283"/>
              <a:chOff x="4416" y="2125"/>
              <a:chExt cx="11" cy="1283"/>
            </a:xfrm>
          </p:grpSpPr>
          <p:sp>
            <p:nvSpPr>
              <p:cNvPr id="64" name="Line 199">
                <a:extLst>
                  <a:ext uri="{FF2B5EF4-FFF2-40B4-BE49-F238E27FC236}">
                    <a16:creationId xmlns:a16="http://schemas.microsoft.com/office/drawing/2014/main" id="{35B5873A-9B6C-471E-94BE-0EAB0F0AB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02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5" name="Line 200">
                <a:extLst>
                  <a:ext uri="{FF2B5EF4-FFF2-40B4-BE49-F238E27FC236}">
                    <a16:creationId xmlns:a16="http://schemas.microsoft.com/office/drawing/2014/main" id="{78493A76-04B7-4412-A04B-1C400CBB3B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7" y="2125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66" name="Line 201">
                <a:extLst>
                  <a:ext uri="{FF2B5EF4-FFF2-40B4-BE49-F238E27FC236}">
                    <a16:creationId xmlns:a16="http://schemas.microsoft.com/office/drawing/2014/main" id="{351C86EF-B2D5-4864-B126-6D07D0D1CB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496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62" name="Text Box 202">
              <a:extLst>
                <a:ext uri="{FF2B5EF4-FFF2-40B4-BE49-F238E27FC236}">
                  <a16:creationId xmlns:a16="http://schemas.microsoft.com/office/drawing/2014/main" id="{EA72B9D5-99DF-498D-8E71-BAD9913F3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68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kumimoji="0" lang="es-MX" altLang="es-CO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63" name="Text Box 203">
              <a:extLst>
                <a:ext uri="{FF2B5EF4-FFF2-40B4-BE49-F238E27FC236}">
                  <a16:creationId xmlns:a16="http://schemas.microsoft.com/office/drawing/2014/main" id="{66809F9A-3950-49FF-8F0F-ABF3802D8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16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kumimoji="0" lang="es-MX" altLang="es-CO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414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C75D1-E551-570D-6B48-705AB6D8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42CA19D-AD4B-4294-B39D-D6DC93368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0780" y="13213"/>
            <a:ext cx="80010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Observe el movimiento de cada bola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1173B8E-4291-4652-8876-E709F7316DC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156213"/>
            <a:ext cx="6858000" cy="4495800"/>
            <a:chOff x="816" y="1104"/>
            <a:chExt cx="4320" cy="2832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1CF814B5-2CF9-4E50-8435-3AAF3C6A2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104"/>
              <a:ext cx="4320" cy="2832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01F1BAD1-43CC-4AFA-A2CF-4245A67D7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1" y="1945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00E4FA78-447E-4236-BBE4-8C59A3F89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" y="1955"/>
              <a:ext cx="2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F036D60A-70B9-4225-94F0-AAD1102DA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77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000" i="0"/>
                <a:t>0 s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E0B1B85B-511E-4BC3-A5CA-2CA0C9499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584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s-MX" altLang="es-CO" sz="28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ox</a:t>
              </a:r>
              <a:endParaRPr lang="es-MX" altLang="es-CO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BCAF5D89-A8DE-4164-BF11-57A174AE4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96"/>
              <a:ext cx="3408" cy="96"/>
            </a:xfrm>
            <a:prstGeom prst="rect">
              <a:avLst/>
            </a:prstGeom>
            <a:solidFill>
              <a:srgbClr val="66FF33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F561E841-0974-4C8D-B805-A2CEEAF75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82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C37443AC-5722-42B8-90FF-D87ED4837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824"/>
              <a:ext cx="92" cy="1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A6C8C198-D709-4B72-AFB3-614C184D4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82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9893710D-FDF9-4516-9DB2-5220DEDF3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824"/>
              <a:ext cx="92" cy="1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D280FC70-FCB7-49E8-AC4C-0EF8A2B1B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2" y="182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31B2C8AF-A3E8-4C7D-9B19-90425EF51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2" y="1824"/>
              <a:ext cx="92" cy="1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80367AD1-E952-481B-B0BA-32FF3080B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8" y="182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EB58F5C2-9D44-45FB-8CE8-7C400D7DF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8" y="1824"/>
              <a:ext cx="92" cy="1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FF239BAF-4E61-4ADB-82DE-D28590B2B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4" y="182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D9204585-2E4B-49C2-A68C-9E6EAEE21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824"/>
              <a:ext cx="48" cy="192"/>
            </a:xfrm>
            <a:prstGeom prst="rect">
              <a:avLst/>
            </a:prstGeom>
            <a:solidFill>
              <a:srgbClr val="66FF33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1EE4A6D4-8F9F-41F5-9F45-63D7BC5C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776"/>
              <a:ext cx="96" cy="288"/>
            </a:xfrm>
            <a:prstGeom prst="rect">
              <a:avLst/>
            </a:prstGeom>
            <a:solidFill>
              <a:srgbClr val="66FF33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1CD1E7EB-3997-43AD-AD2E-254007FFF1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152"/>
              <a:ext cx="427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s-MX" altLang="es-CO" sz="2400" dirty="0"/>
                <a:t>El movimiento vertical es el mismo para cada bola</a:t>
              </a:r>
            </a:p>
          </p:txBody>
        </p:sp>
        <p:sp>
          <p:nvSpPr>
            <p:cNvPr id="22" name="Oval 22">
              <a:extLst>
                <a:ext uri="{FF2B5EF4-FFF2-40B4-BE49-F238E27FC236}">
                  <a16:creationId xmlns:a16="http://schemas.microsoft.com/office/drawing/2014/main" id="{07FF433B-115F-46AF-8ECB-1F294D60A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872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Oval 23">
              <a:extLst>
                <a:ext uri="{FF2B5EF4-FFF2-40B4-BE49-F238E27FC236}">
                  <a16:creationId xmlns:a16="http://schemas.microsoft.com/office/drawing/2014/main" id="{5620AD41-9CC5-4AAF-AD50-E0444C97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872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E902DA59-AB25-4BE9-9236-A228FFD04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536"/>
              <a:ext cx="432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25" name="Rectangle 25">
            <a:extLst>
              <a:ext uri="{FF2B5EF4-FFF2-40B4-BE49-F238E27FC236}">
                <a16:creationId xmlns:a16="http://schemas.microsoft.com/office/drawing/2014/main" id="{9521EE36-628F-424D-A034-94B85EE93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680213"/>
            <a:ext cx="914400" cy="152400"/>
          </a:xfrm>
          <a:prstGeom prst="rect">
            <a:avLst/>
          </a:prstGeom>
          <a:solidFill>
            <a:srgbClr val="66FF33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C816BB24-8644-4AAF-A1CE-8D2900E1574E}"/>
              </a:ext>
            </a:extLst>
          </p:cNvPr>
          <p:cNvSpPr>
            <a:spLocks/>
          </p:cNvSpPr>
          <p:nvPr/>
        </p:nvSpPr>
        <p:spPr bwMode="auto">
          <a:xfrm>
            <a:off x="3962400" y="2527813"/>
            <a:ext cx="3124200" cy="2743200"/>
          </a:xfrm>
          <a:custGeom>
            <a:avLst/>
            <a:gdLst>
              <a:gd name="T0" fmla="*/ 0 w 1728"/>
              <a:gd name="T1" fmla="*/ 0 h 1584"/>
              <a:gd name="T2" fmla="*/ 720 w 1728"/>
              <a:gd name="T3" fmla="*/ 240 h 1584"/>
              <a:gd name="T4" fmla="*/ 1152 w 1728"/>
              <a:gd name="T5" fmla="*/ 624 h 1584"/>
              <a:gd name="T6" fmla="*/ 1536 w 1728"/>
              <a:gd name="T7" fmla="*/ 1152 h 1584"/>
              <a:gd name="T8" fmla="*/ 1728 w 1728"/>
              <a:gd name="T9" fmla="*/ 1584 h 1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28" h="1584">
                <a:moveTo>
                  <a:pt x="0" y="0"/>
                </a:moveTo>
                <a:cubicBezTo>
                  <a:pt x="264" y="68"/>
                  <a:pt x="528" y="136"/>
                  <a:pt x="720" y="240"/>
                </a:cubicBezTo>
                <a:cubicBezTo>
                  <a:pt x="912" y="344"/>
                  <a:pt x="1016" y="472"/>
                  <a:pt x="1152" y="624"/>
                </a:cubicBezTo>
                <a:cubicBezTo>
                  <a:pt x="1288" y="776"/>
                  <a:pt x="1440" y="992"/>
                  <a:pt x="1536" y="1152"/>
                </a:cubicBezTo>
                <a:cubicBezTo>
                  <a:pt x="1632" y="1312"/>
                  <a:pt x="1696" y="1504"/>
                  <a:pt x="1728" y="158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A021F551-BD8F-4187-8C54-B719CD6A02B8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4128013"/>
            <a:ext cx="5029200" cy="396875"/>
            <a:chOff x="1824" y="2976"/>
            <a:chExt cx="3168" cy="250"/>
          </a:xfrm>
        </p:grpSpPr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262982BA-7CE7-4AFC-8966-FC23632B0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120"/>
              <a:ext cx="28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1114D2ED-61F0-4F73-BF04-DFF6D7E6D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97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/>
                <a:t>3 s</a:t>
              </a:r>
            </a:p>
          </p:txBody>
        </p:sp>
        <p:sp>
          <p:nvSpPr>
            <p:cNvPr id="30" name="Oval 30">
              <a:extLst>
                <a:ext uri="{FF2B5EF4-FFF2-40B4-BE49-F238E27FC236}">
                  <a16:creationId xmlns:a16="http://schemas.microsoft.com/office/drawing/2014/main" id="{EE78762A-64EC-4DB0-BCDD-114B92B76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Oval 31">
              <a:extLst>
                <a:ext uri="{FF2B5EF4-FFF2-40B4-BE49-F238E27FC236}">
                  <a16:creationId xmlns:a16="http://schemas.microsoft.com/office/drawing/2014/main" id="{1EE0D7DE-DC02-457D-B12E-7C77D16BC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024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3DE2CEEF-BC2E-43AA-95E0-86EA0081FA56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289813"/>
            <a:ext cx="5105400" cy="396875"/>
            <a:chOff x="1776" y="2448"/>
            <a:chExt cx="3216" cy="250"/>
          </a:xfrm>
        </p:grpSpPr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6A1BDB2C-7D51-4E56-8D42-09A2BB69D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592"/>
              <a:ext cx="28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716117C2-C2BF-4C21-AF23-2283A14DE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44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/>
                <a:t>2 s</a:t>
              </a:r>
            </a:p>
          </p:txBody>
        </p:sp>
        <p:sp>
          <p:nvSpPr>
            <p:cNvPr id="35" name="Oval 35">
              <a:extLst>
                <a:ext uri="{FF2B5EF4-FFF2-40B4-BE49-F238E27FC236}">
                  <a16:creationId xmlns:a16="http://schemas.microsoft.com/office/drawing/2014/main" id="{E0BCB2E6-6DDA-4E5D-AE82-7429AC601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496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6" name="Oval 36">
              <a:extLst>
                <a:ext uri="{FF2B5EF4-FFF2-40B4-BE49-F238E27FC236}">
                  <a16:creationId xmlns:a16="http://schemas.microsoft.com/office/drawing/2014/main" id="{7490147C-33BB-4F4A-8186-B8CE4F0DF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96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58C33808-8F67-46B5-B9AE-B8B34ACD9146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680213"/>
            <a:ext cx="5029200" cy="396875"/>
            <a:chOff x="1824" y="2064"/>
            <a:chExt cx="3168" cy="250"/>
          </a:xfrm>
        </p:grpSpPr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D75036D0-CCF1-4566-9C79-81E2C0F05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208"/>
              <a:ext cx="27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EDA6C24C-C2DF-457A-840F-309131CCE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06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/>
                <a:t>1 s</a:t>
              </a:r>
            </a:p>
          </p:txBody>
        </p:sp>
        <p:sp>
          <p:nvSpPr>
            <p:cNvPr id="40" name="Oval 40">
              <a:extLst>
                <a:ext uri="{FF2B5EF4-FFF2-40B4-BE49-F238E27FC236}">
                  <a16:creationId xmlns:a16="http://schemas.microsoft.com/office/drawing/2014/main" id="{3AD28DCD-6388-42A1-8C46-F55B3130A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112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1" name="Oval 41">
              <a:extLst>
                <a:ext uri="{FF2B5EF4-FFF2-40B4-BE49-F238E27FC236}">
                  <a16:creationId xmlns:a16="http://schemas.microsoft.com/office/drawing/2014/main" id="{77B1D124-37FE-4AE2-B701-95A90C43A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112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42" name="Line 42">
            <a:extLst>
              <a:ext uri="{FF2B5EF4-FFF2-40B4-BE49-F238E27FC236}">
                <a16:creationId xmlns:a16="http://schemas.microsoft.com/office/drawing/2014/main" id="{9DF7F3C9-2B5A-4A61-9AC1-707EB1C44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2451613"/>
            <a:ext cx="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grpSp>
        <p:nvGrpSpPr>
          <p:cNvPr id="43" name="Group 43">
            <a:extLst>
              <a:ext uri="{FF2B5EF4-FFF2-40B4-BE49-F238E27FC236}">
                <a16:creationId xmlns:a16="http://schemas.microsoft.com/office/drawing/2014/main" id="{CB88E28A-9F0E-4B40-8BD0-FC037C9FE7E0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5042413"/>
            <a:ext cx="1636713" cy="228600"/>
            <a:chOff x="3504" y="3552"/>
            <a:chExt cx="1031" cy="144"/>
          </a:xfrm>
        </p:grpSpPr>
        <p:sp>
          <p:nvSpPr>
            <p:cNvPr id="44" name="Oval 44">
              <a:extLst>
                <a:ext uri="{FF2B5EF4-FFF2-40B4-BE49-F238E27FC236}">
                  <a16:creationId xmlns:a16="http://schemas.microsoft.com/office/drawing/2014/main" id="{F232B5F0-7D43-451F-8150-1603D1F6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3552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5" name="Oval 45">
              <a:extLst>
                <a:ext uri="{FF2B5EF4-FFF2-40B4-BE49-F238E27FC236}">
                  <a16:creationId xmlns:a16="http://schemas.microsoft.com/office/drawing/2014/main" id="{F29D847D-9CA6-4D57-932A-FF61A7898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552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32388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277B6-6569-1974-E6E5-83523F10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C069C25-97CF-44C8-8631-EF8A25C5C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062" y="11137"/>
            <a:ext cx="9911275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800" dirty="0"/>
              <a:t>Considere por separado los movimientos horizontal y vertical:</a:t>
            </a:r>
          </a:p>
        </p:txBody>
      </p:sp>
      <p:grpSp>
        <p:nvGrpSpPr>
          <p:cNvPr id="3" name="Group 87">
            <a:extLst>
              <a:ext uri="{FF2B5EF4-FFF2-40B4-BE49-F238E27FC236}">
                <a16:creationId xmlns:a16="http://schemas.microsoft.com/office/drawing/2014/main" id="{FB8FC3C0-100B-4BE9-B6A4-DD1311A51389}"/>
              </a:ext>
            </a:extLst>
          </p:cNvPr>
          <p:cNvGrpSpPr>
            <a:grpSpLocks/>
          </p:cNvGrpSpPr>
          <p:nvPr/>
        </p:nvGrpSpPr>
        <p:grpSpPr bwMode="auto">
          <a:xfrm>
            <a:off x="2747303" y="1154137"/>
            <a:ext cx="6934200" cy="4495800"/>
            <a:chOff x="816" y="1104"/>
            <a:chExt cx="4368" cy="2832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CCBE9364-1A4F-4DBE-92CC-566A9FCD9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104"/>
              <a:ext cx="4320" cy="2832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Rectangle 54">
              <a:extLst>
                <a:ext uri="{FF2B5EF4-FFF2-40B4-BE49-F238E27FC236}">
                  <a16:creationId xmlns:a16="http://schemas.microsoft.com/office/drawing/2014/main" id="{FC4454A6-68FD-4BDB-848B-014555BDC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96"/>
              <a:ext cx="3408" cy="96"/>
            </a:xfrm>
            <a:prstGeom prst="rect">
              <a:avLst/>
            </a:prstGeom>
            <a:solidFill>
              <a:srgbClr val="66FF33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6" name="Group 71">
              <a:extLst>
                <a:ext uri="{FF2B5EF4-FFF2-40B4-BE49-F238E27FC236}">
                  <a16:creationId xmlns:a16="http://schemas.microsoft.com/office/drawing/2014/main" id="{1AB23F7B-D304-4254-8F63-0E7174B779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776"/>
              <a:ext cx="576" cy="384"/>
              <a:chOff x="960" y="1776"/>
              <a:chExt cx="576" cy="384"/>
            </a:xfrm>
          </p:grpSpPr>
          <p:sp>
            <p:nvSpPr>
              <p:cNvPr id="10" name="Rectangle 56">
                <a:extLst>
                  <a:ext uri="{FF2B5EF4-FFF2-40B4-BE49-F238E27FC236}">
                    <a16:creationId xmlns:a16="http://schemas.microsoft.com/office/drawing/2014/main" id="{7225545E-C8C7-4869-908D-54CCA5840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2064"/>
                <a:ext cx="576" cy="96"/>
              </a:xfrm>
              <a:prstGeom prst="rect">
                <a:avLst/>
              </a:prstGeom>
              <a:solidFill>
                <a:srgbClr val="66FF33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1" name="Line 57">
                <a:extLst>
                  <a:ext uri="{FF2B5EF4-FFF2-40B4-BE49-F238E27FC236}">
                    <a16:creationId xmlns:a16="http://schemas.microsoft.com/office/drawing/2014/main" id="{06662497-9C49-4583-827D-241A8394F3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Line 58">
                <a:extLst>
                  <a:ext uri="{FF2B5EF4-FFF2-40B4-BE49-F238E27FC236}">
                    <a16:creationId xmlns:a16="http://schemas.microsoft.com/office/drawing/2014/main" id="{4AB9B56E-573B-49A6-A670-9B111DC4F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824"/>
                <a:ext cx="92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3" name="Line 59">
                <a:extLst>
                  <a:ext uri="{FF2B5EF4-FFF2-40B4-BE49-F238E27FC236}">
                    <a16:creationId xmlns:a16="http://schemas.microsoft.com/office/drawing/2014/main" id="{A7594A74-62BE-4D48-BEAA-782075C54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4" name="Line 60">
                <a:extLst>
                  <a:ext uri="{FF2B5EF4-FFF2-40B4-BE49-F238E27FC236}">
                    <a16:creationId xmlns:a16="http://schemas.microsoft.com/office/drawing/2014/main" id="{62A8F0B6-9433-4611-A937-043344058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92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5" name="Line 61">
                <a:extLst>
                  <a:ext uri="{FF2B5EF4-FFF2-40B4-BE49-F238E27FC236}">
                    <a16:creationId xmlns:a16="http://schemas.microsoft.com/office/drawing/2014/main" id="{69F4B39C-4ECC-440D-8B03-62FF86BB7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2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6" name="Line 62">
                <a:extLst>
                  <a:ext uri="{FF2B5EF4-FFF2-40B4-BE49-F238E27FC236}">
                    <a16:creationId xmlns:a16="http://schemas.microsoft.com/office/drawing/2014/main" id="{14049144-D3B4-463F-A37F-29EEBB7516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2" y="1824"/>
                <a:ext cx="92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7" name="Line 63">
                <a:extLst>
                  <a:ext uri="{FF2B5EF4-FFF2-40B4-BE49-F238E27FC236}">
                    <a16:creationId xmlns:a16="http://schemas.microsoft.com/office/drawing/2014/main" id="{2DEF092C-8C30-42BA-A8E3-B4CBA81581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8" name="Line 64">
                <a:extLst>
                  <a:ext uri="{FF2B5EF4-FFF2-40B4-BE49-F238E27FC236}">
                    <a16:creationId xmlns:a16="http://schemas.microsoft.com/office/drawing/2014/main" id="{509AC9BC-AA10-4B47-B70B-102E7B47D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1824"/>
                <a:ext cx="92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9" name="Line 65">
                <a:extLst>
                  <a:ext uri="{FF2B5EF4-FFF2-40B4-BE49-F238E27FC236}">
                    <a16:creationId xmlns:a16="http://schemas.microsoft.com/office/drawing/2014/main" id="{C38BA6DF-B8CF-4D23-9E12-768D47C97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4" y="182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0" name="Rectangle 66">
                <a:extLst>
                  <a:ext uri="{FF2B5EF4-FFF2-40B4-BE49-F238E27FC236}">
                    <a16:creationId xmlns:a16="http://schemas.microsoft.com/office/drawing/2014/main" id="{9CD601B9-C783-48BF-A118-64BFD1FB3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824"/>
                <a:ext cx="48" cy="192"/>
              </a:xfrm>
              <a:prstGeom prst="rect">
                <a:avLst/>
              </a:prstGeom>
              <a:solidFill>
                <a:srgbClr val="66FF33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1" name="Rectangle 67">
                <a:extLst>
                  <a:ext uri="{FF2B5EF4-FFF2-40B4-BE49-F238E27FC236}">
                    <a16:creationId xmlns:a16="http://schemas.microsoft.com/office/drawing/2014/main" id="{E48FDDD9-9982-42BC-918E-19B3045F7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776"/>
                <a:ext cx="96" cy="288"/>
              </a:xfrm>
              <a:prstGeom prst="rect">
                <a:avLst/>
              </a:prstGeom>
              <a:solidFill>
                <a:srgbClr val="66FF33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  <p:grpSp>
          <p:nvGrpSpPr>
            <p:cNvPr id="7" name="Group 68">
              <a:extLst>
                <a:ext uri="{FF2B5EF4-FFF2-40B4-BE49-F238E27FC236}">
                  <a16:creationId xmlns:a16="http://schemas.microsoft.com/office/drawing/2014/main" id="{A091BA83-8353-4E47-9751-B12C622A7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04"/>
              <a:ext cx="4368" cy="384"/>
              <a:chOff x="816" y="1152"/>
              <a:chExt cx="4320" cy="384"/>
            </a:xfrm>
          </p:grpSpPr>
          <p:sp>
            <p:nvSpPr>
              <p:cNvPr id="8" name="Text Box 69">
                <a:extLst>
                  <a:ext uri="{FF2B5EF4-FFF2-40B4-BE49-F238E27FC236}">
                    <a16:creationId xmlns:a16="http://schemas.microsoft.com/office/drawing/2014/main" id="{6F7298DF-67A7-4D88-A959-BF48632EC6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1152"/>
                <a:ext cx="4272" cy="291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s-MX" altLang="es-CO" sz="2400" dirty="0"/>
                  <a:t>Compare desplazamientos y velocidades</a:t>
                </a:r>
              </a:p>
            </p:txBody>
          </p:sp>
          <p:sp>
            <p:nvSpPr>
              <p:cNvPr id="9" name="Line 70">
                <a:extLst>
                  <a:ext uri="{FF2B5EF4-FFF2-40B4-BE49-F238E27FC236}">
                    <a16:creationId xmlns:a16="http://schemas.microsoft.com/office/drawing/2014/main" id="{D2FD294D-AF6D-4ABE-BE90-E4C6BC5BAB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36"/>
                <a:ext cx="4320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grpSp>
        <p:nvGrpSpPr>
          <p:cNvPr id="22" name="Group 242">
            <a:extLst>
              <a:ext uri="{FF2B5EF4-FFF2-40B4-BE49-F238E27FC236}">
                <a16:creationId xmlns:a16="http://schemas.microsoft.com/office/drawing/2014/main" id="{D10CBD2F-4E21-49FA-9979-A6EA7B983D6C}"/>
              </a:ext>
            </a:extLst>
          </p:cNvPr>
          <p:cNvGrpSpPr>
            <a:grpSpLocks/>
          </p:cNvGrpSpPr>
          <p:nvPr/>
        </p:nvGrpSpPr>
        <p:grpSpPr bwMode="auto">
          <a:xfrm>
            <a:off x="3890303" y="2068537"/>
            <a:ext cx="5486400" cy="549275"/>
            <a:chOff x="1536" y="1680"/>
            <a:chExt cx="3456" cy="346"/>
          </a:xfrm>
        </p:grpSpPr>
        <p:sp>
          <p:nvSpPr>
            <p:cNvPr id="23" name="Oval 243">
              <a:extLst>
                <a:ext uri="{FF2B5EF4-FFF2-40B4-BE49-F238E27FC236}">
                  <a16:creationId xmlns:a16="http://schemas.microsoft.com/office/drawing/2014/main" id="{365641E2-A423-4958-860E-CD8804141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872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4" name="Text Box 244">
              <a:extLst>
                <a:ext uri="{FF2B5EF4-FFF2-40B4-BE49-F238E27FC236}">
                  <a16:creationId xmlns:a16="http://schemas.microsoft.com/office/drawing/2014/main" id="{F0055AD1-C000-4746-B904-4BD6F1519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80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 s</a:t>
              </a:r>
            </a:p>
          </p:txBody>
        </p:sp>
        <p:sp>
          <p:nvSpPr>
            <p:cNvPr id="25" name="Oval 245">
              <a:extLst>
                <a:ext uri="{FF2B5EF4-FFF2-40B4-BE49-F238E27FC236}">
                  <a16:creationId xmlns:a16="http://schemas.microsoft.com/office/drawing/2014/main" id="{115BEC6B-6E47-4B78-A7E0-188230167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872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Text Box 246">
              <a:extLst>
                <a:ext uri="{FF2B5EF4-FFF2-40B4-BE49-F238E27FC236}">
                  <a16:creationId xmlns:a16="http://schemas.microsoft.com/office/drawing/2014/main" id="{2FD139F0-5374-430C-9187-980A55FA5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77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 s</a:t>
              </a:r>
            </a:p>
          </p:txBody>
        </p:sp>
      </p:grpSp>
      <p:grpSp>
        <p:nvGrpSpPr>
          <p:cNvPr id="27" name="Group 292">
            <a:extLst>
              <a:ext uri="{FF2B5EF4-FFF2-40B4-BE49-F238E27FC236}">
                <a16:creationId xmlns:a16="http://schemas.microsoft.com/office/drawing/2014/main" id="{1E893F38-AB5D-4CD8-80AB-F6C5F9F6F216}"/>
              </a:ext>
            </a:extLst>
          </p:cNvPr>
          <p:cNvGrpSpPr>
            <a:grpSpLocks/>
          </p:cNvGrpSpPr>
          <p:nvPr/>
        </p:nvGrpSpPr>
        <p:grpSpPr bwMode="auto">
          <a:xfrm>
            <a:off x="4042703" y="2449537"/>
            <a:ext cx="4608513" cy="2819400"/>
            <a:chOff x="1632" y="1920"/>
            <a:chExt cx="2903" cy="1776"/>
          </a:xfrm>
        </p:grpSpPr>
        <p:sp>
          <p:nvSpPr>
            <p:cNvPr id="28" name="Freeform 293">
              <a:extLst>
                <a:ext uri="{FF2B5EF4-FFF2-40B4-BE49-F238E27FC236}">
                  <a16:creationId xmlns:a16="http://schemas.microsoft.com/office/drawing/2014/main" id="{81559DD6-CF13-409B-B016-98CB71E9D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968"/>
              <a:ext cx="1968" cy="1728"/>
            </a:xfrm>
            <a:custGeom>
              <a:avLst/>
              <a:gdLst>
                <a:gd name="T0" fmla="*/ 0 w 1728"/>
                <a:gd name="T1" fmla="*/ 0 h 1584"/>
                <a:gd name="T2" fmla="*/ 720 w 1728"/>
                <a:gd name="T3" fmla="*/ 240 h 1584"/>
                <a:gd name="T4" fmla="*/ 1152 w 1728"/>
                <a:gd name="T5" fmla="*/ 624 h 1584"/>
                <a:gd name="T6" fmla="*/ 1536 w 1728"/>
                <a:gd name="T7" fmla="*/ 1152 h 1584"/>
                <a:gd name="T8" fmla="*/ 1728 w 1728"/>
                <a:gd name="T9" fmla="*/ 1584 h 1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8" h="1584">
                  <a:moveTo>
                    <a:pt x="0" y="0"/>
                  </a:moveTo>
                  <a:cubicBezTo>
                    <a:pt x="264" y="68"/>
                    <a:pt x="528" y="136"/>
                    <a:pt x="720" y="240"/>
                  </a:cubicBezTo>
                  <a:cubicBezTo>
                    <a:pt x="912" y="344"/>
                    <a:pt x="1016" y="472"/>
                    <a:pt x="1152" y="624"/>
                  </a:cubicBezTo>
                  <a:cubicBezTo>
                    <a:pt x="1288" y="776"/>
                    <a:pt x="1440" y="992"/>
                    <a:pt x="1536" y="1152"/>
                  </a:cubicBezTo>
                  <a:cubicBezTo>
                    <a:pt x="1632" y="1312"/>
                    <a:pt x="1696" y="1504"/>
                    <a:pt x="1728" y="158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29" name="Line 294">
              <a:extLst>
                <a:ext uri="{FF2B5EF4-FFF2-40B4-BE49-F238E27FC236}">
                  <a16:creationId xmlns:a16="http://schemas.microsoft.com/office/drawing/2014/main" id="{FB167009-677E-4139-8105-A8A907D52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920"/>
              <a:ext cx="0" cy="17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0" name="Oval 295">
              <a:extLst>
                <a:ext uri="{FF2B5EF4-FFF2-40B4-BE49-F238E27FC236}">
                  <a16:creationId xmlns:a16="http://schemas.microsoft.com/office/drawing/2014/main" id="{717099ED-B9D0-4FB8-8175-9A8921F81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552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Oval 296">
              <a:extLst>
                <a:ext uri="{FF2B5EF4-FFF2-40B4-BE49-F238E27FC236}">
                  <a16:creationId xmlns:a16="http://schemas.microsoft.com/office/drawing/2014/main" id="{A6D4137D-BD2A-455B-8639-9461CE4CF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3552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32" name="Line 297">
            <a:extLst>
              <a:ext uri="{FF2B5EF4-FFF2-40B4-BE49-F238E27FC236}">
                <a16:creationId xmlns:a16="http://schemas.microsoft.com/office/drawing/2014/main" id="{1C078AFD-B4F6-4C68-BE81-A35589648D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0266" y="2505100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CO"/>
          </a:p>
        </p:txBody>
      </p:sp>
      <p:grpSp>
        <p:nvGrpSpPr>
          <p:cNvPr id="33" name="Group 305">
            <a:extLst>
              <a:ext uri="{FF2B5EF4-FFF2-40B4-BE49-F238E27FC236}">
                <a16:creationId xmlns:a16="http://schemas.microsoft.com/office/drawing/2014/main" id="{C2136640-BF0A-4DCE-99C6-2BA50A2DFCE9}"/>
              </a:ext>
            </a:extLst>
          </p:cNvPr>
          <p:cNvGrpSpPr>
            <a:grpSpLocks/>
          </p:cNvGrpSpPr>
          <p:nvPr/>
        </p:nvGrpSpPr>
        <p:grpSpPr bwMode="auto">
          <a:xfrm>
            <a:off x="4804703" y="1916137"/>
            <a:ext cx="685800" cy="3505200"/>
            <a:chOff x="2112" y="1584"/>
            <a:chExt cx="432" cy="2208"/>
          </a:xfrm>
        </p:grpSpPr>
        <p:sp>
          <p:nvSpPr>
            <p:cNvPr id="34" name="Line 302">
              <a:extLst>
                <a:ext uri="{FF2B5EF4-FFF2-40B4-BE49-F238E27FC236}">
                  <a16:creationId xmlns:a16="http://schemas.microsoft.com/office/drawing/2014/main" id="{AFE98589-5516-422C-9EA8-62E7319E67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824"/>
              <a:ext cx="0" cy="19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5" name="Text Box 303">
              <a:extLst>
                <a:ext uri="{FF2B5EF4-FFF2-40B4-BE49-F238E27FC236}">
                  <a16:creationId xmlns:a16="http://schemas.microsoft.com/office/drawing/2014/main" id="{5D20BA67-B7DB-4F01-BDC4-0B2E4997F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58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s</a:t>
              </a:r>
            </a:p>
          </p:txBody>
        </p:sp>
      </p:grpSp>
      <p:grpSp>
        <p:nvGrpSpPr>
          <p:cNvPr id="36" name="Group 314">
            <a:extLst>
              <a:ext uri="{FF2B5EF4-FFF2-40B4-BE49-F238E27FC236}">
                <a16:creationId xmlns:a16="http://schemas.microsoft.com/office/drawing/2014/main" id="{333B5F3F-301F-4A31-A797-81BDA3703A65}"/>
              </a:ext>
            </a:extLst>
          </p:cNvPr>
          <p:cNvGrpSpPr>
            <a:grpSpLocks/>
          </p:cNvGrpSpPr>
          <p:nvPr/>
        </p:nvGrpSpPr>
        <p:grpSpPr bwMode="auto">
          <a:xfrm>
            <a:off x="4215741" y="1916137"/>
            <a:ext cx="817562" cy="573088"/>
            <a:chOff x="1741" y="1584"/>
            <a:chExt cx="515" cy="361"/>
          </a:xfrm>
        </p:grpSpPr>
        <p:sp>
          <p:nvSpPr>
            <p:cNvPr id="37" name="Line 301">
              <a:extLst>
                <a:ext uri="{FF2B5EF4-FFF2-40B4-BE49-F238E27FC236}">
                  <a16:creationId xmlns:a16="http://schemas.microsoft.com/office/drawing/2014/main" id="{56B07369-BE79-4D08-8274-1255BB80D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1" y="1945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38" name="Text Box 304">
              <a:extLst>
                <a:ext uri="{FF2B5EF4-FFF2-40B4-BE49-F238E27FC236}">
                  <a16:creationId xmlns:a16="http://schemas.microsoft.com/office/drawing/2014/main" id="{0167ABBB-47D4-45BB-ACF3-B482351E0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584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ox</a:t>
              </a:r>
              <a:endParaRPr kumimoji="0" lang="es-MX" altLang="es-CO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9" name="Group 308">
            <a:extLst>
              <a:ext uri="{FF2B5EF4-FFF2-40B4-BE49-F238E27FC236}">
                <a16:creationId xmlns:a16="http://schemas.microsoft.com/office/drawing/2014/main" id="{E1755EF6-3A6F-4B20-ADB1-5C6DB78C8F34}"/>
              </a:ext>
            </a:extLst>
          </p:cNvPr>
          <p:cNvGrpSpPr>
            <a:grpSpLocks/>
          </p:cNvGrpSpPr>
          <p:nvPr/>
        </p:nvGrpSpPr>
        <p:grpSpPr bwMode="auto">
          <a:xfrm>
            <a:off x="5490503" y="1916137"/>
            <a:ext cx="685800" cy="3505200"/>
            <a:chOff x="2544" y="1584"/>
            <a:chExt cx="432" cy="2208"/>
          </a:xfrm>
        </p:grpSpPr>
        <p:sp>
          <p:nvSpPr>
            <p:cNvPr id="40" name="Line 306">
              <a:extLst>
                <a:ext uri="{FF2B5EF4-FFF2-40B4-BE49-F238E27FC236}">
                  <a16:creationId xmlns:a16="http://schemas.microsoft.com/office/drawing/2014/main" id="{04106C13-C95A-4A9A-9A63-3258A4F87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824"/>
              <a:ext cx="0" cy="19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41" name="Text Box 307">
              <a:extLst>
                <a:ext uri="{FF2B5EF4-FFF2-40B4-BE49-F238E27FC236}">
                  <a16:creationId xmlns:a16="http://schemas.microsoft.com/office/drawing/2014/main" id="{AA3384DE-1C49-4F91-90BF-44768BC0C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58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 s</a:t>
              </a:r>
            </a:p>
          </p:txBody>
        </p:sp>
      </p:grpSp>
      <p:grpSp>
        <p:nvGrpSpPr>
          <p:cNvPr id="42" name="Group 311">
            <a:extLst>
              <a:ext uri="{FF2B5EF4-FFF2-40B4-BE49-F238E27FC236}">
                <a16:creationId xmlns:a16="http://schemas.microsoft.com/office/drawing/2014/main" id="{466FD109-59EE-4351-B7A5-3C024B85D19B}"/>
              </a:ext>
            </a:extLst>
          </p:cNvPr>
          <p:cNvGrpSpPr>
            <a:grpSpLocks/>
          </p:cNvGrpSpPr>
          <p:nvPr/>
        </p:nvGrpSpPr>
        <p:grpSpPr bwMode="auto">
          <a:xfrm>
            <a:off x="6252503" y="1916137"/>
            <a:ext cx="685800" cy="3429000"/>
            <a:chOff x="3024" y="1584"/>
            <a:chExt cx="432" cy="2160"/>
          </a:xfrm>
        </p:grpSpPr>
        <p:sp>
          <p:nvSpPr>
            <p:cNvPr id="43" name="Line 309">
              <a:extLst>
                <a:ext uri="{FF2B5EF4-FFF2-40B4-BE49-F238E27FC236}">
                  <a16:creationId xmlns:a16="http://schemas.microsoft.com/office/drawing/2014/main" id="{98C389A9-C06A-47A3-9178-8377B082B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824"/>
              <a:ext cx="0" cy="19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44" name="Text Box 310">
              <a:extLst>
                <a:ext uri="{FF2B5EF4-FFF2-40B4-BE49-F238E27FC236}">
                  <a16:creationId xmlns:a16="http://schemas.microsoft.com/office/drawing/2014/main" id="{EF7883E2-3A0E-40B7-B232-D96F006720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58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 s</a:t>
              </a:r>
            </a:p>
          </p:txBody>
        </p:sp>
      </p:grpSp>
      <p:grpSp>
        <p:nvGrpSpPr>
          <p:cNvPr id="45" name="Group 256">
            <a:extLst>
              <a:ext uri="{FF2B5EF4-FFF2-40B4-BE49-F238E27FC236}">
                <a16:creationId xmlns:a16="http://schemas.microsoft.com/office/drawing/2014/main" id="{948CE38C-3212-4CFB-A6C4-914B42393977}"/>
              </a:ext>
            </a:extLst>
          </p:cNvPr>
          <p:cNvGrpSpPr>
            <a:grpSpLocks/>
          </p:cNvGrpSpPr>
          <p:nvPr/>
        </p:nvGrpSpPr>
        <p:grpSpPr bwMode="auto">
          <a:xfrm>
            <a:off x="4347503" y="2678137"/>
            <a:ext cx="5029200" cy="595313"/>
            <a:chOff x="1824" y="2064"/>
            <a:chExt cx="3168" cy="375"/>
          </a:xfrm>
        </p:grpSpPr>
        <p:sp>
          <p:nvSpPr>
            <p:cNvPr id="46" name="Line 248">
              <a:extLst>
                <a:ext uri="{FF2B5EF4-FFF2-40B4-BE49-F238E27FC236}">
                  <a16:creationId xmlns:a16="http://schemas.microsoft.com/office/drawing/2014/main" id="{AAE399C4-CDDC-4D6D-8E29-D607E8D6A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20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47" name="Line 249">
              <a:extLst>
                <a:ext uri="{FF2B5EF4-FFF2-40B4-BE49-F238E27FC236}">
                  <a16:creationId xmlns:a16="http://schemas.microsoft.com/office/drawing/2014/main" id="{BBBBFBCE-F544-46A8-9107-1483FAFD9B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20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48" name="Line 250">
              <a:extLst>
                <a:ext uri="{FF2B5EF4-FFF2-40B4-BE49-F238E27FC236}">
                  <a16:creationId xmlns:a16="http://schemas.microsoft.com/office/drawing/2014/main" id="{6DC86BAF-200D-4BDA-86F2-D8A61D9A9C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" y="2221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49" name="Line 251">
              <a:extLst>
                <a:ext uri="{FF2B5EF4-FFF2-40B4-BE49-F238E27FC236}">
                  <a16:creationId xmlns:a16="http://schemas.microsoft.com/office/drawing/2014/main" id="{FF77BAE6-DFED-43FA-822B-FDCC9076B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208"/>
              <a:ext cx="27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50" name="Text Box 252">
              <a:extLst>
                <a:ext uri="{FF2B5EF4-FFF2-40B4-BE49-F238E27FC236}">
                  <a16:creationId xmlns:a16="http://schemas.microsoft.com/office/drawing/2014/main" id="{60621BFA-D9EF-4188-B5BC-5D611AAAF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06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s</a:t>
              </a:r>
            </a:p>
          </p:txBody>
        </p:sp>
        <p:sp>
          <p:nvSpPr>
            <p:cNvPr id="51" name="Text Box 253">
              <a:extLst>
                <a:ext uri="{FF2B5EF4-FFF2-40B4-BE49-F238E27FC236}">
                  <a16:creationId xmlns:a16="http://schemas.microsoft.com/office/drawing/2014/main" id="{603E273B-88A4-43E6-B303-4DD9B695D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5" y="211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kumimoji="0" lang="es-MX" altLang="es-CO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2" name="Oval 254">
              <a:extLst>
                <a:ext uri="{FF2B5EF4-FFF2-40B4-BE49-F238E27FC236}">
                  <a16:creationId xmlns:a16="http://schemas.microsoft.com/office/drawing/2014/main" id="{97930895-826F-45D2-9134-20166EDD8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112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3" name="Oval 255">
              <a:extLst>
                <a:ext uri="{FF2B5EF4-FFF2-40B4-BE49-F238E27FC236}">
                  <a16:creationId xmlns:a16="http://schemas.microsoft.com/office/drawing/2014/main" id="{8F169ED5-9B27-47DD-9C32-FADDB490C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112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54" name="Group 257">
            <a:extLst>
              <a:ext uri="{FF2B5EF4-FFF2-40B4-BE49-F238E27FC236}">
                <a16:creationId xmlns:a16="http://schemas.microsoft.com/office/drawing/2014/main" id="{DFA33E3E-2D42-4030-8528-16C774F4E756}"/>
              </a:ext>
            </a:extLst>
          </p:cNvPr>
          <p:cNvGrpSpPr>
            <a:grpSpLocks/>
          </p:cNvGrpSpPr>
          <p:nvPr/>
        </p:nvGrpSpPr>
        <p:grpSpPr bwMode="auto">
          <a:xfrm>
            <a:off x="4271303" y="2982937"/>
            <a:ext cx="5105400" cy="1204913"/>
            <a:chOff x="1776" y="2256"/>
            <a:chExt cx="3216" cy="759"/>
          </a:xfrm>
        </p:grpSpPr>
        <p:sp>
          <p:nvSpPr>
            <p:cNvPr id="55" name="Text Box 258">
              <a:extLst>
                <a:ext uri="{FF2B5EF4-FFF2-40B4-BE49-F238E27FC236}">
                  <a16:creationId xmlns:a16="http://schemas.microsoft.com/office/drawing/2014/main" id="{AE5707D8-AA47-4FDC-8CFD-0EB2A2638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44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 s</a:t>
              </a:r>
            </a:p>
          </p:txBody>
        </p:sp>
        <p:sp>
          <p:nvSpPr>
            <p:cNvPr id="56" name="Text Box 259">
              <a:extLst>
                <a:ext uri="{FF2B5EF4-FFF2-40B4-BE49-F238E27FC236}">
                  <a16:creationId xmlns:a16="http://schemas.microsoft.com/office/drawing/2014/main" id="{D37E491A-AD9F-4265-A121-A3165B132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25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x</a:t>
              </a:r>
              <a:endParaRPr kumimoji="0" lang="es-MX" altLang="es-CO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260">
              <a:extLst>
                <a:ext uri="{FF2B5EF4-FFF2-40B4-BE49-F238E27FC236}">
                  <a16:creationId xmlns:a16="http://schemas.microsoft.com/office/drawing/2014/main" id="{11B34C85-4B3A-4E77-B249-7EF17C825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68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kumimoji="0" lang="es-MX" altLang="es-CO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8" name="Line 261">
              <a:extLst>
                <a:ext uri="{FF2B5EF4-FFF2-40B4-BE49-F238E27FC236}">
                  <a16:creationId xmlns:a16="http://schemas.microsoft.com/office/drawing/2014/main" id="{4DDCEF24-2D47-498A-89AA-3E6DA0007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6" y="2579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59" name="Line 262">
              <a:extLst>
                <a:ext uri="{FF2B5EF4-FFF2-40B4-BE49-F238E27FC236}">
                  <a16:creationId xmlns:a16="http://schemas.microsoft.com/office/drawing/2014/main" id="{0F581EF5-880A-4466-B11C-807505B90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6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60" name="Line 263">
              <a:extLst>
                <a:ext uri="{FF2B5EF4-FFF2-40B4-BE49-F238E27FC236}">
                  <a16:creationId xmlns:a16="http://schemas.microsoft.com/office/drawing/2014/main" id="{1DBC5FE4-E602-4E65-B75D-BBD0AB448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59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61" name="Oval 264">
              <a:extLst>
                <a:ext uri="{FF2B5EF4-FFF2-40B4-BE49-F238E27FC236}">
                  <a16:creationId xmlns:a16="http://schemas.microsoft.com/office/drawing/2014/main" id="{7AE6E553-B179-4497-879F-55136208D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496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2" name="Line 265">
              <a:extLst>
                <a:ext uri="{FF2B5EF4-FFF2-40B4-BE49-F238E27FC236}">
                  <a16:creationId xmlns:a16="http://schemas.microsoft.com/office/drawing/2014/main" id="{F42BCCB3-53D4-4A21-A60F-F25662C59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592"/>
              <a:ext cx="28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63" name="Oval 266">
              <a:extLst>
                <a:ext uri="{FF2B5EF4-FFF2-40B4-BE49-F238E27FC236}">
                  <a16:creationId xmlns:a16="http://schemas.microsoft.com/office/drawing/2014/main" id="{64BD3496-A7C1-4B7F-8EDD-28E745F3E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496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64" name="Group 277">
            <a:extLst>
              <a:ext uri="{FF2B5EF4-FFF2-40B4-BE49-F238E27FC236}">
                <a16:creationId xmlns:a16="http://schemas.microsoft.com/office/drawing/2014/main" id="{3FC182AC-D2DF-4AFE-BCAD-DA13E87B0B41}"/>
              </a:ext>
            </a:extLst>
          </p:cNvPr>
          <p:cNvGrpSpPr>
            <a:grpSpLocks/>
          </p:cNvGrpSpPr>
          <p:nvPr/>
        </p:nvGrpSpPr>
        <p:grpSpPr bwMode="auto">
          <a:xfrm>
            <a:off x="4347503" y="3744937"/>
            <a:ext cx="5029200" cy="1219200"/>
            <a:chOff x="1824" y="2736"/>
            <a:chExt cx="3168" cy="768"/>
          </a:xfrm>
        </p:grpSpPr>
        <p:sp>
          <p:nvSpPr>
            <p:cNvPr id="65" name="Line 278">
              <a:extLst>
                <a:ext uri="{FF2B5EF4-FFF2-40B4-BE49-F238E27FC236}">
                  <a16:creationId xmlns:a16="http://schemas.microsoft.com/office/drawing/2014/main" id="{23AEAC04-2822-4E40-A03A-3738A470F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6" y="3097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66" name="Line 279">
              <a:extLst>
                <a:ext uri="{FF2B5EF4-FFF2-40B4-BE49-F238E27FC236}">
                  <a16:creationId xmlns:a16="http://schemas.microsoft.com/office/drawing/2014/main" id="{2E0DFC7E-C70C-46E4-95E3-BAF8CB78F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312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67" name="Line 280">
              <a:extLst>
                <a:ext uri="{FF2B5EF4-FFF2-40B4-BE49-F238E27FC236}">
                  <a16:creationId xmlns:a16="http://schemas.microsoft.com/office/drawing/2014/main" id="{920FA88F-CE55-4229-BFC1-A23236270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12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68" name="Line 281">
              <a:extLst>
                <a:ext uri="{FF2B5EF4-FFF2-40B4-BE49-F238E27FC236}">
                  <a16:creationId xmlns:a16="http://schemas.microsoft.com/office/drawing/2014/main" id="{2B1AC007-D39B-41E1-95E5-00014E2FB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120"/>
              <a:ext cx="28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69" name="Text Box 282">
              <a:extLst>
                <a:ext uri="{FF2B5EF4-FFF2-40B4-BE49-F238E27FC236}">
                  <a16:creationId xmlns:a16="http://schemas.microsoft.com/office/drawing/2014/main" id="{3E5ACBAA-ACEF-464D-9644-D3549D04B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97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 s</a:t>
              </a:r>
            </a:p>
          </p:txBody>
        </p:sp>
        <p:sp>
          <p:nvSpPr>
            <p:cNvPr id="70" name="Text Box 283">
              <a:extLst>
                <a:ext uri="{FF2B5EF4-FFF2-40B4-BE49-F238E27FC236}">
                  <a16:creationId xmlns:a16="http://schemas.microsoft.com/office/drawing/2014/main" id="{A121A8A5-B1EA-4323-AFDD-AE4EC6653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73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x</a:t>
              </a:r>
              <a:endParaRPr kumimoji="0" lang="es-MX" altLang="es-CO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284">
              <a:extLst>
                <a:ext uri="{FF2B5EF4-FFF2-40B4-BE49-F238E27FC236}">
                  <a16:creationId xmlns:a16="http://schemas.microsoft.com/office/drawing/2014/main" id="{235FE445-B810-4286-801F-45F7C114F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16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s-MX" altLang="es-CO" sz="28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kumimoji="0" lang="es-MX" altLang="es-CO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2" name="Oval 285">
              <a:extLst>
                <a:ext uri="{FF2B5EF4-FFF2-40B4-BE49-F238E27FC236}">
                  <a16:creationId xmlns:a16="http://schemas.microsoft.com/office/drawing/2014/main" id="{F6BEA5FC-E0D6-484E-84E1-0FD50D152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024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3" name="Oval 286">
              <a:extLst>
                <a:ext uri="{FF2B5EF4-FFF2-40B4-BE49-F238E27FC236}">
                  <a16:creationId xmlns:a16="http://schemas.microsoft.com/office/drawing/2014/main" id="{DD579587-443B-45E3-8F9D-2405E7A30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144" cy="1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74" name="Text Box 315">
            <a:extLst>
              <a:ext uri="{FF2B5EF4-FFF2-40B4-BE49-F238E27FC236}">
                <a16:creationId xmlns:a16="http://schemas.microsoft.com/office/drawing/2014/main" id="{84E39100-6DC5-48BE-8CE9-49EF894F5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5903" y="3363937"/>
            <a:ext cx="2667000" cy="730250"/>
          </a:xfrm>
          <a:prstGeom prst="rect">
            <a:avLst/>
          </a:prstGeom>
          <a:solidFill>
            <a:srgbClr val="CCFFCC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0" lang="es-MX" altLang="es-CO" sz="2000">
                <a:solidFill>
                  <a:srgbClr val="000000"/>
                </a:solidFill>
              </a:rPr>
              <a:t>La velocidad horizontal no cambia.</a:t>
            </a:r>
          </a:p>
        </p:txBody>
      </p:sp>
      <p:sp>
        <p:nvSpPr>
          <p:cNvPr id="75" name="Text Box 316">
            <a:extLst>
              <a:ext uri="{FF2B5EF4-FFF2-40B4-BE49-F238E27FC236}">
                <a16:creationId xmlns:a16="http://schemas.microsoft.com/office/drawing/2014/main" id="{BD4ECFBC-FE30-4D80-B1A8-D79ECD3F8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103" y="4278337"/>
            <a:ext cx="2590800" cy="730250"/>
          </a:xfrm>
          <a:prstGeom prst="rect">
            <a:avLst/>
          </a:prstGeom>
          <a:solidFill>
            <a:srgbClr val="CCFFCC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0" lang="es-MX" altLang="es-CO" sz="2000">
                <a:solidFill>
                  <a:srgbClr val="000000"/>
                </a:solidFill>
              </a:rPr>
              <a:t>Velocidad vertical tal como caída libre.</a:t>
            </a:r>
          </a:p>
        </p:txBody>
      </p:sp>
      <p:sp>
        <p:nvSpPr>
          <p:cNvPr id="76" name="Rectangle 317">
            <a:extLst>
              <a:ext uri="{FF2B5EF4-FFF2-40B4-BE49-F238E27FC236}">
                <a16:creationId xmlns:a16="http://schemas.microsoft.com/office/drawing/2014/main" id="{D3D83112-0744-45B3-AD2F-BB99D80F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1903" y="2373337"/>
            <a:ext cx="4667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s-MX" altLang="es-CO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kumimoji="0" lang="es-MX" altLang="es-CO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2778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74" grpId="0" animBg="1" autoUpdateAnimBg="0"/>
      <p:bldP spid="75" grpId="0" animBg="1" autoUpdateAnimBg="0"/>
      <p:bldP spid="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394D7-0C7A-2CDF-4BC5-96450DCD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22FD8A1-875A-4646-AC19-9B16C4940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151" y="0"/>
            <a:ext cx="9792286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800" dirty="0"/>
              <a:t>Cálculo de desplazamiento para proyección horizontal:</a:t>
            </a:r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89650AC6-E2F1-4FE9-91DB-2617FF7B9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037" y="1295400"/>
            <a:ext cx="54864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dirty="0"/>
              <a:t>Para cualquier aceleración constante:</a:t>
            </a:r>
          </a:p>
        </p:txBody>
      </p:sp>
      <p:grpSp>
        <p:nvGrpSpPr>
          <p:cNvPr id="4" name="Group 56">
            <a:extLst>
              <a:ext uri="{FF2B5EF4-FFF2-40B4-BE49-F238E27FC236}">
                <a16:creationId xmlns:a16="http://schemas.microsoft.com/office/drawing/2014/main" id="{7A097B39-36FB-4C77-869F-C2AA305CDFB6}"/>
              </a:ext>
            </a:extLst>
          </p:cNvPr>
          <p:cNvGrpSpPr>
            <a:grpSpLocks/>
          </p:cNvGrpSpPr>
          <p:nvPr/>
        </p:nvGrpSpPr>
        <p:grpSpPr bwMode="auto">
          <a:xfrm>
            <a:off x="2487637" y="3505200"/>
            <a:ext cx="7239000" cy="1066800"/>
            <a:chOff x="672" y="2496"/>
            <a:chExt cx="4560" cy="672"/>
          </a:xfrm>
        </p:grpSpPr>
        <p:sp>
          <p:nvSpPr>
            <p:cNvPr id="5" name="Rectangle 47">
              <a:extLst>
                <a:ext uri="{FF2B5EF4-FFF2-40B4-BE49-F238E27FC236}">
                  <a16:creationId xmlns:a16="http://schemas.microsoft.com/office/drawing/2014/main" id="{F8B226EC-767F-4D66-89E2-52BB7F6D4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4560" cy="672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Text Box 49">
              <a:extLst>
                <a:ext uri="{FF2B5EF4-FFF2-40B4-BE49-F238E27FC236}">
                  <a16:creationId xmlns:a16="http://schemas.microsoft.com/office/drawing/2014/main" id="{D21F5CE9-EADB-4C84-A00D-605701CEE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688"/>
              <a:ext cx="27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Desplazamiento horizontal :</a:t>
              </a:r>
            </a:p>
          </p:txBody>
        </p:sp>
        <p:graphicFrame>
          <p:nvGraphicFramePr>
            <p:cNvPr id="7" name="Object 51">
              <a:extLst>
                <a:ext uri="{FF2B5EF4-FFF2-40B4-BE49-F238E27FC236}">
                  <a16:creationId xmlns:a16="http://schemas.microsoft.com/office/drawing/2014/main" id="{15EA2EAA-58C9-4E12-9A3C-E3ED3F1CF6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3132558"/>
                </p:ext>
              </p:extLst>
            </p:nvPr>
          </p:nvGraphicFramePr>
          <p:xfrm>
            <a:off x="3696" y="2582"/>
            <a:ext cx="1008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82400" imgH="228600" progId="Equation.DSMT4">
                    <p:embed/>
                  </p:oleObj>
                </mc:Choice>
                <mc:Fallback>
                  <p:oleObj name="Equation" r:id="rId4" imgW="482400" imgH="228600" progId="Equation.DSMT4">
                    <p:embed/>
                    <p:pic>
                      <p:nvPicPr>
                        <p:cNvPr id="499763" name="Object 51">
                          <a:extLst>
                            <a:ext uri="{FF2B5EF4-FFF2-40B4-BE49-F238E27FC236}">
                              <a16:creationId xmlns:a16="http://schemas.microsoft.com/office/drawing/2014/main" id="{35DA64E8-5F45-4224-B497-45E25D1550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582"/>
                          <a:ext cx="1008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7">
            <a:extLst>
              <a:ext uri="{FF2B5EF4-FFF2-40B4-BE49-F238E27FC236}">
                <a16:creationId xmlns:a16="http://schemas.microsoft.com/office/drawing/2014/main" id="{BB149833-4D42-4EC8-8904-157A7FA228F7}"/>
              </a:ext>
            </a:extLst>
          </p:cNvPr>
          <p:cNvGrpSpPr>
            <a:grpSpLocks/>
          </p:cNvGrpSpPr>
          <p:nvPr/>
        </p:nvGrpSpPr>
        <p:grpSpPr bwMode="auto">
          <a:xfrm>
            <a:off x="2487637" y="4800600"/>
            <a:ext cx="7239000" cy="1066800"/>
            <a:chOff x="672" y="3312"/>
            <a:chExt cx="4560" cy="672"/>
          </a:xfrm>
        </p:grpSpPr>
        <p:sp>
          <p:nvSpPr>
            <p:cNvPr id="9" name="Rectangle 48">
              <a:extLst>
                <a:ext uri="{FF2B5EF4-FFF2-40B4-BE49-F238E27FC236}">
                  <a16:creationId xmlns:a16="http://schemas.microsoft.com/office/drawing/2014/main" id="{841D072F-AAE9-48C5-9FAD-7DDBDB85B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312"/>
              <a:ext cx="4560" cy="672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50">
              <a:extLst>
                <a:ext uri="{FF2B5EF4-FFF2-40B4-BE49-F238E27FC236}">
                  <a16:creationId xmlns:a16="http://schemas.microsoft.com/office/drawing/2014/main" id="{4AC09C2F-BE2A-4994-9327-646D54213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456"/>
              <a:ext cx="27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Desplazamiento vertical:</a:t>
              </a:r>
            </a:p>
          </p:txBody>
        </p:sp>
        <p:graphicFrame>
          <p:nvGraphicFramePr>
            <p:cNvPr id="11" name="Object 52">
              <a:extLst>
                <a:ext uri="{FF2B5EF4-FFF2-40B4-BE49-F238E27FC236}">
                  <a16:creationId xmlns:a16="http://schemas.microsoft.com/office/drawing/2014/main" id="{17E7C523-06EC-40A3-8D44-123C7D38E5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4268989"/>
                </p:ext>
              </p:extLst>
            </p:nvPr>
          </p:nvGraphicFramePr>
          <p:xfrm>
            <a:off x="3672" y="3378"/>
            <a:ext cx="1056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71320" imgH="241200" progId="Equation.DSMT4">
                    <p:embed/>
                  </p:oleObj>
                </mc:Choice>
                <mc:Fallback>
                  <p:oleObj name="Equation" r:id="rId6" imgW="571320" imgH="241200" progId="Equation.DSMT4">
                    <p:embed/>
                    <p:pic>
                      <p:nvPicPr>
                        <p:cNvPr id="499764" name="Object 52">
                          <a:extLst>
                            <a:ext uri="{FF2B5EF4-FFF2-40B4-BE49-F238E27FC236}">
                              <a16:creationId xmlns:a16="http://schemas.microsoft.com/office/drawing/2014/main" id="{C5810A86-C761-4B2B-8DDD-BC194749D9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2" y="3378"/>
                          <a:ext cx="1056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53">
            <a:extLst>
              <a:ext uri="{FF2B5EF4-FFF2-40B4-BE49-F238E27FC236}">
                <a16:creationId xmlns:a16="http://schemas.microsoft.com/office/drawing/2014/main" id="{75EA7C85-4BB2-46F5-950E-69FEAC1982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481748"/>
              </p:ext>
            </p:extLst>
          </p:nvPr>
        </p:nvGraphicFramePr>
        <p:xfrm>
          <a:off x="7364437" y="1125538"/>
          <a:ext cx="28194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680" imgH="241200" progId="Equation.DSMT4">
                  <p:embed/>
                </p:oleObj>
              </mc:Choice>
              <mc:Fallback>
                <p:oleObj name="Equation" r:id="rId8" imgW="850680" imgH="241200" progId="Equation.DSMT4">
                  <p:embed/>
                  <p:pic>
                    <p:nvPicPr>
                      <p:cNvPr id="499765" name="Object 53">
                        <a:extLst>
                          <a:ext uri="{FF2B5EF4-FFF2-40B4-BE49-F238E27FC236}">
                            <a16:creationId xmlns:a16="http://schemas.microsoft.com/office/drawing/2014/main" id="{9CE46F0B-7E58-4710-8050-AAB26DCF3B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4437" y="1125538"/>
                        <a:ext cx="2819400" cy="80486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58">
            <a:extLst>
              <a:ext uri="{FF2B5EF4-FFF2-40B4-BE49-F238E27FC236}">
                <a16:creationId xmlns:a16="http://schemas.microsoft.com/office/drawing/2014/main" id="{156DB20C-B569-40FD-9747-9E35894622F7}"/>
              </a:ext>
            </a:extLst>
          </p:cNvPr>
          <p:cNvGrpSpPr>
            <a:grpSpLocks/>
          </p:cNvGrpSpPr>
          <p:nvPr/>
        </p:nvGrpSpPr>
        <p:grpSpPr bwMode="auto">
          <a:xfrm>
            <a:off x="1954237" y="1981200"/>
            <a:ext cx="8077200" cy="1236663"/>
            <a:chOff x="336" y="1536"/>
            <a:chExt cx="4992" cy="779"/>
          </a:xfrm>
        </p:grpSpPr>
        <p:sp>
          <p:nvSpPr>
            <p:cNvPr id="14" name="Text Box 54">
              <a:extLst>
                <a:ext uri="{FF2B5EF4-FFF2-40B4-BE49-F238E27FC236}">
                  <a16:creationId xmlns:a16="http://schemas.microsoft.com/office/drawing/2014/main" id="{75725A8A-E95E-465B-8C5F-808409F2D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36"/>
              <a:ext cx="49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dirty="0"/>
                <a:t>Para el caso especial de proyección horizontal: </a:t>
              </a:r>
            </a:p>
          </p:txBody>
        </p:sp>
        <p:graphicFrame>
          <p:nvGraphicFramePr>
            <p:cNvPr id="15" name="Object 55">
              <a:extLst>
                <a:ext uri="{FF2B5EF4-FFF2-40B4-BE49-F238E27FC236}">
                  <a16:creationId xmlns:a16="http://schemas.microsoft.com/office/drawing/2014/main" id="{86F1FD66-303A-437C-ABEF-38B03510E5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6238590"/>
                </p:ext>
              </p:extLst>
            </p:nvPr>
          </p:nvGraphicFramePr>
          <p:xfrm>
            <a:off x="912" y="1872"/>
            <a:ext cx="3642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81080" imgH="241200" progId="Equation.DSMT4">
                    <p:embed/>
                  </p:oleObj>
                </mc:Choice>
                <mc:Fallback>
                  <p:oleObj name="Equation" r:id="rId10" imgW="1981080" imgH="241200" progId="Equation.DSMT4">
                    <p:embed/>
                    <p:pic>
                      <p:nvPicPr>
                        <p:cNvPr id="499767" name="Object 55">
                          <a:extLst>
                            <a:ext uri="{FF2B5EF4-FFF2-40B4-BE49-F238E27FC236}">
                              <a16:creationId xmlns:a16="http://schemas.microsoft.com/office/drawing/2014/main" id="{6290B363-AC6C-424E-84E3-95DF1E7A53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872"/>
                          <a:ext cx="3642" cy="443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4748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39CB4-50D5-1641-48C8-108A41E1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62993C4-098E-4A37-B34C-F023E92CD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3218" y="119575"/>
            <a:ext cx="9500382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800" dirty="0"/>
              <a:t>Cálculo de velocidad para proyección horizontal: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527A5F0-BB48-4DF9-ABA3-0075410F0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414975"/>
            <a:ext cx="54864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0" dirty="0"/>
              <a:t>Para cualquier aceleración constante:</a:t>
            </a:r>
            <a:endParaRPr lang="es-MX" altLang="es-CO" sz="2400" dirty="0"/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95FD6D8C-DEF9-461E-AD14-A9D8D65D7215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3624775"/>
            <a:ext cx="7239000" cy="1066800"/>
            <a:chOff x="672" y="2496"/>
            <a:chExt cx="4560" cy="67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9ECD02-C363-4235-85AC-AD43D58A0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96"/>
              <a:ext cx="4560" cy="672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52E4F93C-4032-49E4-B990-D5139D6B3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688"/>
              <a:ext cx="27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/>
                <a:t>Velocidad horizontal:</a:t>
              </a:r>
            </a:p>
          </p:txBody>
        </p:sp>
        <p:graphicFrame>
          <p:nvGraphicFramePr>
            <p:cNvPr id="7" name="Object 8">
              <a:extLst>
                <a:ext uri="{FF2B5EF4-FFF2-40B4-BE49-F238E27FC236}">
                  <a16:creationId xmlns:a16="http://schemas.microsoft.com/office/drawing/2014/main" id="{DCD017DA-5C5F-4749-8C0B-00F4DA10CC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1907912"/>
                </p:ext>
              </p:extLst>
            </p:nvPr>
          </p:nvGraphicFramePr>
          <p:xfrm>
            <a:off x="3552" y="2548"/>
            <a:ext cx="1008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82400" imgH="228600" progId="Equation.DSMT4">
                    <p:embed/>
                  </p:oleObj>
                </mc:Choice>
                <mc:Fallback>
                  <p:oleObj name="Equation" r:id="rId4" imgW="482400" imgH="228600" progId="Equation.DSMT4">
                    <p:embed/>
                    <p:pic>
                      <p:nvPicPr>
                        <p:cNvPr id="500744" name="Object 8">
                          <a:extLst>
                            <a:ext uri="{FF2B5EF4-FFF2-40B4-BE49-F238E27FC236}">
                              <a16:creationId xmlns:a16="http://schemas.microsoft.com/office/drawing/2014/main" id="{ACB34EFC-CD19-4873-B034-2F6B1ACDC1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548"/>
                          <a:ext cx="1008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16">
            <a:extLst>
              <a:ext uri="{FF2B5EF4-FFF2-40B4-BE49-F238E27FC236}">
                <a16:creationId xmlns:a16="http://schemas.microsoft.com/office/drawing/2014/main" id="{0AB9C47E-F31B-4264-A9C1-568AC09D7310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920175"/>
            <a:ext cx="7239000" cy="1066800"/>
            <a:chOff x="672" y="3312"/>
            <a:chExt cx="4560" cy="672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3B21D428-F4A4-40C6-AC37-65858F151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312"/>
              <a:ext cx="4560" cy="672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41EFC178-C63D-456E-BBDC-390400C41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456"/>
              <a:ext cx="27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Velocidad vertical:</a:t>
              </a:r>
            </a:p>
          </p:txBody>
        </p:sp>
        <p:graphicFrame>
          <p:nvGraphicFramePr>
            <p:cNvPr id="11" name="Object 9">
              <a:extLst>
                <a:ext uri="{FF2B5EF4-FFF2-40B4-BE49-F238E27FC236}">
                  <a16:creationId xmlns:a16="http://schemas.microsoft.com/office/drawing/2014/main" id="{6FEA630B-AB15-49C0-837C-55E7E2F9F7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3" y="3408"/>
            <a:ext cx="1338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23600" imgH="241200" progId="Equation.DSMT4">
                    <p:embed/>
                  </p:oleObj>
                </mc:Choice>
                <mc:Fallback>
                  <p:oleObj name="Equation" r:id="rId6" imgW="723600" imgH="241200" progId="Equation.DSMT4">
                    <p:embed/>
                    <p:pic>
                      <p:nvPicPr>
                        <p:cNvPr id="500745" name="Object 9">
                          <a:extLst>
                            <a:ext uri="{FF2B5EF4-FFF2-40B4-BE49-F238E27FC236}">
                              <a16:creationId xmlns:a16="http://schemas.microsoft.com/office/drawing/2014/main" id="{4E36D613-F8CB-4258-9846-9456189422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3408"/>
                          <a:ext cx="1338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BB1C073E-A531-4BCF-814A-9B159EA1E8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092411"/>
              </p:ext>
            </p:extLst>
          </p:nvPr>
        </p:nvGraphicFramePr>
        <p:xfrm>
          <a:off x="7961313" y="1245113"/>
          <a:ext cx="24415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241200" progId="Equation.DSMT4">
                  <p:embed/>
                </p:oleObj>
              </mc:Choice>
              <mc:Fallback>
                <p:oleObj name="Equation" r:id="rId8" imgW="736560" imgH="241200" progId="Equation.DSMT4">
                  <p:embed/>
                  <p:pic>
                    <p:nvPicPr>
                      <p:cNvPr id="500746" name="Object 10">
                        <a:extLst>
                          <a:ext uri="{FF2B5EF4-FFF2-40B4-BE49-F238E27FC236}">
                            <a16:creationId xmlns:a16="http://schemas.microsoft.com/office/drawing/2014/main" id="{62BBF440-8D86-432D-A289-32A6D90FE1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1313" y="1245113"/>
                        <a:ext cx="2441575" cy="80486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5">
            <a:extLst>
              <a:ext uri="{FF2B5EF4-FFF2-40B4-BE49-F238E27FC236}">
                <a16:creationId xmlns:a16="http://schemas.microsoft.com/office/drawing/2014/main" id="{E98BCD01-F686-47B5-B4DA-DF191472A118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100775"/>
            <a:ext cx="7924800" cy="1236663"/>
            <a:chOff x="336" y="1536"/>
            <a:chExt cx="4992" cy="779"/>
          </a:xfrm>
        </p:grpSpPr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F9BD404F-9D63-4A95-BE4A-583B2B19C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36"/>
              <a:ext cx="49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i="0" dirty="0"/>
                <a:t>Para el caso especial de un proyectil: </a:t>
              </a:r>
            </a:p>
          </p:txBody>
        </p:sp>
        <p:graphicFrame>
          <p:nvGraphicFramePr>
            <p:cNvPr id="15" name="Object 12">
              <a:extLst>
                <a:ext uri="{FF2B5EF4-FFF2-40B4-BE49-F238E27FC236}">
                  <a16:creationId xmlns:a16="http://schemas.microsoft.com/office/drawing/2014/main" id="{9F798AF9-1848-4CB7-8E81-BEE17EA76E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8787194"/>
                </p:ext>
              </p:extLst>
            </p:nvPr>
          </p:nvGraphicFramePr>
          <p:xfrm>
            <a:off x="912" y="1872"/>
            <a:ext cx="3642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81080" imgH="241200" progId="Equation.DSMT4">
                    <p:embed/>
                  </p:oleObj>
                </mc:Choice>
                <mc:Fallback>
                  <p:oleObj name="Equation" r:id="rId10" imgW="1981080" imgH="241200" progId="Equation.DSMT4">
                    <p:embed/>
                    <p:pic>
                      <p:nvPicPr>
                        <p:cNvPr id="500748" name="Object 12">
                          <a:extLst>
                            <a:ext uri="{FF2B5EF4-FFF2-40B4-BE49-F238E27FC236}">
                              <a16:creationId xmlns:a16="http://schemas.microsoft.com/office/drawing/2014/main" id="{E61F9876-12C9-4D47-A49F-BB370B31D0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872"/>
                          <a:ext cx="3642" cy="443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0965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01785-E018-AE06-23A5-6C8674BB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A2B7C6E-3736-4072-8DED-5AAABEE32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1015" y="126610"/>
            <a:ext cx="11788727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Ejemplo:</a:t>
            </a:r>
            <a:r>
              <a:rPr lang="es-MX" altLang="es-CO" sz="2400" dirty="0"/>
              <a:t> Una bola de béisbol se golpea con una rapidez horizontal de 25 m/s. ¿Cuál es su posición y velocidad después de 2 s?</a:t>
            </a:r>
          </a:p>
        </p:txBody>
      </p:sp>
      <p:sp>
        <p:nvSpPr>
          <p:cNvPr id="3" name="Text Box 72">
            <a:extLst>
              <a:ext uri="{FF2B5EF4-FFF2-40B4-BE49-F238E27FC236}">
                <a16:creationId xmlns:a16="http://schemas.microsoft.com/office/drawing/2014/main" id="{0D22B017-FA7F-4574-B66C-7AF0B6EE2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15" y="3234935"/>
            <a:ext cx="883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Primero encuentre los desplazamientos horizontal y vertical :</a:t>
            </a:r>
          </a:p>
        </p:txBody>
      </p:sp>
      <p:graphicFrame>
        <p:nvGraphicFramePr>
          <p:cNvPr id="4" name="Object 73">
            <a:extLst>
              <a:ext uri="{FF2B5EF4-FFF2-40B4-BE49-F238E27FC236}">
                <a16:creationId xmlns:a16="http://schemas.microsoft.com/office/drawing/2014/main" id="{A18E431A-A75C-482E-AB10-F1D96E401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899636"/>
              </p:ext>
            </p:extLst>
          </p:nvPr>
        </p:nvGraphicFramePr>
        <p:xfrm>
          <a:off x="1203960" y="4165210"/>
          <a:ext cx="40386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228600" progId="Equation.DSMT4">
                  <p:embed/>
                </p:oleObj>
              </mc:Choice>
              <mc:Fallback>
                <p:oleObj name="Equation" r:id="rId5" imgW="1422360" imgH="228600" progId="Equation.DSMT4">
                  <p:embed/>
                  <p:pic>
                    <p:nvPicPr>
                      <p:cNvPr id="501833" name="Object 73">
                        <a:extLst>
                          <a:ext uri="{FF2B5EF4-FFF2-40B4-BE49-F238E27FC236}">
                            <a16:creationId xmlns:a16="http://schemas.microsoft.com/office/drawing/2014/main" id="{C5182233-9CBC-4A8F-8DB8-32EA6F595B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960" y="4165210"/>
                        <a:ext cx="4038600" cy="64928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4">
            <a:extLst>
              <a:ext uri="{FF2B5EF4-FFF2-40B4-BE49-F238E27FC236}">
                <a16:creationId xmlns:a16="http://schemas.microsoft.com/office/drawing/2014/main" id="{FE7E048A-A18C-4344-9750-2EB37AA8F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670722"/>
              </p:ext>
            </p:extLst>
          </p:nvPr>
        </p:nvGraphicFramePr>
        <p:xfrm>
          <a:off x="1076960" y="5044685"/>
          <a:ext cx="5360988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66600" imgH="241200" progId="Equation.DSMT4">
                  <p:embed/>
                </p:oleObj>
              </mc:Choice>
              <mc:Fallback>
                <p:oleObj name="Equation" r:id="rId7" imgW="1866600" imgH="241200" progId="Equation.DSMT4">
                  <p:embed/>
                  <p:pic>
                    <p:nvPicPr>
                      <p:cNvPr id="501834" name="Object 74">
                        <a:extLst>
                          <a:ext uri="{FF2B5EF4-FFF2-40B4-BE49-F238E27FC236}">
                            <a16:creationId xmlns:a16="http://schemas.microsoft.com/office/drawing/2014/main" id="{A9311102-CD1C-41D4-A2CA-66F3399FD3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960" y="5044685"/>
                        <a:ext cx="5360988" cy="6937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5">
            <a:extLst>
              <a:ext uri="{FF2B5EF4-FFF2-40B4-BE49-F238E27FC236}">
                <a16:creationId xmlns:a16="http://schemas.microsoft.com/office/drawing/2014/main" id="{6EBBB2DA-E19A-4745-B25D-57A57864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1006" y="4259021"/>
            <a:ext cx="2133600" cy="461665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x = </a:t>
            </a:r>
            <a:r>
              <a:rPr lang="es-MX" altLang="es-CO" sz="2400" i="0" dirty="0">
                <a:solidFill>
                  <a:srgbClr val="000000"/>
                </a:solidFill>
              </a:rPr>
              <a:t>50.0 m</a:t>
            </a:r>
          </a:p>
        </p:txBody>
      </p:sp>
      <p:sp>
        <p:nvSpPr>
          <p:cNvPr id="7" name="Text Box 76">
            <a:extLst>
              <a:ext uri="{FF2B5EF4-FFF2-40B4-BE49-F238E27FC236}">
                <a16:creationId xmlns:a16="http://schemas.microsoft.com/office/drawing/2014/main" id="{4A144081-001F-4C60-B9D4-8092F5C58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1006" y="5110863"/>
            <a:ext cx="2286000" cy="461665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y = </a:t>
            </a:r>
            <a:r>
              <a:rPr lang="es-MX" altLang="es-CO" sz="2400" i="0" dirty="0">
                <a:solidFill>
                  <a:srgbClr val="000000"/>
                </a:solidFill>
              </a:rPr>
              <a:t>-19.6 m</a:t>
            </a:r>
          </a:p>
        </p:txBody>
      </p:sp>
      <p:grpSp>
        <p:nvGrpSpPr>
          <p:cNvPr id="8" name="Group 114">
            <a:extLst>
              <a:ext uri="{FF2B5EF4-FFF2-40B4-BE49-F238E27FC236}">
                <a16:creationId xmlns:a16="http://schemas.microsoft.com/office/drawing/2014/main" id="{C26B87E9-2FC7-4E8C-9CB2-6885399226BC}"/>
              </a:ext>
            </a:extLst>
          </p:cNvPr>
          <p:cNvGrpSpPr>
            <a:grpSpLocks/>
          </p:cNvGrpSpPr>
          <p:nvPr/>
        </p:nvGrpSpPr>
        <p:grpSpPr bwMode="auto">
          <a:xfrm>
            <a:off x="2804160" y="1269610"/>
            <a:ext cx="5867400" cy="1676400"/>
            <a:chOff x="912" y="1344"/>
            <a:chExt cx="3696" cy="1056"/>
          </a:xfrm>
        </p:grpSpPr>
        <p:sp>
          <p:nvSpPr>
            <p:cNvPr id="9" name="Rectangle 101">
              <a:extLst>
                <a:ext uri="{FF2B5EF4-FFF2-40B4-BE49-F238E27FC236}">
                  <a16:creationId xmlns:a16="http://schemas.microsoft.com/office/drawing/2014/main" id="{88BFB4BF-BD5B-468D-B01B-940463CF0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344"/>
              <a:ext cx="3696" cy="1056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Oval 102">
              <a:extLst>
                <a:ext uri="{FF2B5EF4-FFF2-40B4-BE49-F238E27FC236}">
                  <a16:creationId xmlns:a16="http://schemas.microsoft.com/office/drawing/2014/main" id="{942B21F6-DE81-4B8E-BC6D-523DFC9DB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632"/>
              <a:ext cx="96" cy="96"/>
            </a:xfrm>
            <a:prstGeom prst="ellipse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103">
              <a:extLst>
                <a:ext uri="{FF2B5EF4-FFF2-40B4-BE49-F238E27FC236}">
                  <a16:creationId xmlns:a16="http://schemas.microsoft.com/office/drawing/2014/main" id="{163E3E0C-B40D-4310-A883-F038D7C38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680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2" name="Text Box 104">
              <a:extLst>
                <a:ext uri="{FF2B5EF4-FFF2-40B4-BE49-F238E27FC236}">
                  <a16:creationId xmlns:a16="http://schemas.microsoft.com/office/drawing/2014/main" id="{0082FA70-D3DF-4ACA-BBE6-D9E149799A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80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>
                  <a:solidFill>
                    <a:srgbClr val="000000"/>
                  </a:solidFill>
                </a:rPr>
                <a:t>25 </a:t>
              </a:r>
              <a:r>
                <a:rPr kumimoji="0" lang="es-MX" altLang="es-CO" sz="2000" i="0">
                  <a:solidFill>
                    <a:srgbClr val="000000"/>
                  </a:solidFill>
                </a:rPr>
                <a:t>m/s</a:t>
              </a:r>
              <a:endParaRPr kumimoji="0" lang="es-MX" altLang="es-CO" sz="2000">
                <a:solidFill>
                  <a:srgbClr val="000000"/>
                </a:solidFill>
              </a:endParaRPr>
            </a:p>
          </p:txBody>
        </p:sp>
        <p:sp>
          <p:nvSpPr>
            <p:cNvPr id="13" name="Freeform 105">
              <a:extLst>
                <a:ext uri="{FF2B5EF4-FFF2-40B4-BE49-F238E27FC236}">
                  <a16:creationId xmlns:a16="http://schemas.microsoft.com/office/drawing/2014/main" id="{FDE692D3-5372-4AD1-BAC2-B240CC39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1680"/>
              <a:ext cx="1584" cy="384"/>
            </a:xfrm>
            <a:custGeom>
              <a:avLst/>
              <a:gdLst>
                <a:gd name="T0" fmla="*/ 0 w 1584"/>
                <a:gd name="T1" fmla="*/ 0 h 384"/>
                <a:gd name="T2" fmla="*/ 480 w 1584"/>
                <a:gd name="T3" fmla="*/ 48 h 384"/>
                <a:gd name="T4" fmla="*/ 1200 w 1584"/>
                <a:gd name="T5" fmla="*/ 192 h 384"/>
                <a:gd name="T6" fmla="*/ 1584 w 1584"/>
                <a:gd name="T7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4" h="384">
                  <a:moveTo>
                    <a:pt x="0" y="0"/>
                  </a:moveTo>
                  <a:cubicBezTo>
                    <a:pt x="140" y="8"/>
                    <a:pt x="280" y="16"/>
                    <a:pt x="480" y="48"/>
                  </a:cubicBezTo>
                  <a:cubicBezTo>
                    <a:pt x="680" y="80"/>
                    <a:pt x="1016" y="136"/>
                    <a:pt x="1200" y="192"/>
                  </a:cubicBezTo>
                  <a:cubicBezTo>
                    <a:pt x="1384" y="248"/>
                    <a:pt x="1484" y="316"/>
                    <a:pt x="1584" y="38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4" name="Oval 106">
              <a:extLst>
                <a:ext uri="{FF2B5EF4-FFF2-40B4-BE49-F238E27FC236}">
                  <a16:creationId xmlns:a16="http://schemas.microsoft.com/office/drawing/2014/main" id="{F60BC442-26C8-474E-AD1A-8EBAA4AB3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920"/>
              <a:ext cx="96" cy="96"/>
            </a:xfrm>
            <a:prstGeom prst="ellipse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pic>
          <p:nvPicPr>
            <p:cNvPr id="15" name="Picture 107">
              <a:extLst>
                <a:ext uri="{FF2B5EF4-FFF2-40B4-BE49-F238E27FC236}">
                  <a16:creationId xmlns:a16="http://schemas.microsoft.com/office/drawing/2014/main" id="{153EA9C5-1034-4F24-AF55-7A991F866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1584"/>
              <a:ext cx="682" cy="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6" name="Group 108">
              <a:extLst>
                <a:ext uri="{FF2B5EF4-FFF2-40B4-BE49-F238E27FC236}">
                  <a16:creationId xmlns:a16="http://schemas.microsoft.com/office/drawing/2014/main" id="{5BFD41A1-6201-45C9-A1AE-46388F3D9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344"/>
              <a:ext cx="1872" cy="288"/>
              <a:chOff x="1680" y="1344"/>
              <a:chExt cx="1872" cy="288"/>
            </a:xfrm>
          </p:grpSpPr>
          <p:sp>
            <p:nvSpPr>
              <p:cNvPr id="20" name="Line 109">
                <a:extLst>
                  <a:ext uri="{FF2B5EF4-FFF2-40B4-BE49-F238E27FC236}">
                    <a16:creationId xmlns:a16="http://schemas.microsoft.com/office/drawing/2014/main" id="{609CA464-2CC0-400D-A00D-4CBC71FFD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632"/>
                <a:ext cx="187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21" name="Text Box 110">
                <a:extLst>
                  <a:ext uri="{FF2B5EF4-FFF2-40B4-BE49-F238E27FC236}">
                    <a16:creationId xmlns:a16="http://schemas.microsoft.com/office/drawing/2014/main" id="{0B7907CF-5BAD-4FC1-952E-762E296A3A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34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" name="Group 111">
              <a:extLst>
                <a:ext uri="{FF2B5EF4-FFF2-40B4-BE49-F238E27FC236}">
                  <a16:creationId xmlns:a16="http://schemas.microsoft.com/office/drawing/2014/main" id="{3D5090F1-25FC-4CA9-9BBA-E2D4FE34F9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584"/>
              <a:ext cx="288" cy="336"/>
              <a:chOff x="4656" y="3072"/>
              <a:chExt cx="288" cy="336"/>
            </a:xfrm>
          </p:grpSpPr>
          <p:sp>
            <p:nvSpPr>
              <p:cNvPr id="18" name="Line 112">
                <a:extLst>
                  <a:ext uri="{FF2B5EF4-FFF2-40B4-BE49-F238E27FC236}">
                    <a16:creationId xmlns:a16="http://schemas.microsoft.com/office/drawing/2014/main" id="{2C9ECBC4-1011-4678-AF46-8767051C7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316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9" name="Text Box 113">
                <a:extLst>
                  <a:ext uri="{FF2B5EF4-FFF2-40B4-BE49-F238E27FC236}">
                    <a16:creationId xmlns:a16="http://schemas.microsoft.com/office/drawing/2014/main" id="{DC8A4DB8-0D6C-4428-B4ED-78644996CA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307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>
                    <a:solidFill>
                      <a:srgbClr val="000000"/>
                    </a:solidFill>
                  </a:rPr>
                  <a:t>y</a:t>
                </a:r>
              </a:p>
            </p:txBody>
          </p:sp>
        </p:grpSp>
      </p:grpSp>
      <p:grpSp>
        <p:nvGrpSpPr>
          <p:cNvPr id="22" name="Group 115">
            <a:extLst>
              <a:ext uri="{FF2B5EF4-FFF2-40B4-BE49-F238E27FC236}">
                <a16:creationId xmlns:a16="http://schemas.microsoft.com/office/drawing/2014/main" id="{486CB05A-85BA-4223-8608-453D5EDEEA31}"/>
              </a:ext>
            </a:extLst>
          </p:cNvPr>
          <p:cNvGrpSpPr>
            <a:grpSpLocks/>
          </p:cNvGrpSpPr>
          <p:nvPr/>
        </p:nvGrpSpPr>
        <p:grpSpPr bwMode="auto">
          <a:xfrm>
            <a:off x="6537960" y="1269610"/>
            <a:ext cx="2133600" cy="1082675"/>
            <a:chOff x="3504" y="1344"/>
            <a:chExt cx="1344" cy="682"/>
          </a:xfrm>
        </p:grpSpPr>
        <p:sp>
          <p:nvSpPr>
            <p:cNvPr id="23" name="Text Box 116">
              <a:extLst>
                <a:ext uri="{FF2B5EF4-FFF2-40B4-BE49-F238E27FC236}">
                  <a16:creationId xmlns:a16="http://schemas.microsoft.com/office/drawing/2014/main" id="{710497D6-D9D2-4670-B464-74FFC6324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776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-19.6 m</a:t>
              </a:r>
            </a:p>
          </p:txBody>
        </p:sp>
        <p:sp>
          <p:nvSpPr>
            <p:cNvPr id="24" name="Text Box 117">
              <a:extLst>
                <a:ext uri="{FF2B5EF4-FFF2-40B4-BE49-F238E27FC236}">
                  <a16:creationId xmlns:a16="http://schemas.microsoft.com/office/drawing/2014/main" id="{84930475-9B6C-461D-B192-28F94ACC4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34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000" i="0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+50 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761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6" grpId="0" animBg="1" autoUpdateAnimBg="0"/>
      <p:bldP spid="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83474-5BAC-45DA-8CCF-B84D2B11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96E26C3-189D-438C-A6D4-9E3DA9743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354" y="0"/>
            <a:ext cx="9934135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¿Cuáles son los componentes de la velocidad después de 2 s?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B9FCBD1-3CBA-41BE-89E4-19202F1F299B}"/>
              </a:ext>
            </a:extLst>
          </p:cNvPr>
          <p:cNvGrpSpPr>
            <a:grpSpLocks/>
          </p:cNvGrpSpPr>
          <p:nvPr/>
        </p:nvGrpSpPr>
        <p:grpSpPr bwMode="auto">
          <a:xfrm>
            <a:off x="3221502" y="1143000"/>
            <a:ext cx="5334000" cy="1676400"/>
            <a:chOff x="624" y="1344"/>
            <a:chExt cx="3360" cy="1056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3A046BE-6978-432B-9DDA-B268E557B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344"/>
              <a:ext cx="3360" cy="1056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9BC6BBD2-D633-4289-A6EE-CA1A43BAB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632"/>
              <a:ext cx="96" cy="96"/>
            </a:xfrm>
            <a:prstGeom prst="ellipse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8E14C6CF-6CA5-4DAD-B607-E61E382F3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680"/>
              <a:ext cx="2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1176274F-C186-4B54-8EBD-F75E4D953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392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000">
                  <a:solidFill>
                    <a:srgbClr val="000000"/>
                  </a:solidFill>
                </a:rPr>
                <a:t>25 </a:t>
              </a:r>
              <a:r>
                <a:rPr lang="es-MX" altLang="es-CO" sz="2000" i="0">
                  <a:solidFill>
                    <a:srgbClr val="000000"/>
                  </a:solidFill>
                </a:rPr>
                <a:t>m/s</a:t>
              </a:r>
              <a:endParaRPr lang="es-MX" altLang="es-CO" sz="2000">
                <a:solidFill>
                  <a:srgbClr val="000000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4B736E6-90DC-4703-9FC0-7C5A21752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1680"/>
              <a:ext cx="1584" cy="384"/>
            </a:xfrm>
            <a:custGeom>
              <a:avLst/>
              <a:gdLst>
                <a:gd name="T0" fmla="*/ 0 w 1584"/>
                <a:gd name="T1" fmla="*/ 0 h 384"/>
                <a:gd name="T2" fmla="*/ 480 w 1584"/>
                <a:gd name="T3" fmla="*/ 48 h 384"/>
                <a:gd name="T4" fmla="*/ 1200 w 1584"/>
                <a:gd name="T5" fmla="*/ 192 h 384"/>
                <a:gd name="T6" fmla="*/ 1584 w 1584"/>
                <a:gd name="T7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4" h="384">
                  <a:moveTo>
                    <a:pt x="0" y="0"/>
                  </a:moveTo>
                  <a:cubicBezTo>
                    <a:pt x="140" y="8"/>
                    <a:pt x="280" y="16"/>
                    <a:pt x="480" y="48"/>
                  </a:cubicBezTo>
                  <a:cubicBezTo>
                    <a:pt x="680" y="80"/>
                    <a:pt x="1016" y="136"/>
                    <a:pt x="1200" y="192"/>
                  </a:cubicBezTo>
                  <a:cubicBezTo>
                    <a:pt x="1384" y="248"/>
                    <a:pt x="1484" y="316"/>
                    <a:pt x="1584" y="38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3385E6AA-EECE-45C0-BB6A-FB60D71F8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920"/>
              <a:ext cx="96" cy="96"/>
            </a:xfrm>
            <a:prstGeom prst="ellipse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C02D93DA-8D2F-4A40-810E-314AA2E33A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" y="1584"/>
              <a:ext cx="682" cy="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Text Box 17">
            <a:extLst>
              <a:ext uri="{FF2B5EF4-FFF2-40B4-BE49-F238E27FC236}">
                <a16:creationId xmlns:a16="http://schemas.microsoft.com/office/drawing/2014/main" id="{02EA8A2A-7E55-4304-8427-3CFD53082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02" y="3200400"/>
            <a:ext cx="883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Encuentre la velocidad horizontal y vertical después de 2 s:</a:t>
            </a:r>
          </a:p>
        </p:txBody>
      </p:sp>
      <p:graphicFrame>
        <p:nvGraphicFramePr>
          <p:cNvPr id="12" name="Object 18">
            <a:extLst>
              <a:ext uri="{FF2B5EF4-FFF2-40B4-BE49-F238E27FC236}">
                <a16:creationId xmlns:a16="http://schemas.microsoft.com/office/drawing/2014/main" id="{423C1090-CA88-4B8E-B5D5-761BDA9C7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090958"/>
              </p:ext>
            </p:extLst>
          </p:nvPr>
        </p:nvGraphicFramePr>
        <p:xfrm>
          <a:off x="1525514" y="3886200"/>
          <a:ext cx="32813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228600" progId="Equation.DSMT4">
                  <p:embed/>
                </p:oleObj>
              </mc:Choice>
              <mc:Fallback>
                <p:oleObj name="Equation" r:id="rId5" imgW="1155600" imgH="228600" progId="Equation.DSMT4">
                  <p:embed/>
                  <p:pic>
                    <p:nvPicPr>
                      <p:cNvPr id="502802" name="Object 18">
                        <a:extLst>
                          <a:ext uri="{FF2B5EF4-FFF2-40B4-BE49-F238E27FC236}">
                            <a16:creationId xmlns:a16="http://schemas.microsoft.com/office/drawing/2014/main" id="{BC85EE8E-2CA2-4E43-9FEE-D90A9FFCD2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14" y="3886200"/>
                        <a:ext cx="3281363" cy="64928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>
            <a:extLst>
              <a:ext uri="{FF2B5EF4-FFF2-40B4-BE49-F238E27FC236}">
                <a16:creationId xmlns:a16="http://schemas.microsoft.com/office/drawing/2014/main" id="{AB65ED36-6526-4C7F-AAEB-1D85BCBAE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561854"/>
              </p:ext>
            </p:extLst>
          </p:nvPr>
        </p:nvGraphicFramePr>
        <p:xfrm>
          <a:off x="1453417" y="4968875"/>
          <a:ext cx="55467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08160" imgH="253800" progId="Equation.DSMT4">
                  <p:embed/>
                </p:oleObj>
              </mc:Choice>
              <mc:Fallback>
                <p:oleObj name="Equation" r:id="rId7" imgW="2108160" imgH="253800" progId="Equation.DSMT4">
                  <p:embed/>
                  <p:pic>
                    <p:nvPicPr>
                      <p:cNvPr id="502803" name="Object 19">
                        <a:extLst>
                          <a:ext uri="{FF2B5EF4-FFF2-40B4-BE49-F238E27FC236}">
                            <a16:creationId xmlns:a16="http://schemas.microsoft.com/office/drawing/2014/main" id="{27784FD7-11E0-41E7-A3BF-046EC63F7F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417" y="4968875"/>
                        <a:ext cx="5546725" cy="6699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0">
            <a:extLst>
              <a:ext uri="{FF2B5EF4-FFF2-40B4-BE49-F238E27FC236}">
                <a16:creationId xmlns:a16="http://schemas.microsoft.com/office/drawing/2014/main" id="{F1EFCD71-69DF-4B50-9CB7-D32B4B8C8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9183" y="4073823"/>
            <a:ext cx="2743200" cy="461665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</a:rPr>
              <a:t>v</a:t>
            </a:r>
            <a:r>
              <a:rPr lang="es-MX" altLang="es-CO" sz="2400" baseline="-25000">
                <a:solidFill>
                  <a:srgbClr val="000000"/>
                </a:solidFill>
              </a:rPr>
              <a:t>x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25.0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m/s</a:t>
            </a:r>
            <a:endParaRPr lang="es-MX" altLang="es-CO" sz="2400">
              <a:solidFill>
                <a:srgbClr val="000000"/>
              </a:solidFill>
            </a:endParaRPr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DFE13B0B-F049-45D1-ADC8-41C11638A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9183" y="5177135"/>
            <a:ext cx="2819400" cy="461665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l"/>
            <a:r>
              <a:rPr lang="es-MX" altLang="es-CO" sz="2400">
                <a:solidFill>
                  <a:srgbClr val="000000"/>
                </a:solidFill>
              </a:rPr>
              <a:t>v</a:t>
            </a:r>
            <a:r>
              <a:rPr lang="es-MX" altLang="es-CO" sz="2400" baseline="-25000">
                <a:solidFill>
                  <a:srgbClr val="000000"/>
                </a:solidFill>
              </a:rPr>
              <a:t>y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-19.6 m/s</a:t>
            </a:r>
          </a:p>
        </p:txBody>
      </p:sp>
      <p:grpSp>
        <p:nvGrpSpPr>
          <p:cNvPr id="16" name="Group 26">
            <a:extLst>
              <a:ext uri="{FF2B5EF4-FFF2-40B4-BE49-F238E27FC236}">
                <a16:creationId xmlns:a16="http://schemas.microsoft.com/office/drawing/2014/main" id="{F272ABB6-587D-4E77-AB68-D53FFC04C34B}"/>
              </a:ext>
            </a:extLst>
          </p:cNvPr>
          <p:cNvGrpSpPr>
            <a:grpSpLocks/>
          </p:cNvGrpSpPr>
          <p:nvPr/>
        </p:nvGrpSpPr>
        <p:grpSpPr bwMode="auto">
          <a:xfrm>
            <a:off x="7336302" y="1524000"/>
            <a:ext cx="1219200" cy="1158875"/>
            <a:chOff x="3744" y="1584"/>
            <a:chExt cx="768" cy="730"/>
          </a:xfrm>
        </p:grpSpPr>
        <p:sp>
          <p:nvSpPr>
            <p:cNvPr id="17" name="Line 22">
              <a:extLst>
                <a:ext uri="{FF2B5EF4-FFF2-40B4-BE49-F238E27FC236}">
                  <a16:creationId xmlns:a16="http://schemas.microsoft.com/office/drawing/2014/main" id="{60ADBA1B-796E-47ED-BFD5-C0843DF4F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968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8" name="Line 23">
              <a:extLst>
                <a:ext uri="{FF2B5EF4-FFF2-40B4-BE49-F238E27FC236}">
                  <a16:creationId xmlns:a16="http://schemas.microsoft.com/office/drawing/2014/main" id="{9AED7BC4-D641-403F-BB8F-5F00567AC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016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CO"/>
            </a:p>
          </p:txBody>
        </p:sp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4A5F4E77-4FD5-4A35-A98F-432C400E0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584"/>
              <a:ext cx="3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s-MX" altLang="es-CO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s-MX" altLang="es-CO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25">
              <a:extLst>
                <a:ext uri="{FF2B5EF4-FFF2-40B4-BE49-F238E27FC236}">
                  <a16:creationId xmlns:a16="http://schemas.microsoft.com/office/drawing/2014/main" id="{3AB75347-37B2-47DB-A6CF-C6DFB4969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968"/>
              <a:ext cx="3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s-MX" altLang="es-CO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lang="es-MX" altLang="es-CO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" name="Text Box 27">
            <a:extLst>
              <a:ext uri="{FF2B5EF4-FFF2-40B4-BE49-F238E27FC236}">
                <a16:creationId xmlns:a16="http://schemas.microsoft.com/office/drawing/2014/main" id="{C79F1E10-2CB7-438C-8D95-4BC2E0283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302" y="1905000"/>
            <a:ext cx="1828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s-MX" altLang="es-CO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0x</a:t>
            </a:r>
            <a:r>
              <a:rPr lang="es-MX" altLang="es-CO" sz="2400">
                <a:solidFill>
                  <a:srgbClr val="000000"/>
                </a:solidFill>
                <a:latin typeface="Times New Roman" panose="02020603050405020304" pitchFamily="18" charset="0"/>
              </a:rPr>
              <a:t> = 25 </a:t>
            </a:r>
            <a:r>
              <a:rPr lang="es-MX" altLang="es-CO" sz="2400" i="0">
                <a:solidFill>
                  <a:srgbClr val="000000"/>
                </a:solidFill>
                <a:latin typeface="Times New Roman" panose="02020603050405020304" pitchFamily="18" charset="0"/>
              </a:rPr>
              <a:t>m/s</a:t>
            </a:r>
            <a:r>
              <a:rPr lang="es-MX" altLang="es-CO" sz="2400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s-MX" altLang="es-CO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0y</a:t>
            </a:r>
            <a:r>
              <a:rPr lang="es-MX" altLang="es-CO" sz="2400">
                <a:solidFill>
                  <a:srgbClr val="000000"/>
                </a:solidFill>
                <a:latin typeface="Times New Roman" panose="02020603050405020304" pitchFamily="18" charset="0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87857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1" grpId="0" autoUpdateAnimBg="0"/>
      <p:bldP spid="14" grpId="0" animBg="1" autoUpdateAnimBg="0"/>
      <p:bldP spid="15" grpId="0" animBg="1" autoUpdateAnimBg="0"/>
      <p:bldP spid="2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EE546-2E96-ADA4-F240-0239A4D3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9D76F33-503C-4D59-B26A-294BD83127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7900" y="28135"/>
            <a:ext cx="7696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Considere proyectil a un ángulo:</a:t>
            </a:r>
          </a:p>
        </p:txBody>
      </p:sp>
      <p:sp>
        <p:nvSpPr>
          <p:cNvPr id="3" name="Text Box 49">
            <a:extLst>
              <a:ext uri="{FF2B5EF4-FFF2-40B4-BE49-F238E27FC236}">
                <a16:creationId xmlns:a16="http://schemas.microsoft.com/office/drawing/2014/main" id="{7CFE29C3-ACD1-4E81-9D8D-C519A7641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18" y="1323535"/>
            <a:ext cx="11718388" cy="830997"/>
          </a:xfrm>
          <a:prstGeom prst="rect">
            <a:avLst/>
          </a:prstGeom>
          <a:solidFill>
            <a:schemeClr val="accent2"/>
          </a:solidFill>
          <a:ln w="31750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just"/>
            <a:r>
              <a:rPr lang="es-MX" altLang="es-CO" sz="2400" dirty="0"/>
              <a:t>Una bola roja se proyecta a un ángulo q. Al mismo tiempo, una bola amarilla se lanza verticalmente hacia arriba y una bola verde rueda horizontalmente (sin fricción).</a:t>
            </a:r>
          </a:p>
        </p:txBody>
      </p:sp>
      <p:sp>
        <p:nvSpPr>
          <p:cNvPr id="4" name="Text Box 55">
            <a:extLst>
              <a:ext uri="{FF2B5EF4-FFF2-40B4-BE49-F238E27FC236}">
                <a16:creationId xmlns:a16="http://schemas.microsoft.com/office/drawing/2014/main" id="{C088ADCE-3054-49D3-A560-D3892D9CF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18" y="5670990"/>
            <a:ext cx="853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/>
              <a:t>Note los movimientos vertical y horizontal de las bolas</a:t>
            </a:r>
          </a:p>
        </p:txBody>
      </p:sp>
      <p:grpSp>
        <p:nvGrpSpPr>
          <p:cNvPr id="5" name="Group 137">
            <a:extLst>
              <a:ext uri="{FF2B5EF4-FFF2-40B4-BE49-F238E27FC236}">
                <a16:creationId xmlns:a16="http://schemas.microsoft.com/office/drawing/2014/main" id="{E27C7DA8-B112-4F56-915C-E81784E385CD}"/>
              </a:ext>
            </a:extLst>
          </p:cNvPr>
          <p:cNvGrpSpPr>
            <a:grpSpLocks/>
          </p:cNvGrpSpPr>
          <p:nvPr/>
        </p:nvGrpSpPr>
        <p:grpSpPr bwMode="auto">
          <a:xfrm>
            <a:off x="2247900" y="2410265"/>
            <a:ext cx="8077200" cy="3124200"/>
            <a:chOff x="432" y="1728"/>
            <a:chExt cx="5088" cy="1968"/>
          </a:xfrm>
        </p:grpSpPr>
        <p:sp>
          <p:nvSpPr>
            <p:cNvPr id="6" name="Rectangle 46">
              <a:extLst>
                <a:ext uri="{FF2B5EF4-FFF2-40B4-BE49-F238E27FC236}">
                  <a16:creationId xmlns:a16="http://schemas.microsoft.com/office/drawing/2014/main" id="{D1355851-C13D-4A92-862C-143D17A61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728"/>
              <a:ext cx="5088" cy="1968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FF65CF12-428D-4CA6-80E2-E654D8B35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248"/>
              <a:ext cx="3744" cy="776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Rectangle 66">
              <a:extLst>
                <a:ext uri="{FF2B5EF4-FFF2-40B4-BE49-F238E27FC236}">
                  <a16:creationId xmlns:a16="http://schemas.microsoft.com/office/drawing/2014/main" id="{7FC4EAD7-A743-416A-928E-C331F64D0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408"/>
              <a:ext cx="4656" cy="4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9" name="Group 127">
              <a:extLst>
                <a:ext uri="{FF2B5EF4-FFF2-40B4-BE49-F238E27FC236}">
                  <a16:creationId xmlns:a16="http://schemas.microsoft.com/office/drawing/2014/main" id="{FAB426F2-FAEE-40B1-80D6-9D8D65C3BE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2688"/>
              <a:ext cx="995" cy="720"/>
              <a:chOff x="624" y="2688"/>
              <a:chExt cx="995" cy="720"/>
            </a:xfrm>
          </p:grpSpPr>
          <p:sp>
            <p:nvSpPr>
              <p:cNvPr id="10" name="Oval 128">
                <a:extLst>
                  <a:ext uri="{FF2B5EF4-FFF2-40B4-BE49-F238E27FC236}">
                    <a16:creationId xmlns:a16="http://schemas.microsoft.com/office/drawing/2014/main" id="{FE8C8792-A35C-4829-B9A7-D4DB4C267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144" cy="144"/>
              </a:xfrm>
              <a:prstGeom prst="ellipse">
                <a:avLst/>
              </a:prstGeom>
              <a:solidFill>
                <a:srgbClr val="FF0066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1" name="Line 129">
                <a:extLst>
                  <a:ext uri="{FF2B5EF4-FFF2-40B4-BE49-F238E27FC236}">
                    <a16:creationId xmlns:a16="http://schemas.microsoft.com/office/drawing/2014/main" id="{FF45D655-5896-4D81-9180-4200F10C18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2710"/>
                <a:ext cx="576" cy="38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2" name="Line 130">
                <a:extLst>
                  <a:ext uri="{FF2B5EF4-FFF2-40B4-BE49-F238E27FC236}">
                    <a16:creationId xmlns:a16="http://schemas.microsoft.com/office/drawing/2014/main" id="{C58B1559-4BD5-4FC5-ABF1-246D66392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3110"/>
                <a:ext cx="576" cy="1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3" name="Line 131">
                <a:extLst>
                  <a:ext uri="{FF2B5EF4-FFF2-40B4-BE49-F238E27FC236}">
                    <a16:creationId xmlns:a16="http://schemas.microsoft.com/office/drawing/2014/main" id="{5C35D16D-E712-4814-8632-470430C36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33" y="2688"/>
                <a:ext cx="0" cy="38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4" name="Oval 132">
                <a:extLst>
                  <a:ext uri="{FF2B5EF4-FFF2-40B4-BE49-F238E27FC236}">
                    <a16:creationId xmlns:a16="http://schemas.microsoft.com/office/drawing/2014/main" id="{C2620936-9A4E-4191-8154-A79337691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3024"/>
                <a:ext cx="144" cy="144"/>
              </a:xfrm>
              <a:prstGeom prst="ellipse">
                <a:avLst/>
              </a:prstGeom>
              <a:solidFill>
                <a:srgbClr val="FFFF00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5" name="Line 133">
                <a:extLst>
                  <a:ext uri="{FF2B5EF4-FFF2-40B4-BE49-F238E27FC236}">
                    <a16:creationId xmlns:a16="http://schemas.microsoft.com/office/drawing/2014/main" id="{71D11B55-9218-42AB-9038-9C53FC34C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7" y="2688"/>
                <a:ext cx="0" cy="38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6" name="Line 134">
                <a:extLst>
                  <a:ext uri="{FF2B5EF4-FFF2-40B4-BE49-F238E27FC236}">
                    <a16:creationId xmlns:a16="http://schemas.microsoft.com/office/drawing/2014/main" id="{0D03747D-E277-4573-A00E-6CE6C7079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5" y="3335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17" name="Text Box 135">
                <a:extLst>
                  <a:ext uri="{FF2B5EF4-FFF2-40B4-BE49-F238E27FC236}">
                    <a16:creationId xmlns:a16="http://schemas.microsoft.com/office/drawing/2014/main" id="{BA508464-DACB-4748-A98A-B610DD0141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1" y="287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0" lang="es-MX" altLang="es-CO" sz="24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q</a:t>
                </a:r>
              </a:p>
            </p:txBody>
          </p:sp>
          <p:sp>
            <p:nvSpPr>
              <p:cNvPr id="18" name="Oval 136">
                <a:extLst>
                  <a:ext uri="{FF2B5EF4-FFF2-40B4-BE49-F238E27FC236}">
                    <a16:creationId xmlns:a16="http://schemas.microsoft.com/office/drawing/2014/main" id="{62FAC895-E636-4A27-96A2-DA19B931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3264"/>
                <a:ext cx="144" cy="144"/>
              </a:xfrm>
              <a:prstGeom prst="ellipse">
                <a:avLst/>
              </a:prstGeom>
              <a:solidFill>
                <a:srgbClr val="66FF33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s-CO"/>
              </a:p>
            </p:txBody>
          </p:sp>
        </p:grpSp>
      </p:grpSp>
      <p:grpSp>
        <p:nvGrpSpPr>
          <p:cNvPr id="19" name="Group 173">
            <a:extLst>
              <a:ext uri="{FF2B5EF4-FFF2-40B4-BE49-F238E27FC236}">
                <a16:creationId xmlns:a16="http://schemas.microsoft.com/office/drawing/2014/main" id="{2BFB313E-2BCD-4D17-9690-B9F9711B2D72}"/>
              </a:ext>
            </a:extLst>
          </p:cNvPr>
          <p:cNvGrpSpPr>
            <a:grpSpLocks/>
          </p:cNvGrpSpPr>
          <p:nvPr/>
        </p:nvGrpSpPr>
        <p:grpSpPr bwMode="auto">
          <a:xfrm>
            <a:off x="2552700" y="3477065"/>
            <a:ext cx="2263775" cy="1400175"/>
            <a:chOff x="624" y="2400"/>
            <a:chExt cx="1426" cy="882"/>
          </a:xfrm>
        </p:grpSpPr>
        <p:sp>
          <p:nvSpPr>
            <p:cNvPr id="20" name="Text Box 168">
              <a:extLst>
                <a:ext uri="{FF2B5EF4-FFF2-40B4-BE49-F238E27FC236}">
                  <a16:creationId xmlns:a16="http://schemas.microsoft.com/office/drawing/2014/main" id="{35FA04BC-62D4-46DD-B6E9-C119A8D04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448"/>
              <a:ext cx="4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oy</a:t>
              </a:r>
            </a:p>
          </p:txBody>
        </p:sp>
        <p:sp>
          <p:nvSpPr>
            <p:cNvPr id="21" name="Text Box 167">
              <a:extLst>
                <a:ext uri="{FF2B5EF4-FFF2-40B4-BE49-F238E27FC236}">
                  <a16:creationId xmlns:a16="http://schemas.microsoft.com/office/drawing/2014/main" id="{2CF02C38-1923-4529-B9BC-D5C02A43F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0" y="2991"/>
              <a:ext cx="4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ox</a:t>
              </a:r>
            </a:p>
          </p:txBody>
        </p:sp>
        <p:sp>
          <p:nvSpPr>
            <p:cNvPr id="22" name="Text Box 169">
              <a:extLst>
                <a:ext uri="{FF2B5EF4-FFF2-40B4-BE49-F238E27FC236}">
                  <a16:creationId xmlns:a16="http://schemas.microsoft.com/office/drawing/2014/main" id="{687DF82A-A312-47EB-9806-20FDC90A29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00"/>
              <a:ext cx="62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>
                  <a:solidFill>
                    <a:srgbClr val="000000"/>
                  </a:solidFill>
                </a:rPr>
                <a:t>v</a:t>
              </a:r>
              <a:r>
                <a:rPr kumimoji="0" lang="es-MX" altLang="es-CO" baseline="-25000">
                  <a:solidFill>
                    <a:srgbClr val="000000"/>
                  </a:solidFill>
                </a:rPr>
                <a:t>o</a:t>
              </a:r>
            </a:p>
          </p:txBody>
        </p:sp>
      </p:grpSp>
      <p:grpSp>
        <p:nvGrpSpPr>
          <p:cNvPr id="23" name="Group 189">
            <a:extLst>
              <a:ext uri="{FF2B5EF4-FFF2-40B4-BE49-F238E27FC236}">
                <a16:creationId xmlns:a16="http://schemas.microsoft.com/office/drawing/2014/main" id="{D4C02BB8-BAD1-4A50-9EE7-E49FD91BBC18}"/>
              </a:ext>
            </a:extLst>
          </p:cNvPr>
          <p:cNvGrpSpPr>
            <a:grpSpLocks/>
          </p:cNvGrpSpPr>
          <p:nvPr/>
        </p:nvGrpSpPr>
        <p:grpSpPr bwMode="auto">
          <a:xfrm>
            <a:off x="2400300" y="3248465"/>
            <a:ext cx="3392488" cy="1828800"/>
            <a:chOff x="528" y="2256"/>
            <a:chExt cx="2137" cy="1152"/>
          </a:xfrm>
        </p:grpSpPr>
        <p:sp>
          <p:nvSpPr>
            <p:cNvPr id="24" name="Oval 190">
              <a:extLst>
                <a:ext uri="{FF2B5EF4-FFF2-40B4-BE49-F238E27FC236}">
                  <a16:creationId xmlns:a16="http://schemas.microsoft.com/office/drawing/2014/main" id="{03D764DE-0BDB-4039-8CCE-B7E2BDB43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400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5" name="Line 191">
              <a:extLst>
                <a:ext uri="{FF2B5EF4-FFF2-40B4-BE49-F238E27FC236}">
                  <a16:creationId xmlns:a16="http://schemas.microsoft.com/office/drawing/2014/main" id="{7EED9C03-98EA-49D4-B4E8-B63CAD5E4C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" y="2352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pSp>
          <p:nvGrpSpPr>
            <p:cNvPr id="26" name="Group 192">
              <a:extLst>
                <a:ext uri="{FF2B5EF4-FFF2-40B4-BE49-F238E27FC236}">
                  <a16:creationId xmlns:a16="http://schemas.microsoft.com/office/drawing/2014/main" id="{5A418E04-5588-4ACC-9BBF-E3E9CE719F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256"/>
              <a:ext cx="144" cy="313"/>
              <a:chOff x="2064" y="2256"/>
              <a:chExt cx="144" cy="313"/>
            </a:xfrm>
          </p:grpSpPr>
          <p:sp>
            <p:nvSpPr>
              <p:cNvPr id="30" name="Oval 193">
                <a:extLst>
                  <a:ext uri="{FF2B5EF4-FFF2-40B4-BE49-F238E27FC236}">
                    <a16:creationId xmlns:a16="http://schemas.microsoft.com/office/drawing/2014/main" id="{29A55F13-39D0-4A6E-AB48-8DD45007D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425"/>
                <a:ext cx="144" cy="144"/>
              </a:xfrm>
              <a:prstGeom prst="ellipse">
                <a:avLst/>
              </a:prstGeom>
              <a:solidFill>
                <a:srgbClr val="FF0066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31" name="Line 194">
                <a:extLst>
                  <a:ext uri="{FF2B5EF4-FFF2-40B4-BE49-F238E27FC236}">
                    <a16:creationId xmlns:a16="http://schemas.microsoft.com/office/drawing/2014/main" id="{7B31B5C5-FBDA-4FA7-8834-FBD2C6C793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5" y="2256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27" name="Line 195">
              <a:extLst>
                <a:ext uri="{FF2B5EF4-FFF2-40B4-BE49-F238E27FC236}">
                  <a16:creationId xmlns:a16="http://schemas.microsoft.com/office/drawing/2014/main" id="{7E5B4F98-12B4-4BFC-A6BA-06C3B4EBB2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9" y="3335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Oval 196">
              <a:extLst>
                <a:ext uri="{FF2B5EF4-FFF2-40B4-BE49-F238E27FC236}">
                  <a16:creationId xmlns:a16="http://schemas.microsoft.com/office/drawing/2014/main" id="{84AA3752-F338-4A65-9AA3-0B9467100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264"/>
              <a:ext cx="144" cy="144"/>
            </a:xfrm>
            <a:prstGeom prst="ellipse">
              <a:avLst/>
            </a:prstGeom>
            <a:solidFill>
              <a:srgbClr val="66FF33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Line 197">
              <a:extLst>
                <a:ext uri="{FF2B5EF4-FFF2-40B4-BE49-F238E27FC236}">
                  <a16:creationId xmlns:a16="http://schemas.microsoft.com/office/drawing/2014/main" id="{F2E61544-6CB8-4498-8E86-7EB0C9C735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2496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32" name="Group 199">
            <a:extLst>
              <a:ext uri="{FF2B5EF4-FFF2-40B4-BE49-F238E27FC236}">
                <a16:creationId xmlns:a16="http://schemas.microsoft.com/office/drawing/2014/main" id="{C6673453-C566-4464-B527-BC7B6454528D}"/>
              </a:ext>
            </a:extLst>
          </p:cNvPr>
          <p:cNvGrpSpPr>
            <a:grpSpLocks/>
          </p:cNvGrpSpPr>
          <p:nvPr/>
        </p:nvGrpSpPr>
        <p:grpSpPr bwMode="auto">
          <a:xfrm>
            <a:off x="2552700" y="3096065"/>
            <a:ext cx="5068888" cy="1981200"/>
            <a:chOff x="624" y="2160"/>
            <a:chExt cx="3193" cy="1248"/>
          </a:xfrm>
        </p:grpSpPr>
        <p:sp>
          <p:nvSpPr>
            <p:cNvPr id="33" name="Line 200">
              <a:extLst>
                <a:ext uri="{FF2B5EF4-FFF2-40B4-BE49-F238E27FC236}">
                  <a16:creationId xmlns:a16="http://schemas.microsoft.com/office/drawing/2014/main" id="{BC5B201B-9DC4-4C72-875A-BD3111D04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256"/>
              <a:ext cx="4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4" name="Oval 201">
              <a:extLst>
                <a:ext uri="{FF2B5EF4-FFF2-40B4-BE49-F238E27FC236}">
                  <a16:creationId xmlns:a16="http://schemas.microsoft.com/office/drawing/2014/main" id="{E88F5DC7-BD14-4711-886A-6CEDC3716BF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216" y="2160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5" name="Oval 202">
              <a:extLst>
                <a:ext uri="{FF2B5EF4-FFF2-40B4-BE49-F238E27FC236}">
                  <a16:creationId xmlns:a16="http://schemas.microsoft.com/office/drawing/2014/main" id="{EDAFA6E4-9259-4A95-AC68-B9C67B47847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24" y="2160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6" name="Line 203">
              <a:extLst>
                <a:ext uri="{FF2B5EF4-FFF2-40B4-BE49-F238E27FC236}">
                  <a16:creationId xmlns:a16="http://schemas.microsoft.com/office/drawing/2014/main" id="{5BD7A29D-F2AD-4284-84A4-7532BA6D4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1" y="3335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Oval 204">
              <a:extLst>
                <a:ext uri="{FF2B5EF4-FFF2-40B4-BE49-F238E27FC236}">
                  <a16:creationId xmlns:a16="http://schemas.microsoft.com/office/drawing/2014/main" id="{31BEE585-EFBA-441E-B51E-02F232AE3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264"/>
              <a:ext cx="144" cy="144"/>
            </a:xfrm>
            <a:prstGeom prst="ellipse">
              <a:avLst/>
            </a:prstGeom>
            <a:solidFill>
              <a:srgbClr val="66FF33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38" name="Group 205">
            <a:extLst>
              <a:ext uri="{FF2B5EF4-FFF2-40B4-BE49-F238E27FC236}">
                <a16:creationId xmlns:a16="http://schemas.microsoft.com/office/drawing/2014/main" id="{F69B6DCF-11B6-485F-9E39-746C4CE45DBB}"/>
              </a:ext>
            </a:extLst>
          </p:cNvPr>
          <p:cNvGrpSpPr>
            <a:grpSpLocks/>
          </p:cNvGrpSpPr>
          <p:nvPr/>
        </p:nvGrpSpPr>
        <p:grpSpPr bwMode="auto">
          <a:xfrm>
            <a:off x="8496300" y="3513578"/>
            <a:ext cx="954088" cy="1563687"/>
            <a:chOff x="4368" y="2423"/>
            <a:chExt cx="601" cy="985"/>
          </a:xfrm>
        </p:grpSpPr>
        <p:sp>
          <p:nvSpPr>
            <p:cNvPr id="39" name="Line 206">
              <a:extLst>
                <a:ext uri="{FF2B5EF4-FFF2-40B4-BE49-F238E27FC236}">
                  <a16:creationId xmlns:a16="http://schemas.microsoft.com/office/drawing/2014/main" id="{B48DB216-2AC3-469A-8EB5-811BCCCFB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3" y="3335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grpSp>
          <p:nvGrpSpPr>
            <p:cNvPr id="40" name="Group 207">
              <a:extLst>
                <a:ext uri="{FF2B5EF4-FFF2-40B4-BE49-F238E27FC236}">
                  <a16:creationId xmlns:a16="http://schemas.microsoft.com/office/drawing/2014/main" id="{7BA992D2-74E2-4A49-BA2E-617E38BA266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368" y="2423"/>
              <a:ext cx="144" cy="313"/>
              <a:chOff x="2064" y="2256"/>
              <a:chExt cx="144" cy="313"/>
            </a:xfrm>
          </p:grpSpPr>
          <p:sp>
            <p:nvSpPr>
              <p:cNvPr id="43" name="Oval 208">
                <a:extLst>
                  <a:ext uri="{FF2B5EF4-FFF2-40B4-BE49-F238E27FC236}">
                    <a16:creationId xmlns:a16="http://schemas.microsoft.com/office/drawing/2014/main" id="{62909CDB-F605-45A7-8DCC-6910545CC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425"/>
                <a:ext cx="144" cy="144"/>
              </a:xfrm>
              <a:prstGeom prst="ellipse">
                <a:avLst/>
              </a:prstGeom>
              <a:solidFill>
                <a:srgbClr val="FF0066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  <p:sp>
            <p:nvSpPr>
              <p:cNvPr id="44" name="Line 209">
                <a:extLst>
                  <a:ext uri="{FF2B5EF4-FFF2-40B4-BE49-F238E27FC236}">
                    <a16:creationId xmlns:a16="http://schemas.microsoft.com/office/drawing/2014/main" id="{F01EE4D3-8E61-4CD8-919F-5C79C4B56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5" y="2256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s-CO"/>
              </a:p>
            </p:txBody>
          </p:sp>
        </p:grpSp>
        <p:sp>
          <p:nvSpPr>
            <p:cNvPr id="41" name="Oval 210">
              <a:extLst>
                <a:ext uri="{FF2B5EF4-FFF2-40B4-BE49-F238E27FC236}">
                  <a16:creationId xmlns:a16="http://schemas.microsoft.com/office/drawing/2014/main" id="{94E92BD1-FDD6-4650-900F-6C961C155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264"/>
              <a:ext cx="144" cy="144"/>
            </a:xfrm>
            <a:prstGeom prst="ellipse">
              <a:avLst/>
            </a:prstGeom>
            <a:solidFill>
              <a:srgbClr val="66FF33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2" name="Line 211">
              <a:extLst>
                <a:ext uri="{FF2B5EF4-FFF2-40B4-BE49-F238E27FC236}">
                  <a16:creationId xmlns:a16="http://schemas.microsoft.com/office/drawing/2014/main" id="{830B29C3-4C45-43F1-8671-F2EB80D911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2496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45" name="Text Box 212">
            <a:extLst>
              <a:ext uri="{FF2B5EF4-FFF2-40B4-BE49-F238E27FC236}">
                <a16:creationId xmlns:a16="http://schemas.microsoft.com/office/drawing/2014/main" id="{943DA0AD-3EE5-421D-87F4-5101FA38E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0" y="2459175"/>
            <a:ext cx="3886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0" lang="es-MX" altLang="es-CO" sz="2400" dirty="0" err="1">
                <a:solidFill>
                  <a:srgbClr val="000000"/>
                </a:solidFill>
              </a:rPr>
              <a:t>v</a:t>
            </a:r>
            <a:r>
              <a:rPr kumimoji="0" lang="es-MX" altLang="es-CO" sz="2400" baseline="-25000" dirty="0" err="1">
                <a:solidFill>
                  <a:srgbClr val="000000"/>
                </a:solidFill>
              </a:rPr>
              <a:t>x</a:t>
            </a:r>
            <a:r>
              <a:rPr kumimoji="0" lang="es-MX" altLang="es-CO" sz="2400" dirty="0">
                <a:solidFill>
                  <a:srgbClr val="000000"/>
                </a:solidFill>
              </a:rPr>
              <a:t> = v</a:t>
            </a:r>
            <a:r>
              <a:rPr kumimoji="0" lang="es-MX" altLang="es-CO" sz="2400" baseline="-25000" dirty="0">
                <a:solidFill>
                  <a:srgbClr val="000000"/>
                </a:solidFill>
              </a:rPr>
              <a:t>ox</a:t>
            </a:r>
            <a:r>
              <a:rPr kumimoji="0" lang="es-MX" altLang="es-CO" sz="2400" dirty="0">
                <a:solidFill>
                  <a:srgbClr val="000000"/>
                </a:solidFill>
              </a:rPr>
              <a:t> = constante</a:t>
            </a:r>
          </a:p>
        </p:txBody>
      </p:sp>
      <p:sp>
        <p:nvSpPr>
          <p:cNvPr id="46" name="Line 213">
            <a:extLst>
              <a:ext uri="{FF2B5EF4-FFF2-40B4-BE49-F238E27FC236}">
                <a16:creationId xmlns:a16="http://schemas.microsoft.com/office/drawing/2014/main" id="{31016AB8-6EE6-493C-9806-D88BC35A6E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4100" y="3248465"/>
            <a:ext cx="739140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47" name="Line 214">
            <a:extLst>
              <a:ext uri="{FF2B5EF4-FFF2-40B4-BE49-F238E27FC236}">
                <a16:creationId xmlns:a16="http://schemas.microsoft.com/office/drawing/2014/main" id="{9F88EA88-0667-4FD9-A73A-F74E56F225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0300" y="3629465"/>
            <a:ext cx="731520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aphicFrame>
        <p:nvGraphicFramePr>
          <p:cNvPr id="48" name="Object 215">
            <a:extLst>
              <a:ext uri="{FF2B5EF4-FFF2-40B4-BE49-F238E27FC236}">
                <a16:creationId xmlns:a16="http://schemas.microsoft.com/office/drawing/2014/main" id="{6EBD9205-1ABB-4B1A-8E10-FEFC0D8DD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139479"/>
              </p:ext>
            </p:extLst>
          </p:nvPr>
        </p:nvGraphicFramePr>
        <p:xfrm>
          <a:off x="5632988" y="3699316"/>
          <a:ext cx="205740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241200" progId="Equation.DSMT4">
                  <p:embed/>
                </p:oleObj>
              </mc:Choice>
              <mc:Fallback>
                <p:oleObj name="Equation" r:id="rId6" imgW="761760" imgH="241200" progId="Equation.DSMT4">
                  <p:embed/>
                  <p:pic>
                    <p:nvPicPr>
                      <p:cNvPr id="496855" name="Object 215">
                        <a:extLst>
                          <a:ext uri="{FF2B5EF4-FFF2-40B4-BE49-F238E27FC236}">
                            <a16:creationId xmlns:a16="http://schemas.microsoft.com/office/drawing/2014/main" id="{6B95823E-FB10-45E7-8347-6C8A4D75EC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988" y="3699316"/>
                        <a:ext cx="205740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16">
            <a:extLst>
              <a:ext uri="{FF2B5EF4-FFF2-40B4-BE49-F238E27FC236}">
                <a16:creationId xmlns:a16="http://schemas.microsoft.com/office/drawing/2014/main" id="{9F53A602-06FE-4AC4-8EF5-4964451F1B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02510"/>
              </p:ext>
            </p:extLst>
          </p:nvPr>
        </p:nvGraphicFramePr>
        <p:xfrm>
          <a:off x="5645687" y="4141433"/>
          <a:ext cx="25146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63280" imgH="203040" progId="Equation.DSMT4">
                  <p:embed/>
                </p:oleObj>
              </mc:Choice>
              <mc:Fallback>
                <p:oleObj name="Equation" r:id="rId8" imgW="863280" imgH="203040" progId="Equation.DSMT4">
                  <p:embed/>
                  <p:pic>
                    <p:nvPicPr>
                      <p:cNvPr id="496856" name="Object 216">
                        <a:extLst>
                          <a:ext uri="{FF2B5EF4-FFF2-40B4-BE49-F238E27FC236}">
                            <a16:creationId xmlns:a16="http://schemas.microsoft.com/office/drawing/2014/main" id="{8C03F064-6E20-4D04-903A-14434A7DC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687" y="4141433"/>
                        <a:ext cx="251460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371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animBg="1" autoUpdateAnimBg="0"/>
      <p:bldP spid="4" grpId="0" autoUpdateAnimBg="0"/>
      <p:bldP spid="4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A348D-2796-8321-B566-1B333B57B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F631158-1742-418F-B2AD-8636EF30D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669" y="55026"/>
            <a:ext cx="8413653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800" dirty="0"/>
              <a:t>Cálculos de desplazamiento para proyección general: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8EE9944-DBAD-4B73-9D27-C39C9C12B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1045" y="1102130"/>
            <a:ext cx="868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0" dirty="0"/>
              <a:t>Los componentes del desplazamiento en el tiempo t son:</a:t>
            </a:r>
            <a:r>
              <a:rPr lang="es-MX" altLang="es-CO" sz="2400" dirty="0"/>
              <a:t> </a:t>
            </a:r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C48A4AA6-664B-4DD4-ACD7-E87B9B011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848517"/>
              </p:ext>
            </p:extLst>
          </p:nvPr>
        </p:nvGraphicFramePr>
        <p:xfrm>
          <a:off x="2535237" y="1851561"/>
          <a:ext cx="311467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39600" imgH="241200" progId="Equation.DSMT4">
                  <p:embed/>
                </p:oleObj>
              </mc:Choice>
              <mc:Fallback>
                <p:oleObj name="Equation" r:id="rId5" imgW="939600" imgH="241200" progId="Equation.DSMT4">
                  <p:embed/>
                  <p:pic>
                    <p:nvPicPr>
                      <p:cNvPr id="503820" name="Object 12">
                        <a:extLst>
                          <a:ext uri="{FF2B5EF4-FFF2-40B4-BE49-F238E27FC236}">
                            <a16:creationId xmlns:a16="http://schemas.microsoft.com/office/drawing/2014/main" id="{81E34E81-2495-43B3-B344-FE9BE9A0D3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7" y="1851561"/>
                        <a:ext cx="3114675" cy="8048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>
            <a:extLst>
              <a:ext uri="{FF2B5EF4-FFF2-40B4-BE49-F238E27FC236}">
                <a16:creationId xmlns:a16="http://schemas.microsoft.com/office/drawing/2014/main" id="{FA4BF1B8-BC6E-442A-8C44-8E8D5B3BB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096" y="3101818"/>
            <a:ext cx="274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i="0" dirty="0"/>
              <a:t>Para proyectiles:</a:t>
            </a:r>
            <a:endParaRPr lang="es-MX" altLang="es-CO" sz="2400" dirty="0"/>
          </a:p>
        </p:txBody>
      </p:sp>
      <p:graphicFrame>
        <p:nvGraphicFramePr>
          <p:cNvPr id="6" name="Object 15">
            <a:extLst>
              <a:ext uri="{FF2B5EF4-FFF2-40B4-BE49-F238E27FC236}">
                <a16:creationId xmlns:a16="http://schemas.microsoft.com/office/drawing/2014/main" id="{62A1517A-745F-4B42-ACFF-28C26EC03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811253"/>
              </p:ext>
            </p:extLst>
          </p:nvPr>
        </p:nvGraphicFramePr>
        <p:xfrm>
          <a:off x="4411907" y="2981020"/>
          <a:ext cx="559593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17360" imgH="241200" progId="Equation.DSMT4">
                  <p:embed/>
                </p:oleObj>
              </mc:Choice>
              <mc:Fallback>
                <p:oleObj name="Equation" r:id="rId7" imgW="1917360" imgH="241200" progId="Equation.DSMT4">
                  <p:embed/>
                  <p:pic>
                    <p:nvPicPr>
                      <p:cNvPr id="503823" name="Object 15">
                        <a:extLst>
                          <a:ext uri="{FF2B5EF4-FFF2-40B4-BE49-F238E27FC236}">
                            <a16:creationId xmlns:a16="http://schemas.microsoft.com/office/drawing/2014/main" id="{60E753DC-211C-4CE7-BF83-28715ECF4D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1907" y="2981020"/>
                        <a:ext cx="5595938" cy="7032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9BD1089F-3745-4ED0-A9C7-596C4BA7E7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795440"/>
              </p:ext>
            </p:extLst>
          </p:nvPr>
        </p:nvGraphicFramePr>
        <p:xfrm>
          <a:off x="6096000" y="1830924"/>
          <a:ext cx="31559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52200" imgH="253800" progId="Equation.DSMT4">
                  <p:embed/>
                </p:oleObj>
              </mc:Choice>
              <mc:Fallback>
                <p:oleObj name="Equation" r:id="rId9" imgW="952200" imgH="253800" progId="Equation.DSMT4">
                  <p:embed/>
                  <p:pic>
                    <p:nvPicPr>
                      <p:cNvPr id="503824" name="Object 16">
                        <a:extLst>
                          <a:ext uri="{FF2B5EF4-FFF2-40B4-BE49-F238E27FC236}">
                            <a16:creationId xmlns:a16="http://schemas.microsoft.com/office/drawing/2014/main" id="{0A36742E-D979-490B-B181-578C5119FF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830924"/>
                        <a:ext cx="3155950" cy="8477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1">
            <a:extLst>
              <a:ext uri="{FF2B5EF4-FFF2-40B4-BE49-F238E27FC236}">
                <a16:creationId xmlns:a16="http://schemas.microsoft.com/office/drawing/2014/main" id="{6EB50CDF-045B-4B1A-B4C6-8F9A5CF51628}"/>
              </a:ext>
            </a:extLst>
          </p:cNvPr>
          <p:cNvGrpSpPr>
            <a:grpSpLocks/>
          </p:cNvGrpSpPr>
          <p:nvPr/>
        </p:nvGrpSpPr>
        <p:grpSpPr bwMode="auto">
          <a:xfrm>
            <a:off x="1841696" y="4098388"/>
            <a:ext cx="8229600" cy="1981200"/>
            <a:chOff x="288" y="2784"/>
            <a:chExt cx="5184" cy="1248"/>
          </a:xfrm>
        </p:grpSpPr>
        <p:sp>
          <p:nvSpPr>
            <p:cNvPr id="9" name="Rectangle 18">
              <a:extLst>
                <a:ext uri="{FF2B5EF4-FFF2-40B4-BE49-F238E27FC236}">
                  <a16:creationId xmlns:a16="http://schemas.microsoft.com/office/drawing/2014/main" id="{580222BB-0CE3-47C9-A022-A4E7ED389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784"/>
              <a:ext cx="5184" cy="124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17">
              <a:extLst>
                <a:ext uri="{FF2B5EF4-FFF2-40B4-BE49-F238E27FC236}">
                  <a16:creationId xmlns:a16="http://schemas.microsoft.com/office/drawing/2014/main" id="{D3E32993-F92A-4184-8D69-58E446D46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880"/>
              <a:ext cx="273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dirty="0">
                  <a:solidFill>
                    <a:srgbClr val="000000"/>
                  </a:solidFill>
                </a:rPr>
                <a:t>Por tanto, los componentes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x</a:t>
              </a:r>
              <a:r>
                <a:rPr lang="es-MX" altLang="es-CO" sz="2400" dirty="0">
                  <a:solidFill>
                    <a:srgbClr val="000000"/>
                  </a:solidFill>
                </a:rPr>
                <a:t> y </a:t>
              </a:r>
              <a:r>
                <a:rPr lang="es-MX" altLang="es-CO" sz="2400" i="0" dirty="0" err="1">
                  <a:solidFill>
                    <a:srgbClr val="000000"/>
                  </a:solidFill>
                </a:rPr>
                <a:t>y</a:t>
              </a:r>
              <a:r>
                <a:rPr lang="es-MX" altLang="es-CO" sz="2400" dirty="0">
                  <a:solidFill>
                    <a:srgbClr val="000000"/>
                  </a:solidFill>
                </a:rPr>
                <a:t> para proyectiles son:</a:t>
              </a:r>
            </a:p>
          </p:txBody>
        </p:sp>
        <p:graphicFrame>
          <p:nvGraphicFramePr>
            <p:cNvPr id="11" name="Object 19">
              <a:extLst>
                <a:ext uri="{FF2B5EF4-FFF2-40B4-BE49-F238E27FC236}">
                  <a16:creationId xmlns:a16="http://schemas.microsoft.com/office/drawing/2014/main" id="{E54AA1A5-6FA2-4220-97E8-3E46B3115C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8055736"/>
                </p:ext>
              </p:extLst>
            </p:nvPr>
          </p:nvGraphicFramePr>
          <p:xfrm>
            <a:off x="3440" y="2860"/>
            <a:ext cx="1920" cy="10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914400" imgH="482400" progId="Equation.DSMT4">
                    <p:embed/>
                  </p:oleObj>
                </mc:Choice>
                <mc:Fallback>
                  <p:oleObj name="Equation" r:id="rId11" imgW="914400" imgH="482400" progId="Equation.DSMT4">
                    <p:embed/>
                    <p:pic>
                      <p:nvPicPr>
                        <p:cNvPr id="503827" name="Object 19">
                          <a:extLst>
                            <a:ext uri="{FF2B5EF4-FFF2-40B4-BE49-F238E27FC236}">
                              <a16:creationId xmlns:a16="http://schemas.microsoft.com/office/drawing/2014/main" id="{8B7D6A59-386E-49A9-B5E5-A566841F64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0" y="2860"/>
                          <a:ext cx="1920" cy="10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Line 22">
            <a:extLst>
              <a:ext uri="{FF2B5EF4-FFF2-40B4-BE49-F238E27FC236}">
                <a16:creationId xmlns:a16="http://schemas.microsoft.com/office/drawing/2014/main" id="{D6AB4223-597B-4B7B-830E-485066217A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696" y="4098388"/>
            <a:ext cx="0" cy="1981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464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ABACC-30B4-175C-EC91-445369B3B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8A6EAF5-17E8-4E77-ABF8-1ACE4E4D3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20980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Cálculos de velocidad para proyección general: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A65C5E9-4B91-4BA4-BA8E-6E1AFA908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049332"/>
            <a:ext cx="838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dirty="0"/>
              <a:t>Los componentes de la velocidad en el tiempo t son: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66E43033-8A79-44A7-AB53-EF2171E20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852216"/>
              </p:ext>
            </p:extLst>
          </p:nvPr>
        </p:nvGraphicFramePr>
        <p:xfrm>
          <a:off x="3581400" y="1752804"/>
          <a:ext cx="24003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228600" progId="Equation.DSMT4">
                  <p:embed/>
                </p:oleObj>
              </mc:Choice>
              <mc:Fallback>
                <p:oleObj name="Equation" r:id="rId4" imgW="799920" imgH="228600" progId="Equation.DSMT4">
                  <p:embed/>
                  <p:pic>
                    <p:nvPicPr>
                      <p:cNvPr id="504836" name="Object 4">
                        <a:extLst>
                          <a:ext uri="{FF2B5EF4-FFF2-40B4-BE49-F238E27FC236}">
                            <a16:creationId xmlns:a16="http://schemas.microsoft.com/office/drawing/2014/main" id="{B2C5D3D5-E165-4478-93D2-7391D6978D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752804"/>
                        <a:ext cx="2400300" cy="6889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4B78AAEE-59A8-4DA5-B6D2-D174711AA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03917"/>
            <a:ext cx="274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s-MX" altLang="es-CO" sz="2400" dirty="0"/>
              <a:t>Para proyectiles: 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EE8C189D-1C0B-4DAC-8DAC-F13741FA35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428909"/>
              </p:ext>
            </p:extLst>
          </p:nvPr>
        </p:nvGraphicFramePr>
        <p:xfrm>
          <a:off x="4919662" y="3107873"/>
          <a:ext cx="559593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360" imgH="241200" progId="Equation.DSMT4">
                  <p:embed/>
                </p:oleObj>
              </mc:Choice>
              <mc:Fallback>
                <p:oleObj name="Equation" r:id="rId6" imgW="1917360" imgH="241200" progId="Equation.DSMT4">
                  <p:embed/>
                  <p:pic>
                    <p:nvPicPr>
                      <p:cNvPr id="504838" name="Object 6">
                        <a:extLst>
                          <a:ext uri="{FF2B5EF4-FFF2-40B4-BE49-F238E27FC236}">
                            <a16:creationId xmlns:a16="http://schemas.microsoft.com/office/drawing/2014/main" id="{F9146246-FD51-4133-8B0D-D2AF5C614C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662" y="3107873"/>
                        <a:ext cx="5595938" cy="7032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811A35BC-471A-4DAF-9FA4-413AB9018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441989"/>
              </p:ext>
            </p:extLst>
          </p:nvPr>
        </p:nvGraphicFramePr>
        <p:xfrm>
          <a:off x="7048500" y="1752804"/>
          <a:ext cx="24241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241200" progId="Equation.DSMT4">
                  <p:embed/>
                </p:oleObj>
              </mc:Choice>
              <mc:Fallback>
                <p:oleObj name="Equation" r:id="rId8" imgW="812520" imgH="241200" progId="Equation.DSMT4">
                  <p:embed/>
                  <p:pic>
                    <p:nvPicPr>
                      <p:cNvPr id="504839" name="Object 7">
                        <a:extLst>
                          <a:ext uri="{FF2B5EF4-FFF2-40B4-BE49-F238E27FC236}">
                            <a16:creationId xmlns:a16="http://schemas.microsoft.com/office/drawing/2014/main" id="{58CB8B0F-E1C5-4904-9B1E-C00282870F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0" y="1752804"/>
                        <a:ext cx="2424113" cy="7239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4">
            <a:extLst>
              <a:ext uri="{FF2B5EF4-FFF2-40B4-BE49-F238E27FC236}">
                <a16:creationId xmlns:a16="http://schemas.microsoft.com/office/drawing/2014/main" id="{3763AE50-B091-4219-B0AB-60834FEA22F0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194517"/>
            <a:ext cx="8385175" cy="1981200"/>
            <a:chOff x="336" y="2784"/>
            <a:chExt cx="5282" cy="1248"/>
          </a:xfrm>
        </p:grpSpPr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B8432136-D380-40EB-BAD0-0594FEA16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784"/>
              <a:ext cx="5136" cy="124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076781C6-C3CE-478F-BD53-23AA0DCDD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" y="2962"/>
              <a:ext cx="232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s-MX" altLang="es-CO" sz="2400" dirty="0">
                  <a:solidFill>
                    <a:srgbClr val="000000"/>
                  </a:solidFill>
                </a:rPr>
                <a:t>Por tanto, los componentes de velocidad </a:t>
              </a:r>
              <a:r>
                <a:rPr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 err="1">
                  <a:solidFill>
                    <a:srgbClr val="000000"/>
                  </a:solidFill>
                </a:rPr>
                <a:t>x</a:t>
              </a:r>
              <a:r>
                <a:rPr lang="es-MX" altLang="es-CO" sz="2400" dirty="0">
                  <a:solidFill>
                    <a:srgbClr val="000000"/>
                  </a:solidFill>
                </a:rPr>
                <a:t> y </a:t>
              </a:r>
              <a:r>
                <a:rPr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 err="1">
                  <a:solidFill>
                    <a:srgbClr val="000000"/>
                  </a:solidFill>
                </a:rPr>
                <a:t>y</a:t>
              </a:r>
              <a:r>
                <a:rPr lang="es-MX" altLang="es-CO" sz="2400" dirty="0">
                  <a:solidFill>
                    <a:srgbClr val="000000"/>
                  </a:solidFill>
                </a:rPr>
                <a:t> para proyectiles son:</a:t>
              </a:r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8EE702D0-4949-4C5D-B38F-925ED3A4C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784"/>
              <a:ext cx="0" cy="12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7688476E-41F3-482A-9D96-52938CE5C70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62" y="2906"/>
              <a:ext cx="2166" cy="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Rectangle 26">
              <a:extLst>
                <a:ext uri="{FF2B5EF4-FFF2-40B4-BE49-F238E27FC236}">
                  <a16:creationId xmlns:a16="http://schemas.microsoft.com/office/drawing/2014/main" id="{E30C007A-C628-453D-B3DC-9CD1C38B2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9" y="2926"/>
              <a:ext cx="230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s-MX" altLang="es-CO" sz="3200" i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MX" altLang="es-CO" sz="32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s-MX" altLang="es-CO" sz="3200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s-MX" altLang="es-CO" sz="3200" i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= </a:t>
              </a:r>
              <a:r>
                <a:rPr lang="es-MX" altLang="es-CO" sz="32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s-MX" altLang="es-CO" sz="3200" i="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s-MX" altLang="es-CO" sz="32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s-MX" altLang="es-CO" sz="3200" i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constante</a:t>
              </a:r>
              <a:endParaRPr lang="es-MX" altLang="es-CO" sz="3200" dirty="0"/>
            </a:p>
          </p:txBody>
        </p:sp>
        <p:sp>
          <p:nvSpPr>
            <p:cNvPr id="14" name="Rectangle 32">
              <a:extLst>
                <a:ext uri="{FF2B5EF4-FFF2-40B4-BE49-F238E27FC236}">
                  <a16:creationId xmlns:a16="http://schemas.microsoft.com/office/drawing/2014/main" id="{D09ED224-7D69-42CC-9DAD-C4A00DFC5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8" y="3388"/>
              <a:ext cx="126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s-MX" altLang="es-CO" sz="32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s-MX" altLang="es-CO" sz="3200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MX" altLang="es-CO" sz="3200" i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s-MX" altLang="es-CO" sz="3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s-MX" altLang="es-CO" sz="3200" i="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s-MX" altLang="es-CO" sz="32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MX" altLang="es-CO" sz="3200" i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s-MX" altLang="es-CO" sz="32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gt</a:t>
              </a:r>
              <a:endParaRPr lang="es-MX" altLang="es-CO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596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DF739-4C2F-E415-35CF-34882E91A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815F99B-0BFF-4B77-8024-EFD7A72B7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5473" y="20320"/>
            <a:ext cx="8382000" cy="762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Estrategia para resolución de problemas: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CE6E6584-AB09-4D42-8CEB-7081F4298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923" y="1036320"/>
            <a:ext cx="868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s-MX" altLang="es-CO" dirty="0">
                <a:latin typeface="+mn-lt"/>
              </a:rPr>
              <a:t>Descomponer la velocidad inicial </a:t>
            </a:r>
            <a:r>
              <a:rPr lang="es-MX" altLang="es-CO" dirty="0" err="1">
                <a:latin typeface="+mn-lt"/>
              </a:rPr>
              <a:t>v</a:t>
            </a:r>
            <a:r>
              <a:rPr lang="es-MX" altLang="es-CO" baseline="-25000" dirty="0" err="1">
                <a:latin typeface="+mn-lt"/>
              </a:rPr>
              <a:t>o</a:t>
            </a:r>
            <a:r>
              <a:rPr lang="es-MX" altLang="es-CO" dirty="0">
                <a:latin typeface="+mn-lt"/>
              </a:rPr>
              <a:t> en componentes: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C6574BCE-3AAB-4AFD-84AF-06EC82478F27}"/>
              </a:ext>
            </a:extLst>
          </p:cNvPr>
          <p:cNvGrpSpPr>
            <a:grpSpLocks/>
          </p:cNvGrpSpPr>
          <p:nvPr/>
        </p:nvGrpSpPr>
        <p:grpSpPr bwMode="auto">
          <a:xfrm>
            <a:off x="2075473" y="1569720"/>
            <a:ext cx="7391400" cy="1143000"/>
            <a:chOff x="576" y="1488"/>
            <a:chExt cx="4656" cy="720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ECC07C8E-2F7E-48BA-A0BE-C830F7A66A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1584"/>
              <a:ext cx="72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7B231787-3EDA-4183-A306-A8E90EEA7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968"/>
              <a:ext cx="720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3F0F5B4D-A1FE-4E34-9B9D-975FDF1F4B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1584"/>
              <a:ext cx="0" cy="384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C19D6377-8425-4B10-B79D-03483A062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58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69F0A8F4-8625-4583-A4F0-2D04B1148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584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4BEB122F-DAFE-49F1-ADF7-1A9BB6171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48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latin typeface="Times New Roman" panose="02020603050405020304" pitchFamily="18" charset="0"/>
                </a:rPr>
                <a:t>v</a:t>
              </a:r>
              <a:r>
                <a:rPr lang="es-MX" altLang="es-CO" sz="2400" baseline="-25000">
                  <a:latin typeface="Times New Roman" panose="02020603050405020304" pitchFamily="18" charset="0"/>
                </a:rPr>
                <a:t>o</a:t>
              </a:r>
              <a:endParaRPr lang="es-MX" altLang="es-CO" sz="2400"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DB77AB4A-5AC8-4510-88D8-1285FA273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solidFill>
                    <a:srgbClr val="66FFCC"/>
                  </a:solidFill>
                  <a:latin typeface="Times New Roman" panose="02020603050405020304" pitchFamily="18" charset="0"/>
                </a:rPr>
                <a:t>v</a:t>
              </a:r>
              <a:r>
                <a:rPr lang="es-MX" altLang="es-CO" sz="2400" baseline="-25000">
                  <a:solidFill>
                    <a:srgbClr val="66FFCC"/>
                  </a:solidFill>
                  <a:latin typeface="Times New Roman" panose="02020603050405020304" pitchFamily="18" charset="0"/>
                </a:rPr>
                <a:t>ox</a:t>
              </a:r>
              <a:endParaRPr lang="es-MX" altLang="es-CO" sz="2400">
                <a:solidFill>
                  <a:srgbClr val="66FF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66FD9397-C45B-4381-8232-CF7CD64A4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53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solidFill>
                    <a:srgbClr val="66FFCC"/>
                  </a:solidFill>
                  <a:latin typeface="Times New Roman" panose="02020603050405020304" pitchFamily="18" charset="0"/>
                </a:rPr>
                <a:t>v</a:t>
              </a:r>
              <a:r>
                <a:rPr lang="es-MX" altLang="es-CO" sz="2400" baseline="-25000">
                  <a:solidFill>
                    <a:srgbClr val="66FFCC"/>
                  </a:solidFill>
                  <a:latin typeface="Times New Roman" panose="02020603050405020304" pitchFamily="18" charset="0"/>
                </a:rPr>
                <a:t>oy</a:t>
              </a:r>
              <a:endParaRPr lang="es-MX" altLang="es-CO" sz="2400">
                <a:solidFill>
                  <a:srgbClr val="66FF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0D139C25-4261-433A-B558-14C8B25F8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17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>
                  <a:latin typeface="Symbol" panose="05050102010706020507" pitchFamily="18" charset="2"/>
                </a:rPr>
                <a:t>q</a:t>
              </a:r>
            </a:p>
          </p:txBody>
        </p:sp>
        <p:graphicFrame>
          <p:nvGraphicFramePr>
            <p:cNvPr id="14" name="Object 14">
              <a:extLst>
                <a:ext uri="{FF2B5EF4-FFF2-40B4-BE49-F238E27FC236}">
                  <a16:creationId xmlns:a16="http://schemas.microsoft.com/office/drawing/2014/main" id="{649BEDE2-6242-4E12-A424-60BAA2366A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1584"/>
            <a:ext cx="3264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28800" imgH="241200" progId="Equation.DSMT4">
                    <p:embed/>
                  </p:oleObj>
                </mc:Choice>
                <mc:Fallback>
                  <p:oleObj name="Equation" r:id="rId4" imgW="1828800" imgH="241200" progId="Equation.DSMT4">
                    <p:embed/>
                    <p:pic>
                      <p:nvPicPr>
                        <p:cNvPr id="505870" name="Object 14">
                          <a:extLst>
                            <a:ext uri="{FF2B5EF4-FFF2-40B4-BE49-F238E27FC236}">
                              <a16:creationId xmlns:a16="http://schemas.microsoft.com/office/drawing/2014/main" id="{00B27118-F5A6-4809-90FF-22E6F2808F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1584"/>
                          <a:ext cx="3264" cy="431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349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16">
            <a:extLst>
              <a:ext uri="{FF2B5EF4-FFF2-40B4-BE49-F238E27FC236}">
                <a16:creationId xmlns:a16="http://schemas.microsoft.com/office/drawing/2014/main" id="{C70B5F16-B7F0-4050-9184-F91E25C9D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923" y="2738417"/>
            <a:ext cx="853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s-CO" dirty="0">
                <a:latin typeface="+mn-lt"/>
              </a:rPr>
              <a:t>2. Encuentre componentes de posición y velocidad final:</a:t>
            </a:r>
          </a:p>
        </p:txBody>
      </p:sp>
      <p:grpSp>
        <p:nvGrpSpPr>
          <p:cNvPr id="16" name="Group 43">
            <a:extLst>
              <a:ext uri="{FF2B5EF4-FFF2-40B4-BE49-F238E27FC236}">
                <a16:creationId xmlns:a16="http://schemas.microsoft.com/office/drawing/2014/main" id="{6560870D-52F7-4C38-91EB-E8F4267EC28C}"/>
              </a:ext>
            </a:extLst>
          </p:cNvPr>
          <p:cNvGrpSpPr>
            <a:grpSpLocks/>
          </p:cNvGrpSpPr>
          <p:nvPr/>
        </p:nvGrpSpPr>
        <p:grpSpPr bwMode="auto">
          <a:xfrm>
            <a:off x="2018518" y="3383280"/>
            <a:ext cx="8153400" cy="2438400"/>
            <a:chOff x="432" y="2400"/>
            <a:chExt cx="5136" cy="1536"/>
          </a:xfrm>
        </p:grpSpPr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6794F4D9-1F01-4628-A388-38257A67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400"/>
              <a:ext cx="5136" cy="1536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graphicFrame>
          <p:nvGraphicFramePr>
            <p:cNvPr id="18" name="Object 21">
              <a:extLst>
                <a:ext uri="{FF2B5EF4-FFF2-40B4-BE49-F238E27FC236}">
                  <a16:creationId xmlns:a16="http://schemas.microsoft.com/office/drawing/2014/main" id="{E1A8CB22-A0D1-4E5D-A506-B4CBAFB2F0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2922"/>
            <a:ext cx="1920" cy="10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14400" imgH="482400" progId="Equation.DSMT4">
                    <p:embed/>
                  </p:oleObj>
                </mc:Choice>
                <mc:Fallback>
                  <p:oleObj name="Equation" r:id="rId6" imgW="914400" imgH="482400" progId="Equation.DSMT4">
                    <p:embed/>
                    <p:pic>
                      <p:nvPicPr>
                        <p:cNvPr id="505877" name="Object 21">
                          <a:extLst>
                            <a:ext uri="{FF2B5EF4-FFF2-40B4-BE49-F238E27FC236}">
                              <a16:creationId xmlns:a16="http://schemas.microsoft.com/office/drawing/2014/main" id="{B7A97954-5AEE-4EE2-BCDB-84807D4EE7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922"/>
                          <a:ext cx="1920" cy="10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649B0231-64A0-4801-9271-3694B0241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496"/>
              <a:ext cx="20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Desplazamiento:</a:t>
              </a:r>
            </a:p>
          </p:txBody>
        </p:sp>
        <p:sp>
          <p:nvSpPr>
            <p:cNvPr id="20" name="Text Box 23">
              <a:extLst>
                <a:ext uri="{FF2B5EF4-FFF2-40B4-BE49-F238E27FC236}">
                  <a16:creationId xmlns:a16="http://schemas.microsoft.com/office/drawing/2014/main" id="{1025C43F-E8ED-40A7-A9B5-59C918C0A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544"/>
              <a:ext cx="12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Velocidad:</a:t>
              </a:r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12486FF2-C5CC-4AC2-848D-26A2961BC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400"/>
              <a:ext cx="0" cy="153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AutoShape 33">
              <a:extLst>
                <a:ext uri="{FF2B5EF4-FFF2-40B4-BE49-F238E27FC236}">
                  <a16:creationId xmlns:a16="http://schemas.microsoft.com/office/drawing/2014/main" id="{6BA2B411-40EE-41BA-BA6A-CA601B09DE1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49" y="2922"/>
              <a:ext cx="1733" cy="1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Rectangle 39">
              <a:extLst>
                <a:ext uri="{FF2B5EF4-FFF2-40B4-BE49-F238E27FC236}">
                  <a16:creationId xmlns:a16="http://schemas.microsoft.com/office/drawing/2014/main" id="{9A47B48A-D2C7-432F-8DDC-F26F14DAB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2928"/>
              <a:ext cx="96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s-MX" altLang="es-CO" sz="4000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s-MX" altLang="es-CO" sz="40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s-MX" altLang="es-CO" sz="4000">
                  <a:solidFill>
                    <a:srgbClr val="000000"/>
                  </a:solidFill>
                  <a:latin typeface="Times New Roman" panose="02020603050405020304" pitchFamily="18" charset="0"/>
                </a:rPr>
                <a:t> = v</a:t>
              </a:r>
              <a:r>
                <a:rPr lang="es-MX" altLang="es-CO" sz="4000" i="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s-MX" altLang="es-CO" sz="40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4" name="Rectangle 42">
              <a:extLst>
                <a:ext uri="{FF2B5EF4-FFF2-40B4-BE49-F238E27FC236}">
                  <a16:creationId xmlns:a16="http://schemas.microsoft.com/office/drawing/2014/main" id="{5FA07DF1-6434-4AE6-8030-E5C99F3B1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0" y="3434"/>
              <a:ext cx="151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s-MX" altLang="es-CO" sz="4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s-MX" altLang="es-CO" sz="4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MX" altLang="es-CO" sz="4000" i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s-MX" altLang="es-CO" sz="4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s-MX" altLang="es-CO" sz="4000" i="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s-MX" altLang="es-CO" sz="4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MX" altLang="es-CO" sz="4000" i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s-MX" altLang="es-CO" sz="4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gt</a:t>
              </a:r>
              <a:endParaRPr lang="es-MX" altLang="es-CO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22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1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FB992-3EA4-9DAA-9EA9-92771530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9414C23-3E16-4C68-A726-251532FE6C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2866" y="12309"/>
            <a:ext cx="81534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Estrategia para el problema: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C2149A9-6561-43A2-BDB5-5EF27D59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197" y="1193409"/>
            <a:ext cx="92471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s-MX" altLang="es-CO" dirty="0">
                <a:latin typeface="+mn-lt"/>
              </a:rPr>
              <a:t>3. La posición y velocidad finales se pueden encontrar a partir de los componentes.</a:t>
            </a:r>
          </a:p>
        </p:txBody>
      </p:sp>
      <p:grpSp>
        <p:nvGrpSpPr>
          <p:cNvPr id="4" name="Group 35">
            <a:extLst>
              <a:ext uri="{FF2B5EF4-FFF2-40B4-BE49-F238E27FC236}">
                <a16:creationId xmlns:a16="http://schemas.microsoft.com/office/drawing/2014/main" id="{51B6F9E1-EC1F-4490-8F00-D00C3DD856F3}"/>
              </a:ext>
            </a:extLst>
          </p:cNvPr>
          <p:cNvGrpSpPr>
            <a:grpSpLocks/>
          </p:cNvGrpSpPr>
          <p:nvPr/>
        </p:nvGrpSpPr>
        <p:grpSpPr bwMode="auto">
          <a:xfrm>
            <a:off x="3028071" y="2114893"/>
            <a:ext cx="1676400" cy="1066800"/>
            <a:chOff x="720" y="1392"/>
            <a:chExt cx="1056" cy="672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D5399C35-20C5-4478-A5F4-6E269B5B08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440"/>
              <a:ext cx="72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3730950A-7BDB-4032-9789-F8CBDD8C9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824"/>
              <a:ext cx="720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4D70D96D-C483-4DF6-B343-2D25676D6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440"/>
              <a:ext cx="0" cy="384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1A0F533E-8C85-4C4B-91AA-8DF5A1975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44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59B780DF-6358-40B6-BA8F-73B59C0A7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440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5EA867E-9511-40E0-A713-75036FF57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39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CC2A6B79-C5F4-44F2-9C75-41FD5F8EC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77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solidFill>
                    <a:srgbClr val="66FF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5BE83CB7-3558-48DB-B245-B7B415062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44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solidFill>
                    <a:srgbClr val="66FF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7BD367F4-8AAC-461F-AED4-0344B498F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15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14" name="Text Box 15">
            <a:extLst>
              <a:ext uri="{FF2B5EF4-FFF2-40B4-BE49-F238E27FC236}">
                <a16:creationId xmlns:a16="http://schemas.microsoft.com/office/drawing/2014/main" id="{7958DA2D-B702-411E-899D-E5202A9F4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197" y="5079609"/>
            <a:ext cx="95519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s-MX" altLang="es-CO" dirty="0">
                <a:latin typeface="+mn-lt"/>
              </a:rPr>
              <a:t>4. Use los signos correctos. Recuerde: g es negativo o positivo dependiendo de su elección inicial.</a:t>
            </a:r>
          </a:p>
        </p:txBody>
      </p:sp>
      <p:graphicFrame>
        <p:nvGraphicFramePr>
          <p:cNvPr id="15" name="Object 23">
            <a:extLst>
              <a:ext uri="{FF2B5EF4-FFF2-40B4-BE49-F238E27FC236}">
                <a16:creationId xmlns:a16="http://schemas.microsoft.com/office/drawing/2014/main" id="{294B097E-1790-4CFD-9BD7-A333C01996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427219"/>
              </p:ext>
            </p:extLst>
          </p:nvPr>
        </p:nvGraphicFramePr>
        <p:xfrm>
          <a:off x="5390271" y="2062506"/>
          <a:ext cx="38100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12800" imgH="393480" progId="Equation.DSMT4">
                  <p:embed/>
                </p:oleObj>
              </mc:Choice>
              <mc:Fallback>
                <p:oleObj name="Equation" r:id="rId5" imgW="1612800" imgH="393480" progId="Equation.DSMT4">
                  <p:embed/>
                  <p:pic>
                    <p:nvPicPr>
                      <p:cNvPr id="507927" name="Object 23">
                        <a:extLst>
                          <a:ext uri="{FF2B5EF4-FFF2-40B4-BE49-F238E27FC236}">
                            <a16:creationId xmlns:a16="http://schemas.microsoft.com/office/drawing/2014/main" id="{B525F3B0-9A60-4FB4-A500-533F07F0B1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0271" y="2062506"/>
                        <a:ext cx="3810000" cy="8731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0A2D65DD-D870-4B1A-90AF-B0850E24CF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596493"/>
              </p:ext>
            </p:extLst>
          </p:nvPr>
        </p:nvGraphicFramePr>
        <p:xfrm>
          <a:off x="5404559" y="3264243"/>
          <a:ext cx="3779837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00200" imgH="457200" progId="Equation.DSMT4">
                  <p:embed/>
                </p:oleObj>
              </mc:Choice>
              <mc:Fallback>
                <p:oleObj name="Equation" r:id="rId7" imgW="1600200" imgH="457200" progId="Equation.DSMT4">
                  <p:embed/>
                  <p:pic>
                    <p:nvPicPr>
                      <p:cNvPr id="507928" name="Object 24">
                        <a:extLst>
                          <a:ext uri="{FF2B5EF4-FFF2-40B4-BE49-F238E27FC236}">
                            <a16:creationId xmlns:a16="http://schemas.microsoft.com/office/drawing/2014/main" id="{1DC8CD98-2C77-4B89-8BDF-96E6C491C0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4559" y="3264243"/>
                        <a:ext cx="3779837" cy="101441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36">
            <a:extLst>
              <a:ext uri="{FF2B5EF4-FFF2-40B4-BE49-F238E27FC236}">
                <a16:creationId xmlns:a16="http://schemas.microsoft.com/office/drawing/2014/main" id="{0087DB36-C5B0-4236-A6D2-C60F01F796C4}"/>
              </a:ext>
            </a:extLst>
          </p:cNvPr>
          <p:cNvGrpSpPr>
            <a:grpSpLocks/>
          </p:cNvGrpSpPr>
          <p:nvPr/>
        </p:nvGrpSpPr>
        <p:grpSpPr bwMode="auto">
          <a:xfrm>
            <a:off x="2951871" y="3257893"/>
            <a:ext cx="1828800" cy="1143000"/>
            <a:chOff x="672" y="2112"/>
            <a:chExt cx="1152" cy="720"/>
          </a:xfrm>
        </p:grpSpPr>
        <p:sp>
          <p:nvSpPr>
            <p:cNvPr id="18" name="Line 26">
              <a:extLst>
                <a:ext uri="{FF2B5EF4-FFF2-40B4-BE49-F238E27FC236}">
                  <a16:creationId xmlns:a16="http://schemas.microsoft.com/office/drawing/2014/main" id="{1531E747-7ADF-433B-A616-D3DE24B70F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208"/>
              <a:ext cx="72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6B00AB4A-A90F-4C4E-A9E4-DFC6FA84B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592"/>
              <a:ext cx="720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Line 28">
              <a:extLst>
                <a:ext uri="{FF2B5EF4-FFF2-40B4-BE49-F238E27FC236}">
                  <a16:creationId xmlns:a16="http://schemas.microsoft.com/office/drawing/2014/main" id="{6B185EE9-6DEF-41AF-81BC-CE075429EF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208"/>
              <a:ext cx="0" cy="384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Line 29">
              <a:extLst>
                <a:ext uri="{FF2B5EF4-FFF2-40B4-BE49-F238E27FC236}">
                  <a16:creationId xmlns:a16="http://schemas.microsoft.com/office/drawing/2014/main" id="{EEED27A0-4538-4546-9B42-E7E0388A2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20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C18E14E7-4EF3-4F52-A3DC-B71A4387C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208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Text Box 31">
              <a:extLst>
                <a:ext uri="{FF2B5EF4-FFF2-40B4-BE49-F238E27FC236}">
                  <a16:creationId xmlns:a16="http://schemas.microsoft.com/office/drawing/2014/main" id="{7D796419-C3F0-4D76-9B1D-0D3A2E527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11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latin typeface="Times New Roman" panose="02020603050405020304" pitchFamily="18" charset="0"/>
                </a:rPr>
                <a:t>v</a:t>
              </a:r>
              <a:r>
                <a:rPr lang="es-MX" altLang="es-CO" sz="2400" baseline="-25000">
                  <a:latin typeface="Times New Roman" panose="02020603050405020304" pitchFamily="18" charset="0"/>
                </a:rPr>
                <a:t>o</a:t>
              </a:r>
              <a:endParaRPr lang="es-MX" altLang="es-CO" sz="2400"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32">
              <a:extLst>
                <a:ext uri="{FF2B5EF4-FFF2-40B4-BE49-F238E27FC236}">
                  <a16:creationId xmlns:a16="http://schemas.microsoft.com/office/drawing/2014/main" id="{6B4CB28A-790B-496C-952A-AE93CCF98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54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solidFill>
                    <a:srgbClr val="66FFCC"/>
                  </a:solidFill>
                  <a:latin typeface="Times New Roman" panose="02020603050405020304" pitchFamily="18" charset="0"/>
                </a:rPr>
                <a:t>v</a:t>
              </a:r>
              <a:r>
                <a:rPr lang="es-MX" altLang="es-CO" sz="2400" baseline="-25000">
                  <a:solidFill>
                    <a:srgbClr val="66FFCC"/>
                  </a:solidFill>
                  <a:latin typeface="Times New Roman" panose="02020603050405020304" pitchFamily="18" charset="0"/>
                </a:rPr>
                <a:t>ox</a:t>
              </a:r>
              <a:endParaRPr lang="es-MX" altLang="es-CO" sz="2400">
                <a:solidFill>
                  <a:srgbClr val="66FF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33">
              <a:extLst>
                <a:ext uri="{FF2B5EF4-FFF2-40B4-BE49-F238E27FC236}">
                  <a16:creationId xmlns:a16="http://schemas.microsoft.com/office/drawing/2014/main" id="{31D257C1-774E-4243-9F6A-93920F48D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16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solidFill>
                    <a:srgbClr val="66FFCC"/>
                  </a:solidFill>
                  <a:latin typeface="Times New Roman" panose="02020603050405020304" pitchFamily="18" charset="0"/>
                </a:rPr>
                <a:t>v</a:t>
              </a:r>
              <a:r>
                <a:rPr lang="es-MX" altLang="es-CO" sz="2400" baseline="-25000">
                  <a:solidFill>
                    <a:srgbClr val="66FFCC"/>
                  </a:solidFill>
                  <a:latin typeface="Times New Roman" panose="02020603050405020304" pitchFamily="18" charset="0"/>
                </a:rPr>
                <a:t>oy</a:t>
              </a:r>
              <a:endParaRPr lang="es-MX" altLang="es-CO" sz="2400">
                <a:solidFill>
                  <a:srgbClr val="66FF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34">
              <a:extLst>
                <a:ext uri="{FF2B5EF4-FFF2-40B4-BE49-F238E27FC236}">
                  <a16:creationId xmlns:a16="http://schemas.microsoft.com/office/drawing/2014/main" id="{3A311D94-BAA2-4F12-B2DA-988C70C95E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23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>
                  <a:latin typeface="Symbol" panose="05050102010706020507" pitchFamily="18" charset="2"/>
                </a:rPr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337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1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E29B8-6B8D-B817-5BBD-69DCF0CF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B03C431-E2BA-4AC3-BE4F-1DE32778C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464" y="149689"/>
            <a:ext cx="11700804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Ejemplo:</a:t>
            </a:r>
            <a:r>
              <a:rPr lang="es-MX" altLang="es-CO" sz="2400" dirty="0"/>
              <a:t> Una bola tiene una velocidad inicial de 160 ft/s a un ángulo de 30</a:t>
            </a:r>
            <a:r>
              <a:rPr lang="es-MX" altLang="es-CO" sz="2400" baseline="30000" dirty="0"/>
              <a:t>o</a:t>
            </a:r>
            <a:r>
              <a:rPr lang="es-MX" altLang="es-CO" sz="2400" dirty="0"/>
              <a:t> con la horizontal. Encuentre su posición y velocidad después de 2 s y de 4 s.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87CD4DC-9F1F-4542-BC51-225FF593DD6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356933"/>
            <a:ext cx="6934200" cy="1460500"/>
            <a:chOff x="816" y="1624"/>
            <a:chExt cx="4368" cy="920"/>
          </a:xfrm>
        </p:grpSpPr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2AF2DE6E-92F6-42FA-A835-D3A919656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00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303A00D4-FAC1-4418-83F8-92E842ED1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9" y="2086"/>
              <a:ext cx="576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51EDED3F-7C8C-4DA5-A9A5-6E59C7860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486"/>
              <a:ext cx="576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99AA926C-D677-463F-AFFC-0F9F864005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9" y="2064"/>
              <a:ext cx="0" cy="384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6A41E28-50C0-48A7-B210-B7F20606E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624"/>
              <a:ext cx="3744" cy="776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9" name="Group 20">
            <a:extLst>
              <a:ext uri="{FF2B5EF4-FFF2-40B4-BE49-F238E27FC236}">
                <a16:creationId xmlns:a16="http://schemas.microsoft.com/office/drawing/2014/main" id="{0BDA90C6-D3BE-47B0-A58A-36F0D094DDBD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1600937"/>
            <a:ext cx="2200276" cy="504825"/>
            <a:chOff x="240" y="1632"/>
            <a:chExt cx="1386" cy="318"/>
          </a:xfrm>
        </p:grpSpPr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8726AA4C-BCC5-414B-838E-B0D3F2445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632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/>
                <a:t>v</a:t>
              </a:r>
              <a:r>
                <a:rPr kumimoji="0" lang="es-MX" altLang="es-CO" sz="2400" baseline="-25000"/>
                <a:t>oy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9B902995-1B71-4AA5-BDB7-AEFB64F07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" y="1662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/>
                <a:t>160 </a:t>
              </a:r>
              <a:r>
                <a:rPr kumimoji="0" lang="es-MX" altLang="es-CO" sz="2400" dirty="0"/>
                <a:t>ft/s</a:t>
              </a:r>
            </a:p>
          </p:txBody>
        </p:sp>
      </p:grpSp>
      <p:sp>
        <p:nvSpPr>
          <p:cNvPr id="12" name="Text Box 12">
            <a:extLst>
              <a:ext uri="{FF2B5EF4-FFF2-40B4-BE49-F238E27FC236}">
                <a16:creationId xmlns:a16="http://schemas.microsoft.com/office/drawing/2014/main" id="{E351E61F-18C3-42B4-BE85-BD3B89854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792" y="2592950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s-MX" altLang="es-CO" sz="2400" dirty="0"/>
              <a:t>v</a:t>
            </a:r>
            <a:r>
              <a:rPr kumimoji="0" lang="es-MX" altLang="es-CO" sz="2400" baseline="-25000" dirty="0"/>
              <a:t>ox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597381FC-DA83-48C0-ADED-EAFA3FAF9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776" y="2262651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i="0" dirty="0"/>
              <a:t>30</a:t>
            </a:r>
            <a:r>
              <a:rPr kumimoji="0" lang="es-MX" altLang="es-CO" sz="2400" i="0" baseline="30000" dirty="0"/>
              <a:t>o</a:t>
            </a:r>
            <a:endParaRPr kumimoji="0" lang="es-MX" altLang="es-CO" i="0" dirty="0">
              <a:latin typeface="Symbol" panose="05050102010706020507" pitchFamily="18" charset="2"/>
            </a:endParaRPr>
          </a:p>
        </p:txBody>
      </p:sp>
      <p:sp>
        <p:nvSpPr>
          <p:cNvPr id="14" name="Text Box 21">
            <a:extLst>
              <a:ext uri="{FF2B5EF4-FFF2-40B4-BE49-F238E27FC236}">
                <a16:creationId xmlns:a16="http://schemas.microsoft.com/office/drawing/2014/main" id="{BB2A68F5-7646-44AA-9F40-1100AD400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64" y="3700561"/>
            <a:ext cx="117008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s-MX" altLang="es-CO" sz="2400" i="0" dirty="0"/>
              <a:t>Dado que </a:t>
            </a:r>
            <a:r>
              <a:rPr lang="es-MX" altLang="es-CO" sz="2400" dirty="0" err="1"/>
              <a:t>v</a:t>
            </a:r>
            <a:r>
              <a:rPr lang="es-MX" altLang="es-CO" sz="2400" baseline="-25000" dirty="0" err="1"/>
              <a:t>x</a:t>
            </a:r>
            <a:r>
              <a:rPr lang="es-MX" altLang="es-CO" sz="2400" i="0" dirty="0"/>
              <a:t> es constante, los desplazamientos horizontales después de 2 y 4 segundos son:</a:t>
            </a:r>
          </a:p>
        </p:txBody>
      </p:sp>
      <p:graphicFrame>
        <p:nvGraphicFramePr>
          <p:cNvPr id="15" name="Object 22">
            <a:extLst>
              <a:ext uri="{FF2B5EF4-FFF2-40B4-BE49-F238E27FC236}">
                <a16:creationId xmlns:a16="http://schemas.microsoft.com/office/drawing/2014/main" id="{C1F70FA6-A899-4493-9FFF-70D83EB8FB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428780"/>
              </p:ext>
            </p:extLst>
          </p:nvPr>
        </p:nvGraphicFramePr>
        <p:xfrm>
          <a:off x="1503363" y="4396251"/>
          <a:ext cx="390366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60160" imgH="228600" progId="Equation.DSMT4">
                  <p:embed/>
                </p:oleObj>
              </mc:Choice>
              <mc:Fallback>
                <p:oleObj name="Equation" r:id="rId5" imgW="1460160" imgH="228600" progId="Equation.DSMT4">
                  <p:embed/>
                  <p:pic>
                    <p:nvPicPr>
                      <p:cNvPr id="483350" name="Object 22">
                        <a:extLst>
                          <a:ext uri="{FF2B5EF4-FFF2-40B4-BE49-F238E27FC236}">
                            <a16:creationId xmlns:a16="http://schemas.microsoft.com/office/drawing/2014/main" id="{2F3F41DB-51A1-4B2D-8CDD-02615F02A0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4396251"/>
                        <a:ext cx="3903663" cy="61118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3">
            <a:extLst>
              <a:ext uri="{FF2B5EF4-FFF2-40B4-BE49-F238E27FC236}">
                <a16:creationId xmlns:a16="http://schemas.microsoft.com/office/drawing/2014/main" id="{30FE3D8B-D73E-4383-B337-62B209135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516901"/>
            <a:ext cx="2438400" cy="461665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s-MX" altLang="es-CO" sz="2400" i="0">
                <a:solidFill>
                  <a:srgbClr val="000000"/>
                </a:solidFill>
              </a:rPr>
              <a:t>x = 277 ft</a:t>
            </a: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27C41D03-E941-4A4B-87CF-279553B36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365179"/>
              </p:ext>
            </p:extLst>
          </p:nvPr>
        </p:nvGraphicFramePr>
        <p:xfrm>
          <a:off x="1523776" y="5257063"/>
          <a:ext cx="390366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0160" imgH="228600" progId="Equation.DSMT4">
                  <p:embed/>
                </p:oleObj>
              </mc:Choice>
              <mc:Fallback>
                <p:oleObj name="Equation" r:id="rId7" imgW="1460160" imgH="228600" progId="Equation.DSMT4">
                  <p:embed/>
                  <p:pic>
                    <p:nvPicPr>
                      <p:cNvPr id="483352" name="Object 24">
                        <a:extLst>
                          <a:ext uri="{FF2B5EF4-FFF2-40B4-BE49-F238E27FC236}">
                            <a16:creationId xmlns:a16="http://schemas.microsoft.com/office/drawing/2014/main" id="{10088154-E701-488C-B4F4-D4BBA4E46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776" y="5257063"/>
                        <a:ext cx="3903663" cy="61118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5">
            <a:extLst>
              <a:ext uri="{FF2B5EF4-FFF2-40B4-BE49-F238E27FC236}">
                <a16:creationId xmlns:a16="http://schemas.microsoft.com/office/drawing/2014/main" id="{4133197C-61D3-4FBD-A654-DFF0305AE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355101"/>
            <a:ext cx="2438400" cy="461665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s-MX" altLang="es-CO" sz="2400" i="0" dirty="0">
                <a:solidFill>
                  <a:srgbClr val="000000"/>
                </a:solidFill>
              </a:rPr>
              <a:t>x = 554 ft</a:t>
            </a:r>
          </a:p>
        </p:txBody>
      </p:sp>
      <p:graphicFrame>
        <p:nvGraphicFramePr>
          <p:cNvPr id="19" name="Object 26">
            <a:extLst>
              <a:ext uri="{FF2B5EF4-FFF2-40B4-BE49-F238E27FC236}">
                <a16:creationId xmlns:a16="http://schemas.microsoft.com/office/drawing/2014/main" id="{0FE48657-7C72-4EC5-AF74-B456766839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45359"/>
              </p:ext>
            </p:extLst>
          </p:nvPr>
        </p:nvGraphicFramePr>
        <p:xfrm>
          <a:off x="6657536" y="1146776"/>
          <a:ext cx="5334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81080" imgH="241200" progId="Equation.DSMT4">
                  <p:embed/>
                </p:oleObj>
              </mc:Choice>
              <mc:Fallback>
                <p:oleObj name="Equation" r:id="rId9" imgW="1981080" imgH="241200" progId="Equation.DSMT4">
                  <p:embed/>
                  <p:pic>
                    <p:nvPicPr>
                      <p:cNvPr id="483354" name="Object 26">
                        <a:extLst>
                          <a:ext uri="{FF2B5EF4-FFF2-40B4-BE49-F238E27FC236}">
                            <a16:creationId xmlns:a16="http://schemas.microsoft.com/office/drawing/2014/main" id="{FB11002A-B6C3-43E2-9075-F4B41652C9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536" y="1146776"/>
                        <a:ext cx="5334000" cy="6477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7">
            <a:extLst>
              <a:ext uri="{FF2B5EF4-FFF2-40B4-BE49-F238E27FC236}">
                <a16:creationId xmlns:a16="http://schemas.microsoft.com/office/drawing/2014/main" id="{5B3D4A69-8520-4739-B2BB-36873E9C17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237913"/>
              </p:ext>
            </p:extLst>
          </p:nvPr>
        </p:nvGraphicFramePr>
        <p:xfrm>
          <a:off x="6589274" y="2795079"/>
          <a:ext cx="540226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06280" imgH="253800" progId="Equation.DSMT4">
                  <p:embed/>
                </p:oleObj>
              </mc:Choice>
              <mc:Fallback>
                <p:oleObj name="Equation" r:id="rId11" imgW="2006280" imgH="253800" progId="Equation.DSMT4">
                  <p:embed/>
                  <p:pic>
                    <p:nvPicPr>
                      <p:cNvPr id="483355" name="Object 27">
                        <a:extLst>
                          <a:ext uri="{FF2B5EF4-FFF2-40B4-BE49-F238E27FC236}">
                            <a16:creationId xmlns:a16="http://schemas.microsoft.com/office/drawing/2014/main" id="{D755ABCA-DE45-46E5-BB85-1402B73A70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9274" y="2795079"/>
                        <a:ext cx="5402262" cy="6826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749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12" grpId="0" build="p" autoUpdateAnimBg="0" advAuto="0"/>
      <p:bldP spid="13" grpId="0" build="p" autoUpdateAnimBg="0" advAuto="0"/>
      <p:bldP spid="14" grpId="0" autoUpdateAnimBg="0"/>
      <p:bldP spid="16" grpId="0" animBg="1" autoUpdateAnimBg="0"/>
      <p:bldP spid="18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8">
            <a:extLst>
              <a:ext uri="{FF2B5EF4-FFF2-40B4-BE49-F238E27FC236}">
                <a16:creationId xmlns:a16="http://schemas.microsoft.com/office/drawing/2014/main" id="{2AFB09E5-488F-48AB-8F50-DFDD64381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050925"/>
            <a:ext cx="7315200" cy="259080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F2339CC4-2867-4144-81B6-F6EDFAE6F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" y="4114800"/>
            <a:ext cx="1152144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s-MX" altLang="es-CO" sz="2400" i="0" u="sng" dirty="0"/>
              <a:t>Nota:</a:t>
            </a:r>
            <a:r>
              <a:rPr lang="es-MX" altLang="es-CO" sz="2400" i="0" dirty="0"/>
              <a:t> SÓLO se conoce la ubicación horizontal después de 2 y 4 s. No se sabe si va hacia arriba o hacia abajo. </a:t>
            </a:r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E4B932E8-847A-49AC-A9F7-673F14D4F578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5289458"/>
            <a:ext cx="5486400" cy="461963"/>
            <a:chOff x="1152" y="3648"/>
            <a:chExt cx="3456" cy="291"/>
          </a:xfrm>
        </p:grpSpPr>
        <p:sp>
          <p:nvSpPr>
            <p:cNvPr id="5" name="Text Box 18">
              <a:extLst>
                <a:ext uri="{FF2B5EF4-FFF2-40B4-BE49-F238E27FC236}">
                  <a16:creationId xmlns:a16="http://schemas.microsoft.com/office/drawing/2014/main" id="{D649347B-49B9-4701-95CE-9B7E69F7C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648"/>
              <a:ext cx="1536" cy="291"/>
            </a:xfrm>
            <a:prstGeom prst="rect">
              <a:avLst/>
            </a:prstGeom>
            <a:solidFill>
              <a:srgbClr val="FFFFCC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r>
                <a:rPr lang="es-MX" altLang="es-CO" sz="2400" i="0">
                  <a:solidFill>
                    <a:srgbClr val="000000"/>
                  </a:solidFill>
                </a:rPr>
                <a:t>x</a:t>
              </a:r>
              <a:r>
                <a:rPr lang="es-MX" altLang="es-CO" sz="2400" i="0" baseline="-25000">
                  <a:solidFill>
                    <a:srgbClr val="000000"/>
                  </a:solidFill>
                </a:rPr>
                <a:t>2</a:t>
              </a:r>
              <a:r>
                <a:rPr lang="es-MX" altLang="es-CO" sz="2400" i="0">
                  <a:solidFill>
                    <a:srgbClr val="000000"/>
                  </a:solidFill>
                </a:rPr>
                <a:t> = 277 ft</a:t>
              </a:r>
            </a:p>
          </p:txBody>
        </p:sp>
        <p:sp>
          <p:nvSpPr>
            <p:cNvPr id="6" name="Text Box 20">
              <a:extLst>
                <a:ext uri="{FF2B5EF4-FFF2-40B4-BE49-F238E27FC236}">
                  <a16:creationId xmlns:a16="http://schemas.microsoft.com/office/drawing/2014/main" id="{C2D08932-04D5-43D9-9397-FE21F45E7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648"/>
              <a:ext cx="1536" cy="291"/>
            </a:xfrm>
            <a:prstGeom prst="rect">
              <a:avLst/>
            </a:prstGeom>
            <a:solidFill>
              <a:srgbClr val="FFFFCC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r>
                <a:rPr lang="es-MX" altLang="es-CO" sz="2400" i="0">
                  <a:solidFill>
                    <a:srgbClr val="000000"/>
                  </a:solidFill>
                </a:rPr>
                <a:t>x</a:t>
              </a:r>
              <a:r>
                <a:rPr lang="es-MX" altLang="es-CO" sz="2400" i="0" baseline="-25000">
                  <a:solidFill>
                    <a:srgbClr val="000000"/>
                  </a:solidFill>
                </a:rPr>
                <a:t>4</a:t>
              </a:r>
              <a:r>
                <a:rPr lang="es-MX" altLang="es-CO" sz="2400" i="0">
                  <a:solidFill>
                    <a:srgbClr val="000000"/>
                  </a:solidFill>
                </a:rPr>
                <a:t> = 554 ft</a:t>
              </a:r>
            </a:p>
          </p:txBody>
        </p:sp>
      </p:grpSp>
      <p:sp>
        <p:nvSpPr>
          <p:cNvPr id="7" name="Rectangle 21">
            <a:extLst>
              <a:ext uri="{FF2B5EF4-FFF2-40B4-BE49-F238E27FC236}">
                <a16:creationId xmlns:a16="http://schemas.microsoft.com/office/drawing/2014/main" id="{A4F812AC-4D58-429C-BA7E-61C43E40D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Ejemplo: (continuación)</a:t>
            </a:r>
          </a:p>
        </p:txBody>
      </p:sp>
      <p:grpSp>
        <p:nvGrpSpPr>
          <p:cNvPr id="8" name="Group 50">
            <a:extLst>
              <a:ext uri="{FF2B5EF4-FFF2-40B4-BE49-F238E27FC236}">
                <a16:creationId xmlns:a16="http://schemas.microsoft.com/office/drawing/2014/main" id="{2E71EBD3-9D0D-43A9-B3CF-ED975920A159}"/>
              </a:ext>
            </a:extLst>
          </p:cNvPr>
          <p:cNvGrpSpPr>
            <a:grpSpLocks/>
          </p:cNvGrpSpPr>
          <p:nvPr/>
        </p:nvGrpSpPr>
        <p:grpSpPr bwMode="auto">
          <a:xfrm>
            <a:off x="2427288" y="1127125"/>
            <a:ext cx="7173913" cy="1711326"/>
            <a:chOff x="521" y="864"/>
            <a:chExt cx="4519" cy="1078"/>
          </a:xfrm>
        </p:grpSpPr>
        <p:sp>
          <p:nvSpPr>
            <p:cNvPr id="9" name="Oval 4">
              <a:extLst>
                <a:ext uri="{FF2B5EF4-FFF2-40B4-BE49-F238E27FC236}">
                  <a16:creationId xmlns:a16="http://schemas.microsoft.com/office/drawing/2014/main" id="{2518BAF8-80EC-4FCB-9CB0-7C3F46F1C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640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FDAA7E99-FDA4-4B83-9D88-50804E5062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" y="1326"/>
              <a:ext cx="576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6">
              <a:extLst>
                <a:ext uri="{FF2B5EF4-FFF2-40B4-BE49-F238E27FC236}">
                  <a16:creationId xmlns:a16="http://schemas.microsoft.com/office/drawing/2014/main" id="{FA88E5B2-ADB4-46CE-825B-EE092C1AA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726"/>
              <a:ext cx="576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DC212A1A-CF84-49BC-BC45-CB2D9284C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5" y="1304"/>
              <a:ext cx="0" cy="384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DB9666E8-EE53-47D2-9D31-1775367C3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864"/>
              <a:ext cx="3744" cy="776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9B697BA1-C62C-4421-930F-B8452E60C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018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/>
                <a:t>v</a:t>
              </a:r>
              <a:r>
                <a:rPr kumimoji="0" lang="es-MX" altLang="es-CO" sz="2400" baseline="-25000" dirty="0"/>
                <a:t>oy</a:t>
              </a: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3AD449CD-F7F6-497E-B63F-CC6893C05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" y="1022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/>
                <a:t>160</a:t>
              </a:r>
              <a:r>
                <a:rPr kumimoji="0" lang="es-MX" altLang="es-CO" sz="2400" dirty="0"/>
                <a:t> ft/s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268CE576-6A9C-487C-AE73-A1A01BFCB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9" y="1651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/>
                <a:t>v</a:t>
              </a:r>
              <a:r>
                <a:rPr kumimoji="0" lang="es-MX" altLang="es-CO" sz="2400" baseline="-25000" dirty="0"/>
                <a:t>ox</a:t>
              </a:r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1F3A6CD8-2D2A-49DE-9C4C-ABEDC987E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" y="145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/>
                <a:t>30</a:t>
              </a:r>
              <a:r>
                <a:rPr kumimoji="0" lang="es-MX" altLang="es-CO" sz="2400" i="0" baseline="30000" dirty="0"/>
                <a:t>o</a:t>
              </a:r>
              <a:endParaRPr kumimoji="0" lang="es-MX" altLang="es-CO" i="0" dirty="0">
                <a:latin typeface="Symbol" panose="05050102010706020507" pitchFamily="18" charset="2"/>
              </a:endParaRPr>
            </a:p>
          </p:txBody>
        </p:sp>
      </p:grpSp>
      <p:grpSp>
        <p:nvGrpSpPr>
          <p:cNvPr id="18" name="Group 32">
            <a:extLst>
              <a:ext uri="{FF2B5EF4-FFF2-40B4-BE49-F238E27FC236}">
                <a16:creationId xmlns:a16="http://schemas.microsoft.com/office/drawing/2014/main" id="{7FDF6079-218F-40A0-A47B-8B180D95A2DC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498725"/>
            <a:ext cx="2667000" cy="533400"/>
            <a:chOff x="768" y="1728"/>
            <a:chExt cx="1680" cy="336"/>
          </a:xfrm>
        </p:grpSpPr>
        <p:sp>
          <p:nvSpPr>
            <p:cNvPr id="19" name="Text Box 25">
              <a:extLst>
                <a:ext uri="{FF2B5EF4-FFF2-40B4-BE49-F238E27FC236}">
                  <a16:creationId xmlns:a16="http://schemas.microsoft.com/office/drawing/2014/main" id="{9B9C30AD-0BCF-4766-8A63-11807DD07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728"/>
              <a:ext cx="96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/>
                <a:t>277 ft</a:t>
              </a:r>
            </a:p>
          </p:txBody>
        </p:sp>
        <p:sp>
          <p:nvSpPr>
            <p:cNvPr id="20" name="Line 29">
              <a:extLst>
                <a:ext uri="{FF2B5EF4-FFF2-40B4-BE49-F238E27FC236}">
                  <a16:creationId xmlns:a16="http://schemas.microsoft.com/office/drawing/2014/main" id="{B86D7515-A9B1-47C6-8164-176D9FD8F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064"/>
              <a:ext cx="1488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21" name="Group 33">
            <a:extLst>
              <a:ext uri="{FF2B5EF4-FFF2-40B4-BE49-F238E27FC236}">
                <a16:creationId xmlns:a16="http://schemas.microsoft.com/office/drawing/2014/main" id="{2AD513E4-55D9-41E9-8A01-3B9054133703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651125"/>
            <a:ext cx="4648200" cy="533400"/>
            <a:chOff x="768" y="1824"/>
            <a:chExt cx="2928" cy="336"/>
          </a:xfrm>
        </p:grpSpPr>
        <p:sp>
          <p:nvSpPr>
            <p:cNvPr id="22" name="Text Box 26">
              <a:extLst>
                <a:ext uri="{FF2B5EF4-FFF2-40B4-BE49-F238E27FC236}">
                  <a16:creationId xmlns:a16="http://schemas.microsoft.com/office/drawing/2014/main" id="{2C02EF30-3B22-4790-9C21-C5DBA7FD6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824"/>
              <a:ext cx="8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/>
                <a:t>554 ft</a:t>
              </a:r>
            </a:p>
          </p:txBody>
        </p:sp>
        <p:sp>
          <p:nvSpPr>
            <p:cNvPr id="23" name="Line 30">
              <a:extLst>
                <a:ext uri="{FF2B5EF4-FFF2-40B4-BE49-F238E27FC236}">
                  <a16:creationId xmlns:a16="http://schemas.microsoft.com/office/drawing/2014/main" id="{96B04326-2F9C-4E0C-926C-BDA983C81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160"/>
              <a:ext cx="2928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24" name="Group 48">
            <a:extLst>
              <a:ext uri="{FF2B5EF4-FFF2-40B4-BE49-F238E27FC236}">
                <a16:creationId xmlns:a16="http://schemas.microsoft.com/office/drawing/2014/main" id="{4CC03176-6E03-42D9-8A96-E0795E81374E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050925"/>
            <a:ext cx="762000" cy="2057400"/>
            <a:chOff x="2256" y="864"/>
            <a:chExt cx="480" cy="1296"/>
          </a:xfrm>
        </p:grpSpPr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FFAE1DDE-34DD-4DA3-A897-F7DC45A3E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864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Text Box 46">
              <a:extLst>
                <a:ext uri="{FF2B5EF4-FFF2-40B4-BE49-F238E27FC236}">
                  <a16:creationId xmlns:a16="http://schemas.microsoft.com/office/drawing/2014/main" id="{C8BAEDDD-DE15-494B-A529-C73AE6843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008"/>
              <a:ext cx="4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/>
                <a:t>2 s</a:t>
              </a:r>
              <a:endParaRPr lang="es-MX" altLang="es-CO" sz="2400" dirty="0"/>
            </a:p>
          </p:txBody>
        </p:sp>
      </p:grpSp>
      <p:grpSp>
        <p:nvGrpSpPr>
          <p:cNvPr id="27" name="Group 49">
            <a:extLst>
              <a:ext uri="{FF2B5EF4-FFF2-40B4-BE49-F238E27FC236}">
                <a16:creationId xmlns:a16="http://schemas.microsoft.com/office/drawing/2014/main" id="{B20BC31B-7495-4925-8FB7-4E5AC4CFA9B4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1050925"/>
            <a:ext cx="685800" cy="2209800"/>
            <a:chOff x="3696" y="864"/>
            <a:chExt cx="432" cy="1392"/>
          </a:xfrm>
        </p:grpSpPr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569A5EA1-E416-4589-B4D2-061DD6F96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864"/>
              <a:ext cx="0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Text Box 47">
              <a:extLst>
                <a:ext uri="{FF2B5EF4-FFF2-40B4-BE49-F238E27FC236}">
                  <a16:creationId xmlns:a16="http://schemas.microsoft.com/office/drawing/2014/main" id="{8BE3F9F7-D8D8-4692-ACF7-54C17390D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056"/>
              <a:ext cx="4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/>
                <a:t>4 s</a:t>
              </a:r>
              <a:endParaRPr lang="es-MX" altLang="es-CO" sz="2400" dirty="0"/>
            </a:p>
          </p:txBody>
        </p:sp>
      </p:grpSp>
      <p:grpSp>
        <p:nvGrpSpPr>
          <p:cNvPr id="30" name="Group 56">
            <a:extLst>
              <a:ext uri="{FF2B5EF4-FFF2-40B4-BE49-F238E27FC236}">
                <a16:creationId xmlns:a16="http://schemas.microsoft.com/office/drawing/2014/main" id="{559C9EAA-AA77-4AE6-9125-F04683AEE103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346325"/>
            <a:ext cx="1066800" cy="228600"/>
            <a:chOff x="2208" y="1632"/>
            <a:chExt cx="672" cy="144"/>
          </a:xfrm>
        </p:grpSpPr>
        <p:sp>
          <p:nvSpPr>
            <p:cNvPr id="31" name="Oval 52">
              <a:extLst>
                <a:ext uri="{FF2B5EF4-FFF2-40B4-BE49-F238E27FC236}">
                  <a16:creationId xmlns:a16="http://schemas.microsoft.com/office/drawing/2014/main" id="{9913CDBF-B3EB-45D8-897B-1AC6450CE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632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2" name="Line 53">
              <a:extLst>
                <a:ext uri="{FF2B5EF4-FFF2-40B4-BE49-F238E27FC236}">
                  <a16:creationId xmlns:a16="http://schemas.microsoft.com/office/drawing/2014/main" id="{5EDDA4E7-1960-4C2D-BE23-79FD52E75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28"/>
              <a:ext cx="576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33" name="Group 57">
            <a:extLst>
              <a:ext uri="{FF2B5EF4-FFF2-40B4-BE49-F238E27FC236}">
                <a16:creationId xmlns:a16="http://schemas.microsoft.com/office/drawing/2014/main" id="{868DA430-BFF5-4B09-A12E-C5726EB6B91A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362200"/>
            <a:ext cx="990600" cy="228600"/>
            <a:chOff x="3648" y="1642"/>
            <a:chExt cx="624" cy="144"/>
          </a:xfrm>
        </p:grpSpPr>
        <p:sp>
          <p:nvSpPr>
            <p:cNvPr id="34" name="Oval 54">
              <a:extLst>
                <a:ext uri="{FF2B5EF4-FFF2-40B4-BE49-F238E27FC236}">
                  <a16:creationId xmlns:a16="http://schemas.microsoft.com/office/drawing/2014/main" id="{B22A8959-21C9-4E97-9FEB-3CF1987BF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642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5" name="Line 55">
              <a:extLst>
                <a:ext uri="{FF2B5EF4-FFF2-40B4-BE49-F238E27FC236}">
                  <a16:creationId xmlns:a16="http://schemas.microsoft.com/office/drawing/2014/main" id="{0BBAF715-F30A-44C2-AD57-78ABC49BD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728"/>
              <a:ext cx="576" cy="0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80442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Utopia Maximi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Utopia Maximi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A6621CB-C71C-43FE-B130-E889F85E3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354" y="0"/>
            <a:ext cx="11605846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A continuación encuentre los componentes verticales de la posición después de 2 s y 4 s.</a:t>
            </a:r>
          </a:p>
        </p:txBody>
      </p:sp>
      <p:grpSp>
        <p:nvGrpSpPr>
          <p:cNvPr id="3" name="Group 84">
            <a:extLst>
              <a:ext uri="{FF2B5EF4-FFF2-40B4-BE49-F238E27FC236}">
                <a16:creationId xmlns:a16="http://schemas.microsoft.com/office/drawing/2014/main" id="{DA13AE60-CE4B-4EC9-91FF-C3463DB946F6}"/>
              </a:ext>
            </a:extLst>
          </p:cNvPr>
          <p:cNvGrpSpPr>
            <a:grpSpLocks/>
          </p:cNvGrpSpPr>
          <p:nvPr/>
        </p:nvGrpSpPr>
        <p:grpSpPr bwMode="auto">
          <a:xfrm>
            <a:off x="2078502" y="1239838"/>
            <a:ext cx="8686800" cy="2646363"/>
            <a:chOff x="432" y="925"/>
            <a:chExt cx="5472" cy="1667"/>
          </a:xfrm>
        </p:grpSpPr>
        <p:sp>
          <p:nvSpPr>
            <p:cNvPr id="4" name="Rectangle 22">
              <a:extLst>
                <a:ext uri="{FF2B5EF4-FFF2-40B4-BE49-F238E27FC236}">
                  <a16:creationId xmlns:a16="http://schemas.microsoft.com/office/drawing/2014/main" id="{C98BE0CA-B5E9-4961-8929-83A43B4EE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925"/>
              <a:ext cx="5088" cy="1667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Oval 25">
              <a:extLst>
                <a:ext uri="{FF2B5EF4-FFF2-40B4-BE49-F238E27FC236}">
                  <a16:creationId xmlns:a16="http://schemas.microsoft.com/office/drawing/2014/main" id="{93D40B62-085C-4D71-8DBF-F66D6A69C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64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Line 26">
              <a:extLst>
                <a:ext uri="{FF2B5EF4-FFF2-40B4-BE49-F238E27FC236}">
                  <a16:creationId xmlns:a16="http://schemas.microsoft.com/office/drawing/2014/main" id="{B8FC0402-ADE3-4A53-82F8-ADFABC8AC2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5" y="1750"/>
              <a:ext cx="576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55572F84-ECE2-460E-8832-81A6E3AFA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288"/>
              <a:ext cx="3648" cy="968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Text Box 31">
              <a:extLst>
                <a:ext uri="{FF2B5EF4-FFF2-40B4-BE49-F238E27FC236}">
                  <a16:creationId xmlns:a16="http://schemas.microsoft.com/office/drawing/2014/main" id="{B729F7A5-E1D5-4FDE-B6A9-FB2B7D4FF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960"/>
              <a:ext cx="15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oy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=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80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ft/s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9" name="Text Box 32">
              <a:extLst>
                <a:ext uri="{FF2B5EF4-FFF2-40B4-BE49-F238E27FC236}">
                  <a16:creationId xmlns:a16="http://schemas.microsoft.com/office/drawing/2014/main" id="{D82B32A0-FA2B-4E2B-A21E-1CE7CFC3E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440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i="0" dirty="0">
                  <a:solidFill>
                    <a:srgbClr val="000000"/>
                  </a:solidFill>
                </a:rPr>
                <a:t>160 ft/s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10" name="Oval 37">
              <a:extLst>
                <a:ext uri="{FF2B5EF4-FFF2-40B4-BE49-F238E27FC236}">
                  <a16:creationId xmlns:a16="http://schemas.microsoft.com/office/drawing/2014/main" id="{141E7CDC-1D86-43B1-84FF-896767255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1296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Oval 39">
              <a:extLst>
                <a:ext uri="{FF2B5EF4-FFF2-40B4-BE49-F238E27FC236}">
                  <a16:creationId xmlns:a16="http://schemas.microsoft.com/office/drawing/2014/main" id="{EE93EF36-AFDD-4E8F-BEF7-8F30DA3F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089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Oval 45">
              <a:extLst>
                <a:ext uri="{FF2B5EF4-FFF2-40B4-BE49-F238E27FC236}">
                  <a16:creationId xmlns:a16="http://schemas.microsoft.com/office/drawing/2014/main" id="{DC9B0123-443C-4317-A5D4-BF1C6165B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2087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Text Box 52">
              <a:extLst>
                <a:ext uri="{FF2B5EF4-FFF2-40B4-BE49-F238E27FC236}">
                  <a16:creationId xmlns:a16="http://schemas.microsoft.com/office/drawing/2014/main" id="{2CA048B9-921C-4850-912E-28743EE26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016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MX" altLang="es-CO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4" name="Text Box 53">
              <a:extLst>
                <a:ext uri="{FF2B5EF4-FFF2-40B4-BE49-F238E27FC236}">
                  <a16:creationId xmlns:a16="http://schemas.microsoft.com/office/drawing/2014/main" id="{64080B89-3798-48DC-BAAD-129623955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7" y="191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  <p:sp>
          <p:nvSpPr>
            <p:cNvPr id="15" name="Oval 56">
              <a:extLst>
                <a:ext uri="{FF2B5EF4-FFF2-40B4-BE49-F238E27FC236}">
                  <a16:creationId xmlns:a16="http://schemas.microsoft.com/office/drawing/2014/main" id="{EA0A077C-3587-4DA6-B7A1-3D5776BAF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2077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Oval 58">
              <a:extLst>
                <a:ext uri="{FF2B5EF4-FFF2-40B4-BE49-F238E27FC236}">
                  <a16:creationId xmlns:a16="http://schemas.microsoft.com/office/drawing/2014/main" id="{417622CD-9D7B-4CDF-9657-1A7DD40F5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" y="2087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Line 60">
              <a:extLst>
                <a:ext uri="{FF2B5EF4-FFF2-40B4-BE49-F238E27FC236}">
                  <a16:creationId xmlns:a16="http://schemas.microsoft.com/office/drawing/2014/main" id="{B915AAE9-74E7-414C-AAAA-1949BBAE5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440"/>
              <a:ext cx="0" cy="6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Oval 61">
              <a:extLst>
                <a:ext uri="{FF2B5EF4-FFF2-40B4-BE49-F238E27FC236}">
                  <a16:creationId xmlns:a16="http://schemas.microsoft.com/office/drawing/2014/main" id="{B252EF35-BF73-4912-AC73-102DC6AAF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32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Oval 63">
              <a:extLst>
                <a:ext uri="{FF2B5EF4-FFF2-40B4-BE49-F238E27FC236}">
                  <a16:creationId xmlns:a16="http://schemas.microsoft.com/office/drawing/2014/main" id="{AF2086DB-72B3-4060-A4E2-6F9A1EF3583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416" y="1632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Oval 66">
              <a:extLst>
                <a:ext uri="{FF2B5EF4-FFF2-40B4-BE49-F238E27FC236}">
                  <a16:creationId xmlns:a16="http://schemas.microsoft.com/office/drawing/2014/main" id="{7E73E1A4-63C9-48A2-8F7A-F5EFFDE44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296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Text Box 67">
              <a:extLst>
                <a:ext uri="{FF2B5EF4-FFF2-40B4-BE49-F238E27FC236}">
                  <a16:creationId xmlns:a16="http://schemas.microsoft.com/office/drawing/2014/main" id="{D2192100-8D0E-466E-AD52-70067B908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0 s</a:t>
              </a:r>
            </a:p>
          </p:txBody>
        </p:sp>
        <p:sp>
          <p:nvSpPr>
            <p:cNvPr id="22" name="Text Box 68">
              <a:extLst>
                <a:ext uri="{FF2B5EF4-FFF2-40B4-BE49-F238E27FC236}">
                  <a16:creationId xmlns:a16="http://schemas.microsoft.com/office/drawing/2014/main" id="{400B3AA7-1EAB-4082-BEA8-F2404B367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3 s</a:t>
              </a:r>
            </a:p>
          </p:txBody>
        </p:sp>
        <p:sp>
          <p:nvSpPr>
            <p:cNvPr id="23" name="Text Box 69">
              <a:extLst>
                <a:ext uri="{FF2B5EF4-FFF2-40B4-BE49-F238E27FC236}">
                  <a16:creationId xmlns:a16="http://schemas.microsoft.com/office/drawing/2014/main" id="{2E72890E-703F-494F-AC62-79B0252E4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2 s</a:t>
              </a:r>
            </a:p>
          </p:txBody>
        </p:sp>
        <p:sp>
          <p:nvSpPr>
            <p:cNvPr id="24" name="Text Box 70">
              <a:extLst>
                <a:ext uri="{FF2B5EF4-FFF2-40B4-BE49-F238E27FC236}">
                  <a16:creationId xmlns:a16="http://schemas.microsoft.com/office/drawing/2014/main" id="{C065C980-9783-42D0-8257-6D2510A02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1 s</a:t>
              </a:r>
            </a:p>
          </p:txBody>
        </p:sp>
        <p:sp>
          <p:nvSpPr>
            <p:cNvPr id="25" name="Text Box 71">
              <a:extLst>
                <a:ext uri="{FF2B5EF4-FFF2-40B4-BE49-F238E27FC236}">
                  <a16:creationId xmlns:a16="http://schemas.microsoft.com/office/drawing/2014/main" id="{BF291233-01DB-47E1-A964-8FF03B017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4 s</a:t>
              </a:r>
            </a:p>
          </p:txBody>
        </p:sp>
        <p:sp>
          <p:nvSpPr>
            <p:cNvPr id="26" name="Line 72">
              <a:extLst>
                <a:ext uri="{FF2B5EF4-FFF2-40B4-BE49-F238E27FC236}">
                  <a16:creationId xmlns:a16="http://schemas.microsoft.com/office/drawing/2014/main" id="{31D40B61-E932-4380-A3E2-D26573B22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160"/>
              <a:ext cx="43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Line 73">
              <a:extLst>
                <a:ext uri="{FF2B5EF4-FFF2-40B4-BE49-F238E27FC236}">
                  <a16:creationId xmlns:a16="http://schemas.microsoft.com/office/drawing/2014/main" id="{D892CC90-2C11-45FD-9B2D-E654163080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1776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Text Box 74">
              <a:extLst>
                <a:ext uri="{FF2B5EF4-FFF2-40B4-BE49-F238E27FC236}">
                  <a16:creationId xmlns:a16="http://schemas.microsoft.com/office/drawing/2014/main" id="{C9F10A4E-B676-47C6-BABE-225669A6C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956"/>
              <a:ext cx="16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b="1" dirty="0">
                  <a:latin typeface="Times New Roman" panose="02020603050405020304" pitchFamily="18" charset="0"/>
                </a:rPr>
                <a:t>g</a:t>
              </a:r>
              <a:r>
                <a:rPr kumimoji="0" lang="es-MX" altLang="es-CO" sz="2400" dirty="0"/>
                <a:t> = -</a:t>
              </a:r>
              <a:r>
                <a:rPr kumimoji="0" lang="es-MX" altLang="es-CO" sz="2400" i="0" dirty="0"/>
                <a:t>32</a:t>
              </a:r>
              <a:r>
                <a:rPr kumimoji="0" lang="es-MX" altLang="es-CO" sz="2400" dirty="0"/>
                <a:t> </a:t>
              </a:r>
              <a:r>
                <a:rPr kumimoji="0" lang="es-MX" altLang="es-CO" sz="2400" i="0" dirty="0"/>
                <a:t>ft/s</a:t>
              </a:r>
              <a:r>
                <a:rPr kumimoji="0" lang="es-MX" altLang="es-CO" sz="2400" i="0" baseline="30000" dirty="0"/>
                <a:t>2</a:t>
              </a:r>
              <a:r>
                <a:rPr kumimoji="0" lang="es-MX" altLang="es-CO" sz="2400" dirty="0"/>
                <a:t> </a:t>
              </a:r>
              <a:endParaRPr kumimoji="0" lang="es-MX" altLang="es-CO" sz="2400" baseline="-25000" dirty="0"/>
            </a:p>
          </p:txBody>
        </p:sp>
        <p:sp>
          <p:nvSpPr>
            <p:cNvPr id="29" name="Line 75">
              <a:extLst>
                <a:ext uri="{FF2B5EF4-FFF2-40B4-BE49-F238E27FC236}">
                  <a16:creationId xmlns:a16="http://schemas.microsoft.com/office/drawing/2014/main" id="{E0AFE28F-64A2-4470-BC34-6EB00E1E7D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1728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Line 76">
              <a:extLst>
                <a:ext uri="{FF2B5EF4-FFF2-40B4-BE49-F238E27FC236}">
                  <a16:creationId xmlns:a16="http://schemas.microsoft.com/office/drawing/2014/main" id="{0E3A08E3-3D55-4210-9A58-D3C1D2581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64"/>
              <a:ext cx="240" cy="4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Text Box 77">
              <a:extLst>
                <a:ext uri="{FF2B5EF4-FFF2-40B4-BE49-F238E27FC236}">
                  <a16:creationId xmlns:a16="http://schemas.microsoft.com/office/drawing/2014/main" id="{78B8ACFC-529C-42A3-92CB-DF6B86B52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536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dirty="0">
                  <a:solidFill>
                    <a:srgbClr val="000000"/>
                  </a:solidFill>
                </a:rPr>
                <a:t>y</a:t>
              </a:r>
              <a:r>
                <a:rPr lang="es-MX" altLang="es-CO" baseline="-25000" dirty="0">
                  <a:solidFill>
                    <a:srgbClr val="000000"/>
                  </a:solidFill>
                </a:rPr>
                <a:t>2</a:t>
              </a:r>
              <a:endParaRPr lang="es-MX" altLang="es-CO" dirty="0">
                <a:solidFill>
                  <a:srgbClr val="000000"/>
                </a:solidFill>
              </a:endParaRPr>
            </a:p>
          </p:txBody>
        </p:sp>
        <p:sp>
          <p:nvSpPr>
            <p:cNvPr id="32" name="Text Box 78">
              <a:extLst>
                <a:ext uri="{FF2B5EF4-FFF2-40B4-BE49-F238E27FC236}">
                  <a16:creationId xmlns:a16="http://schemas.microsoft.com/office/drawing/2014/main" id="{5CE4D8D7-4166-4CDE-B624-2A9C3CF01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72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>
                  <a:solidFill>
                    <a:srgbClr val="000000"/>
                  </a:solidFill>
                </a:rPr>
                <a:t>y</a:t>
              </a:r>
              <a:r>
                <a:rPr lang="es-MX" altLang="es-CO" baseline="-25000">
                  <a:solidFill>
                    <a:srgbClr val="000000"/>
                  </a:solidFill>
                </a:rPr>
                <a:t>4</a:t>
              </a:r>
              <a:endParaRPr lang="es-MX" altLang="es-CO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33" name="Object 80">
            <a:extLst>
              <a:ext uri="{FF2B5EF4-FFF2-40B4-BE49-F238E27FC236}">
                <a16:creationId xmlns:a16="http://schemas.microsoft.com/office/drawing/2014/main" id="{CB65B066-C3A5-4AE9-904C-D4BFFD63AE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781840"/>
              </p:ext>
            </p:extLst>
          </p:nvPr>
        </p:nvGraphicFramePr>
        <p:xfrm>
          <a:off x="2040402" y="4534344"/>
          <a:ext cx="784860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90560" imgH="253800" progId="Equation.DSMT4">
                  <p:embed/>
                </p:oleObj>
              </mc:Choice>
              <mc:Fallback>
                <p:oleObj name="Equation" r:id="rId4" imgW="2590560" imgH="253800" progId="Equation.DSMT4">
                  <p:embed/>
                  <p:pic>
                    <p:nvPicPr>
                      <p:cNvPr id="511056" name="Object 80">
                        <a:extLst>
                          <a:ext uri="{FF2B5EF4-FFF2-40B4-BE49-F238E27FC236}">
                            <a16:creationId xmlns:a16="http://schemas.microsoft.com/office/drawing/2014/main" id="{80362F14-13E0-4899-AF23-C06B5A71D6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0402" y="4534344"/>
                        <a:ext cx="7848600" cy="7699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81">
            <a:extLst>
              <a:ext uri="{FF2B5EF4-FFF2-40B4-BE49-F238E27FC236}">
                <a16:creationId xmlns:a16="http://schemas.microsoft.com/office/drawing/2014/main" id="{F7809108-0232-4251-8C04-7321CA8E0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54" y="4022751"/>
            <a:ext cx="868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Desplazamiento vertical como función del tiempo:</a:t>
            </a:r>
          </a:p>
        </p:txBody>
      </p:sp>
      <p:graphicFrame>
        <p:nvGraphicFramePr>
          <p:cNvPr id="35" name="Object 82">
            <a:extLst>
              <a:ext uri="{FF2B5EF4-FFF2-40B4-BE49-F238E27FC236}">
                <a16:creationId xmlns:a16="http://schemas.microsoft.com/office/drawing/2014/main" id="{15D3A7B8-A7B0-4386-929F-0D1C16C0B4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733440"/>
              </p:ext>
            </p:extLst>
          </p:nvPr>
        </p:nvGraphicFramePr>
        <p:xfrm>
          <a:off x="2046654" y="5503889"/>
          <a:ext cx="25781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228600" progId="Equation.DSMT4">
                  <p:embed/>
                </p:oleObj>
              </mc:Choice>
              <mc:Fallback>
                <p:oleObj name="Equation" r:id="rId6" imgW="850680" imgH="228600" progId="Equation.DSMT4">
                  <p:embed/>
                  <p:pic>
                    <p:nvPicPr>
                      <p:cNvPr id="511058" name="Object 82">
                        <a:extLst>
                          <a:ext uri="{FF2B5EF4-FFF2-40B4-BE49-F238E27FC236}">
                            <a16:creationId xmlns:a16="http://schemas.microsoft.com/office/drawing/2014/main" id="{B6B58FCB-C6B6-4B92-9876-70D0F534CB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654" y="5503889"/>
                        <a:ext cx="2578100" cy="6921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83">
            <a:extLst>
              <a:ext uri="{FF2B5EF4-FFF2-40B4-BE49-F238E27FC236}">
                <a16:creationId xmlns:a16="http://schemas.microsoft.com/office/drawing/2014/main" id="{052A008C-74A5-4DD7-8E9F-F01D17AA4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960" y="5638800"/>
            <a:ext cx="487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/>
              <a:t>Observe unidades consistentes.</a:t>
            </a:r>
          </a:p>
        </p:txBody>
      </p:sp>
    </p:spTree>
    <p:extLst>
      <p:ext uri="{BB962C8B-B14F-4D97-AF65-F5344CB8AC3E}">
        <p14:creationId xmlns:p14="http://schemas.microsoft.com/office/powerpoint/2010/main" val="185355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4" grpId="0" autoUpdateAnimBg="0"/>
      <p:bldP spid="3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A06C4-C6EB-2CC4-EC71-2A2D6DD4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EF2231-A6DC-492A-8F97-F7247A3CD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8812" y="0"/>
            <a:ext cx="11619914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800" u="sng" dirty="0"/>
              <a:t>(Cont.)</a:t>
            </a:r>
            <a:r>
              <a:rPr lang="es-MX" altLang="es-CO" sz="2800" dirty="0"/>
              <a:t>  Los signos de </a:t>
            </a:r>
            <a:r>
              <a:rPr lang="es-MX" altLang="es-CO" sz="2800" i="1" dirty="0"/>
              <a:t>y</a:t>
            </a:r>
            <a:r>
              <a:rPr lang="es-MX" altLang="es-CO" sz="2800" dirty="0"/>
              <a:t> indicarán la ubicación del desplazamiento (arriba + o abajo – del origen).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F0152B70-1270-440E-A967-351F7BBC6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074" y="4191000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Posición vertical:</a:t>
            </a:r>
          </a:p>
        </p:txBody>
      </p:sp>
      <p:graphicFrame>
        <p:nvGraphicFramePr>
          <p:cNvPr id="34" name="Object 34">
            <a:extLst>
              <a:ext uri="{FF2B5EF4-FFF2-40B4-BE49-F238E27FC236}">
                <a16:creationId xmlns:a16="http://schemas.microsoft.com/office/drawing/2014/main" id="{4C89E999-1A7F-40CA-8EAE-017B97739F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212697"/>
              </p:ext>
            </p:extLst>
          </p:nvPr>
        </p:nvGraphicFramePr>
        <p:xfrm>
          <a:off x="6118274" y="4114800"/>
          <a:ext cx="25781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0680" imgH="228600" progId="Equation.DSMT4">
                  <p:embed/>
                </p:oleObj>
              </mc:Choice>
              <mc:Fallback>
                <p:oleObj name="Equation" r:id="rId5" imgW="850680" imgH="228600" progId="Equation.DSMT4">
                  <p:embed/>
                  <p:pic>
                    <p:nvPicPr>
                      <p:cNvPr id="512034" name="Object 34">
                        <a:extLst>
                          <a:ext uri="{FF2B5EF4-FFF2-40B4-BE49-F238E27FC236}">
                            <a16:creationId xmlns:a16="http://schemas.microsoft.com/office/drawing/2014/main" id="{51E1D1A1-3FE5-469C-BFBF-026829607D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274" y="4114800"/>
                        <a:ext cx="2578100" cy="6921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5">
            <a:extLst>
              <a:ext uri="{FF2B5EF4-FFF2-40B4-BE49-F238E27FC236}">
                <a16:creationId xmlns:a16="http://schemas.microsoft.com/office/drawing/2014/main" id="{85EC63AF-0AFF-466C-8586-BCF88649F0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241019"/>
              </p:ext>
            </p:extLst>
          </p:nvPr>
        </p:nvGraphicFramePr>
        <p:xfrm>
          <a:off x="2003474" y="5029200"/>
          <a:ext cx="37338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200" imgH="228600" progId="Equation.DSMT4">
                  <p:embed/>
                </p:oleObj>
              </mc:Choice>
              <mc:Fallback>
                <p:oleObj name="Equation" r:id="rId7" imgW="1384200" imgH="228600" progId="Equation.DSMT4">
                  <p:embed/>
                  <p:pic>
                    <p:nvPicPr>
                      <p:cNvPr id="512035" name="Object 35">
                        <a:extLst>
                          <a:ext uri="{FF2B5EF4-FFF2-40B4-BE49-F238E27FC236}">
                            <a16:creationId xmlns:a16="http://schemas.microsoft.com/office/drawing/2014/main" id="{92856F33-6EF7-45AB-B29A-D2AD63A05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74" y="5029200"/>
                        <a:ext cx="3733800" cy="6159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6">
            <a:extLst>
              <a:ext uri="{FF2B5EF4-FFF2-40B4-BE49-F238E27FC236}">
                <a16:creationId xmlns:a16="http://schemas.microsoft.com/office/drawing/2014/main" id="{5F70DAD1-0ABB-4431-B137-8470C39907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585937"/>
              </p:ext>
            </p:extLst>
          </p:nvPr>
        </p:nvGraphicFramePr>
        <p:xfrm>
          <a:off x="6118274" y="5029200"/>
          <a:ext cx="37338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84200" imgH="228600" progId="Equation.DSMT4">
                  <p:embed/>
                </p:oleObj>
              </mc:Choice>
              <mc:Fallback>
                <p:oleObj name="Equation" r:id="rId9" imgW="1384200" imgH="228600" progId="Equation.DSMT4">
                  <p:embed/>
                  <p:pic>
                    <p:nvPicPr>
                      <p:cNvPr id="512036" name="Object 36">
                        <a:extLst>
                          <a:ext uri="{FF2B5EF4-FFF2-40B4-BE49-F238E27FC236}">
                            <a16:creationId xmlns:a16="http://schemas.microsoft.com/office/drawing/2014/main" id="{6D013840-3E41-42EB-967C-76D92C3025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274" y="5029200"/>
                        <a:ext cx="3733800" cy="6159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7">
            <a:extLst>
              <a:ext uri="{FF2B5EF4-FFF2-40B4-BE49-F238E27FC236}">
                <a16:creationId xmlns:a16="http://schemas.microsoft.com/office/drawing/2014/main" id="{FEEDDBAF-38C1-4252-BA8D-2D0E89537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874805"/>
              </p:ext>
            </p:extLst>
          </p:nvPr>
        </p:nvGraphicFramePr>
        <p:xfrm>
          <a:off x="2079674" y="5715000"/>
          <a:ext cx="17129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34680" imgH="215640" progId="Equation.DSMT4">
                  <p:embed/>
                </p:oleObj>
              </mc:Choice>
              <mc:Fallback>
                <p:oleObj name="Equation" r:id="rId11" imgW="634680" imgH="215640" progId="Equation.DSMT4">
                  <p:embed/>
                  <p:pic>
                    <p:nvPicPr>
                      <p:cNvPr id="512037" name="Object 37">
                        <a:extLst>
                          <a:ext uri="{FF2B5EF4-FFF2-40B4-BE49-F238E27FC236}">
                            <a16:creationId xmlns:a16="http://schemas.microsoft.com/office/drawing/2014/main" id="{795937F7-32A2-462C-BC94-BF6AA189E6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74" y="5715000"/>
                        <a:ext cx="1712913" cy="5810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8">
            <a:extLst>
              <a:ext uri="{FF2B5EF4-FFF2-40B4-BE49-F238E27FC236}">
                <a16:creationId xmlns:a16="http://schemas.microsoft.com/office/drawing/2014/main" id="{E8BE7015-E5EF-43DF-A197-7ED284EE2F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237190"/>
              </p:ext>
            </p:extLst>
          </p:nvPr>
        </p:nvGraphicFramePr>
        <p:xfrm>
          <a:off x="4137074" y="5715000"/>
          <a:ext cx="16795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22080" imgH="215640" progId="Equation.DSMT4">
                  <p:embed/>
                </p:oleObj>
              </mc:Choice>
              <mc:Fallback>
                <p:oleObj name="Equation" r:id="rId13" imgW="622080" imgH="215640" progId="Equation.DSMT4">
                  <p:embed/>
                  <p:pic>
                    <p:nvPicPr>
                      <p:cNvPr id="512038" name="Object 38">
                        <a:extLst>
                          <a:ext uri="{FF2B5EF4-FFF2-40B4-BE49-F238E27FC236}">
                            <a16:creationId xmlns:a16="http://schemas.microsoft.com/office/drawing/2014/main" id="{0E366432-A732-41AD-87F3-8AA24186E3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074" y="5715000"/>
                        <a:ext cx="1679575" cy="5810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17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42">
            <a:extLst>
              <a:ext uri="{FF2B5EF4-FFF2-40B4-BE49-F238E27FC236}">
                <a16:creationId xmlns:a16="http://schemas.microsoft.com/office/drawing/2014/main" id="{86FBDFA4-4747-475F-8E9A-2545BB40E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74" y="5667746"/>
            <a:ext cx="51276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MX" altLang="es-CO" sz="2800" u="sng" dirty="0"/>
              <a:t>Cada una arriba del origen (+)</a:t>
            </a:r>
          </a:p>
        </p:txBody>
      </p:sp>
      <p:grpSp>
        <p:nvGrpSpPr>
          <p:cNvPr id="42" name="Group 84">
            <a:extLst>
              <a:ext uri="{FF2B5EF4-FFF2-40B4-BE49-F238E27FC236}">
                <a16:creationId xmlns:a16="http://schemas.microsoft.com/office/drawing/2014/main" id="{726EEAAF-C77B-4D0B-9468-D32A4339E006}"/>
              </a:ext>
            </a:extLst>
          </p:cNvPr>
          <p:cNvGrpSpPr>
            <a:grpSpLocks/>
          </p:cNvGrpSpPr>
          <p:nvPr/>
        </p:nvGrpSpPr>
        <p:grpSpPr bwMode="auto">
          <a:xfrm>
            <a:off x="2079674" y="1146517"/>
            <a:ext cx="8686800" cy="2646363"/>
            <a:chOff x="432" y="925"/>
            <a:chExt cx="5472" cy="1667"/>
          </a:xfrm>
        </p:grpSpPr>
        <p:sp>
          <p:nvSpPr>
            <p:cNvPr id="43" name="Rectangle 22">
              <a:extLst>
                <a:ext uri="{FF2B5EF4-FFF2-40B4-BE49-F238E27FC236}">
                  <a16:creationId xmlns:a16="http://schemas.microsoft.com/office/drawing/2014/main" id="{9B24C063-8888-4C20-8BF2-D9539D83F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925"/>
              <a:ext cx="5088" cy="1667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4" name="Oval 25">
              <a:extLst>
                <a:ext uri="{FF2B5EF4-FFF2-40B4-BE49-F238E27FC236}">
                  <a16:creationId xmlns:a16="http://schemas.microsoft.com/office/drawing/2014/main" id="{3E203E8E-99B9-48A3-A7F6-DF567FBF1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64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5" name="Line 26">
              <a:extLst>
                <a:ext uri="{FF2B5EF4-FFF2-40B4-BE49-F238E27FC236}">
                  <a16:creationId xmlns:a16="http://schemas.microsoft.com/office/drawing/2014/main" id="{02392101-1BBF-4B7D-87B3-83F107DDB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5" y="1750"/>
              <a:ext cx="576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16B69274-0E73-4353-81D4-2CA343868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288"/>
              <a:ext cx="3648" cy="968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47" name="Text Box 31">
              <a:extLst>
                <a:ext uri="{FF2B5EF4-FFF2-40B4-BE49-F238E27FC236}">
                  <a16:creationId xmlns:a16="http://schemas.microsoft.com/office/drawing/2014/main" id="{C07DE504-C7CD-4729-856C-E52F17905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960"/>
              <a:ext cx="15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oy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=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80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ft/s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48" name="Text Box 32">
              <a:extLst>
                <a:ext uri="{FF2B5EF4-FFF2-40B4-BE49-F238E27FC236}">
                  <a16:creationId xmlns:a16="http://schemas.microsoft.com/office/drawing/2014/main" id="{782C6476-1FE9-4ED6-B48B-AFE358430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440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i="0" dirty="0">
                  <a:solidFill>
                    <a:srgbClr val="000000"/>
                  </a:solidFill>
                </a:rPr>
                <a:t>160 ft/s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49" name="Oval 37">
              <a:extLst>
                <a:ext uri="{FF2B5EF4-FFF2-40B4-BE49-F238E27FC236}">
                  <a16:creationId xmlns:a16="http://schemas.microsoft.com/office/drawing/2014/main" id="{4A62FB2C-AA89-4899-BA94-D7BFC889B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1296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0" name="Oval 39">
              <a:extLst>
                <a:ext uri="{FF2B5EF4-FFF2-40B4-BE49-F238E27FC236}">
                  <a16:creationId xmlns:a16="http://schemas.microsoft.com/office/drawing/2014/main" id="{B12648A0-229B-4895-A49C-70ABF4A05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089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1" name="Oval 45">
              <a:extLst>
                <a:ext uri="{FF2B5EF4-FFF2-40B4-BE49-F238E27FC236}">
                  <a16:creationId xmlns:a16="http://schemas.microsoft.com/office/drawing/2014/main" id="{836454E1-BC1B-4084-8978-F6AA7FE35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2087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2" name="Text Box 52">
              <a:extLst>
                <a:ext uri="{FF2B5EF4-FFF2-40B4-BE49-F238E27FC236}">
                  <a16:creationId xmlns:a16="http://schemas.microsoft.com/office/drawing/2014/main" id="{FBDE24CF-7481-4C06-B442-5CD995C23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016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MX" altLang="es-CO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53" name="Text Box 53">
              <a:extLst>
                <a:ext uri="{FF2B5EF4-FFF2-40B4-BE49-F238E27FC236}">
                  <a16:creationId xmlns:a16="http://schemas.microsoft.com/office/drawing/2014/main" id="{FE627048-2632-4248-884B-120DE818F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7" y="191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  <p:sp>
          <p:nvSpPr>
            <p:cNvPr id="54" name="Oval 56">
              <a:extLst>
                <a:ext uri="{FF2B5EF4-FFF2-40B4-BE49-F238E27FC236}">
                  <a16:creationId xmlns:a16="http://schemas.microsoft.com/office/drawing/2014/main" id="{248153D4-FD00-4596-9DFB-2D42E81D0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2077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5" name="Oval 58">
              <a:extLst>
                <a:ext uri="{FF2B5EF4-FFF2-40B4-BE49-F238E27FC236}">
                  <a16:creationId xmlns:a16="http://schemas.microsoft.com/office/drawing/2014/main" id="{784A8027-7A04-48B9-8D77-63F14721A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" y="2087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6" name="Line 60">
              <a:extLst>
                <a:ext uri="{FF2B5EF4-FFF2-40B4-BE49-F238E27FC236}">
                  <a16:creationId xmlns:a16="http://schemas.microsoft.com/office/drawing/2014/main" id="{8B3A2A5C-00F3-478B-9B94-943E960B55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440"/>
              <a:ext cx="0" cy="6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7" name="Oval 61">
              <a:extLst>
                <a:ext uri="{FF2B5EF4-FFF2-40B4-BE49-F238E27FC236}">
                  <a16:creationId xmlns:a16="http://schemas.microsoft.com/office/drawing/2014/main" id="{309AF65C-5BAD-421B-A7C1-5075CEB84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32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8" name="Oval 63">
              <a:extLst>
                <a:ext uri="{FF2B5EF4-FFF2-40B4-BE49-F238E27FC236}">
                  <a16:creationId xmlns:a16="http://schemas.microsoft.com/office/drawing/2014/main" id="{A33EE03B-1EFF-4542-B694-570F88E90F6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416" y="1632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9" name="Oval 66">
              <a:extLst>
                <a:ext uri="{FF2B5EF4-FFF2-40B4-BE49-F238E27FC236}">
                  <a16:creationId xmlns:a16="http://schemas.microsoft.com/office/drawing/2014/main" id="{A1AB02DC-179D-43AD-967B-278F5DF40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296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0" name="Text Box 67">
              <a:extLst>
                <a:ext uri="{FF2B5EF4-FFF2-40B4-BE49-F238E27FC236}">
                  <a16:creationId xmlns:a16="http://schemas.microsoft.com/office/drawing/2014/main" id="{3706924D-71F4-4B66-B3B7-D64659249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0 s</a:t>
              </a:r>
            </a:p>
          </p:txBody>
        </p:sp>
        <p:sp>
          <p:nvSpPr>
            <p:cNvPr id="61" name="Text Box 68">
              <a:extLst>
                <a:ext uri="{FF2B5EF4-FFF2-40B4-BE49-F238E27FC236}">
                  <a16:creationId xmlns:a16="http://schemas.microsoft.com/office/drawing/2014/main" id="{712440C1-D83E-4443-B860-0CDD1AAD6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3 s</a:t>
              </a:r>
            </a:p>
          </p:txBody>
        </p:sp>
        <p:sp>
          <p:nvSpPr>
            <p:cNvPr id="62" name="Text Box 69">
              <a:extLst>
                <a:ext uri="{FF2B5EF4-FFF2-40B4-BE49-F238E27FC236}">
                  <a16:creationId xmlns:a16="http://schemas.microsoft.com/office/drawing/2014/main" id="{16BB5AFB-B3E8-4FE5-B9AA-A10EBF5BD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2 s</a:t>
              </a:r>
            </a:p>
          </p:txBody>
        </p:sp>
        <p:sp>
          <p:nvSpPr>
            <p:cNvPr id="63" name="Text Box 70">
              <a:extLst>
                <a:ext uri="{FF2B5EF4-FFF2-40B4-BE49-F238E27FC236}">
                  <a16:creationId xmlns:a16="http://schemas.microsoft.com/office/drawing/2014/main" id="{E5266BDC-52AE-4642-9F2E-311F5F619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1 s</a:t>
              </a:r>
            </a:p>
          </p:txBody>
        </p:sp>
        <p:sp>
          <p:nvSpPr>
            <p:cNvPr id="64" name="Text Box 71">
              <a:extLst>
                <a:ext uri="{FF2B5EF4-FFF2-40B4-BE49-F238E27FC236}">
                  <a16:creationId xmlns:a16="http://schemas.microsoft.com/office/drawing/2014/main" id="{60F09886-B343-40C0-8AB2-E014FD931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4 s</a:t>
              </a:r>
            </a:p>
          </p:txBody>
        </p:sp>
        <p:sp>
          <p:nvSpPr>
            <p:cNvPr id="65" name="Line 72">
              <a:extLst>
                <a:ext uri="{FF2B5EF4-FFF2-40B4-BE49-F238E27FC236}">
                  <a16:creationId xmlns:a16="http://schemas.microsoft.com/office/drawing/2014/main" id="{46B4D1F5-42D7-4CCB-990F-35C2605A4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160"/>
              <a:ext cx="43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6" name="Line 73">
              <a:extLst>
                <a:ext uri="{FF2B5EF4-FFF2-40B4-BE49-F238E27FC236}">
                  <a16:creationId xmlns:a16="http://schemas.microsoft.com/office/drawing/2014/main" id="{BC5881CD-A283-410E-91FC-6DD7085FF9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1776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7" name="Text Box 74">
              <a:extLst>
                <a:ext uri="{FF2B5EF4-FFF2-40B4-BE49-F238E27FC236}">
                  <a16:creationId xmlns:a16="http://schemas.microsoft.com/office/drawing/2014/main" id="{35FDF5D5-B4C2-47F9-B43A-85BCA2CD2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956"/>
              <a:ext cx="16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b="1" dirty="0">
                  <a:latin typeface="Times New Roman" panose="02020603050405020304" pitchFamily="18" charset="0"/>
                </a:rPr>
                <a:t>g</a:t>
              </a:r>
              <a:r>
                <a:rPr kumimoji="0" lang="es-MX" altLang="es-CO" sz="2400" dirty="0"/>
                <a:t> = -</a:t>
              </a:r>
              <a:r>
                <a:rPr kumimoji="0" lang="es-MX" altLang="es-CO" sz="2400" i="0" dirty="0"/>
                <a:t>32</a:t>
              </a:r>
              <a:r>
                <a:rPr kumimoji="0" lang="es-MX" altLang="es-CO" sz="2400" dirty="0"/>
                <a:t> </a:t>
              </a:r>
              <a:r>
                <a:rPr kumimoji="0" lang="es-MX" altLang="es-CO" sz="2400" i="0" dirty="0"/>
                <a:t>ft/s</a:t>
              </a:r>
              <a:r>
                <a:rPr kumimoji="0" lang="es-MX" altLang="es-CO" sz="2400" i="0" baseline="30000" dirty="0"/>
                <a:t>2</a:t>
              </a:r>
              <a:r>
                <a:rPr kumimoji="0" lang="es-MX" altLang="es-CO" sz="2400" dirty="0"/>
                <a:t> </a:t>
              </a:r>
              <a:endParaRPr kumimoji="0" lang="es-MX" altLang="es-CO" sz="2400" baseline="-25000" dirty="0"/>
            </a:p>
          </p:txBody>
        </p:sp>
        <p:sp>
          <p:nvSpPr>
            <p:cNvPr id="68" name="Line 75">
              <a:extLst>
                <a:ext uri="{FF2B5EF4-FFF2-40B4-BE49-F238E27FC236}">
                  <a16:creationId xmlns:a16="http://schemas.microsoft.com/office/drawing/2014/main" id="{CC4652B4-C55C-4606-B3CD-42D30DDC3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1728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9" name="Line 76">
              <a:extLst>
                <a:ext uri="{FF2B5EF4-FFF2-40B4-BE49-F238E27FC236}">
                  <a16:creationId xmlns:a16="http://schemas.microsoft.com/office/drawing/2014/main" id="{B64CD743-4D6D-455B-8D4D-4D3883570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64"/>
              <a:ext cx="240" cy="4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s-CO"/>
            </a:p>
          </p:txBody>
        </p:sp>
        <p:sp>
          <p:nvSpPr>
            <p:cNvPr id="70" name="Text Box 77">
              <a:extLst>
                <a:ext uri="{FF2B5EF4-FFF2-40B4-BE49-F238E27FC236}">
                  <a16:creationId xmlns:a16="http://schemas.microsoft.com/office/drawing/2014/main" id="{3718F081-0EB0-4F81-8520-245E03069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536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dirty="0">
                  <a:solidFill>
                    <a:srgbClr val="000000"/>
                  </a:solidFill>
                </a:rPr>
                <a:t>y</a:t>
              </a:r>
              <a:r>
                <a:rPr lang="es-MX" altLang="es-CO" baseline="-25000" dirty="0">
                  <a:solidFill>
                    <a:srgbClr val="000000"/>
                  </a:solidFill>
                </a:rPr>
                <a:t>2</a:t>
              </a:r>
              <a:endParaRPr lang="es-MX" altLang="es-CO" dirty="0">
                <a:solidFill>
                  <a:srgbClr val="000000"/>
                </a:solidFill>
              </a:endParaRPr>
            </a:p>
          </p:txBody>
        </p:sp>
        <p:sp>
          <p:nvSpPr>
            <p:cNvPr id="71" name="Text Box 78">
              <a:extLst>
                <a:ext uri="{FF2B5EF4-FFF2-40B4-BE49-F238E27FC236}">
                  <a16:creationId xmlns:a16="http://schemas.microsoft.com/office/drawing/2014/main" id="{A6550C84-C865-4D57-9A58-BC9AD4FDA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72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>
                  <a:solidFill>
                    <a:srgbClr val="000000"/>
                  </a:solidFill>
                </a:rPr>
                <a:t>y</a:t>
              </a:r>
              <a:r>
                <a:rPr lang="es-MX" altLang="es-CO" baseline="-25000">
                  <a:solidFill>
                    <a:srgbClr val="000000"/>
                  </a:solidFill>
                </a:rPr>
                <a:t>4</a:t>
              </a:r>
              <a:endParaRPr lang="es-MX" altLang="es-CO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251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3" grpId="0" autoUpdateAnimBg="0"/>
      <p:bldP spid="4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D68CC-9793-3155-206F-B6A5C16B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70C6519-AB98-4625-8C32-3894A475C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286" y="42203"/>
            <a:ext cx="11459308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(Cont.):</a:t>
            </a:r>
            <a:r>
              <a:rPr lang="es-MX" altLang="es-CO" sz="2400" dirty="0"/>
              <a:t> A continuación encuentre los componentes horizontal y vertical de la velocidad después de 2 y 4 s.</a:t>
            </a:r>
          </a:p>
        </p:txBody>
      </p:sp>
      <p:sp>
        <p:nvSpPr>
          <p:cNvPr id="3" name="Text Box 14">
            <a:extLst>
              <a:ext uri="{FF2B5EF4-FFF2-40B4-BE49-F238E27FC236}">
                <a16:creationId xmlns:a16="http://schemas.microsoft.com/office/drawing/2014/main" id="{1EE518A0-3272-45B9-951A-7A56AC9A3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594" y="3031491"/>
            <a:ext cx="8534400" cy="507831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pPr algn="just"/>
            <a:r>
              <a:rPr lang="es-MX" altLang="es-CO" sz="2400">
                <a:solidFill>
                  <a:srgbClr val="000000"/>
                </a:solidFill>
              </a:rPr>
              <a:t>Dado que </a:t>
            </a:r>
            <a:r>
              <a:rPr lang="es-MX" altLang="es-CO" sz="2400" i="0">
                <a:solidFill>
                  <a:srgbClr val="000000"/>
                </a:solidFill>
              </a:rPr>
              <a:t>v</a:t>
            </a:r>
            <a:r>
              <a:rPr lang="es-MX" altLang="es-CO" sz="2400" i="0" baseline="-25000">
                <a:solidFill>
                  <a:srgbClr val="000000"/>
                </a:solidFill>
              </a:rPr>
              <a:t>x</a:t>
            </a:r>
            <a:r>
              <a:rPr lang="es-MX" altLang="es-CO" sz="2400" i="0">
                <a:solidFill>
                  <a:srgbClr val="000000"/>
                </a:solidFill>
              </a:rPr>
              <a:t> es constante, </a:t>
            </a:r>
            <a:r>
              <a:rPr lang="es-MX" altLang="es-CO" sz="2400">
                <a:solidFill>
                  <a:srgbClr val="000000"/>
                </a:solidFill>
              </a:rPr>
              <a:t>v</a:t>
            </a:r>
            <a:r>
              <a:rPr lang="es-MX" altLang="es-CO" sz="2400" baseline="-25000">
                <a:solidFill>
                  <a:srgbClr val="000000"/>
                </a:solidFill>
              </a:rPr>
              <a:t>x</a:t>
            </a:r>
            <a:r>
              <a:rPr lang="es-MX" altLang="es-CO" sz="2400">
                <a:solidFill>
                  <a:srgbClr val="000000"/>
                </a:solidFill>
              </a:rPr>
              <a:t> = </a:t>
            </a:r>
            <a:r>
              <a:rPr lang="es-MX" altLang="es-CO" sz="2400" i="0">
                <a:solidFill>
                  <a:srgbClr val="000000"/>
                </a:solidFill>
              </a:rPr>
              <a:t>139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ft/s en todos los tiempos.</a:t>
            </a:r>
            <a:r>
              <a:rPr lang="es-MX" altLang="es-CO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A09CC67A-4F94-4F51-ACEF-02969FC76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852" y="3734587"/>
            <a:ext cx="91041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s-MX" altLang="es-CO" sz="2400" i="0" dirty="0"/>
              <a:t>La velocidad vertical es la misma que si se proyectara verticalmente:</a:t>
            </a:r>
          </a:p>
        </p:txBody>
      </p:sp>
      <p:sp>
        <p:nvSpPr>
          <p:cNvPr id="5" name="Text Box 24">
            <a:extLst>
              <a:ext uri="{FF2B5EF4-FFF2-40B4-BE49-F238E27FC236}">
                <a16:creationId xmlns:a16="http://schemas.microsoft.com/office/drawing/2014/main" id="{5C42BCCE-2012-4FFA-B546-B9D77E860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594" y="5300003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/>
              <a:t>En cualquier tiempo t:</a:t>
            </a:r>
          </a:p>
        </p:txBody>
      </p:sp>
      <p:graphicFrame>
        <p:nvGraphicFramePr>
          <p:cNvPr id="6" name="Object 26">
            <a:extLst>
              <a:ext uri="{FF2B5EF4-FFF2-40B4-BE49-F238E27FC236}">
                <a16:creationId xmlns:a16="http://schemas.microsoft.com/office/drawing/2014/main" id="{07ED02A8-ABA4-4658-A2D1-4B412E7E38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517510"/>
              </p:ext>
            </p:extLst>
          </p:nvPr>
        </p:nvGraphicFramePr>
        <p:xfrm>
          <a:off x="7078394" y="5452403"/>
          <a:ext cx="33924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241200" progId="Equation.DSMT4">
                  <p:embed/>
                </p:oleObj>
              </mc:Choice>
              <mc:Fallback>
                <p:oleObj name="Equation" r:id="rId4" imgW="1168200" imgH="241200" progId="Equation.DSMT4">
                  <p:embed/>
                  <p:pic>
                    <p:nvPicPr>
                      <p:cNvPr id="513050" name="Object 26">
                        <a:extLst>
                          <a:ext uri="{FF2B5EF4-FFF2-40B4-BE49-F238E27FC236}">
                            <a16:creationId xmlns:a16="http://schemas.microsoft.com/office/drawing/2014/main" id="{ADA94333-2978-4FE8-8684-FBAFC8E1CA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8394" y="5452403"/>
                        <a:ext cx="3392488" cy="7016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7">
            <a:extLst>
              <a:ext uri="{FF2B5EF4-FFF2-40B4-BE49-F238E27FC236}">
                <a16:creationId xmlns:a16="http://schemas.microsoft.com/office/drawing/2014/main" id="{7C4D79E6-F626-4290-8C23-3E18AE0135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111061"/>
              </p:ext>
            </p:extLst>
          </p:nvPr>
        </p:nvGraphicFramePr>
        <p:xfrm>
          <a:off x="4411394" y="5474628"/>
          <a:ext cx="22590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228600" progId="Equation.DSMT4">
                  <p:embed/>
                </p:oleObj>
              </mc:Choice>
              <mc:Fallback>
                <p:oleObj name="Equation" r:id="rId6" imgW="774360" imgH="228600" progId="Equation.DSMT4">
                  <p:embed/>
                  <p:pic>
                    <p:nvPicPr>
                      <p:cNvPr id="513051" name="Object 27">
                        <a:extLst>
                          <a:ext uri="{FF2B5EF4-FFF2-40B4-BE49-F238E27FC236}">
                            <a16:creationId xmlns:a16="http://schemas.microsoft.com/office/drawing/2014/main" id="{43FFE8EB-D6A4-41E5-ACD9-E7886E7518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1394" y="5474628"/>
                        <a:ext cx="2259013" cy="6667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0">
            <a:extLst>
              <a:ext uri="{FF2B5EF4-FFF2-40B4-BE49-F238E27FC236}">
                <a16:creationId xmlns:a16="http://schemas.microsoft.com/office/drawing/2014/main" id="{78D513B7-A60C-481A-86A7-5D501B723C75}"/>
              </a:ext>
            </a:extLst>
          </p:cNvPr>
          <p:cNvGrpSpPr>
            <a:grpSpLocks/>
          </p:cNvGrpSpPr>
          <p:nvPr/>
        </p:nvGrpSpPr>
        <p:grpSpPr bwMode="auto">
          <a:xfrm>
            <a:off x="2922535" y="1052195"/>
            <a:ext cx="7579449" cy="1611907"/>
            <a:chOff x="480" y="720"/>
            <a:chExt cx="4869" cy="1160"/>
          </a:xfrm>
        </p:grpSpPr>
        <p:sp>
          <p:nvSpPr>
            <p:cNvPr id="9" name="Rectangle 29">
              <a:extLst>
                <a:ext uri="{FF2B5EF4-FFF2-40B4-BE49-F238E27FC236}">
                  <a16:creationId xmlns:a16="http://schemas.microsoft.com/office/drawing/2014/main" id="{5B2D6D80-32F1-4031-A733-F717777FE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720"/>
              <a:ext cx="4848" cy="1152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CCB2E556-1211-4609-929C-6B60E01E9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7" y="1278"/>
              <a:ext cx="576" cy="38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6">
              <a:extLst>
                <a:ext uri="{FF2B5EF4-FFF2-40B4-BE49-F238E27FC236}">
                  <a16:creationId xmlns:a16="http://schemas.microsoft.com/office/drawing/2014/main" id="{38F1EAF4-643D-4BE4-87B2-635EBD59C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678"/>
              <a:ext cx="576" cy="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6E701341-3797-48CF-94AF-708A00FF56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" y="1256"/>
              <a:ext cx="0" cy="38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3271FF01-95B5-417E-91CC-95EAA83E9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16"/>
              <a:ext cx="3744" cy="776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6CA1E921-0F2F-4A2C-882F-B95DE77F60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" y="864"/>
              <a:ext cx="624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oy</a:t>
              </a: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D1490C14-009D-46D3-BD61-F6E2B8A4D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" y="993"/>
              <a:ext cx="912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160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ft/s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39EC46FD-26FE-429B-A53D-A332D3A77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7" y="1548"/>
              <a:ext cx="624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ox</a:t>
              </a:r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D61774B6-7CF1-409E-A877-23CFD1706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" y="1370"/>
              <a:ext cx="48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30</a:t>
              </a:r>
              <a:r>
                <a:rPr kumimoji="0" lang="es-MX" altLang="es-CO" sz="2400" i="0" baseline="30000" dirty="0">
                  <a:solidFill>
                    <a:srgbClr val="000000"/>
                  </a:solidFill>
                </a:rPr>
                <a:t>o</a:t>
              </a:r>
              <a:endParaRPr kumimoji="0" lang="es-MX" altLang="es-CO" i="0" dirty="0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graphicFrame>
          <p:nvGraphicFramePr>
            <p:cNvPr id="18" name="Object 19">
              <a:extLst>
                <a:ext uri="{FF2B5EF4-FFF2-40B4-BE49-F238E27FC236}">
                  <a16:creationId xmlns:a16="http://schemas.microsoft.com/office/drawing/2014/main" id="{1BAC7EEE-E5BE-48C0-B356-B218083A9E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9100562"/>
                </p:ext>
              </p:extLst>
            </p:nvPr>
          </p:nvGraphicFramePr>
          <p:xfrm>
            <a:off x="1989" y="932"/>
            <a:ext cx="3360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81080" imgH="241200" progId="Equation.DSMT4">
                    <p:embed/>
                  </p:oleObj>
                </mc:Choice>
                <mc:Fallback>
                  <p:oleObj name="Equation" r:id="rId8" imgW="1981080" imgH="241200" progId="Equation.DSMT4">
                    <p:embed/>
                    <p:pic>
                      <p:nvPicPr>
                        <p:cNvPr id="513043" name="Object 19">
                          <a:extLst>
                            <a:ext uri="{FF2B5EF4-FFF2-40B4-BE49-F238E27FC236}">
                              <a16:creationId xmlns:a16="http://schemas.microsoft.com/office/drawing/2014/main" id="{7C40AD24-7B38-4D78-A163-E99256FB44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9" y="932"/>
                          <a:ext cx="3360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0">
              <a:extLst>
                <a:ext uri="{FF2B5EF4-FFF2-40B4-BE49-F238E27FC236}">
                  <a16:creationId xmlns:a16="http://schemas.microsoft.com/office/drawing/2014/main" id="{8E18E91B-EAFD-4639-BDA2-6F98FAD254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3037144"/>
                </p:ext>
              </p:extLst>
            </p:nvPr>
          </p:nvGraphicFramePr>
          <p:xfrm>
            <a:off x="1946" y="1392"/>
            <a:ext cx="3403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06280" imgH="253800" progId="Equation.DSMT4">
                    <p:embed/>
                  </p:oleObj>
                </mc:Choice>
                <mc:Fallback>
                  <p:oleObj name="Equation" r:id="rId10" imgW="2006280" imgH="253800" progId="Equation.DSMT4">
                    <p:embed/>
                    <p:pic>
                      <p:nvPicPr>
                        <p:cNvPr id="513044" name="Object 20">
                          <a:extLst>
                            <a:ext uri="{FF2B5EF4-FFF2-40B4-BE49-F238E27FC236}">
                              <a16:creationId xmlns:a16="http://schemas.microsoft.com/office/drawing/2014/main" id="{00F72296-22C5-414F-88F9-CDA6268425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6" y="1392"/>
                          <a:ext cx="3403" cy="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Oval 4">
              <a:extLst>
                <a:ext uri="{FF2B5EF4-FFF2-40B4-BE49-F238E27FC236}">
                  <a16:creationId xmlns:a16="http://schemas.microsoft.com/office/drawing/2014/main" id="{A402C808-8CDC-475C-A84A-F866A100F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592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21" name="AutoShape 38">
            <a:extLst>
              <a:ext uri="{FF2B5EF4-FFF2-40B4-BE49-F238E27FC236}">
                <a16:creationId xmlns:a16="http://schemas.microsoft.com/office/drawing/2014/main" id="{941631A9-3DC2-4CF2-AA12-BF7EB737B80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963594" y="4614203"/>
            <a:ext cx="66738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2" name="Rectangle 43">
            <a:extLst>
              <a:ext uri="{FF2B5EF4-FFF2-40B4-BE49-F238E27FC236}">
                <a16:creationId xmlns:a16="http://schemas.microsoft.com/office/drawing/2014/main" id="{E7FC59D4-A1C6-463D-AA99-8FF1BA1A2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719" y="4392777"/>
            <a:ext cx="7467600" cy="533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0" tIns="0" rIns="0" bIns="0">
            <a:spAutoFit/>
          </a:bodyPr>
          <a:lstStyle/>
          <a:p>
            <a:r>
              <a:rPr lang="es-MX" altLang="es-CO" sz="350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v</a:t>
            </a:r>
            <a:r>
              <a:rPr lang="es-MX" altLang="es-CO" sz="3500" baseline="-2500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y</a:t>
            </a:r>
            <a:r>
              <a:rPr lang="es-MX" altLang="es-CO" sz="3500" i="0" dirty="0">
                <a:solidFill>
                  <a:srgbClr val="FFFFFF"/>
                </a:solidFill>
                <a:latin typeface="Times New Roman" panose="02020603050405020304" pitchFamily="18" charset="0"/>
              </a:rPr>
              <a:t> = </a:t>
            </a:r>
            <a:r>
              <a:rPr lang="es-MX" altLang="es-CO" sz="3500" dirty="0">
                <a:solidFill>
                  <a:srgbClr val="FFFFFF"/>
                </a:solidFill>
                <a:latin typeface="Times New Roman" panose="02020603050405020304" pitchFamily="18" charset="0"/>
              </a:rPr>
              <a:t>v</a:t>
            </a:r>
            <a:r>
              <a:rPr lang="es-MX" altLang="es-CO" sz="3500" i="0" baseline="-25000" dirty="0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  <a:r>
              <a:rPr lang="es-MX" altLang="es-CO" sz="3500" baseline="-25000" dirty="0">
                <a:solidFill>
                  <a:srgbClr val="FFFFFF"/>
                </a:solidFill>
                <a:latin typeface="Times New Roman" panose="02020603050405020304" pitchFamily="18" charset="0"/>
              </a:rPr>
              <a:t>y</a:t>
            </a:r>
            <a:r>
              <a:rPr lang="es-MX" altLang="es-CO" sz="3500" i="0" dirty="0">
                <a:solidFill>
                  <a:srgbClr val="FFFFFF"/>
                </a:solidFill>
                <a:latin typeface="Times New Roman" panose="02020603050405020304" pitchFamily="18" charset="0"/>
              </a:rPr>
              <a:t> + </a:t>
            </a:r>
            <a:r>
              <a:rPr lang="es-MX" altLang="es-CO" sz="350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gt</a:t>
            </a:r>
            <a:r>
              <a:rPr lang="es-MX" altLang="es-CO" sz="3500" i="0" dirty="0">
                <a:solidFill>
                  <a:srgbClr val="FFFFFF"/>
                </a:solidFill>
                <a:latin typeface="Times New Roman" panose="02020603050405020304" pitchFamily="18" charset="0"/>
              </a:rPr>
              <a:t>;       donde      </a:t>
            </a:r>
            <a:r>
              <a:rPr lang="es-MX" altLang="es-CO" sz="3500" dirty="0">
                <a:solidFill>
                  <a:srgbClr val="FFFFFF"/>
                </a:solidFill>
                <a:latin typeface="Times New Roman" panose="02020603050405020304" pitchFamily="18" charset="0"/>
              </a:rPr>
              <a:t>g</a:t>
            </a:r>
            <a:r>
              <a:rPr lang="es-MX" altLang="es-CO" sz="3500" i="0" dirty="0">
                <a:solidFill>
                  <a:srgbClr val="FFFFFF"/>
                </a:solidFill>
                <a:latin typeface="Times New Roman" panose="02020603050405020304" pitchFamily="18" charset="0"/>
              </a:rPr>
              <a:t> = -32 ft/s</a:t>
            </a:r>
            <a:r>
              <a:rPr lang="es-MX" altLang="es-CO" sz="3500" i="0" baseline="30000" dirty="0">
                <a:solidFill>
                  <a:srgbClr val="FFFFFF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1349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animBg="1" autoUpdateAnimBg="0"/>
      <p:bldP spid="4" grpId="0" autoUpdateAnimBg="0"/>
      <p:bldP spid="5" grpId="0" autoUpdateAnimBg="0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C75D1-E551-570D-6B48-705AB6D8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F0EB13FA-C10A-41A5-99B0-67F711151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077" y="5071403"/>
            <a:ext cx="28956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i="0" baseline="-25000" dirty="0">
                <a:solidFill>
                  <a:srgbClr val="000000"/>
                </a:solidFill>
              </a:rPr>
              <a:t>2y</a:t>
            </a:r>
            <a:r>
              <a:rPr lang="es-MX" altLang="es-CO" sz="2400" i="0" dirty="0">
                <a:solidFill>
                  <a:srgbClr val="000000"/>
                </a:solidFill>
              </a:rPr>
              <a:t> = 16.0 ft/s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EC9460F4-8913-4EF8-8E5B-52D7AB722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077" y="5909603"/>
            <a:ext cx="29718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i="0" baseline="-25000" dirty="0">
                <a:solidFill>
                  <a:srgbClr val="000000"/>
                </a:solidFill>
              </a:rPr>
              <a:t>4y</a:t>
            </a:r>
            <a:r>
              <a:rPr lang="es-MX" altLang="es-CO" sz="2400" i="0" dirty="0">
                <a:solidFill>
                  <a:srgbClr val="000000"/>
                </a:solidFill>
              </a:rPr>
              <a:t> = -48.0 ft/s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DC14D14-8FB8-4AC9-B1A0-E87D51929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3877" y="0"/>
            <a:ext cx="7315200" cy="775628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Ejemplo: (continuación)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42A0567E-6C1E-48F5-8D57-93D121A96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819" y="807500"/>
            <a:ext cx="7924800" cy="2646363"/>
          </a:xfrm>
          <a:prstGeom prst="rect">
            <a:avLst/>
          </a:prstGeom>
          <a:solidFill>
            <a:srgbClr val="CC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6" name="Oval 37">
            <a:extLst>
              <a:ext uri="{FF2B5EF4-FFF2-40B4-BE49-F238E27FC236}">
                <a16:creationId xmlns:a16="http://schemas.microsoft.com/office/drawing/2014/main" id="{96D5681E-C1DF-4E47-A1D7-EEE1A5CAE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419" y="2560100"/>
            <a:ext cx="228600" cy="228600"/>
          </a:xfrm>
          <a:prstGeom prst="ellipse">
            <a:avLst/>
          </a:prstGeom>
          <a:solidFill>
            <a:srgbClr val="FF0066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7" name="Line 38">
            <a:extLst>
              <a:ext uri="{FF2B5EF4-FFF2-40B4-BE49-F238E27FC236}">
                <a16:creationId xmlns:a16="http://schemas.microsoft.com/office/drawing/2014/main" id="{00ED45D0-2646-413F-AE6D-82E68AF9E5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7182" y="2061625"/>
            <a:ext cx="91440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8" name="Freeform 39">
            <a:extLst>
              <a:ext uri="{FF2B5EF4-FFF2-40B4-BE49-F238E27FC236}">
                <a16:creationId xmlns:a16="http://schemas.microsoft.com/office/drawing/2014/main" id="{DDEB8975-27AC-4389-AD60-EF1A92BA2611}"/>
              </a:ext>
            </a:extLst>
          </p:cNvPr>
          <p:cNvSpPr>
            <a:spLocks/>
          </p:cNvSpPr>
          <p:nvPr/>
        </p:nvSpPr>
        <p:spPr bwMode="auto">
          <a:xfrm>
            <a:off x="3606019" y="1328200"/>
            <a:ext cx="5791200" cy="1536700"/>
          </a:xfrm>
          <a:custGeom>
            <a:avLst/>
            <a:gdLst>
              <a:gd name="T0" fmla="*/ 0 w 3744"/>
              <a:gd name="T1" fmla="*/ 440 h 776"/>
              <a:gd name="T2" fmla="*/ 624 w 3744"/>
              <a:gd name="T3" fmla="*/ 200 h 776"/>
              <a:gd name="T4" fmla="*/ 1248 w 3744"/>
              <a:gd name="T5" fmla="*/ 56 h 776"/>
              <a:gd name="T6" fmla="*/ 1776 w 3744"/>
              <a:gd name="T7" fmla="*/ 8 h 776"/>
              <a:gd name="T8" fmla="*/ 2400 w 3744"/>
              <a:gd name="T9" fmla="*/ 104 h 776"/>
              <a:gd name="T10" fmla="*/ 3168 w 3744"/>
              <a:gd name="T11" fmla="*/ 392 h 776"/>
              <a:gd name="T12" fmla="*/ 3744 w 3744"/>
              <a:gd name="T13" fmla="*/ 776 h 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44" h="776">
                <a:moveTo>
                  <a:pt x="0" y="440"/>
                </a:moveTo>
                <a:cubicBezTo>
                  <a:pt x="208" y="352"/>
                  <a:pt x="416" y="264"/>
                  <a:pt x="624" y="200"/>
                </a:cubicBezTo>
                <a:cubicBezTo>
                  <a:pt x="832" y="136"/>
                  <a:pt x="1056" y="88"/>
                  <a:pt x="1248" y="56"/>
                </a:cubicBezTo>
                <a:cubicBezTo>
                  <a:pt x="1440" y="24"/>
                  <a:pt x="1584" y="0"/>
                  <a:pt x="1776" y="8"/>
                </a:cubicBezTo>
                <a:cubicBezTo>
                  <a:pt x="1968" y="16"/>
                  <a:pt x="2168" y="40"/>
                  <a:pt x="2400" y="104"/>
                </a:cubicBezTo>
                <a:cubicBezTo>
                  <a:pt x="2632" y="168"/>
                  <a:pt x="2944" y="280"/>
                  <a:pt x="3168" y="392"/>
                </a:cubicBezTo>
                <a:cubicBezTo>
                  <a:pt x="3392" y="504"/>
                  <a:pt x="3672" y="704"/>
                  <a:pt x="3744" y="776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51C65B2D-607B-436A-878A-C15FCF1D1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819" y="807500"/>
            <a:ext cx="2438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s-MX" altLang="es-CO" sz="2400" dirty="0" err="1">
                <a:solidFill>
                  <a:srgbClr val="000000"/>
                </a:solidFill>
              </a:rPr>
              <a:t>v</a:t>
            </a:r>
            <a:r>
              <a:rPr kumimoji="0" lang="es-MX" altLang="es-CO" sz="2400" baseline="-25000" dirty="0" err="1">
                <a:solidFill>
                  <a:srgbClr val="000000"/>
                </a:solidFill>
              </a:rPr>
              <a:t>y</a:t>
            </a:r>
            <a:r>
              <a:rPr kumimoji="0" lang="es-MX" altLang="es-CO" sz="2400" dirty="0">
                <a:solidFill>
                  <a:srgbClr val="000000"/>
                </a:solidFill>
              </a:rPr>
              <a:t>= 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80.0</a:t>
            </a:r>
            <a:r>
              <a:rPr kumimoji="0" lang="es-MX" altLang="es-CO" sz="2400" dirty="0">
                <a:solidFill>
                  <a:srgbClr val="000000"/>
                </a:solidFill>
              </a:rPr>
              <a:t> 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ft/s</a:t>
            </a:r>
            <a:r>
              <a:rPr kumimoji="0" lang="es-MX" altLang="es-CO" sz="2400" dirty="0">
                <a:solidFill>
                  <a:srgbClr val="000000"/>
                </a:solidFill>
              </a:rPr>
              <a:t> </a:t>
            </a:r>
            <a:endParaRPr kumimoji="0" lang="es-MX" altLang="es-CO" sz="2400" baseline="-25000" dirty="0">
              <a:solidFill>
                <a:srgbClr val="000000"/>
              </a:solidFill>
            </a:endParaRP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D7C2ABE4-E473-45E4-900F-4D872B7F0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819" y="15695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s-MX" altLang="es-CO" sz="2400" i="0" dirty="0">
                <a:solidFill>
                  <a:srgbClr val="000000"/>
                </a:solidFill>
              </a:rPr>
              <a:t>160 ft/s</a:t>
            </a:r>
            <a:endParaRPr kumimoji="0" lang="es-MX" altLang="es-CO" sz="2400" baseline="-25000" dirty="0">
              <a:solidFill>
                <a:srgbClr val="000000"/>
              </a:solidFill>
            </a:endParaRPr>
          </a:p>
        </p:txBody>
      </p:sp>
      <p:sp>
        <p:nvSpPr>
          <p:cNvPr id="11" name="Oval 42">
            <a:extLst>
              <a:ext uri="{FF2B5EF4-FFF2-40B4-BE49-F238E27FC236}">
                <a16:creationId xmlns:a16="http://schemas.microsoft.com/office/drawing/2014/main" id="{FA34F80F-F174-4E97-BF6D-CB99F0C20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3369" y="1340900"/>
            <a:ext cx="228600" cy="228600"/>
          </a:xfrm>
          <a:prstGeom prst="ellipse">
            <a:avLst/>
          </a:prstGeom>
          <a:solidFill>
            <a:srgbClr val="FF0066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12" name="Oval 43">
            <a:extLst>
              <a:ext uri="{FF2B5EF4-FFF2-40B4-BE49-F238E27FC236}">
                <a16:creationId xmlns:a16="http://schemas.microsoft.com/office/drawing/2014/main" id="{A618200F-5855-4383-B9EF-29CE823AB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819" y="2599788"/>
            <a:ext cx="228600" cy="228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3" name="Oval 44">
            <a:extLst>
              <a:ext uri="{FF2B5EF4-FFF2-40B4-BE49-F238E27FC236}">
                <a16:creationId xmlns:a16="http://schemas.microsoft.com/office/drawing/2014/main" id="{7D3EC8EF-CC47-49FC-9407-E772F14F4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469" y="2596613"/>
            <a:ext cx="228600" cy="228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4" name="Text Box 45">
            <a:extLst>
              <a:ext uri="{FF2B5EF4-FFF2-40B4-BE49-F238E27FC236}">
                <a16:creationId xmlns:a16="http://schemas.microsoft.com/office/drawing/2014/main" id="{BEDCC7DC-4DE8-4782-9703-A6DB435D8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1419" y="2483900"/>
            <a:ext cx="4572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MX" altLang="es-CO">
              <a:solidFill>
                <a:srgbClr val="000000"/>
              </a:solidFill>
              <a:latin typeface="Symbol" panose="05050102010706020507" pitchFamily="18" charset="2"/>
            </a:endParaRPr>
          </a:p>
        </p:txBody>
      </p:sp>
      <p:sp>
        <p:nvSpPr>
          <p:cNvPr id="15" name="Text Box 46">
            <a:extLst>
              <a:ext uri="{FF2B5EF4-FFF2-40B4-BE49-F238E27FC236}">
                <a16:creationId xmlns:a16="http://schemas.microsoft.com/office/drawing/2014/main" id="{4B316C83-C2B4-4B24-9C95-33A9E7776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994" y="2345787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</a:p>
        </p:txBody>
      </p:sp>
      <p:sp>
        <p:nvSpPr>
          <p:cNvPr id="16" name="Oval 47">
            <a:extLst>
              <a:ext uri="{FF2B5EF4-FFF2-40B4-BE49-F238E27FC236}">
                <a16:creationId xmlns:a16="http://schemas.microsoft.com/office/drawing/2014/main" id="{C0B0E868-6645-4FD7-B0DD-4A535290C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907" y="2580738"/>
            <a:ext cx="228600" cy="228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7" name="Oval 48">
            <a:extLst>
              <a:ext uri="{FF2B5EF4-FFF2-40B4-BE49-F238E27FC236}">
                <a16:creationId xmlns:a16="http://schemas.microsoft.com/office/drawing/2014/main" id="{FA0D3DFE-B54D-42C7-885C-CF43ED1E6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644" y="2596613"/>
            <a:ext cx="228600" cy="228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8" name="Line 49">
            <a:extLst>
              <a:ext uri="{FF2B5EF4-FFF2-40B4-BE49-F238E27FC236}">
                <a16:creationId xmlns:a16="http://schemas.microsoft.com/office/drawing/2014/main" id="{3DA36279-68FE-4A52-9CB8-E6FA7C7629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8619" y="1112300"/>
            <a:ext cx="0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19" name="Oval 50">
            <a:extLst>
              <a:ext uri="{FF2B5EF4-FFF2-40B4-BE49-F238E27FC236}">
                <a16:creationId xmlns:a16="http://schemas.microsoft.com/office/drawing/2014/main" id="{EBC5D664-5517-4194-9501-4E101FB7A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819" y="1874300"/>
            <a:ext cx="228600" cy="228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20" name="Oval 51">
            <a:extLst>
              <a:ext uri="{FF2B5EF4-FFF2-40B4-BE49-F238E27FC236}">
                <a16:creationId xmlns:a16="http://schemas.microsoft.com/office/drawing/2014/main" id="{C01640EA-D34E-43F0-AD4C-68FB166FC21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178019" y="1874300"/>
            <a:ext cx="228600" cy="228600"/>
          </a:xfrm>
          <a:prstGeom prst="ellipse">
            <a:avLst/>
          </a:prstGeom>
          <a:solidFill>
            <a:srgbClr val="FF0066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21" name="Oval 52">
            <a:extLst>
              <a:ext uri="{FF2B5EF4-FFF2-40B4-BE49-F238E27FC236}">
                <a16:creationId xmlns:a16="http://schemas.microsoft.com/office/drawing/2014/main" id="{B07A8CE9-E365-410A-9A6C-951B82BDB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6419" y="1340900"/>
            <a:ext cx="228600" cy="228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22" name="Text Box 53">
            <a:extLst>
              <a:ext uri="{FF2B5EF4-FFF2-40B4-BE49-F238E27FC236}">
                <a16:creationId xmlns:a16="http://schemas.microsoft.com/office/drawing/2014/main" id="{66DACB2B-78C7-49B3-A6B5-F25B79236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9219" y="2788700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i="0">
                <a:solidFill>
                  <a:srgbClr val="000000"/>
                </a:solidFill>
              </a:rPr>
              <a:t>0 s</a:t>
            </a:r>
          </a:p>
        </p:txBody>
      </p:sp>
      <p:sp>
        <p:nvSpPr>
          <p:cNvPr id="23" name="Text Box 54">
            <a:extLst>
              <a:ext uri="{FF2B5EF4-FFF2-40B4-BE49-F238E27FC236}">
                <a16:creationId xmlns:a16="http://schemas.microsoft.com/office/drawing/2014/main" id="{F16F94D0-D23B-4E00-8DF2-E23C91F8F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4019" y="2788700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i="0">
                <a:solidFill>
                  <a:srgbClr val="000000"/>
                </a:solidFill>
              </a:rPr>
              <a:t>3 s</a:t>
            </a:r>
          </a:p>
        </p:txBody>
      </p:sp>
      <p:sp>
        <p:nvSpPr>
          <p:cNvPr id="24" name="Text Box 55">
            <a:extLst>
              <a:ext uri="{FF2B5EF4-FFF2-40B4-BE49-F238E27FC236}">
                <a16:creationId xmlns:a16="http://schemas.microsoft.com/office/drawing/2014/main" id="{0BC5E166-3B0E-4DE2-B0FC-97A79C503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819" y="2788700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i="0">
                <a:solidFill>
                  <a:srgbClr val="000000"/>
                </a:solidFill>
              </a:rPr>
              <a:t>2 s</a:t>
            </a:r>
          </a:p>
        </p:txBody>
      </p:sp>
      <p:sp>
        <p:nvSpPr>
          <p:cNvPr id="25" name="Text Box 56">
            <a:extLst>
              <a:ext uri="{FF2B5EF4-FFF2-40B4-BE49-F238E27FC236}">
                <a16:creationId xmlns:a16="http://schemas.microsoft.com/office/drawing/2014/main" id="{8E1FA461-D4E7-49CD-8DAE-344F485C6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219" y="2788700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i="0">
                <a:solidFill>
                  <a:srgbClr val="000000"/>
                </a:solidFill>
              </a:rPr>
              <a:t>1 s</a:t>
            </a:r>
          </a:p>
        </p:txBody>
      </p:sp>
      <p:sp>
        <p:nvSpPr>
          <p:cNvPr id="26" name="Text Box 57">
            <a:extLst>
              <a:ext uri="{FF2B5EF4-FFF2-40B4-BE49-F238E27FC236}">
                <a16:creationId xmlns:a16="http://schemas.microsoft.com/office/drawing/2014/main" id="{5E70562F-FB15-4FAE-A3F0-2B9484617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9419" y="2788700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i="0">
                <a:solidFill>
                  <a:srgbClr val="000000"/>
                </a:solidFill>
              </a:rPr>
              <a:t>4 s</a:t>
            </a:r>
          </a:p>
        </p:txBody>
      </p:sp>
      <p:sp>
        <p:nvSpPr>
          <p:cNvPr id="27" name="Line 58">
            <a:extLst>
              <a:ext uri="{FF2B5EF4-FFF2-40B4-BE49-F238E27FC236}">
                <a16:creationId xmlns:a16="http://schemas.microsoft.com/office/drawing/2014/main" id="{CE1E13BA-DD02-414A-AFE2-B973B97D9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7819" y="2712500"/>
            <a:ext cx="685800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28" name="Line 59">
            <a:extLst>
              <a:ext uri="{FF2B5EF4-FFF2-40B4-BE49-F238E27FC236}">
                <a16:creationId xmlns:a16="http://schemas.microsoft.com/office/drawing/2014/main" id="{2FA747C9-4C97-46BD-B752-502079E99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0732" y="2009238"/>
            <a:ext cx="0" cy="5302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29" name="Text Box 60">
            <a:extLst>
              <a:ext uri="{FF2B5EF4-FFF2-40B4-BE49-F238E27FC236}">
                <a16:creationId xmlns:a16="http://schemas.microsoft.com/office/drawing/2014/main" id="{3A9B16CE-BEF6-4B9A-AB59-B9E71BB4F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4719" y="902105"/>
            <a:ext cx="2590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s-MX" altLang="es-CO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kumimoji="0" lang="es-MX" altLang="es-CO" sz="2400" dirty="0">
                <a:solidFill>
                  <a:srgbClr val="000000"/>
                </a:solidFill>
              </a:rPr>
              <a:t> = -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32</a:t>
            </a:r>
            <a:r>
              <a:rPr kumimoji="0" lang="es-MX" altLang="es-CO" sz="2400" dirty="0">
                <a:solidFill>
                  <a:srgbClr val="000000"/>
                </a:solidFill>
              </a:rPr>
              <a:t> 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ft/s</a:t>
            </a:r>
            <a:r>
              <a:rPr kumimoji="0" lang="es-MX" altLang="es-CO" sz="2400" i="0" baseline="30000" dirty="0">
                <a:solidFill>
                  <a:srgbClr val="000000"/>
                </a:solidFill>
              </a:rPr>
              <a:t>2</a:t>
            </a:r>
            <a:r>
              <a:rPr kumimoji="0" lang="es-MX" altLang="es-CO" sz="2400" dirty="0">
                <a:solidFill>
                  <a:srgbClr val="000000"/>
                </a:solidFill>
              </a:rPr>
              <a:t> </a:t>
            </a:r>
            <a:endParaRPr kumimoji="0" lang="es-MX" altLang="es-CO" sz="2400" baseline="-25000" dirty="0">
              <a:solidFill>
                <a:srgbClr val="000000"/>
              </a:solidFill>
            </a:endParaRPr>
          </a:p>
        </p:txBody>
      </p:sp>
      <p:sp>
        <p:nvSpPr>
          <p:cNvPr id="30" name="Line 61">
            <a:extLst>
              <a:ext uri="{FF2B5EF4-FFF2-40B4-BE49-F238E27FC236}">
                <a16:creationId xmlns:a16="http://schemas.microsoft.com/office/drawing/2014/main" id="{43698E99-DFC8-467E-BF7B-B64582D722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1619" y="20267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1" name="Line 62">
            <a:extLst>
              <a:ext uri="{FF2B5EF4-FFF2-40B4-BE49-F238E27FC236}">
                <a16:creationId xmlns:a16="http://schemas.microsoft.com/office/drawing/2014/main" id="{0A167E12-F59F-408B-8451-F886587941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6369" y="1269165"/>
            <a:ext cx="95250" cy="68133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s-CO"/>
          </a:p>
        </p:txBody>
      </p:sp>
      <p:sp>
        <p:nvSpPr>
          <p:cNvPr id="32" name="Text Box 63">
            <a:extLst>
              <a:ext uri="{FF2B5EF4-FFF2-40B4-BE49-F238E27FC236}">
                <a16:creationId xmlns:a16="http://schemas.microsoft.com/office/drawing/2014/main" id="{1A4382EE-DEC3-41FD-A881-20A7EFA1F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819" y="807500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baseline="-25000" dirty="0">
                <a:solidFill>
                  <a:srgbClr val="000000"/>
                </a:solidFill>
              </a:rPr>
              <a:t>2</a:t>
            </a:r>
            <a:endParaRPr lang="es-MX" altLang="es-CO" sz="2400" dirty="0">
              <a:solidFill>
                <a:srgbClr val="000000"/>
              </a:solidFill>
            </a:endParaRPr>
          </a:p>
        </p:txBody>
      </p:sp>
      <p:sp>
        <p:nvSpPr>
          <p:cNvPr id="33" name="Text Box 64">
            <a:extLst>
              <a:ext uri="{FF2B5EF4-FFF2-40B4-BE49-F238E27FC236}">
                <a16:creationId xmlns:a16="http://schemas.microsoft.com/office/drawing/2014/main" id="{4B855E2F-00E0-4FB2-A56A-85360B9CE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698" y="2026700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baseline="-25000" dirty="0">
                <a:solidFill>
                  <a:srgbClr val="000000"/>
                </a:solidFill>
              </a:rPr>
              <a:t>4</a:t>
            </a:r>
            <a:endParaRPr lang="es-MX" altLang="es-CO" sz="2400" dirty="0">
              <a:solidFill>
                <a:srgbClr val="000000"/>
              </a:solidFill>
            </a:endParaRPr>
          </a:p>
        </p:txBody>
      </p:sp>
      <p:sp>
        <p:nvSpPr>
          <p:cNvPr id="34" name="Text Box 65">
            <a:extLst>
              <a:ext uri="{FF2B5EF4-FFF2-40B4-BE49-F238E27FC236}">
                <a16:creationId xmlns:a16="http://schemas.microsoft.com/office/drawing/2014/main" id="{55575E02-490B-44E7-839A-D9B62C61B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277" y="3852203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/>
              <a:t>En cualquier tiempo t:</a:t>
            </a:r>
          </a:p>
        </p:txBody>
      </p:sp>
      <p:graphicFrame>
        <p:nvGraphicFramePr>
          <p:cNvPr id="35" name="Object 66">
            <a:extLst>
              <a:ext uri="{FF2B5EF4-FFF2-40B4-BE49-F238E27FC236}">
                <a16:creationId xmlns:a16="http://schemas.microsoft.com/office/drawing/2014/main" id="{59ABB95B-D318-4264-A2DF-8DD41D4604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598518"/>
              </p:ext>
            </p:extLst>
          </p:nvPr>
        </p:nvGraphicFramePr>
        <p:xfrm>
          <a:off x="7071947" y="3837095"/>
          <a:ext cx="33924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68200" imgH="241200" progId="Equation.DSMT4">
                  <p:embed/>
                </p:oleObj>
              </mc:Choice>
              <mc:Fallback>
                <p:oleObj name="Equation" r:id="rId5" imgW="1168200" imgH="241200" progId="Equation.DSMT4">
                  <p:embed/>
                  <p:pic>
                    <p:nvPicPr>
                      <p:cNvPr id="514114" name="Object 66">
                        <a:extLst>
                          <a:ext uri="{FF2B5EF4-FFF2-40B4-BE49-F238E27FC236}">
                            <a16:creationId xmlns:a16="http://schemas.microsoft.com/office/drawing/2014/main" id="{E027F0E9-FA30-4C6B-BA0F-13FA9B77DA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1947" y="3837095"/>
                        <a:ext cx="3392488" cy="7016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67">
            <a:extLst>
              <a:ext uri="{FF2B5EF4-FFF2-40B4-BE49-F238E27FC236}">
                <a16:creationId xmlns:a16="http://schemas.microsoft.com/office/drawing/2014/main" id="{2FE35747-4D73-4D81-85B5-A438DBAC89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658256"/>
              </p:ext>
            </p:extLst>
          </p:nvPr>
        </p:nvGraphicFramePr>
        <p:xfrm>
          <a:off x="4395006" y="3889852"/>
          <a:ext cx="22590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0" imgH="228600" progId="Equation.DSMT4">
                  <p:embed/>
                </p:oleObj>
              </mc:Choice>
              <mc:Fallback>
                <p:oleObj name="Equation" r:id="rId7" imgW="774360" imgH="228600" progId="Equation.DSMT4">
                  <p:embed/>
                  <p:pic>
                    <p:nvPicPr>
                      <p:cNvPr id="514115" name="Object 67">
                        <a:extLst>
                          <a:ext uri="{FF2B5EF4-FFF2-40B4-BE49-F238E27FC236}">
                            <a16:creationId xmlns:a16="http://schemas.microsoft.com/office/drawing/2014/main" id="{784D1537-1D30-4AB2-91E3-3EA6C30801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006" y="3889852"/>
                        <a:ext cx="2259013" cy="6667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8">
            <a:extLst>
              <a:ext uri="{FF2B5EF4-FFF2-40B4-BE49-F238E27FC236}">
                <a16:creationId xmlns:a16="http://schemas.microsoft.com/office/drawing/2014/main" id="{BBA2F16E-0AB4-4396-AE2D-776428EE9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906225"/>
              </p:ext>
            </p:extLst>
          </p:nvPr>
        </p:nvGraphicFramePr>
        <p:xfrm>
          <a:off x="2579077" y="5071403"/>
          <a:ext cx="46831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2800" imgH="241200" progId="Equation.DSMT4">
                  <p:embed/>
                </p:oleObj>
              </mc:Choice>
              <mc:Fallback>
                <p:oleObj name="Equation" r:id="rId9" imgW="1612800" imgH="241200" progId="Equation.DSMT4">
                  <p:embed/>
                  <p:pic>
                    <p:nvPicPr>
                      <p:cNvPr id="514116" name="Object 68">
                        <a:extLst>
                          <a:ext uri="{FF2B5EF4-FFF2-40B4-BE49-F238E27FC236}">
                            <a16:creationId xmlns:a16="http://schemas.microsoft.com/office/drawing/2014/main" id="{4EB1B277-2318-4258-B33F-D86BC1A0E0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077" y="5071403"/>
                        <a:ext cx="4683125" cy="70167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69">
            <a:extLst>
              <a:ext uri="{FF2B5EF4-FFF2-40B4-BE49-F238E27FC236}">
                <a16:creationId xmlns:a16="http://schemas.microsoft.com/office/drawing/2014/main" id="{687EDDFD-F054-4DC1-B8EA-82D0990322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765788"/>
              </p:ext>
            </p:extLst>
          </p:nvPr>
        </p:nvGraphicFramePr>
        <p:xfrm>
          <a:off x="2579077" y="5833403"/>
          <a:ext cx="46831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12800" imgH="241200" progId="Equation.DSMT4">
                  <p:embed/>
                </p:oleObj>
              </mc:Choice>
              <mc:Fallback>
                <p:oleObj name="Equation" r:id="rId11" imgW="1612800" imgH="241200" progId="Equation.DSMT4">
                  <p:embed/>
                  <p:pic>
                    <p:nvPicPr>
                      <p:cNvPr id="514117" name="Object 69">
                        <a:extLst>
                          <a:ext uri="{FF2B5EF4-FFF2-40B4-BE49-F238E27FC236}">
                            <a16:creationId xmlns:a16="http://schemas.microsoft.com/office/drawing/2014/main" id="{4E3761B1-BAA6-4E7F-A5B7-CE7881E74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077" y="5833403"/>
                        <a:ext cx="4683125" cy="70167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83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nimBg="1" autoUpdateAnimBg="0"/>
      <p:bldP spid="4" grpId="0" autoUpdateAnimBg="0"/>
      <p:bldP spid="3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277B6-6569-1974-E6E5-83523F10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5030A41C-F65E-4D0B-B878-A70A57F49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375" y="4800600"/>
            <a:ext cx="7543800" cy="553998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137160">
            <a:spAutoFit/>
          </a:bodyPr>
          <a:lstStyle/>
          <a:p>
            <a:pPr algn="l"/>
            <a:r>
              <a:rPr lang="es-MX" altLang="es-CO" sz="2400" i="0">
                <a:solidFill>
                  <a:srgbClr val="000000"/>
                </a:solidFill>
              </a:rPr>
              <a:t>A 2 s</a:t>
            </a:r>
            <a:r>
              <a:rPr lang="es-MX" altLang="es-CO" sz="2400">
                <a:solidFill>
                  <a:srgbClr val="000000"/>
                </a:solidFill>
              </a:rPr>
              <a:t>:  v</a:t>
            </a:r>
            <a:r>
              <a:rPr lang="es-MX" altLang="es-CO" sz="2400" baseline="-25000">
                <a:solidFill>
                  <a:srgbClr val="000000"/>
                </a:solidFill>
              </a:rPr>
              <a:t>2x</a:t>
            </a:r>
            <a:r>
              <a:rPr lang="es-MX" altLang="es-CO" sz="2400">
                <a:solidFill>
                  <a:srgbClr val="000000"/>
                </a:solidFill>
              </a:rPr>
              <a:t> = </a:t>
            </a:r>
            <a:r>
              <a:rPr lang="es-MX" altLang="es-CO" sz="2400" i="0">
                <a:solidFill>
                  <a:srgbClr val="000000"/>
                </a:solidFill>
              </a:rPr>
              <a:t>139 ft/s; </a:t>
            </a:r>
            <a:r>
              <a:rPr lang="es-MX" altLang="es-CO" sz="2400">
                <a:solidFill>
                  <a:srgbClr val="000000"/>
                </a:solidFill>
              </a:rPr>
              <a:t> v</a:t>
            </a:r>
            <a:r>
              <a:rPr lang="es-MX" altLang="es-CO" sz="2400" i="0" baseline="-25000">
                <a:solidFill>
                  <a:srgbClr val="000000"/>
                </a:solidFill>
              </a:rPr>
              <a:t>2y</a:t>
            </a:r>
            <a:r>
              <a:rPr lang="es-MX" altLang="es-CO" sz="2400" i="0">
                <a:solidFill>
                  <a:srgbClr val="000000"/>
                </a:solidFill>
              </a:rPr>
              <a:t> = + 16.0 ft/s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3CF6202-E6BF-46A6-A494-DB072CBE0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5575" y="0"/>
            <a:ext cx="7315200" cy="1143000"/>
          </a:xfrm>
        </p:spPr>
        <p:txBody>
          <a:bodyPr>
            <a:normAutofit/>
          </a:bodyPr>
          <a:lstStyle/>
          <a:p>
            <a:pPr algn="ctr"/>
            <a:r>
              <a:rPr lang="es-MX" altLang="es-CO" sz="2800" dirty="0"/>
              <a:t>Ejemplo: (continuación)</a:t>
            </a:r>
          </a:p>
        </p:txBody>
      </p:sp>
      <p:grpSp>
        <p:nvGrpSpPr>
          <p:cNvPr id="4" name="Group 46">
            <a:extLst>
              <a:ext uri="{FF2B5EF4-FFF2-40B4-BE49-F238E27FC236}">
                <a16:creationId xmlns:a16="http://schemas.microsoft.com/office/drawing/2014/main" id="{F092AD73-927D-43A7-895F-9A0A6C2EE193}"/>
              </a:ext>
            </a:extLst>
          </p:cNvPr>
          <p:cNvGrpSpPr>
            <a:grpSpLocks/>
          </p:cNvGrpSpPr>
          <p:nvPr/>
        </p:nvGrpSpPr>
        <p:grpSpPr bwMode="auto">
          <a:xfrm>
            <a:off x="2786575" y="1011238"/>
            <a:ext cx="8801100" cy="2646363"/>
            <a:chOff x="432" y="637"/>
            <a:chExt cx="5544" cy="1667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DC0470C-A8E1-442F-912E-EA662CA86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637"/>
              <a:ext cx="5088" cy="1667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84D3E5CC-9390-41F4-834B-A34B3B367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776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CAD50DB0-B33A-4316-8CC7-E14E3E6B1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5" y="1462"/>
              <a:ext cx="576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990B3F8-6BC1-4721-B3A7-DE7A69066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000"/>
              <a:ext cx="3648" cy="968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FA52EDEA-7E0A-455D-A9B7-51D35BC25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672"/>
              <a:ext cx="15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 err="1">
                  <a:solidFill>
                    <a:srgbClr val="000000"/>
                  </a:solidFill>
                </a:rPr>
                <a:t>y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=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80.0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ft/s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AF8A79F9-E8E0-451B-8B9D-DA5A2A059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152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i="0">
                  <a:solidFill>
                    <a:srgbClr val="000000"/>
                  </a:solidFill>
                </a:rPr>
                <a:t>160 ft/s</a:t>
              </a:r>
              <a:endParaRPr kumimoji="0" lang="es-MX" altLang="es-CO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FC839958-C130-4548-88A8-7DD08BCBB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1008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11BEDDF5-B167-48CA-8119-CC63A2BF4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01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7FFD6617-0FD3-4BC5-8FF2-E51194E8C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1799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C9426404-3DB3-4F99-BFF4-39DD99EA8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728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MX" altLang="es-CO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7AE7488C-2260-42AE-A922-2AC941548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" y="163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2FF6127F-2812-450B-A544-3F1589F15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1789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737F539B-E6CA-4196-8ECC-78E828DA3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" y="1799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A2095D86-9848-4E73-B446-3931026233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851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20B918D4-E285-4776-A0F4-7130B706E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344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Oval 20">
              <a:extLst>
                <a:ext uri="{FF2B5EF4-FFF2-40B4-BE49-F238E27FC236}">
                  <a16:creationId xmlns:a16="http://schemas.microsoft.com/office/drawing/2014/main" id="{3F9A8DA5-3F8C-43EF-8E59-ED555AAFDB3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416" y="1344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7930F7E7-9849-4A6E-8493-5190EA2B92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92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0 s</a:t>
              </a: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22561E16-4B54-449B-BBD8-9D2FE23FC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92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3 s</a:t>
              </a: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E1A86303-CAC1-4B26-A4F7-18E4326E2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92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2 s</a:t>
              </a:r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6CF9CE50-DF04-4916-8D41-C7FA636C7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92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1 s</a:t>
              </a:r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213494F9-AD95-4CF4-80BC-5C337EDD3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92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4 s</a:t>
              </a:r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494CB3DF-F3E5-479B-B892-CB2849483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872"/>
              <a:ext cx="43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6D9C8E6E-B91E-479B-A317-D01F68C98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7" y="1429"/>
              <a:ext cx="0" cy="3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1E5A2453-85F0-4612-9172-3C6CF6ADF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4" y="686"/>
              <a:ext cx="16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=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-32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ft/s</a:t>
              </a:r>
              <a:r>
                <a:rPr kumimoji="0" lang="es-MX" altLang="es-CO" sz="2400" i="0" baseline="30000" dirty="0">
                  <a:solidFill>
                    <a:srgbClr val="000000"/>
                  </a:solidFill>
                </a:rPr>
                <a:t>2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D3501433-BE06-4707-8A55-C078247596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1440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B9A04E14-191B-449C-A939-5476C43C9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" y="963"/>
              <a:ext cx="253" cy="42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A2740A7B-8C2E-48D4-8F59-9885D8D9E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672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>
                  <a:solidFill>
                    <a:srgbClr val="000000"/>
                  </a:solidFill>
                </a:rPr>
                <a:t>v</a:t>
              </a:r>
              <a:r>
                <a:rPr lang="es-MX" altLang="es-CO" baseline="-25000">
                  <a:solidFill>
                    <a:srgbClr val="000000"/>
                  </a:solidFill>
                </a:rPr>
                <a:t>2</a:t>
              </a:r>
              <a:endParaRPr lang="es-MX" altLang="es-CO">
                <a:solidFill>
                  <a:srgbClr val="000000"/>
                </a:solidFill>
              </a:endParaRPr>
            </a:p>
          </p:txBody>
        </p:sp>
        <p:sp>
          <p:nvSpPr>
            <p:cNvPr id="32" name="Text Box 33">
              <a:extLst>
                <a:ext uri="{FF2B5EF4-FFF2-40B4-BE49-F238E27FC236}">
                  <a16:creationId xmlns:a16="http://schemas.microsoft.com/office/drawing/2014/main" id="{92EDB98B-1844-44C0-BC49-A597829B9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44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>
                  <a:solidFill>
                    <a:srgbClr val="000000"/>
                  </a:solidFill>
                </a:rPr>
                <a:t>v</a:t>
              </a:r>
              <a:r>
                <a:rPr lang="es-MX" altLang="es-CO" baseline="-25000">
                  <a:solidFill>
                    <a:srgbClr val="000000"/>
                  </a:solidFill>
                </a:rPr>
                <a:t>4</a:t>
              </a:r>
              <a:endParaRPr lang="es-MX" altLang="es-CO">
                <a:solidFill>
                  <a:srgbClr val="000000"/>
                </a:solidFill>
              </a:endParaRPr>
            </a:p>
          </p:txBody>
        </p:sp>
      </p:grpSp>
      <p:sp>
        <p:nvSpPr>
          <p:cNvPr id="33" name="Text Box 39">
            <a:extLst>
              <a:ext uri="{FF2B5EF4-FFF2-40B4-BE49-F238E27FC236}">
                <a16:creationId xmlns:a16="http://schemas.microsoft.com/office/drawing/2014/main" id="{F75DCDB2-E2A6-41AC-A9E3-9C375F1CC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586" y="2175301"/>
            <a:ext cx="32750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Se mueve arriba </a:t>
            </a:r>
            <a:r>
              <a:rPr lang="es-MX" altLang="es-CO" sz="2400" i="0" dirty="0">
                <a:solidFill>
                  <a:srgbClr val="000000"/>
                </a:solidFill>
              </a:rPr>
              <a:t>+16</a:t>
            </a:r>
            <a:r>
              <a:rPr lang="es-MX" altLang="es-CO" sz="2400" dirty="0">
                <a:solidFill>
                  <a:srgbClr val="000000"/>
                </a:solidFill>
              </a:rPr>
              <a:t> </a:t>
            </a:r>
            <a:r>
              <a:rPr lang="es-MX" altLang="es-CO" sz="2400" i="0" dirty="0">
                <a:solidFill>
                  <a:srgbClr val="000000"/>
                </a:solidFill>
              </a:rPr>
              <a:t>ft/s</a:t>
            </a:r>
          </a:p>
        </p:txBody>
      </p:sp>
      <p:sp>
        <p:nvSpPr>
          <p:cNvPr id="34" name="Oval 21">
            <a:extLst>
              <a:ext uri="{FF2B5EF4-FFF2-40B4-BE49-F238E27FC236}">
                <a16:creationId xmlns:a16="http://schemas.microsoft.com/office/drawing/2014/main" id="{6A57758F-2D94-4FCF-9460-9640DBD36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975" y="1447800"/>
            <a:ext cx="228600" cy="228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5" name="Text Box 40">
            <a:extLst>
              <a:ext uri="{FF2B5EF4-FFF2-40B4-BE49-F238E27FC236}">
                <a16:creationId xmlns:a16="http://schemas.microsoft.com/office/drawing/2014/main" id="{B1B10C4E-FAFF-4493-B5B0-C58DA55D0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043" y="1708359"/>
            <a:ext cx="34123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Se mueve abajo </a:t>
            </a:r>
            <a:r>
              <a:rPr lang="es-MX" altLang="es-CO" sz="2400" i="0" dirty="0">
                <a:solidFill>
                  <a:srgbClr val="000000"/>
                </a:solidFill>
              </a:rPr>
              <a:t>-48 ft/s</a:t>
            </a:r>
          </a:p>
        </p:txBody>
      </p:sp>
      <p:sp>
        <p:nvSpPr>
          <p:cNvPr id="36" name="Line 41">
            <a:extLst>
              <a:ext uri="{FF2B5EF4-FFF2-40B4-BE49-F238E27FC236}">
                <a16:creationId xmlns:a16="http://schemas.microsoft.com/office/drawing/2014/main" id="{0EA0707E-622C-42F3-ACA5-339C34B341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4313" y="2105270"/>
            <a:ext cx="30480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37" name="Text Box 42">
            <a:extLst>
              <a:ext uri="{FF2B5EF4-FFF2-40B4-BE49-F238E27FC236}">
                <a16:creationId xmlns:a16="http://schemas.microsoft.com/office/drawing/2014/main" id="{2EFB9224-FCC3-4363-948F-883158C5F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39" y="3916363"/>
            <a:ext cx="110290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s-MX" altLang="es-CO" sz="2400" i="0" dirty="0"/>
              <a:t>Los signos de</a:t>
            </a:r>
            <a:r>
              <a:rPr lang="es-MX" altLang="es-CO" sz="2400" dirty="0"/>
              <a:t> </a:t>
            </a:r>
            <a:r>
              <a:rPr lang="es-MX" altLang="es-CO" sz="2400" dirty="0" err="1"/>
              <a:t>v</a:t>
            </a:r>
            <a:r>
              <a:rPr lang="es-MX" altLang="es-CO" sz="2400" baseline="-25000" dirty="0" err="1"/>
              <a:t>y</a:t>
            </a:r>
            <a:r>
              <a:rPr lang="es-MX" altLang="es-CO" sz="2400" i="0" dirty="0"/>
              <a:t> indican si el movimiento es arriba (+) o abajo (-) en cualquier tiempo </a:t>
            </a:r>
            <a:r>
              <a:rPr lang="es-MX" altLang="es-CO" sz="2400" dirty="0"/>
              <a:t>t.</a:t>
            </a:r>
          </a:p>
        </p:txBody>
      </p:sp>
      <p:sp>
        <p:nvSpPr>
          <p:cNvPr id="38" name="Text Box 44">
            <a:extLst>
              <a:ext uri="{FF2B5EF4-FFF2-40B4-BE49-F238E27FC236}">
                <a16:creationId xmlns:a16="http://schemas.microsoft.com/office/drawing/2014/main" id="{FDBE8956-41D2-416F-AC5C-5C1582DFC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375" y="5715000"/>
            <a:ext cx="7543800" cy="600164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182880">
            <a:spAutoFit/>
          </a:bodyPr>
          <a:lstStyle/>
          <a:p>
            <a:pPr algn="l"/>
            <a:r>
              <a:rPr lang="es-MX" altLang="es-CO" sz="2400" i="0" dirty="0">
                <a:solidFill>
                  <a:srgbClr val="000000"/>
                </a:solidFill>
              </a:rPr>
              <a:t>A</a:t>
            </a:r>
            <a:r>
              <a:rPr lang="es-MX" altLang="es-CO" sz="2400" dirty="0">
                <a:solidFill>
                  <a:srgbClr val="000000"/>
                </a:solidFill>
              </a:rPr>
              <a:t> </a:t>
            </a:r>
            <a:r>
              <a:rPr lang="es-MX" altLang="es-CO" sz="2400" i="0" dirty="0">
                <a:solidFill>
                  <a:srgbClr val="000000"/>
                </a:solidFill>
              </a:rPr>
              <a:t>4 s</a:t>
            </a:r>
            <a:r>
              <a:rPr lang="es-MX" altLang="es-CO" sz="2400" dirty="0">
                <a:solidFill>
                  <a:srgbClr val="000000"/>
                </a:solidFill>
              </a:rPr>
              <a:t>:  v</a:t>
            </a:r>
            <a:r>
              <a:rPr lang="es-MX" altLang="es-CO" sz="2400" baseline="-25000" dirty="0">
                <a:solidFill>
                  <a:srgbClr val="000000"/>
                </a:solidFill>
              </a:rPr>
              <a:t>4x</a:t>
            </a:r>
            <a:r>
              <a:rPr lang="es-MX" altLang="es-CO" sz="2400" dirty="0">
                <a:solidFill>
                  <a:srgbClr val="000000"/>
                </a:solidFill>
              </a:rPr>
              <a:t> = </a:t>
            </a:r>
            <a:r>
              <a:rPr lang="es-MX" altLang="es-CO" sz="2400" i="0" dirty="0">
                <a:solidFill>
                  <a:srgbClr val="000000"/>
                </a:solidFill>
              </a:rPr>
              <a:t>139 ft/s; </a:t>
            </a:r>
            <a:r>
              <a:rPr lang="es-MX" altLang="es-CO" sz="2400" dirty="0">
                <a:solidFill>
                  <a:srgbClr val="000000"/>
                </a:solidFill>
              </a:rPr>
              <a:t> v</a:t>
            </a:r>
            <a:r>
              <a:rPr lang="es-MX" altLang="es-CO" sz="2400" i="0" baseline="-25000" dirty="0">
                <a:solidFill>
                  <a:srgbClr val="000000"/>
                </a:solidFill>
              </a:rPr>
              <a:t>4y</a:t>
            </a:r>
            <a:r>
              <a:rPr lang="es-MX" altLang="es-CO" sz="2400" i="0" dirty="0">
                <a:solidFill>
                  <a:srgbClr val="000000"/>
                </a:solidFill>
              </a:rPr>
              <a:t> = - 48.0 ft/s</a:t>
            </a:r>
          </a:p>
        </p:txBody>
      </p:sp>
      <p:sp>
        <p:nvSpPr>
          <p:cNvPr id="39" name="Line 47">
            <a:extLst>
              <a:ext uri="{FF2B5EF4-FFF2-40B4-BE49-F238E27FC236}">
                <a16:creationId xmlns:a16="http://schemas.microsoft.com/office/drawing/2014/main" id="{DF946187-877C-48F1-A256-5038741C2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663" y="1708359"/>
            <a:ext cx="838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40" name="Line 48">
            <a:extLst>
              <a:ext uri="{FF2B5EF4-FFF2-40B4-BE49-F238E27FC236}">
                <a16:creationId xmlns:a16="http://schemas.microsoft.com/office/drawing/2014/main" id="{D74B2803-FF1B-4D19-97D7-7AE062820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9317501" y="2209800"/>
            <a:ext cx="838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904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topia Maximi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utoUpdateAnimBg="0"/>
      <p:bldP spid="33" grpId="0" autoUpdateAnimBg="0"/>
      <p:bldP spid="35" grpId="0" autoUpdateAnimBg="0"/>
      <p:bldP spid="37" grpId="0" autoUpdateAnimBg="0"/>
      <p:bldP spid="3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394D7-0C7A-2CDF-4BC5-96450DCD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DFB4E9B-3BB7-CB8E-408A-7DC94EB76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843" y="123669"/>
            <a:ext cx="11617377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(Cont.):</a:t>
            </a:r>
            <a:r>
              <a:rPr lang="es-MX" altLang="es-CO" sz="2400" dirty="0"/>
              <a:t> El desplazamiento R</a:t>
            </a:r>
            <a:r>
              <a:rPr lang="es-MX" altLang="es-CO" sz="2400" baseline="-25000" dirty="0"/>
              <a:t>2</a:t>
            </a:r>
            <a:r>
              <a:rPr lang="es-MX" altLang="es-CO" sz="2400" dirty="0"/>
              <a:t>,</a:t>
            </a:r>
            <a:r>
              <a:rPr lang="es-MX" altLang="es-CO" sz="2400" dirty="0">
                <a:latin typeface="Symbol" panose="05050102010706020507" pitchFamily="18" charset="2"/>
              </a:rPr>
              <a:t>q</a:t>
            </a:r>
            <a:r>
              <a:rPr lang="es-MX" altLang="es-CO" sz="2400" dirty="0"/>
              <a:t> se encuentra a partir de los desplazamientos componentes x</a:t>
            </a:r>
            <a:r>
              <a:rPr lang="es-MX" altLang="es-CO" sz="2400" baseline="-25000" dirty="0"/>
              <a:t>2</a:t>
            </a:r>
            <a:r>
              <a:rPr lang="es-MX" altLang="es-CO" sz="2400" dirty="0"/>
              <a:t> y y</a:t>
            </a:r>
            <a:r>
              <a:rPr lang="es-MX" altLang="es-CO" sz="2400" baseline="-25000" dirty="0"/>
              <a:t>2</a:t>
            </a:r>
            <a:r>
              <a:rPr lang="es-MX" altLang="es-CO" sz="2400" dirty="0"/>
              <a:t>.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6137CAC-E644-FA14-16B4-AB5BEB878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180" y="1363507"/>
            <a:ext cx="8077200" cy="2646362"/>
          </a:xfrm>
          <a:prstGeom prst="rect">
            <a:avLst/>
          </a:prstGeom>
          <a:solidFill>
            <a:srgbClr val="CC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E32D35F0-C160-1CC9-8821-8542540EF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180" y="3171669"/>
            <a:ext cx="228600" cy="228600"/>
          </a:xfrm>
          <a:prstGeom prst="ellipse">
            <a:avLst/>
          </a:prstGeom>
          <a:solidFill>
            <a:srgbClr val="FF0066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9135F794-1A91-051A-8C58-4646E90C47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3943" y="2104869"/>
            <a:ext cx="2535237" cy="1177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CC74FEC-8F62-124C-FC35-3120EAE7C065}"/>
              </a:ext>
            </a:extLst>
          </p:cNvPr>
          <p:cNvSpPr>
            <a:spLocks/>
          </p:cNvSpPr>
          <p:nvPr/>
        </p:nvSpPr>
        <p:spPr bwMode="auto">
          <a:xfrm>
            <a:off x="3382780" y="1939769"/>
            <a:ext cx="5791200" cy="1536700"/>
          </a:xfrm>
          <a:custGeom>
            <a:avLst/>
            <a:gdLst>
              <a:gd name="T0" fmla="*/ 0 w 3744"/>
              <a:gd name="T1" fmla="*/ 440 h 776"/>
              <a:gd name="T2" fmla="*/ 624 w 3744"/>
              <a:gd name="T3" fmla="*/ 200 h 776"/>
              <a:gd name="T4" fmla="*/ 1248 w 3744"/>
              <a:gd name="T5" fmla="*/ 56 h 776"/>
              <a:gd name="T6" fmla="*/ 1776 w 3744"/>
              <a:gd name="T7" fmla="*/ 8 h 776"/>
              <a:gd name="T8" fmla="*/ 2400 w 3744"/>
              <a:gd name="T9" fmla="*/ 104 h 776"/>
              <a:gd name="T10" fmla="*/ 3168 w 3744"/>
              <a:gd name="T11" fmla="*/ 392 h 776"/>
              <a:gd name="T12" fmla="*/ 3744 w 3744"/>
              <a:gd name="T13" fmla="*/ 776 h 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44" h="776">
                <a:moveTo>
                  <a:pt x="0" y="440"/>
                </a:moveTo>
                <a:cubicBezTo>
                  <a:pt x="208" y="352"/>
                  <a:pt x="416" y="264"/>
                  <a:pt x="624" y="200"/>
                </a:cubicBezTo>
                <a:cubicBezTo>
                  <a:pt x="832" y="136"/>
                  <a:pt x="1056" y="88"/>
                  <a:pt x="1248" y="56"/>
                </a:cubicBezTo>
                <a:cubicBezTo>
                  <a:pt x="1440" y="24"/>
                  <a:pt x="1584" y="0"/>
                  <a:pt x="1776" y="8"/>
                </a:cubicBezTo>
                <a:cubicBezTo>
                  <a:pt x="1968" y="16"/>
                  <a:pt x="2168" y="40"/>
                  <a:pt x="2400" y="104"/>
                </a:cubicBezTo>
                <a:cubicBezTo>
                  <a:pt x="2632" y="168"/>
                  <a:pt x="2944" y="280"/>
                  <a:pt x="3168" y="392"/>
                </a:cubicBezTo>
                <a:cubicBezTo>
                  <a:pt x="3392" y="504"/>
                  <a:pt x="3672" y="704"/>
                  <a:pt x="3744" y="776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50B428DC-5124-5BC0-E46B-9895DA03A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130" y="1952469"/>
            <a:ext cx="228600" cy="228600"/>
          </a:xfrm>
          <a:prstGeom prst="ellipse">
            <a:avLst/>
          </a:prstGeom>
          <a:solidFill>
            <a:srgbClr val="FF0066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B969E167-41A0-8C1E-9CBB-38D543E03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974" y="2911319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C80ACF12-4DC0-6EDD-BB27-D727324F1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5405" y="3208182"/>
            <a:ext cx="228600" cy="228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36122FA1-FF9E-65C9-7F81-06FBEA37D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3580" y="3324069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i="0">
                <a:solidFill>
                  <a:srgbClr val="FF0066"/>
                </a:solidFill>
              </a:rPr>
              <a:t>0 s</a:t>
            </a:r>
          </a:p>
        </p:txBody>
      </p:sp>
      <p:sp>
        <p:nvSpPr>
          <p:cNvPr id="11" name="Text Box 22">
            <a:extLst>
              <a:ext uri="{FF2B5EF4-FFF2-40B4-BE49-F238E27FC236}">
                <a16:creationId xmlns:a16="http://schemas.microsoft.com/office/drawing/2014/main" id="{60B3EC98-A843-6117-90EA-9EDBD2EB8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2980" y="3324069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i="0">
                <a:solidFill>
                  <a:srgbClr val="FF0066"/>
                </a:solidFill>
              </a:rPr>
              <a:t>2 s</a:t>
            </a:r>
          </a:p>
        </p:txBody>
      </p:sp>
      <p:sp>
        <p:nvSpPr>
          <p:cNvPr id="12" name="Text Box 24">
            <a:extLst>
              <a:ext uri="{FF2B5EF4-FFF2-40B4-BE49-F238E27FC236}">
                <a16:creationId xmlns:a16="http://schemas.microsoft.com/office/drawing/2014/main" id="{80EF6679-F340-D27F-C077-729970E1E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6180" y="3400269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i="0">
                <a:solidFill>
                  <a:srgbClr val="FF0066"/>
                </a:solidFill>
              </a:rPr>
              <a:t>4 s</a:t>
            </a: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F50ABCCC-84EE-DDC4-D223-96124D318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4580" y="3324069"/>
            <a:ext cx="685800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14" name="Group 47">
            <a:extLst>
              <a:ext uri="{FF2B5EF4-FFF2-40B4-BE49-F238E27FC236}">
                <a16:creationId xmlns:a16="http://schemas.microsoft.com/office/drawing/2014/main" id="{2F6F9AAC-DDC5-3B18-21D8-4574946F9F95}"/>
              </a:ext>
            </a:extLst>
          </p:cNvPr>
          <p:cNvGrpSpPr>
            <a:grpSpLocks/>
          </p:cNvGrpSpPr>
          <p:nvPr/>
        </p:nvGrpSpPr>
        <p:grpSpPr bwMode="auto">
          <a:xfrm>
            <a:off x="5022668" y="2181069"/>
            <a:ext cx="2322512" cy="1239838"/>
            <a:chOff x="2569" y="1440"/>
            <a:chExt cx="1463" cy="78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D866F64-1015-A5AD-F076-23A1E3C1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2077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526C46B5-220F-2886-3D5F-AC5C4029DC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440"/>
              <a:ext cx="0" cy="6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27">
              <a:extLst>
                <a:ext uri="{FF2B5EF4-FFF2-40B4-BE49-F238E27FC236}">
                  <a16:creationId xmlns:a16="http://schemas.microsoft.com/office/drawing/2014/main" id="{54D3D0DF-3427-672B-033D-2A27C7193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440"/>
              <a:ext cx="1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r>
                <a:rPr kumimoji="0" lang="es-MX" altLang="es-CO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=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96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8" name="Group 46">
            <a:extLst>
              <a:ext uri="{FF2B5EF4-FFF2-40B4-BE49-F238E27FC236}">
                <a16:creationId xmlns:a16="http://schemas.microsoft.com/office/drawing/2014/main" id="{D85AF00A-D81F-F8DB-0CE9-E5F1E78F16F5}"/>
              </a:ext>
            </a:extLst>
          </p:cNvPr>
          <p:cNvGrpSpPr>
            <a:grpSpLocks/>
          </p:cNvGrpSpPr>
          <p:nvPr/>
        </p:nvGrpSpPr>
        <p:grpSpPr bwMode="auto">
          <a:xfrm>
            <a:off x="2620780" y="3095472"/>
            <a:ext cx="2514600" cy="649288"/>
            <a:chOff x="1056" y="2016"/>
            <a:chExt cx="1584" cy="409"/>
          </a:xfrm>
        </p:grpSpPr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4C7E152F-3FF7-12D4-CB0B-373D29110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016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MX" altLang="es-CO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0" name="Line 36">
              <a:extLst>
                <a:ext uri="{FF2B5EF4-FFF2-40B4-BE49-F238E27FC236}">
                  <a16:creationId xmlns:a16="http://schemas.microsoft.com/office/drawing/2014/main" id="{9E365627-D27D-60EB-A4B3-C6C55E0D97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60"/>
              <a:ext cx="14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Text Box 37">
              <a:extLst>
                <a:ext uri="{FF2B5EF4-FFF2-40B4-BE49-F238E27FC236}">
                  <a16:creationId xmlns:a16="http://schemas.microsoft.com/office/drawing/2014/main" id="{D0DE3E37-96A6-66AA-3883-986AE0145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2134"/>
              <a:ext cx="12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dirty="0">
                  <a:solidFill>
                    <a:srgbClr val="000000"/>
                  </a:solidFill>
                </a:rPr>
                <a:t>x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2</a:t>
              </a:r>
              <a:r>
                <a:rPr lang="es-MX" altLang="es-CO" sz="2400" dirty="0">
                  <a:solidFill>
                    <a:srgbClr val="000000"/>
                  </a:solidFill>
                </a:rPr>
                <a:t>=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277 ft</a:t>
              </a:r>
              <a:endParaRPr lang="es-MX" altLang="es-CO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2" name="Text Box 38">
            <a:extLst>
              <a:ext uri="{FF2B5EF4-FFF2-40B4-BE49-F238E27FC236}">
                <a16:creationId xmlns:a16="http://schemas.microsoft.com/office/drawing/2014/main" id="{4DB51596-C490-D211-E778-09BDF5260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4128" y="2225066"/>
            <a:ext cx="60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R</a:t>
            </a:r>
            <a:r>
              <a:rPr lang="es-MX" altLang="es-CO" sz="2400" baseline="-25000" dirty="0">
                <a:solidFill>
                  <a:srgbClr val="000000"/>
                </a:solidFill>
              </a:rPr>
              <a:t>2</a:t>
            </a:r>
            <a:endParaRPr lang="es-MX" altLang="es-CO" sz="2400" dirty="0">
              <a:solidFill>
                <a:srgbClr val="000000"/>
              </a:solidFill>
            </a:endParaRPr>
          </a:p>
        </p:txBody>
      </p:sp>
      <p:graphicFrame>
        <p:nvGraphicFramePr>
          <p:cNvPr id="23" name="Object 39">
            <a:extLst>
              <a:ext uri="{FF2B5EF4-FFF2-40B4-BE49-F238E27FC236}">
                <a16:creationId xmlns:a16="http://schemas.microsoft.com/office/drawing/2014/main" id="{B17DB97F-E0B1-6E44-6438-33D7301ED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810265"/>
              </p:ext>
            </p:extLst>
          </p:nvPr>
        </p:nvGraphicFramePr>
        <p:xfrm>
          <a:off x="1858780" y="1495269"/>
          <a:ext cx="23622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79360" progId="Equation.DSMT4">
                  <p:embed/>
                </p:oleObj>
              </mc:Choice>
              <mc:Fallback>
                <p:oleObj name="Equation" r:id="rId4" imgW="850680" imgH="279360" progId="Equation.DSMT4">
                  <p:embed/>
                  <p:pic>
                    <p:nvPicPr>
                      <p:cNvPr id="515111" name="Object 39">
                        <a:extLst>
                          <a:ext uri="{FF2B5EF4-FFF2-40B4-BE49-F238E27FC236}">
                            <a16:creationId xmlns:a16="http://schemas.microsoft.com/office/drawing/2014/main" id="{52D5633A-F55D-ED5F-64A2-344AF7022B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780" y="1495269"/>
                        <a:ext cx="23622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0">
            <a:extLst>
              <a:ext uri="{FF2B5EF4-FFF2-40B4-BE49-F238E27FC236}">
                <a16:creationId xmlns:a16="http://schemas.microsoft.com/office/drawing/2014/main" id="{B0EF2848-A02C-66C4-FCBE-F6D9B4D90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072339"/>
              </p:ext>
            </p:extLst>
          </p:nvPr>
        </p:nvGraphicFramePr>
        <p:xfrm>
          <a:off x="8069080" y="1359538"/>
          <a:ext cx="15240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393480" progId="Equation.DSMT4">
                  <p:embed/>
                </p:oleObj>
              </mc:Choice>
              <mc:Fallback>
                <p:oleObj name="Equation" r:id="rId6" imgW="609480" imgH="393480" progId="Equation.DSMT4">
                  <p:embed/>
                  <p:pic>
                    <p:nvPicPr>
                      <p:cNvPr id="515112" name="Object 40">
                        <a:extLst>
                          <a:ext uri="{FF2B5EF4-FFF2-40B4-BE49-F238E27FC236}">
                            <a16:creationId xmlns:a16="http://schemas.microsoft.com/office/drawing/2014/main" id="{92200C13-AEA3-FC73-D028-4171221D05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9080" y="1359538"/>
                        <a:ext cx="15240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1">
            <a:extLst>
              <a:ext uri="{FF2B5EF4-FFF2-40B4-BE49-F238E27FC236}">
                <a16:creationId xmlns:a16="http://schemas.microsoft.com/office/drawing/2014/main" id="{970AC4A6-0706-64C1-3C4D-BB1FC6262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439486"/>
              </p:ext>
            </p:extLst>
          </p:nvPr>
        </p:nvGraphicFramePr>
        <p:xfrm>
          <a:off x="1706380" y="4463894"/>
          <a:ext cx="41910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080" imgH="279360" progId="Equation.DSMT4">
                  <p:embed/>
                </p:oleObj>
              </mc:Choice>
              <mc:Fallback>
                <p:oleObj name="Equation" r:id="rId8" imgW="1549080" imgH="279360" progId="Equation.DSMT4">
                  <p:embed/>
                  <p:pic>
                    <p:nvPicPr>
                      <p:cNvPr id="515113" name="Object 41">
                        <a:extLst>
                          <a:ext uri="{FF2B5EF4-FFF2-40B4-BE49-F238E27FC236}">
                            <a16:creationId xmlns:a16="http://schemas.microsoft.com/office/drawing/2014/main" id="{7C600B2C-E3A7-416A-D2C3-28AF15DA5B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380" y="4463894"/>
                        <a:ext cx="4191000" cy="7429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2">
            <a:extLst>
              <a:ext uri="{FF2B5EF4-FFF2-40B4-BE49-F238E27FC236}">
                <a16:creationId xmlns:a16="http://schemas.microsoft.com/office/drawing/2014/main" id="{0D0BC146-AC74-6AED-699C-97E6B4377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236802"/>
              </p:ext>
            </p:extLst>
          </p:nvPr>
        </p:nvGraphicFramePr>
        <p:xfrm>
          <a:off x="6811780" y="4390869"/>
          <a:ext cx="2222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8840" imgH="393480" progId="Equation.DSMT4">
                  <p:embed/>
                </p:oleObj>
              </mc:Choice>
              <mc:Fallback>
                <p:oleObj name="Equation" r:id="rId10" imgW="888840" imgH="393480" progId="Equation.DSMT4">
                  <p:embed/>
                  <p:pic>
                    <p:nvPicPr>
                      <p:cNvPr id="515114" name="Object 42">
                        <a:extLst>
                          <a:ext uri="{FF2B5EF4-FFF2-40B4-BE49-F238E27FC236}">
                            <a16:creationId xmlns:a16="http://schemas.microsoft.com/office/drawing/2014/main" id="{56651204-7BA4-ACB8-5AD2-37395EF2DA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1780" y="4390869"/>
                        <a:ext cx="2222500" cy="9842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3">
            <a:extLst>
              <a:ext uri="{FF2B5EF4-FFF2-40B4-BE49-F238E27FC236}">
                <a16:creationId xmlns:a16="http://schemas.microsoft.com/office/drawing/2014/main" id="{C90D3EED-4B97-92E5-0522-06617CC2F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6980" y="5610069"/>
            <a:ext cx="21336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</a:rPr>
              <a:t>R</a:t>
            </a:r>
            <a:r>
              <a:rPr lang="es-MX" altLang="es-CO" sz="2400" baseline="-25000">
                <a:solidFill>
                  <a:srgbClr val="000000"/>
                </a:solidFill>
              </a:rPr>
              <a:t>2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293 ft</a:t>
            </a:r>
            <a:endParaRPr lang="es-MX" altLang="es-CO" sz="2400">
              <a:solidFill>
                <a:srgbClr val="000000"/>
              </a:solidFill>
            </a:endParaRPr>
          </a:p>
        </p:txBody>
      </p:sp>
      <p:sp>
        <p:nvSpPr>
          <p:cNvPr id="28" name="Text Box 44">
            <a:extLst>
              <a:ext uri="{FF2B5EF4-FFF2-40B4-BE49-F238E27FC236}">
                <a16:creationId xmlns:a16="http://schemas.microsoft.com/office/drawing/2014/main" id="{D730DB5C-F026-79B9-431D-22BFC8C26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7980" y="5610069"/>
            <a:ext cx="21336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  <a:r>
              <a:rPr lang="es-MX" altLang="es-CO" sz="2400" baseline="-25000">
                <a:solidFill>
                  <a:srgbClr val="000000"/>
                </a:solidFill>
                <a:latin typeface="Symbol" panose="05050102010706020507" pitchFamily="18" charset="2"/>
              </a:rPr>
              <a:t>2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19.1</a:t>
            </a:r>
            <a:r>
              <a:rPr lang="es-MX" altLang="es-CO" sz="2400" i="0" baseline="30000">
                <a:solidFill>
                  <a:srgbClr val="000000"/>
                </a:solidFill>
              </a:rPr>
              <a:t>0</a:t>
            </a:r>
            <a:endParaRPr lang="es-MX" altLang="es-CO" sz="2400" i="0">
              <a:solidFill>
                <a:srgbClr val="000000"/>
              </a:solidFill>
            </a:endParaRPr>
          </a:p>
        </p:txBody>
      </p:sp>
      <p:sp>
        <p:nvSpPr>
          <p:cNvPr id="29" name="Rectangle 45">
            <a:extLst>
              <a:ext uri="{FF2B5EF4-FFF2-40B4-BE49-F238E27FC236}">
                <a16:creationId xmlns:a16="http://schemas.microsoft.com/office/drawing/2014/main" id="{F774B70D-9109-A9EB-8F9E-C201524B8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980" y="4390869"/>
            <a:ext cx="152400" cy="182880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DD797EDF-74E6-9229-87A5-06B46E159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980" y="1419069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t = </a:t>
            </a:r>
            <a:r>
              <a:rPr lang="es-MX" altLang="es-CO" sz="2400" i="0" dirty="0">
                <a:solidFill>
                  <a:srgbClr val="000000"/>
                </a:solidFill>
              </a:rPr>
              <a:t>2 s</a:t>
            </a:r>
            <a:endParaRPr lang="es-MX" altLang="es-CO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99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7" grpId="0" animBg="1" autoUpdateAnimBg="0"/>
      <p:bldP spid="28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39CB4-50D5-1641-48C8-108A41E1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B64998A-932D-C460-A01B-64EC049F8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725" y="123669"/>
            <a:ext cx="11422505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(Cont.):</a:t>
            </a:r>
            <a:r>
              <a:rPr lang="es-MX" altLang="es-CO" sz="2400" dirty="0"/>
              <a:t> De igual modo, el desplazamiento R</a:t>
            </a:r>
            <a:r>
              <a:rPr lang="es-MX" altLang="es-CO" sz="2400" baseline="-25000" dirty="0"/>
              <a:t>4</a:t>
            </a:r>
            <a:r>
              <a:rPr lang="es-MX" altLang="es-CO" sz="2400" dirty="0"/>
              <a:t>,</a:t>
            </a:r>
            <a:r>
              <a:rPr lang="es-MX" altLang="es-CO" sz="2400" dirty="0">
                <a:latin typeface="Symbol" panose="05050102010706020507" pitchFamily="18" charset="2"/>
              </a:rPr>
              <a:t>q</a:t>
            </a:r>
            <a:r>
              <a:rPr lang="es-MX" altLang="es-CO" sz="2400" dirty="0"/>
              <a:t> se encuentra a partir de los desplazamientos componentes x</a:t>
            </a:r>
            <a:r>
              <a:rPr lang="es-MX" altLang="es-CO" sz="2400" baseline="-25000" dirty="0"/>
              <a:t>4</a:t>
            </a:r>
            <a:r>
              <a:rPr lang="es-MX" altLang="es-CO" sz="2400" dirty="0"/>
              <a:t> y y</a:t>
            </a:r>
            <a:r>
              <a:rPr lang="es-MX" altLang="es-CO" sz="2400" baseline="-25000" dirty="0"/>
              <a:t>4</a:t>
            </a:r>
            <a:r>
              <a:rPr lang="es-MX" altLang="es-CO" sz="2400" dirty="0"/>
              <a:t>.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888F743A-2120-5D9A-82A3-B1C5ED558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058875"/>
              </p:ext>
            </p:extLst>
          </p:nvPr>
        </p:nvGraphicFramePr>
        <p:xfrm>
          <a:off x="1631430" y="4463894"/>
          <a:ext cx="41910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279360" progId="Equation.DSMT4">
                  <p:embed/>
                </p:oleObj>
              </mc:Choice>
              <mc:Fallback>
                <p:oleObj name="Equation" r:id="rId4" imgW="1549080" imgH="279360" progId="Equation.DSMT4">
                  <p:embed/>
                  <p:pic>
                    <p:nvPicPr>
                      <p:cNvPr id="519171" name="Object 3">
                        <a:extLst>
                          <a:ext uri="{FF2B5EF4-FFF2-40B4-BE49-F238E27FC236}">
                            <a16:creationId xmlns:a16="http://schemas.microsoft.com/office/drawing/2014/main" id="{BF37641F-E348-45F0-1C11-5596732B7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430" y="4463894"/>
                        <a:ext cx="4191000" cy="7429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3528D7A0-059C-DDE9-6B15-21A1289832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084386"/>
              </p:ext>
            </p:extLst>
          </p:nvPr>
        </p:nvGraphicFramePr>
        <p:xfrm>
          <a:off x="6736830" y="4390869"/>
          <a:ext cx="2222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393480" progId="Equation.DSMT4">
                  <p:embed/>
                </p:oleObj>
              </mc:Choice>
              <mc:Fallback>
                <p:oleObj name="Equation" r:id="rId6" imgW="888840" imgH="393480" progId="Equation.DSMT4">
                  <p:embed/>
                  <p:pic>
                    <p:nvPicPr>
                      <p:cNvPr id="519172" name="Object 4">
                        <a:extLst>
                          <a:ext uri="{FF2B5EF4-FFF2-40B4-BE49-F238E27FC236}">
                            <a16:creationId xmlns:a16="http://schemas.microsoft.com/office/drawing/2014/main" id="{115C7AFD-5525-4B37-750C-C8589AB24F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6830" y="4390869"/>
                        <a:ext cx="2222500" cy="9842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E7646431-D9F2-7297-AB2A-E4F651177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2030" y="5610069"/>
            <a:ext cx="21336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</a:rPr>
              <a:t>R</a:t>
            </a:r>
            <a:r>
              <a:rPr lang="es-MX" altLang="es-CO" sz="2400" baseline="-25000">
                <a:solidFill>
                  <a:srgbClr val="000000"/>
                </a:solidFill>
              </a:rPr>
              <a:t>4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558 ft</a:t>
            </a:r>
            <a:endParaRPr lang="es-MX" altLang="es-CO" sz="2400">
              <a:solidFill>
                <a:srgbClr val="000000"/>
              </a:solidFill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F792747-3AA5-7C62-CDED-78A4647E1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030" y="5610069"/>
            <a:ext cx="21336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  <a:r>
              <a:rPr lang="es-MX" altLang="es-CO" sz="2400" baseline="-25000">
                <a:solidFill>
                  <a:srgbClr val="000000"/>
                </a:solidFill>
                <a:latin typeface="Symbol" panose="05050102010706020507" pitchFamily="18" charset="2"/>
              </a:rPr>
              <a:t>4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6.59</a:t>
            </a:r>
            <a:r>
              <a:rPr lang="es-MX" altLang="es-CO" sz="2400" i="0" baseline="30000">
                <a:solidFill>
                  <a:srgbClr val="000000"/>
                </a:solidFill>
              </a:rPr>
              <a:t>0</a:t>
            </a:r>
            <a:endParaRPr lang="es-MX" altLang="es-CO" sz="2400" i="0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22BAA8D-9A19-5B2D-60CE-98CFA8DDF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030" y="4390869"/>
            <a:ext cx="152400" cy="182880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6B1533E8-8659-9E3F-2BAE-A4178FBDFBFE}"/>
              </a:ext>
            </a:extLst>
          </p:cNvPr>
          <p:cNvGrpSpPr>
            <a:grpSpLocks/>
          </p:cNvGrpSpPr>
          <p:nvPr/>
        </p:nvGrpSpPr>
        <p:grpSpPr bwMode="auto">
          <a:xfrm>
            <a:off x="1402830" y="1342869"/>
            <a:ext cx="8458200" cy="2646363"/>
            <a:chOff x="384" y="912"/>
            <a:chExt cx="5328" cy="1667"/>
          </a:xfrm>
        </p:grpSpPr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B8A74004-D95C-5E63-2442-492661388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912"/>
              <a:ext cx="5328" cy="1667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76389B23-2AFA-C084-3325-977C99145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064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B01DA554-E1B9-18EE-E240-F1D777527D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7" y="1680"/>
              <a:ext cx="3373" cy="4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2CCF0CF-91DE-8646-4283-02EF8E24D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288"/>
              <a:ext cx="3648" cy="968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6C7DC82D-3758-BBBB-C55C-911DA8196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632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1768016C-CE65-FF92-9082-34E2B29CA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5" y="192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AEB6E556-67F2-8EC6-5B32-20FE8617C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8" y="2087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183BC0CE-CBE0-E78A-3997-88393F49E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16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FF0066"/>
                  </a:solidFill>
                </a:rPr>
                <a:t>0 s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458E8912-6D19-8831-BA7F-19B50F971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208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FF0066"/>
                  </a:solidFill>
                </a:rPr>
                <a:t>4 s</a:t>
              </a: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1434B360-EEFF-DBAC-0833-BDCB18272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60"/>
              <a:ext cx="43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25B29A84-A9A3-0E1D-C0E6-C98C8AF64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728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D4969229-6BD0-7E6B-41AB-0410E1586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4" y="1754"/>
              <a:ext cx="11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r>
                <a:rPr kumimoji="0" lang="es-MX" altLang="es-CO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=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64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CC65992E-1436-1B43-3B32-D5A7C06B9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016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MX" altLang="es-CO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EE517706-9059-22F6-70C7-C627147DB5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144"/>
              <a:ext cx="3310" cy="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B1C6A3BF-EF57-B7D0-698C-8694D4FA0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0" y="2170"/>
              <a:ext cx="12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dirty="0">
                  <a:solidFill>
                    <a:srgbClr val="000000"/>
                  </a:solidFill>
                </a:rPr>
                <a:t>x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4</a:t>
              </a:r>
              <a:r>
                <a:rPr lang="es-MX" altLang="es-CO" sz="2400" dirty="0">
                  <a:solidFill>
                    <a:srgbClr val="000000"/>
                  </a:solidFill>
                </a:rPr>
                <a:t>=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554 ft</a:t>
              </a:r>
              <a:endParaRPr lang="es-MX" altLang="es-CO" sz="2400" dirty="0">
                <a:solidFill>
                  <a:srgbClr val="000000"/>
                </a:solidFill>
              </a:endParaRP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3CAE2830-F36E-9B2C-38D2-AED5F383E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3" y="1600"/>
              <a:ext cx="3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R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4</a:t>
              </a:r>
              <a:endParaRPr lang="es-MX" altLang="es-CO" sz="2400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5" name="Object 25">
              <a:extLst>
                <a:ext uri="{FF2B5EF4-FFF2-40B4-BE49-F238E27FC236}">
                  <a16:creationId xmlns:a16="http://schemas.microsoft.com/office/drawing/2014/main" id="{0FC46E66-5834-DF12-2FF7-151C3CAB0E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7169899"/>
                </p:ext>
              </p:extLst>
            </p:nvPr>
          </p:nvGraphicFramePr>
          <p:xfrm>
            <a:off x="456" y="941"/>
            <a:ext cx="1488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50680" imgH="279360" progId="Equation.DSMT4">
                    <p:embed/>
                  </p:oleObj>
                </mc:Choice>
                <mc:Fallback>
                  <p:oleObj name="Equation" r:id="rId8" imgW="850680" imgH="279360" progId="Equation.DSMT4">
                    <p:embed/>
                    <p:pic>
                      <p:nvPicPr>
                        <p:cNvPr id="519193" name="Object 25">
                          <a:extLst>
                            <a:ext uri="{FF2B5EF4-FFF2-40B4-BE49-F238E27FC236}">
                              <a16:creationId xmlns:a16="http://schemas.microsoft.com/office/drawing/2014/main" id="{103074D5-E0DC-06AE-68D2-E8BABAB6E9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" y="941"/>
                          <a:ext cx="1488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6">
              <a:extLst>
                <a:ext uri="{FF2B5EF4-FFF2-40B4-BE49-F238E27FC236}">
                  <a16:creationId xmlns:a16="http://schemas.microsoft.com/office/drawing/2014/main" id="{11C2BE6D-25C8-A8E6-06FB-462C61E3C0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6425208"/>
                </p:ext>
              </p:extLst>
            </p:nvPr>
          </p:nvGraphicFramePr>
          <p:xfrm>
            <a:off x="4656" y="917"/>
            <a:ext cx="960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09480" imgH="393480" progId="Equation.DSMT4">
                    <p:embed/>
                  </p:oleObj>
                </mc:Choice>
                <mc:Fallback>
                  <p:oleObj name="Equation" r:id="rId10" imgW="609480" imgH="393480" progId="Equation.DSMT4">
                    <p:embed/>
                    <p:pic>
                      <p:nvPicPr>
                        <p:cNvPr id="519194" name="Object 26">
                          <a:extLst>
                            <a:ext uri="{FF2B5EF4-FFF2-40B4-BE49-F238E27FC236}">
                              <a16:creationId xmlns:a16="http://schemas.microsoft.com/office/drawing/2014/main" id="{61EC464D-BEB9-EC29-4E9E-BA94E11AC0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917"/>
                          <a:ext cx="960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F5B0F436-D8EC-F92C-9DD7-4C311CB52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960"/>
              <a:ext cx="8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t =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4 s</a:t>
              </a:r>
              <a:endParaRPr lang="es-MX" altLang="es-CO" sz="2400" dirty="0">
                <a:solidFill>
                  <a:srgbClr val="000000"/>
                </a:solidFill>
              </a:endParaRPr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69766D63-83BD-7983-A326-16CEE4AE0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1824"/>
              <a:ext cx="48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11658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5" grpId="0" animBg="1" autoUpdateAnimBg="0"/>
      <p:bldP spid="6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01785-E018-AE06-23A5-6C8674BB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BC7B06B-60A1-D4A4-818C-55FBA0C00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871" y="14990"/>
            <a:ext cx="11782269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dirty="0"/>
              <a:t>(Cont.): Ahora se encuentra la velocidad después de 2 s a partir de los componentes </a:t>
            </a:r>
            <a:r>
              <a:rPr lang="es-MX" altLang="es-CO" sz="2400" i="1" dirty="0" err="1"/>
              <a:t>v</a:t>
            </a:r>
            <a:r>
              <a:rPr lang="es-MX" altLang="es-CO" sz="2400" i="1" baseline="-25000" dirty="0" err="1"/>
              <a:t>x</a:t>
            </a:r>
            <a:r>
              <a:rPr lang="es-MX" altLang="es-CO" sz="2400" i="1" baseline="-25000" dirty="0"/>
              <a:t> </a:t>
            </a:r>
            <a:r>
              <a:rPr lang="es-MX" altLang="es-CO" sz="2400" dirty="0"/>
              <a:t>y</a:t>
            </a:r>
            <a:r>
              <a:rPr lang="es-MX" altLang="es-CO" sz="2400" i="1" dirty="0"/>
              <a:t> </a:t>
            </a:r>
            <a:r>
              <a:rPr lang="es-MX" altLang="es-CO" sz="2400" i="1" dirty="0" err="1"/>
              <a:t>v</a:t>
            </a:r>
            <a:r>
              <a:rPr lang="es-MX" altLang="es-CO" sz="2400" i="1" baseline="-25000" dirty="0" err="1"/>
              <a:t>y</a:t>
            </a:r>
            <a:r>
              <a:rPr lang="es-MX" altLang="es-CO" sz="2400" i="1" baseline="-25000" dirty="0"/>
              <a:t>.</a:t>
            </a:r>
            <a:endParaRPr lang="es-MX" altLang="es-CO" sz="2400" dirty="0"/>
          </a:p>
        </p:txBody>
      </p:sp>
      <p:graphicFrame>
        <p:nvGraphicFramePr>
          <p:cNvPr id="3" name="Object 45">
            <a:extLst>
              <a:ext uri="{FF2B5EF4-FFF2-40B4-BE49-F238E27FC236}">
                <a16:creationId xmlns:a16="http://schemas.microsoft.com/office/drawing/2014/main" id="{2CF4929F-CC8F-9E74-00EC-21DD728134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520211"/>
              </p:ext>
            </p:extLst>
          </p:nvPr>
        </p:nvGraphicFramePr>
        <p:xfrm>
          <a:off x="1926236" y="4282190"/>
          <a:ext cx="470693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279360" progId="Equation.DSMT4">
                  <p:embed/>
                </p:oleObj>
              </mc:Choice>
              <mc:Fallback>
                <p:oleObj name="Equation" r:id="rId4" imgW="1739880" imgH="279360" progId="Equation.DSMT4">
                  <p:embed/>
                  <p:pic>
                    <p:nvPicPr>
                      <p:cNvPr id="520237" name="Object 45">
                        <a:extLst>
                          <a:ext uri="{FF2B5EF4-FFF2-40B4-BE49-F238E27FC236}">
                            <a16:creationId xmlns:a16="http://schemas.microsoft.com/office/drawing/2014/main" id="{7B59047C-B291-7733-44E4-DB0D5598F5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236" y="4282190"/>
                        <a:ext cx="4706938" cy="7429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6">
            <a:extLst>
              <a:ext uri="{FF2B5EF4-FFF2-40B4-BE49-F238E27FC236}">
                <a16:creationId xmlns:a16="http://schemas.microsoft.com/office/drawing/2014/main" id="{CE69B799-1402-7A47-23A3-2C2B9890CD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022528"/>
              </p:ext>
            </p:extLst>
          </p:nvPr>
        </p:nvGraphicFramePr>
        <p:xfrm>
          <a:off x="7336436" y="4205990"/>
          <a:ext cx="21907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393480" progId="Equation.DSMT4">
                  <p:embed/>
                </p:oleObj>
              </mc:Choice>
              <mc:Fallback>
                <p:oleObj name="Equation" r:id="rId6" imgW="876240" imgH="393480" progId="Equation.DSMT4">
                  <p:embed/>
                  <p:pic>
                    <p:nvPicPr>
                      <p:cNvPr id="520238" name="Object 46">
                        <a:extLst>
                          <a:ext uri="{FF2B5EF4-FFF2-40B4-BE49-F238E27FC236}">
                            <a16:creationId xmlns:a16="http://schemas.microsoft.com/office/drawing/2014/main" id="{09107C7F-22BB-ACB9-E277-CB0C82F1C3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6436" y="4205990"/>
                        <a:ext cx="2190750" cy="9842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7">
            <a:extLst>
              <a:ext uri="{FF2B5EF4-FFF2-40B4-BE49-F238E27FC236}">
                <a16:creationId xmlns:a16="http://schemas.microsoft.com/office/drawing/2014/main" id="{936BD089-85B5-43F2-6A87-4A2CA6195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636" y="5425190"/>
            <a:ext cx="25908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 i="0">
                <a:solidFill>
                  <a:srgbClr val="000000"/>
                </a:solidFill>
              </a:rPr>
              <a:t>v</a:t>
            </a:r>
            <a:r>
              <a:rPr lang="es-MX" altLang="es-CO" sz="2400" i="0" baseline="-25000">
                <a:solidFill>
                  <a:srgbClr val="000000"/>
                </a:solidFill>
              </a:rPr>
              <a:t>2</a:t>
            </a:r>
            <a:r>
              <a:rPr lang="es-MX" altLang="es-CO" sz="2400" i="0">
                <a:solidFill>
                  <a:srgbClr val="000000"/>
                </a:solidFill>
              </a:rPr>
              <a:t> = 140 ft/s</a:t>
            </a:r>
            <a:endParaRPr lang="es-MX" altLang="es-CO" sz="2400">
              <a:solidFill>
                <a:srgbClr val="000000"/>
              </a:solidFill>
            </a:endParaRPr>
          </a:p>
        </p:txBody>
      </p:sp>
      <p:sp>
        <p:nvSpPr>
          <p:cNvPr id="6" name="Text Box 48">
            <a:extLst>
              <a:ext uri="{FF2B5EF4-FFF2-40B4-BE49-F238E27FC236}">
                <a16:creationId xmlns:a16="http://schemas.microsoft.com/office/drawing/2014/main" id="{F481CE4E-2463-6A99-3B43-B5D45E69B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2636" y="5504565"/>
            <a:ext cx="21336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  <a:r>
              <a:rPr lang="es-MX" altLang="es-CO" sz="2400" baseline="-25000" dirty="0">
                <a:solidFill>
                  <a:srgbClr val="000000"/>
                </a:solidFill>
                <a:latin typeface="Symbol" panose="05050102010706020507" pitchFamily="18" charset="2"/>
              </a:rPr>
              <a:t>2</a:t>
            </a:r>
            <a:r>
              <a:rPr lang="es-MX" altLang="es-CO" sz="2400" dirty="0">
                <a:solidFill>
                  <a:srgbClr val="000000"/>
                </a:solidFill>
              </a:rPr>
              <a:t> </a:t>
            </a:r>
            <a:r>
              <a:rPr lang="es-MX" altLang="es-CO" sz="2400" i="0" dirty="0">
                <a:solidFill>
                  <a:srgbClr val="000000"/>
                </a:solidFill>
              </a:rPr>
              <a:t>= 6.56</a:t>
            </a:r>
            <a:r>
              <a:rPr lang="es-MX" altLang="es-CO" sz="2400" i="0" baseline="30000" dirty="0">
                <a:solidFill>
                  <a:srgbClr val="000000"/>
                </a:solidFill>
              </a:rPr>
              <a:t>0</a:t>
            </a:r>
            <a:endParaRPr lang="es-MX" altLang="es-CO" sz="2400" i="0" dirty="0">
              <a:solidFill>
                <a:srgbClr val="000000"/>
              </a:solidFill>
            </a:endParaRPr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383533FE-B5BC-5890-7725-CC8144B3B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236" y="4282190"/>
            <a:ext cx="152400" cy="182880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8" name="Group 53">
            <a:extLst>
              <a:ext uri="{FF2B5EF4-FFF2-40B4-BE49-F238E27FC236}">
                <a16:creationId xmlns:a16="http://schemas.microsoft.com/office/drawing/2014/main" id="{4654D39D-C7A5-5515-B55D-004CA8151143}"/>
              </a:ext>
            </a:extLst>
          </p:cNvPr>
          <p:cNvGrpSpPr>
            <a:grpSpLocks/>
          </p:cNvGrpSpPr>
          <p:nvPr/>
        </p:nvGrpSpPr>
        <p:grpSpPr bwMode="auto">
          <a:xfrm>
            <a:off x="2078636" y="1178628"/>
            <a:ext cx="8931275" cy="2646363"/>
            <a:chOff x="384" y="733"/>
            <a:chExt cx="5626" cy="1667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9A7EFE8A-D972-DF07-FD84-C40798E32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33"/>
              <a:ext cx="5088" cy="1667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76B3D087-5266-A839-F43E-455DEA258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872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867E274E-6DEA-0C45-6308-10BAED10C2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7" y="1558"/>
              <a:ext cx="576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DCD2037-2AC1-AD27-6330-DA3A9C6D8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096"/>
              <a:ext cx="3648" cy="968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0A366602-1788-8A73-594D-9191B7826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768"/>
              <a:ext cx="16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oy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= 80.0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ft/s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61D9B267-75BD-4028-14C3-B87B23EB1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1" y="1284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i="0" dirty="0">
                  <a:solidFill>
                    <a:srgbClr val="000000"/>
                  </a:solidFill>
                </a:rPr>
                <a:t>160 ft/s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8A970E7A-B31E-C4DD-216C-A0F5C1DFF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1104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232DF998-D548-0514-2EE2-38ACB0622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897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D3D39261-1582-9989-2AB1-08396A260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824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MX" altLang="es-CO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F50F3854-828E-F3EC-714B-504E07822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" y="172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A21BFC65-121E-C019-DE5E-AA2680524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1885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05A37138-50B7-5FAD-F804-CDFFA8D86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947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61214336-4C31-EBEE-0D6D-91D7C8C60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440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4FF0DBDA-F18E-6946-1085-6C3D59A991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016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0 s</a:t>
              </a: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67926604-158A-AE03-9AA3-3AB3EDE74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016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i="0">
                  <a:solidFill>
                    <a:srgbClr val="000000"/>
                  </a:solidFill>
                </a:rPr>
                <a:t>2 s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3296A2C7-B7A2-06EB-3EE6-4F19B1670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MX" altLang="es-CO" i="0">
                <a:solidFill>
                  <a:srgbClr val="000000"/>
                </a:solidFill>
              </a:endParaRPr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86BFDFEC-875B-9231-D9FD-AC1D830E4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968"/>
              <a:ext cx="43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6AD00089-FBD7-BA76-BF6D-C78E99A38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" y="757"/>
              <a:ext cx="16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= -32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ft/s</a:t>
              </a:r>
              <a:r>
                <a:rPr kumimoji="0" lang="es-MX" altLang="es-CO" sz="2400" i="0" baseline="30000" dirty="0">
                  <a:solidFill>
                    <a:srgbClr val="000000"/>
                  </a:solidFill>
                </a:rPr>
                <a:t>2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EAE44B05-7B8E-2E35-C67C-5E296C3D9F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1536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Line 30">
              <a:extLst>
                <a:ext uri="{FF2B5EF4-FFF2-40B4-BE49-F238E27FC236}">
                  <a16:creationId xmlns:a16="http://schemas.microsoft.com/office/drawing/2014/main" id="{DEC6449F-924D-208D-8745-178E0CF67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085"/>
              <a:ext cx="144" cy="40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Text Box 31">
              <a:extLst>
                <a:ext uri="{FF2B5EF4-FFF2-40B4-BE49-F238E27FC236}">
                  <a16:creationId xmlns:a16="http://schemas.microsoft.com/office/drawing/2014/main" id="{D32B59FA-ED5F-0173-DB41-D3D4416C9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" y="747"/>
              <a:ext cx="4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2</a:t>
              </a:r>
              <a:endParaRPr lang="es-MX" altLang="es-CO" sz="2400" dirty="0">
                <a:solidFill>
                  <a:srgbClr val="000000"/>
                </a:solidFill>
              </a:endParaRPr>
            </a:p>
          </p:txBody>
        </p:sp>
        <p:sp>
          <p:nvSpPr>
            <p:cNvPr id="30" name="Text Box 33">
              <a:extLst>
                <a:ext uri="{FF2B5EF4-FFF2-40B4-BE49-F238E27FC236}">
                  <a16:creationId xmlns:a16="http://schemas.microsoft.com/office/drawing/2014/main" id="{71ADBF29-95E6-EF56-2E0C-910631A9C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248"/>
              <a:ext cx="128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Se mueve arriba +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16</a:t>
              </a:r>
              <a:r>
                <a:rPr lang="es-MX" altLang="es-CO" sz="2400" dirty="0">
                  <a:solidFill>
                    <a:srgbClr val="000000"/>
                  </a:solidFill>
                </a:rPr>
                <a:t> ft/s</a:t>
              </a:r>
            </a:p>
          </p:txBody>
        </p:sp>
        <p:sp>
          <p:nvSpPr>
            <p:cNvPr id="31" name="Line 39">
              <a:extLst>
                <a:ext uri="{FF2B5EF4-FFF2-40B4-BE49-F238E27FC236}">
                  <a16:creationId xmlns:a16="http://schemas.microsoft.com/office/drawing/2014/main" id="{20192B60-9B43-E813-0C62-A5B1B1802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152"/>
              <a:ext cx="5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2" name="Line 50">
              <a:extLst>
                <a:ext uri="{FF2B5EF4-FFF2-40B4-BE49-F238E27FC236}">
                  <a16:creationId xmlns:a16="http://schemas.microsoft.com/office/drawing/2014/main" id="{10475D0D-CAC7-74FA-78CF-D7151F0DB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960"/>
              <a:ext cx="52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3" name="Line 51">
              <a:extLst>
                <a:ext uri="{FF2B5EF4-FFF2-40B4-BE49-F238E27FC236}">
                  <a16:creationId xmlns:a16="http://schemas.microsoft.com/office/drawing/2014/main" id="{536ACACC-B91C-5C85-D208-AEE8E0CAF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960"/>
              <a:ext cx="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4" name="Line 52">
              <a:extLst>
                <a:ext uri="{FF2B5EF4-FFF2-40B4-BE49-F238E27FC236}">
                  <a16:creationId xmlns:a16="http://schemas.microsoft.com/office/drawing/2014/main" id="{7281D386-B3E5-0888-DD18-28E7C16312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960"/>
              <a:ext cx="480" cy="192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35" name="Rectangle 42">
            <a:extLst>
              <a:ext uri="{FF2B5EF4-FFF2-40B4-BE49-F238E27FC236}">
                <a16:creationId xmlns:a16="http://schemas.microsoft.com/office/drawing/2014/main" id="{A4A1BC37-6B37-B7AE-B723-1968BFECE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2795" y="1766944"/>
            <a:ext cx="18068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baseline="-25000" dirty="0">
                <a:solidFill>
                  <a:srgbClr val="000000"/>
                </a:solidFill>
              </a:rPr>
              <a:t>2x</a:t>
            </a:r>
            <a:r>
              <a:rPr lang="es-MX" altLang="es-CO" sz="2400" dirty="0">
                <a:solidFill>
                  <a:srgbClr val="000000"/>
                </a:solidFill>
              </a:rPr>
              <a:t> = </a:t>
            </a:r>
            <a:r>
              <a:rPr lang="es-MX" altLang="es-CO" sz="2400" i="0" dirty="0">
                <a:solidFill>
                  <a:srgbClr val="000000"/>
                </a:solidFill>
              </a:rPr>
              <a:t>139 ft/s</a:t>
            </a:r>
          </a:p>
        </p:txBody>
      </p:sp>
      <p:sp>
        <p:nvSpPr>
          <p:cNvPr id="36" name="Rectangle 43">
            <a:extLst>
              <a:ext uri="{FF2B5EF4-FFF2-40B4-BE49-F238E27FC236}">
                <a16:creationId xmlns:a16="http://schemas.microsoft.com/office/drawing/2014/main" id="{2991C539-460C-4CE4-A79D-DFEEA3363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4097" y="2257482"/>
            <a:ext cx="21242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i="0" baseline="-25000" dirty="0">
                <a:solidFill>
                  <a:srgbClr val="000000"/>
                </a:solidFill>
              </a:rPr>
              <a:t>2y</a:t>
            </a:r>
            <a:r>
              <a:rPr lang="es-MX" altLang="es-CO" sz="2400" i="0" dirty="0">
                <a:solidFill>
                  <a:srgbClr val="000000"/>
                </a:solidFill>
              </a:rPr>
              <a:t> = + 16.0 ft/s</a:t>
            </a:r>
          </a:p>
        </p:txBody>
      </p:sp>
    </p:spTree>
    <p:extLst>
      <p:ext uri="{BB962C8B-B14F-4D97-AF65-F5344CB8AC3E}">
        <p14:creationId xmlns:p14="http://schemas.microsoft.com/office/powerpoint/2010/main" val="76140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5" grpId="0" animBg="1" autoUpdateAnimBg="0"/>
      <p:bldP spid="6" grpId="0" animBg="1" autoUpdateAnimBg="0"/>
      <p:bldP spid="35" grpId="0" autoUpdateAnimBg="0"/>
      <p:bldP spid="3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83474-5BAC-45DA-8CCF-B84D2B11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9">
            <a:extLst>
              <a:ext uri="{FF2B5EF4-FFF2-40B4-BE49-F238E27FC236}">
                <a16:creationId xmlns:a16="http://schemas.microsoft.com/office/drawing/2014/main" id="{0057476C-C9FE-DABB-7B5C-C67B793516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9902" y="0"/>
            <a:ext cx="11827239" cy="1143000"/>
          </a:xfrm>
          <a:noFill/>
          <a:ln/>
        </p:spPr>
        <p:txBody>
          <a:bodyPr>
            <a:normAutofit/>
          </a:bodyPr>
          <a:lstStyle/>
          <a:p>
            <a:pPr algn="just"/>
            <a:r>
              <a:rPr lang="es-MX" altLang="es-CO" sz="2400" dirty="0"/>
              <a:t>(Cont.) A continuación, encuentre la velocidad después de 4 s a partir de los componentes </a:t>
            </a:r>
            <a:r>
              <a:rPr lang="es-MX" altLang="es-CO" sz="2400" i="1" dirty="0"/>
              <a:t>v</a:t>
            </a:r>
            <a:r>
              <a:rPr lang="es-MX" altLang="es-CO" sz="2400" i="1" baseline="-25000" dirty="0"/>
              <a:t>4x </a:t>
            </a:r>
            <a:r>
              <a:rPr lang="es-MX" altLang="es-CO" sz="2400" dirty="0"/>
              <a:t>y</a:t>
            </a:r>
            <a:r>
              <a:rPr lang="es-MX" altLang="es-CO" sz="2400" i="1" dirty="0"/>
              <a:t> v</a:t>
            </a:r>
            <a:r>
              <a:rPr lang="es-MX" altLang="es-CO" sz="2400" i="1" baseline="-25000" dirty="0"/>
              <a:t>4y.</a:t>
            </a:r>
            <a:endParaRPr lang="es-MX" altLang="es-CO" sz="2400" dirty="0"/>
          </a:p>
        </p:txBody>
      </p:sp>
      <p:graphicFrame>
        <p:nvGraphicFramePr>
          <p:cNvPr id="3" name="Object 50">
            <a:extLst>
              <a:ext uri="{FF2B5EF4-FFF2-40B4-BE49-F238E27FC236}">
                <a16:creationId xmlns:a16="http://schemas.microsoft.com/office/drawing/2014/main" id="{BE36C4B2-3B9B-DFC3-C860-EA7ED9912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968113"/>
              </p:ext>
            </p:extLst>
          </p:nvPr>
        </p:nvGraphicFramePr>
        <p:xfrm>
          <a:off x="1867525" y="4038600"/>
          <a:ext cx="49815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279360" progId="Equation.DSMT4">
                  <p:embed/>
                </p:oleObj>
              </mc:Choice>
              <mc:Fallback>
                <p:oleObj name="Equation" r:id="rId4" imgW="1841400" imgH="279360" progId="Equation.DSMT4">
                  <p:embed/>
                  <p:pic>
                    <p:nvPicPr>
                      <p:cNvPr id="521266" name="Object 50">
                        <a:extLst>
                          <a:ext uri="{FF2B5EF4-FFF2-40B4-BE49-F238E27FC236}">
                            <a16:creationId xmlns:a16="http://schemas.microsoft.com/office/drawing/2014/main" id="{F7E50632-6161-28FD-F06E-8849D94B42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7525" y="4038600"/>
                        <a:ext cx="4981575" cy="7429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1">
            <a:extLst>
              <a:ext uri="{FF2B5EF4-FFF2-40B4-BE49-F238E27FC236}">
                <a16:creationId xmlns:a16="http://schemas.microsoft.com/office/drawing/2014/main" id="{468A91C1-7F07-B305-DC18-F9F149DFE5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72141"/>
              </p:ext>
            </p:extLst>
          </p:nvPr>
        </p:nvGraphicFramePr>
        <p:xfrm>
          <a:off x="7201525" y="3962400"/>
          <a:ext cx="21907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393480" progId="Equation.DSMT4">
                  <p:embed/>
                </p:oleObj>
              </mc:Choice>
              <mc:Fallback>
                <p:oleObj name="Equation" r:id="rId6" imgW="876240" imgH="393480" progId="Equation.DSMT4">
                  <p:embed/>
                  <p:pic>
                    <p:nvPicPr>
                      <p:cNvPr id="521267" name="Object 51">
                        <a:extLst>
                          <a:ext uri="{FF2B5EF4-FFF2-40B4-BE49-F238E27FC236}">
                            <a16:creationId xmlns:a16="http://schemas.microsoft.com/office/drawing/2014/main" id="{81A8E8E9-9AAA-06EB-7B64-07559168A7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1525" y="3962400"/>
                        <a:ext cx="2190750" cy="9842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FB1F154E-A91E-2E26-6732-FFFCB2A51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0525" y="5181600"/>
            <a:ext cx="25908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</a:rPr>
              <a:t>v</a:t>
            </a:r>
            <a:r>
              <a:rPr lang="es-MX" altLang="es-CO" sz="2400" baseline="-25000">
                <a:solidFill>
                  <a:srgbClr val="000000"/>
                </a:solidFill>
              </a:rPr>
              <a:t>4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146 ft/s</a:t>
            </a:r>
            <a:endParaRPr lang="es-MX" altLang="es-CO" sz="2400">
              <a:solidFill>
                <a:srgbClr val="000000"/>
              </a:solidFill>
            </a:endParaRPr>
          </a:p>
        </p:txBody>
      </p:sp>
      <p:sp>
        <p:nvSpPr>
          <p:cNvPr id="6" name="Text Box 53">
            <a:extLst>
              <a:ext uri="{FF2B5EF4-FFF2-40B4-BE49-F238E27FC236}">
                <a16:creationId xmlns:a16="http://schemas.microsoft.com/office/drawing/2014/main" id="{04F7ADDF-188D-0137-9D0F-D3CDC75AF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0125" y="5181600"/>
            <a:ext cx="23622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  <a:r>
              <a:rPr lang="es-MX" altLang="es-CO" sz="2400" baseline="-25000" dirty="0">
                <a:solidFill>
                  <a:srgbClr val="000000"/>
                </a:solidFill>
                <a:latin typeface="Symbol" panose="05050102010706020507" pitchFamily="18" charset="2"/>
              </a:rPr>
              <a:t>2</a:t>
            </a:r>
            <a:r>
              <a:rPr lang="es-MX" altLang="es-CO" sz="2400" dirty="0">
                <a:solidFill>
                  <a:srgbClr val="000000"/>
                </a:solidFill>
              </a:rPr>
              <a:t> </a:t>
            </a:r>
            <a:r>
              <a:rPr lang="es-MX" altLang="es-CO" sz="2400" i="0" dirty="0">
                <a:solidFill>
                  <a:srgbClr val="000000"/>
                </a:solidFill>
              </a:rPr>
              <a:t>= 341.7</a:t>
            </a:r>
            <a:r>
              <a:rPr lang="es-MX" altLang="es-CO" sz="2400" i="0" baseline="30000" dirty="0">
                <a:solidFill>
                  <a:srgbClr val="000000"/>
                </a:solidFill>
              </a:rPr>
              <a:t>0</a:t>
            </a:r>
            <a:endParaRPr lang="es-MX" altLang="es-CO" sz="2400" i="0" dirty="0">
              <a:solidFill>
                <a:srgbClr val="000000"/>
              </a:solidFill>
            </a:endParaRP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3556EE38-93E3-747C-DAB9-F44189B27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725" y="4038600"/>
            <a:ext cx="152400" cy="205740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8" name="Group 86">
            <a:extLst>
              <a:ext uri="{FF2B5EF4-FFF2-40B4-BE49-F238E27FC236}">
                <a16:creationId xmlns:a16="http://schemas.microsoft.com/office/drawing/2014/main" id="{2C4EC69D-DC14-AB3D-C68F-7293881C0E9B}"/>
              </a:ext>
            </a:extLst>
          </p:cNvPr>
          <p:cNvGrpSpPr>
            <a:grpSpLocks/>
          </p:cNvGrpSpPr>
          <p:nvPr/>
        </p:nvGrpSpPr>
        <p:grpSpPr bwMode="auto">
          <a:xfrm>
            <a:off x="2019925" y="1157288"/>
            <a:ext cx="8950325" cy="2652713"/>
            <a:chOff x="432" y="873"/>
            <a:chExt cx="5638" cy="1671"/>
          </a:xfrm>
        </p:grpSpPr>
        <p:sp>
          <p:nvSpPr>
            <p:cNvPr id="9" name="Rectangle 57">
              <a:extLst>
                <a:ext uri="{FF2B5EF4-FFF2-40B4-BE49-F238E27FC236}">
                  <a16:creationId xmlns:a16="http://schemas.microsoft.com/office/drawing/2014/main" id="{FDAC028B-1FAD-A286-51EF-C885C6D68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877"/>
              <a:ext cx="5088" cy="1667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Oval 58">
              <a:extLst>
                <a:ext uri="{FF2B5EF4-FFF2-40B4-BE49-F238E27FC236}">
                  <a16:creationId xmlns:a16="http://schemas.microsoft.com/office/drawing/2014/main" id="{F0EA5373-BBAA-8A1D-B05E-DAEE21296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16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59">
              <a:extLst>
                <a:ext uri="{FF2B5EF4-FFF2-40B4-BE49-F238E27FC236}">
                  <a16:creationId xmlns:a16="http://schemas.microsoft.com/office/drawing/2014/main" id="{79834A34-B549-D3B0-9C6A-87A04B279A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5" y="1702"/>
              <a:ext cx="576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Freeform 60">
              <a:extLst>
                <a:ext uri="{FF2B5EF4-FFF2-40B4-BE49-F238E27FC236}">
                  <a16:creationId xmlns:a16="http://schemas.microsoft.com/office/drawing/2014/main" id="{153F171F-4EB3-D5EB-B86E-E483DA5F2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240"/>
              <a:ext cx="3648" cy="968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3" name="Text Box 61">
              <a:extLst>
                <a:ext uri="{FF2B5EF4-FFF2-40B4-BE49-F238E27FC236}">
                  <a16:creationId xmlns:a16="http://schemas.microsoft.com/office/drawing/2014/main" id="{3A096FB4-5339-B117-79F7-7F47B0B9F7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912"/>
              <a:ext cx="15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oy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= 80.0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ft/s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14" name="Text Box 62">
              <a:extLst>
                <a:ext uri="{FF2B5EF4-FFF2-40B4-BE49-F238E27FC236}">
                  <a16:creationId xmlns:a16="http://schemas.microsoft.com/office/drawing/2014/main" id="{41C0D7D8-FDD1-8375-BFE7-DD8E32FC9E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7" y="1383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i="0" dirty="0">
                  <a:solidFill>
                    <a:srgbClr val="000000"/>
                  </a:solidFill>
                </a:rPr>
                <a:t>160 ft/s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15" name="Oval 63">
              <a:extLst>
                <a:ext uri="{FF2B5EF4-FFF2-40B4-BE49-F238E27FC236}">
                  <a16:creationId xmlns:a16="http://schemas.microsoft.com/office/drawing/2014/main" id="{7317499F-7F82-16AA-0F16-052E8DDC3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1248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Oval 64">
              <a:extLst>
                <a:ext uri="{FF2B5EF4-FFF2-40B4-BE49-F238E27FC236}">
                  <a16:creationId xmlns:a16="http://schemas.microsoft.com/office/drawing/2014/main" id="{4BAAFC11-A04C-5083-9F8C-3F92D40BE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041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Oval 65">
              <a:extLst>
                <a:ext uri="{FF2B5EF4-FFF2-40B4-BE49-F238E27FC236}">
                  <a16:creationId xmlns:a16="http://schemas.microsoft.com/office/drawing/2014/main" id="{85AA34BF-2AB9-C0CC-3A63-236CC7AE3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2039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8" name="Text Box 66">
              <a:extLst>
                <a:ext uri="{FF2B5EF4-FFF2-40B4-BE49-F238E27FC236}">
                  <a16:creationId xmlns:a16="http://schemas.microsoft.com/office/drawing/2014/main" id="{43E08DF9-852E-A2DB-A722-C45D96D25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968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endParaRPr kumimoji="0" lang="es-MX" altLang="es-CO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9" name="Text Box 67">
              <a:extLst>
                <a:ext uri="{FF2B5EF4-FFF2-40B4-BE49-F238E27FC236}">
                  <a16:creationId xmlns:a16="http://schemas.microsoft.com/office/drawing/2014/main" id="{E80E50B2-162F-D1AF-5EC3-8A617FBC7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6" y="185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  <p:sp>
          <p:nvSpPr>
            <p:cNvPr id="20" name="Oval 68">
              <a:extLst>
                <a:ext uri="{FF2B5EF4-FFF2-40B4-BE49-F238E27FC236}">
                  <a16:creationId xmlns:a16="http://schemas.microsoft.com/office/drawing/2014/main" id="{81668010-594D-6D46-FF86-142195E51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2029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Oval 69">
              <a:extLst>
                <a:ext uri="{FF2B5EF4-FFF2-40B4-BE49-F238E27FC236}">
                  <a16:creationId xmlns:a16="http://schemas.microsoft.com/office/drawing/2014/main" id="{33FCF3C1-8B36-D562-B616-DAE4BB3E8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" y="2039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Oval 70">
              <a:extLst>
                <a:ext uri="{FF2B5EF4-FFF2-40B4-BE49-F238E27FC236}">
                  <a16:creationId xmlns:a16="http://schemas.microsoft.com/office/drawing/2014/main" id="{EA44E28B-B704-B9DC-FB83-F9E8AC7C1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84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Oval 71">
              <a:extLst>
                <a:ext uri="{FF2B5EF4-FFF2-40B4-BE49-F238E27FC236}">
                  <a16:creationId xmlns:a16="http://schemas.microsoft.com/office/drawing/2014/main" id="{E46F8D6E-5ACF-DD86-14FE-615DC1D20ED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416" y="1584"/>
              <a:ext cx="144" cy="144"/>
            </a:xfrm>
            <a:prstGeom prst="ellipse">
              <a:avLst/>
            </a:prstGeom>
            <a:solidFill>
              <a:srgbClr val="FF0066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4" name="Text Box 72">
              <a:extLst>
                <a:ext uri="{FF2B5EF4-FFF2-40B4-BE49-F238E27FC236}">
                  <a16:creationId xmlns:a16="http://schemas.microsoft.com/office/drawing/2014/main" id="{41530F87-8D3A-393D-75D6-D692D43EE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16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i="0">
                  <a:solidFill>
                    <a:srgbClr val="000000"/>
                  </a:solidFill>
                </a:rPr>
                <a:t>0 s</a:t>
              </a:r>
            </a:p>
          </p:txBody>
        </p:sp>
        <p:sp>
          <p:nvSpPr>
            <p:cNvPr id="25" name="Text Box 73">
              <a:extLst>
                <a:ext uri="{FF2B5EF4-FFF2-40B4-BE49-F238E27FC236}">
                  <a16:creationId xmlns:a16="http://schemas.microsoft.com/office/drawing/2014/main" id="{0E51C484-E444-7525-2CD2-19A38D3BC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160"/>
              <a:ext cx="4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i="0">
                  <a:solidFill>
                    <a:srgbClr val="000000"/>
                  </a:solidFill>
                </a:rPr>
                <a:t>4 s</a:t>
              </a:r>
            </a:p>
          </p:txBody>
        </p:sp>
        <p:sp>
          <p:nvSpPr>
            <p:cNvPr id="26" name="Line 74">
              <a:extLst>
                <a:ext uri="{FF2B5EF4-FFF2-40B4-BE49-F238E27FC236}">
                  <a16:creationId xmlns:a16="http://schemas.microsoft.com/office/drawing/2014/main" id="{D95CDCC7-2623-059F-754A-6C399D54B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112"/>
              <a:ext cx="43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Line 75">
              <a:extLst>
                <a:ext uri="{FF2B5EF4-FFF2-40B4-BE49-F238E27FC236}">
                  <a16:creationId xmlns:a16="http://schemas.microsoft.com/office/drawing/2014/main" id="{BD0F477E-BD36-FDBC-B129-A149B1454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7" y="1669"/>
              <a:ext cx="0" cy="3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Text Box 76">
              <a:extLst>
                <a:ext uri="{FF2B5EF4-FFF2-40B4-BE49-F238E27FC236}">
                  <a16:creationId xmlns:a16="http://schemas.microsoft.com/office/drawing/2014/main" id="{037C5008-BFD9-A8BA-88FB-656402F16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8" y="873"/>
              <a:ext cx="16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= -32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ft/s</a:t>
              </a:r>
              <a:r>
                <a:rPr kumimoji="0" lang="es-MX" altLang="es-CO" sz="2400" i="0" baseline="30000" dirty="0">
                  <a:solidFill>
                    <a:srgbClr val="000000"/>
                  </a:solidFill>
                </a:rPr>
                <a:t>2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</a:t>
              </a:r>
              <a:endParaRPr kumimoji="0" lang="es-MX" altLang="es-CO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29" name="Line 77">
              <a:extLst>
                <a:ext uri="{FF2B5EF4-FFF2-40B4-BE49-F238E27FC236}">
                  <a16:creationId xmlns:a16="http://schemas.microsoft.com/office/drawing/2014/main" id="{07236313-2DF7-F043-FC85-1F867CD07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1680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Line 78">
              <a:extLst>
                <a:ext uri="{FF2B5EF4-FFF2-40B4-BE49-F238E27FC236}">
                  <a16:creationId xmlns:a16="http://schemas.microsoft.com/office/drawing/2014/main" id="{E190533C-C604-C968-0CD0-C01E21233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" y="1216"/>
              <a:ext cx="226" cy="4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Text Box 79">
              <a:extLst>
                <a:ext uri="{FF2B5EF4-FFF2-40B4-BE49-F238E27FC236}">
                  <a16:creationId xmlns:a16="http://schemas.microsoft.com/office/drawing/2014/main" id="{37A11780-FB16-D5E5-DA60-D95B9DF49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5" y="1834"/>
              <a:ext cx="4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4</a:t>
              </a:r>
              <a:endParaRPr kumimoji="0" lang="es-MX" altLang="es-CO" sz="2400" dirty="0">
                <a:solidFill>
                  <a:srgbClr val="000000"/>
                </a:solidFill>
              </a:endParaRPr>
            </a:p>
          </p:txBody>
        </p:sp>
        <p:sp>
          <p:nvSpPr>
            <p:cNvPr id="32" name="Oval 80">
              <a:extLst>
                <a:ext uri="{FF2B5EF4-FFF2-40B4-BE49-F238E27FC236}">
                  <a16:creationId xmlns:a16="http://schemas.microsoft.com/office/drawing/2014/main" id="{1B35322B-075A-EB56-93CE-5C4484FD1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248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3" name="Line 82">
              <a:extLst>
                <a:ext uri="{FF2B5EF4-FFF2-40B4-BE49-F238E27FC236}">
                  <a16:creationId xmlns:a16="http://schemas.microsoft.com/office/drawing/2014/main" id="{2ADD68EE-A463-9916-FE01-D9FB54B6B8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680"/>
              <a:ext cx="5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4" name="Line 83">
              <a:extLst>
                <a:ext uri="{FF2B5EF4-FFF2-40B4-BE49-F238E27FC236}">
                  <a16:creationId xmlns:a16="http://schemas.microsoft.com/office/drawing/2014/main" id="{A0943528-B3EA-CCE5-C19D-C38C74B75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680"/>
              <a:ext cx="480" cy="336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5" name="Line 84">
              <a:extLst>
                <a:ext uri="{FF2B5EF4-FFF2-40B4-BE49-F238E27FC236}">
                  <a16:creationId xmlns:a16="http://schemas.microsoft.com/office/drawing/2014/main" id="{F494A6A7-D833-CDB1-86FA-F7840CCF1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016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6" name="Line 85">
              <a:extLst>
                <a:ext uri="{FF2B5EF4-FFF2-40B4-BE49-F238E27FC236}">
                  <a16:creationId xmlns:a16="http://schemas.microsoft.com/office/drawing/2014/main" id="{5172A1A3-1BC3-307E-57F9-65219D63B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680"/>
              <a:ext cx="0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38" name="Group 87">
            <a:extLst>
              <a:ext uri="{FF2B5EF4-FFF2-40B4-BE49-F238E27FC236}">
                <a16:creationId xmlns:a16="http://schemas.microsoft.com/office/drawing/2014/main" id="{8402FF86-4B03-5CD1-7214-E816BC61CA84}"/>
              </a:ext>
            </a:extLst>
          </p:cNvPr>
          <p:cNvGrpSpPr>
            <a:grpSpLocks/>
          </p:cNvGrpSpPr>
          <p:nvPr/>
        </p:nvGrpSpPr>
        <p:grpSpPr bwMode="auto">
          <a:xfrm>
            <a:off x="4991725" y="1981201"/>
            <a:ext cx="2092325" cy="903288"/>
            <a:chOff x="2304" y="1392"/>
            <a:chExt cx="1318" cy="569"/>
          </a:xfrm>
        </p:grpSpPr>
        <p:sp>
          <p:nvSpPr>
            <p:cNvPr id="40" name="Rectangle 88">
              <a:extLst>
                <a:ext uri="{FF2B5EF4-FFF2-40B4-BE49-F238E27FC236}">
                  <a16:creationId xmlns:a16="http://schemas.microsoft.com/office/drawing/2014/main" id="{960FB134-9F92-3353-0636-25ACA5F8B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392"/>
              <a:ext cx="113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4x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 = 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139 ft/s</a:t>
              </a:r>
            </a:p>
          </p:txBody>
        </p:sp>
        <p:sp>
          <p:nvSpPr>
            <p:cNvPr id="41" name="Rectangle 89">
              <a:extLst>
                <a:ext uri="{FF2B5EF4-FFF2-40B4-BE49-F238E27FC236}">
                  <a16:creationId xmlns:a16="http://schemas.microsoft.com/office/drawing/2014/main" id="{526DDC43-AA79-CFEF-73C1-661416300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1670"/>
              <a:ext cx="13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i="0" baseline="-25000" dirty="0">
                  <a:solidFill>
                    <a:srgbClr val="000000"/>
                  </a:solidFill>
                </a:rPr>
                <a:t>4y</a:t>
              </a:r>
              <a:r>
                <a:rPr kumimoji="0" lang="es-MX" altLang="es-CO" sz="2400" i="0" dirty="0">
                  <a:solidFill>
                    <a:srgbClr val="000000"/>
                  </a:solidFill>
                </a:rPr>
                <a:t> = - 48.0 ft/s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11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5" grpId="0" animBg="1" autoUpdateAnimBg="0"/>
      <p:bldP spid="6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EE546-2E96-ADA4-F240-0239A4D3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3C5108F-C71B-2593-B3D9-E57CE4ACC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4135" y="-40051"/>
            <a:ext cx="11557417" cy="785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Ejemplo:</a:t>
            </a:r>
            <a:r>
              <a:rPr lang="es-MX" altLang="es-CO" sz="2400" dirty="0"/>
              <a:t> ¿Cuáles son la altura máxima y el rango de un proyectil si </a:t>
            </a:r>
            <a:r>
              <a:rPr lang="es-MX" altLang="es-CO" sz="2400" i="1" dirty="0" err="1"/>
              <a:t>v</a:t>
            </a:r>
            <a:r>
              <a:rPr lang="es-MX" altLang="es-CO" sz="2400" i="1" baseline="-25000" dirty="0" err="1"/>
              <a:t>o</a:t>
            </a:r>
            <a:r>
              <a:rPr lang="es-MX" altLang="es-CO" sz="2400" dirty="0"/>
              <a:t> = 28 m/s a 30</a:t>
            </a:r>
            <a:r>
              <a:rPr lang="es-MX" altLang="es-CO" sz="2400" baseline="30000" dirty="0"/>
              <a:t>0</a:t>
            </a:r>
            <a:r>
              <a:rPr lang="es-MX" altLang="es-CO" sz="2400" dirty="0"/>
              <a:t>?</a:t>
            </a:r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71DCBED7-FE24-9EEB-996F-DC08F1D9B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7581" y="5685970"/>
            <a:ext cx="807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0" lang="es-MX" altLang="es-CO" sz="2400" dirty="0" err="1"/>
              <a:t>y</a:t>
            </a:r>
            <a:r>
              <a:rPr kumimoji="0" lang="es-MX" altLang="es-CO" sz="2400" baseline="-25000" dirty="0" err="1"/>
              <a:t>max</a:t>
            </a:r>
            <a:r>
              <a:rPr kumimoji="0" lang="es-MX" altLang="es-CO" sz="2400" dirty="0"/>
              <a:t> </a:t>
            </a:r>
            <a:r>
              <a:rPr kumimoji="0" lang="es-MX" altLang="es-CO" sz="2400" i="0" dirty="0"/>
              <a:t>ocurre cuando</a:t>
            </a:r>
            <a:r>
              <a:rPr kumimoji="0" lang="es-MX" altLang="es-CO" sz="2400" dirty="0"/>
              <a:t> </a:t>
            </a:r>
            <a:r>
              <a:rPr kumimoji="0" lang="es-MX" altLang="es-CO" sz="2400" i="0" dirty="0"/>
              <a:t>14</a:t>
            </a:r>
            <a:r>
              <a:rPr kumimoji="0" lang="es-MX" altLang="es-CO" sz="2400" dirty="0"/>
              <a:t> – </a:t>
            </a:r>
            <a:r>
              <a:rPr kumimoji="0" lang="es-MX" altLang="es-CO" sz="2400" i="0" dirty="0"/>
              <a:t>9.8</a:t>
            </a:r>
            <a:r>
              <a:rPr kumimoji="0" lang="es-MX" altLang="es-CO" sz="2400" dirty="0"/>
              <a:t>t </a:t>
            </a:r>
            <a:r>
              <a:rPr kumimoji="0" lang="es-MX" altLang="es-CO" sz="2400" i="0" dirty="0"/>
              <a:t>= 0</a:t>
            </a:r>
            <a:r>
              <a:rPr kumimoji="0" lang="es-MX" altLang="es-CO" sz="2400" dirty="0"/>
              <a:t>  </a:t>
            </a:r>
            <a:r>
              <a:rPr kumimoji="0" lang="es-MX" altLang="es-CO" sz="2400" i="0" dirty="0"/>
              <a:t>o </a:t>
            </a:r>
            <a:r>
              <a:rPr kumimoji="0" lang="es-MX" altLang="es-CO" sz="2400" dirty="0"/>
              <a:t>t </a:t>
            </a:r>
            <a:r>
              <a:rPr kumimoji="0" lang="es-MX" altLang="es-CO" sz="2400" i="0" dirty="0"/>
              <a:t>= 1.43 s</a:t>
            </a:r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E55C2288-05EB-3202-7C96-F79178E15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7543" y="4309137"/>
            <a:ext cx="861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i="0" dirty="0"/>
              <a:t>La máxima coordenada </a:t>
            </a:r>
            <a:r>
              <a:rPr kumimoji="0" lang="es-MX" altLang="es-CO" sz="2400" dirty="0"/>
              <a:t>y </a:t>
            </a:r>
            <a:r>
              <a:rPr kumimoji="0" lang="es-MX" altLang="es-CO" sz="2400" i="0" dirty="0"/>
              <a:t>ocurre cuando </a:t>
            </a:r>
            <a:r>
              <a:rPr kumimoji="0" lang="es-MX" altLang="es-CO" sz="2400" dirty="0" err="1"/>
              <a:t>v</a:t>
            </a:r>
            <a:r>
              <a:rPr kumimoji="0" lang="es-MX" altLang="es-CO" sz="2400" baseline="-25000" dirty="0" err="1"/>
              <a:t>y</a:t>
            </a:r>
            <a:r>
              <a:rPr kumimoji="0" lang="es-MX" altLang="es-CO" sz="2400" dirty="0"/>
              <a:t> </a:t>
            </a:r>
            <a:r>
              <a:rPr kumimoji="0" lang="es-MX" altLang="es-CO" sz="2400" i="0" dirty="0"/>
              <a:t>= 0</a:t>
            </a:r>
            <a:r>
              <a:rPr kumimoji="0" lang="es-MX" altLang="es-CO" sz="2400" dirty="0"/>
              <a:t>:</a:t>
            </a:r>
          </a:p>
        </p:txBody>
      </p:sp>
      <p:grpSp>
        <p:nvGrpSpPr>
          <p:cNvPr id="5" name="Group 32">
            <a:extLst>
              <a:ext uri="{FF2B5EF4-FFF2-40B4-BE49-F238E27FC236}">
                <a16:creationId xmlns:a16="http://schemas.microsoft.com/office/drawing/2014/main" id="{B2725B68-2D18-D1E6-A441-9FC1EADF3884}"/>
              </a:ext>
            </a:extLst>
          </p:cNvPr>
          <p:cNvGrpSpPr>
            <a:grpSpLocks/>
          </p:cNvGrpSpPr>
          <p:nvPr/>
        </p:nvGrpSpPr>
        <p:grpSpPr bwMode="auto">
          <a:xfrm>
            <a:off x="2180443" y="817372"/>
            <a:ext cx="7924800" cy="1905000"/>
            <a:chOff x="432" y="1104"/>
            <a:chExt cx="4992" cy="1200"/>
          </a:xfrm>
        </p:grpSpPr>
        <p:sp>
          <p:nvSpPr>
            <p:cNvPr id="6" name="Rectangle 26">
              <a:extLst>
                <a:ext uri="{FF2B5EF4-FFF2-40B4-BE49-F238E27FC236}">
                  <a16:creationId xmlns:a16="http://schemas.microsoft.com/office/drawing/2014/main" id="{66B96FD2-9209-E5D8-17FC-898D528FC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104"/>
              <a:ext cx="4992" cy="1200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21CA8D4C-846E-A0F4-276C-2F8A31C6C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918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0C412D32-B5EC-2AB9-D7E3-35112A13F5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7" y="1604"/>
              <a:ext cx="576" cy="38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E8D1AA8A-D82B-1290-74AE-43CEA6E2E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004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E5142C3B-3685-D4EF-73B4-5652ECFE0F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" y="1582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5511A332-8623-11B5-2719-2A504B7D4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142"/>
              <a:ext cx="3744" cy="776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F999E2CD-346E-5436-C8C5-F794F3143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1303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oy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DD698054-B63C-979D-24B5-75BDDF5B8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38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28 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m/s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2A278535-ECF1-BAC8-68E4-53D337F6F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1956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>
                  <a:solidFill>
                    <a:srgbClr val="000000"/>
                  </a:solidFill>
                </a:rPr>
                <a:t>ox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6B391E2C-7625-F915-8D2D-EC5021611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7" y="1699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30</a:t>
              </a:r>
              <a:r>
                <a:rPr kumimoji="0" lang="es-MX" altLang="es-CO" sz="2400" i="0" baseline="30000" dirty="0">
                  <a:solidFill>
                    <a:srgbClr val="000000"/>
                  </a:solidFill>
                </a:rPr>
                <a:t>o</a:t>
              </a:r>
              <a:endParaRPr kumimoji="0" lang="es-MX" altLang="es-CO" i="0" dirty="0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6" name="Line 25">
              <a:extLst>
                <a:ext uri="{FF2B5EF4-FFF2-40B4-BE49-F238E27FC236}">
                  <a16:creationId xmlns:a16="http://schemas.microsoft.com/office/drawing/2014/main" id="{C40F0D40-BE31-D4F5-1F39-31611D603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38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256804F5-69DB-9D1E-B9DE-10E6766AC4D0}"/>
              </a:ext>
            </a:extLst>
          </p:cNvPr>
          <p:cNvGrpSpPr>
            <a:grpSpLocks/>
          </p:cNvGrpSpPr>
          <p:nvPr/>
        </p:nvGrpSpPr>
        <p:grpSpPr bwMode="auto">
          <a:xfrm>
            <a:off x="4618843" y="893572"/>
            <a:ext cx="2667000" cy="1371600"/>
            <a:chOff x="1920" y="1152"/>
            <a:chExt cx="1680" cy="864"/>
          </a:xfrm>
        </p:grpSpPr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726434F8-5E24-71F8-E8A4-5D96967789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152"/>
              <a:ext cx="0" cy="8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Text Box 28">
              <a:extLst>
                <a:ext uri="{FF2B5EF4-FFF2-40B4-BE49-F238E27FC236}">
                  <a16:creationId xmlns:a16="http://schemas.microsoft.com/office/drawing/2014/main" id="{29356AE2-8062-1EF2-80E4-EFE409F0C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392"/>
              <a:ext cx="720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>
                  <a:solidFill>
                    <a:srgbClr val="000000"/>
                  </a:solidFill>
                </a:rPr>
                <a:t>y</a:t>
              </a:r>
              <a:r>
                <a:rPr lang="es-MX" altLang="es-CO" baseline="-25000">
                  <a:solidFill>
                    <a:srgbClr val="000000"/>
                  </a:solidFill>
                </a:rPr>
                <a:t>max</a:t>
              </a:r>
              <a:endParaRPr lang="es-MX" altLang="es-CO">
                <a:solidFill>
                  <a:srgbClr val="000000"/>
                </a:solidFill>
              </a:endParaRPr>
            </a:p>
          </p:txBody>
        </p:sp>
        <p:sp>
          <p:nvSpPr>
            <p:cNvPr id="20" name="Text Box 29">
              <a:extLst>
                <a:ext uri="{FF2B5EF4-FFF2-40B4-BE49-F238E27FC236}">
                  <a16:creationId xmlns:a16="http://schemas.microsoft.com/office/drawing/2014/main" id="{8A83A6E6-9ED7-6723-B7D5-4EC3F8EBB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344"/>
              <a:ext cx="8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 err="1">
                  <a:solidFill>
                    <a:srgbClr val="000000"/>
                  </a:solidFill>
                </a:rPr>
                <a:t>y</a:t>
              </a:r>
              <a:r>
                <a:rPr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= 0</a:t>
              </a:r>
            </a:p>
          </p:txBody>
        </p:sp>
        <p:sp>
          <p:nvSpPr>
            <p:cNvPr id="21" name="Line 30">
              <a:extLst>
                <a:ext uri="{FF2B5EF4-FFF2-40B4-BE49-F238E27FC236}">
                  <a16:creationId xmlns:a16="http://schemas.microsoft.com/office/drawing/2014/main" id="{780D6FD6-AF21-C580-7CFE-7F794AE09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3" y="1182"/>
              <a:ext cx="448" cy="21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s-CO"/>
            </a:p>
          </p:txBody>
        </p:sp>
      </p:grpSp>
      <p:graphicFrame>
        <p:nvGraphicFramePr>
          <p:cNvPr id="22" name="Object 33">
            <a:extLst>
              <a:ext uri="{FF2B5EF4-FFF2-40B4-BE49-F238E27FC236}">
                <a16:creationId xmlns:a16="http://schemas.microsoft.com/office/drawing/2014/main" id="{144B4B37-19DC-9AA1-E603-A55CE6D687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480590"/>
              </p:ext>
            </p:extLst>
          </p:nvPr>
        </p:nvGraphicFramePr>
        <p:xfrm>
          <a:off x="3018643" y="4817698"/>
          <a:ext cx="6705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38280" imgH="253800" progId="Equation.DSMT4">
                  <p:embed/>
                </p:oleObj>
              </mc:Choice>
              <mc:Fallback>
                <p:oleObj name="Equation" r:id="rId5" imgW="2438280" imgH="253800" progId="Equation.DSMT4">
                  <p:embed/>
                  <p:pic>
                    <p:nvPicPr>
                      <p:cNvPr id="487457" name="Object 33">
                        <a:extLst>
                          <a:ext uri="{FF2B5EF4-FFF2-40B4-BE49-F238E27FC236}">
                            <a16:creationId xmlns:a16="http://schemas.microsoft.com/office/drawing/2014/main" id="{83AF8583-351D-A706-E348-710D54D2C4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643" y="4817698"/>
                        <a:ext cx="6705600" cy="6985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34">
            <a:extLst>
              <a:ext uri="{FF2B5EF4-FFF2-40B4-BE49-F238E27FC236}">
                <a16:creationId xmlns:a16="http://schemas.microsoft.com/office/drawing/2014/main" id="{77D48DDE-044E-5282-CA62-06869B7D3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0639" y="866585"/>
            <a:ext cx="19622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baseline="-25000" dirty="0">
                <a:solidFill>
                  <a:srgbClr val="000000"/>
                </a:solidFill>
              </a:rPr>
              <a:t>ox</a:t>
            </a:r>
            <a:r>
              <a:rPr lang="es-MX" altLang="es-CO" sz="2400" dirty="0">
                <a:solidFill>
                  <a:srgbClr val="000000"/>
                </a:solidFill>
              </a:rPr>
              <a:t> = </a:t>
            </a:r>
            <a:r>
              <a:rPr lang="es-MX" altLang="es-CO" sz="2400" i="0" dirty="0">
                <a:solidFill>
                  <a:srgbClr val="000000"/>
                </a:solidFill>
              </a:rPr>
              <a:t>24.2 m/s</a:t>
            </a:r>
          </a:p>
        </p:txBody>
      </p:sp>
      <p:sp>
        <p:nvSpPr>
          <p:cNvPr id="24" name="Rectangle 35">
            <a:extLst>
              <a:ext uri="{FF2B5EF4-FFF2-40B4-BE49-F238E27FC236}">
                <a16:creationId xmlns:a16="http://schemas.microsoft.com/office/drawing/2014/main" id="{EE46BD9D-5399-D07B-7967-EB1E0BF76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319" y="1262319"/>
            <a:ext cx="19395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i="0" baseline="-25000" dirty="0">
                <a:solidFill>
                  <a:srgbClr val="000000"/>
                </a:solidFill>
              </a:rPr>
              <a:t>oy</a:t>
            </a:r>
            <a:r>
              <a:rPr lang="es-MX" altLang="es-CO" sz="2400" i="0" dirty="0">
                <a:solidFill>
                  <a:srgbClr val="000000"/>
                </a:solidFill>
              </a:rPr>
              <a:t> = + 14 m/s</a:t>
            </a:r>
          </a:p>
        </p:txBody>
      </p:sp>
      <p:graphicFrame>
        <p:nvGraphicFramePr>
          <p:cNvPr id="25" name="Object 36">
            <a:extLst>
              <a:ext uri="{FF2B5EF4-FFF2-40B4-BE49-F238E27FC236}">
                <a16:creationId xmlns:a16="http://schemas.microsoft.com/office/drawing/2014/main" id="{02058A40-8951-ED71-4DE2-92953D7DE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989977"/>
              </p:ext>
            </p:extLst>
          </p:nvPr>
        </p:nvGraphicFramePr>
        <p:xfrm>
          <a:off x="3407581" y="2874598"/>
          <a:ext cx="54102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19240" imgH="241200" progId="Equation.DSMT4">
                  <p:embed/>
                </p:oleObj>
              </mc:Choice>
              <mc:Fallback>
                <p:oleObj name="Equation" r:id="rId7" imgW="2019240" imgH="241200" progId="Equation.DSMT4">
                  <p:embed/>
                  <p:pic>
                    <p:nvPicPr>
                      <p:cNvPr id="487460" name="Object 36">
                        <a:extLst>
                          <a:ext uri="{FF2B5EF4-FFF2-40B4-BE49-F238E27FC236}">
                            <a16:creationId xmlns:a16="http://schemas.microsoft.com/office/drawing/2014/main" id="{68170A79-B0A5-2162-AB68-6E6299078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581" y="2874598"/>
                        <a:ext cx="5410200" cy="67468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utoShape 39">
            <a:extLst>
              <a:ext uri="{FF2B5EF4-FFF2-40B4-BE49-F238E27FC236}">
                <a16:creationId xmlns:a16="http://schemas.microsoft.com/office/drawing/2014/main" id="{D8B1AFE8-B6CD-B4A5-9D63-E64EF3CB2DE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407581" y="3484198"/>
            <a:ext cx="53340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7" name="Rectangle 42">
            <a:extLst>
              <a:ext uri="{FF2B5EF4-FFF2-40B4-BE49-F238E27FC236}">
                <a16:creationId xmlns:a16="http://schemas.microsoft.com/office/drawing/2014/main" id="{A910F1BE-21F1-FC14-0635-1178FAB35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7581" y="3560398"/>
            <a:ext cx="5402263" cy="51752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s-MX" altLang="es-CO" sz="3400" dirty="0">
                <a:solidFill>
                  <a:srgbClr val="FFFFFF"/>
                </a:solidFill>
                <a:latin typeface="Times New Roman" panose="02020603050405020304" pitchFamily="18" charset="0"/>
              </a:rPr>
              <a:t>v</a:t>
            </a:r>
            <a:r>
              <a:rPr lang="es-MX" altLang="es-CO" sz="3400" i="0" baseline="-25000" dirty="0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  <a:r>
              <a:rPr lang="es-MX" altLang="es-CO" sz="3400" baseline="-25000" dirty="0">
                <a:solidFill>
                  <a:srgbClr val="FFFFFF"/>
                </a:solidFill>
                <a:latin typeface="Times New Roman" panose="02020603050405020304" pitchFamily="18" charset="0"/>
              </a:rPr>
              <a:t>y</a:t>
            </a:r>
            <a:r>
              <a:rPr lang="es-MX" altLang="es-CO" sz="3400" i="0" dirty="0">
                <a:solidFill>
                  <a:srgbClr val="FFFFFF"/>
                </a:solidFill>
                <a:latin typeface="Times New Roman" panose="02020603050405020304" pitchFamily="18" charset="0"/>
              </a:rPr>
              <a:t> = (28 m/s) sen 30° = 14 m/s</a:t>
            </a:r>
            <a:endParaRPr lang="es-MX" altLang="es-CO" dirty="0"/>
          </a:p>
        </p:txBody>
      </p:sp>
    </p:spTree>
    <p:extLst>
      <p:ext uri="{BB962C8B-B14F-4D97-AF65-F5344CB8AC3E}">
        <p14:creationId xmlns:p14="http://schemas.microsoft.com/office/powerpoint/2010/main" val="362915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autoUpdateAnimBg="0"/>
      <p:bldP spid="4" grpId="0" autoUpdateAnimBg="0"/>
      <p:bldP spid="23" grpId="0" autoUpdateAnimBg="0"/>
      <p:bldP spid="24" grpId="0" autoUpdateAnimBg="0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A348D-2796-8321-B566-1B333B57B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23258D9-2B4A-9097-0CFC-B9D4E2A4C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82" y="39168"/>
            <a:ext cx="10696732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¿Cuál es la altura máxima del proyectil si v = 28 m/s a 30</a:t>
            </a:r>
            <a:r>
              <a:rPr lang="es-MX" altLang="es-CO" sz="2400" baseline="30000" dirty="0"/>
              <a:t>0</a:t>
            </a:r>
            <a:r>
              <a:rPr lang="es-MX" altLang="es-CO" sz="2400" dirty="0"/>
              <a:t>?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7FD02C18-566C-ED1D-C80E-776979B36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1148" y="3334270"/>
            <a:ext cx="868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i="0" dirty="0"/>
              <a:t>La máxima coordenada </a:t>
            </a:r>
            <a:r>
              <a:rPr kumimoji="0" lang="es-MX" altLang="es-CO" sz="2400" dirty="0"/>
              <a:t>y </a:t>
            </a:r>
            <a:r>
              <a:rPr kumimoji="0" lang="es-MX" altLang="es-CO" sz="2400" i="0" dirty="0"/>
              <a:t>ocurre cuando </a:t>
            </a:r>
            <a:r>
              <a:rPr kumimoji="0" lang="es-MX" altLang="es-CO" sz="2400" dirty="0"/>
              <a:t>t </a:t>
            </a:r>
            <a:r>
              <a:rPr kumimoji="0" lang="es-MX" altLang="es-CO" sz="2400" i="0" dirty="0"/>
              <a:t>= 1.43 s</a:t>
            </a:r>
            <a:r>
              <a:rPr kumimoji="0" lang="es-MX" altLang="es-CO" sz="2400" dirty="0"/>
              <a:t>: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7053CE12-055D-B071-45F5-BDBE6E1E7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0657" y="5039574"/>
            <a:ext cx="2590800" cy="646331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137160" bIns="137160">
            <a:spAutoFit/>
          </a:bodyPr>
          <a:lstStyle/>
          <a:p>
            <a:r>
              <a:rPr kumimoji="0" lang="es-MX" altLang="es-CO" sz="2400">
                <a:solidFill>
                  <a:srgbClr val="000000"/>
                </a:solidFill>
              </a:rPr>
              <a:t>y</a:t>
            </a:r>
            <a:r>
              <a:rPr kumimoji="0" lang="es-MX" altLang="es-CO" sz="2400" baseline="-25000">
                <a:solidFill>
                  <a:srgbClr val="000000"/>
                </a:solidFill>
              </a:rPr>
              <a:t>max</a:t>
            </a:r>
            <a:r>
              <a:rPr kumimoji="0" lang="es-MX" altLang="es-CO" sz="2400" i="0">
                <a:solidFill>
                  <a:srgbClr val="000000"/>
                </a:solidFill>
              </a:rPr>
              <a:t>= 10.0</a:t>
            </a:r>
            <a:r>
              <a:rPr kumimoji="0" lang="es-MX" altLang="es-CO" sz="2400">
                <a:solidFill>
                  <a:srgbClr val="000000"/>
                </a:solidFill>
              </a:rPr>
              <a:t> </a:t>
            </a:r>
            <a:r>
              <a:rPr kumimoji="0" lang="es-MX" altLang="es-CO" sz="2400" i="0">
                <a:solidFill>
                  <a:srgbClr val="000000"/>
                </a:solidFill>
              </a:rPr>
              <a:t>m</a:t>
            </a:r>
            <a:endParaRPr kumimoji="0" lang="es-MX" altLang="es-CO" sz="2400">
              <a:solidFill>
                <a:srgbClr val="000000"/>
              </a:solidFill>
            </a:endParaRPr>
          </a:p>
        </p:txBody>
      </p:sp>
      <p:graphicFrame>
        <p:nvGraphicFramePr>
          <p:cNvPr id="25" name="Object 26">
            <a:extLst>
              <a:ext uri="{FF2B5EF4-FFF2-40B4-BE49-F238E27FC236}">
                <a16:creationId xmlns:a16="http://schemas.microsoft.com/office/drawing/2014/main" id="{03C7559F-E4D8-8B0F-CADB-CC90DCEA4C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62390"/>
              </p:ext>
            </p:extLst>
          </p:nvPr>
        </p:nvGraphicFramePr>
        <p:xfrm>
          <a:off x="2240535" y="3944909"/>
          <a:ext cx="7745413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65360" imgH="253800" progId="Equation.DSMT4">
                  <p:embed/>
                </p:oleObj>
              </mc:Choice>
              <mc:Fallback>
                <p:oleObj name="Equation" r:id="rId5" imgW="2565360" imgH="253800" progId="Equation.DSMT4">
                  <p:embed/>
                  <p:pic>
                    <p:nvPicPr>
                      <p:cNvPr id="522266" name="Object 26">
                        <a:extLst>
                          <a:ext uri="{FF2B5EF4-FFF2-40B4-BE49-F238E27FC236}">
                            <a16:creationId xmlns:a16="http://schemas.microsoft.com/office/drawing/2014/main" id="{51AA8947-9BAB-2A04-98C6-6BD0C44D5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535" y="3944909"/>
                        <a:ext cx="7745413" cy="7667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>
            <a:extLst>
              <a:ext uri="{FF2B5EF4-FFF2-40B4-BE49-F238E27FC236}">
                <a16:creationId xmlns:a16="http://schemas.microsoft.com/office/drawing/2014/main" id="{5174505A-BDA6-2B65-F43C-E7510C45F2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454454"/>
              </p:ext>
            </p:extLst>
          </p:nvPr>
        </p:nvGraphicFramePr>
        <p:xfrm>
          <a:off x="2285012" y="5018425"/>
          <a:ext cx="31432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1120" imgH="203040" progId="Equation.DSMT4">
                  <p:embed/>
                </p:oleObj>
              </mc:Choice>
              <mc:Fallback>
                <p:oleObj name="Equation" r:id="rId7" imgW="1041120" imgH="203040" progId="Equation.DSMT4">
                  <p:embed/>
                  <p:pic>
                    <p:nvPicPr>
                      <p:cNvPr id="522267" name="Object 27">
                        <a:extLst>
                          <a:ext uri="{FF2B5EF4-FFF2-40B4-BE49-F238E27FC236}">
                            <a16:creationId xmlns:a16="http://schemas.microsoft.com/office/drawing/2014/main" id="{068A6D7E-EDE0-F384-A114-47E1F42918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012" y="5018425"/>
                        <a:ext cx="3143250" cy="6143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32">
            <a:extLst>
              <a:ext uri="{FF2B5EF4-FFF2-40B4-BE49-F238E27FC236}">
                <a16:creationId xmlns:a16="http://schemas.microsoft.com/office/drawing/2014/main" id="{95B6EB3F-0619-7336-58D5-DB3578F64FF4}"/>
              </a:ext>
            </a:extLst>
          </p:cNvPr>
          <p:cNvGrpSpPr>
            <a:grpSpLocks/>
          </p:cNvGrpSpPr>
          <p:nvPr/>
        </p:nvGrpSpPr>
        <p:grpSpPr bwMode="auto">
          <a:xfrm>
            <a:off x="2061148" y="1111770"/>
            <a:ext cx="7924800" cy="1905000"/>
            <a:chOff x="432" y="1104"/>
            <a:chExt cx="4992" cy="1200"/>
          </a:xfrm>
        </p:grpSpPr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FD98F5EA-9F2D-00AE-F5FF-2935933F6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104"/>
              <a:ext cx="4992" cy="1200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Oval 5">
              <a:extLst>
                <a:ext uri="{FF2B5EF4-FFF2-40B4-BE49-F238E27FC236}">
                  <a16:creationId xmlns:a16="http://schemas.microsoft.com/office/drawing/2014/main" id="{02B11FCB-5B64-A95D-0D92-F8DF33214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918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Line 6">
              <a:extLst>
                <a:ext uri="{FF2B5EF4-FFF2-40B4-BE49-F238E27FC236}">
                  <a16:creationId xmlns:a16="http://schemas.microsoft.com/office/drawing/2014/main" id="{3724CB0A-5967-C750-5BEE-1B4240CBA0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7" y="1604"/>
              <a:ext cx="576" cy="38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Line 7">
              <a:extLst>
                <a:ext uri="{FF2B5EF4-FFF2-40B4-BE49-F238E27FC236}">
                  <a16:creationId xmlns:a16="http://schemas.microsoft.com/office/drawing/2014/main" id="{80CCCCF4-D4CE-EA4A-032F-E468A220C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004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2" name="Line 8">
              <a:extLst>
                <a:ext uri="{FF2B5EF4-FFF2-40B4-BE49-F238E27FC236}">
                  <a16:creationId xmlns:a16="http://schemas.microsoft.com/office/drawing/2014/main" id="{285661B7-C780-B6C1-400F-30D7792AB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" y="1582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BEA9EF7C-30AE-854C-0B42-0E0E5A9C2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142"/>
              <a:ext cx="3744" cy="776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4" name="Text Box 10">
              <a:extLst>
                <a:ext uri="{FF2B5EF4-FFF2-40B4-BE49-F238E27FC236}">
                  <a16:creationId xmlns:a16="http://schemas.microsoft.com/office/drawing/2014/main" id="{DDAFABC8-7C15-0EB0-5A02-8B248084F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1303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oy</a:t>
              </a:r>
            </a:p>
          </p:txBody>
        </p:sp>
        <p:sp>
          <p:nvSpPr>
            <p:cNvPr id="35" name="Text Box 11">
              <a:extLst>
                <a:ext uri="{FF2B5EF4-FFF2-40B4-BE49-F238E27FC236}">
                  <a16:creationId xmlns:a16="http://schemas.microsoft.com/office/drawing/2014/main" id="{8EEDBB9D-8EB8-BE9E-1244-F826529C8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38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28 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m/s</a:t>
              </a:r>
            </a:p>
          </p:txBody>
        </p:sp>
        <p:sp>
          <p:nvSpPr>
            <p:cNvPr id="36" name="Text Box 12">
              <a:extLst>
                <a:ext uri="{FF2B5EF4-FFF2-40B4-BE49-F238E27FC236}">
                  <a16:creationId xmlns:a16="http://schemas.microsoft.com/office/drawing/2014/main" id="{BC2A863A-E1C4-90A2-1E27-0806AA7FC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1956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>
                  <a:solidFill>
                    <a:srgbClr val="000000"/>
                  </a:solidFill>
                </a:rPr>
                <a:t>ox</a:t>
              </a:r>
            </a:p>
          </p:txBody>
        </p:sp>
        <p:sp>
          <p:nvSpPr>
            <p:cNvPr id="37" name="Text Box 13">
              <a:extLst>
                <a:ext uri="{FF2B5EF4-FFF2-40B4-BE49-F238E27FC236}">
                  <a16:creationId xmlns:a16="http://schemas.microsoft.com/office/drawing/2014/main" id="{3746BA29-6D75-EF99-CDF0-15C9854C5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7" y="1699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30</a:t>
              </a:r>
              <a:r>
                <a:rPr kumimoji="0" lang="es-MX" altLang="es-CO" sz="2400" i="0" baseline="30000" dirty="0">
                  <a:solidFill>
                    <a:srgbClr val="000000"/>
                  </a:solidFill>
                </a:rPr>
                <a:t>o</a:t>
              </a:r>
              <a:endParaRPr kumimoji="0" lang="es-MX" altLang="es-CO" i="0" dirty="0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38" name="Line 25">
              <a:extLst>
                <a:ext uri="{FF2B5EF4-FFF2-40B4-BE49-F238E27FC236}">
                  <a16:creationId xmlns:a16="http://schemas.microsoft.com/office/drawing/2014/main" id="{34F70D9F-998F-65EB-EF86-FC30B0BA5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38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39" name="Group 31">
            <a:extLst>
              <a:ext uri="{FF2B5EF4-FFF2-40B4-BE49-F238E27FC236}">
                <a16:creationId xmlns:a16="http://schemas.microsoft.com/office/drawing/2014/main" id="{6A0A3175-F38D-37B4-3360-CC40DF43C95B}"/>
              </a:ext>
            </a:extLst>
          </p:cNvPr>
          <p:cNvGrpSpPr>
            <a:grpSpLocks/>
          </p:cNvGrpSpPr>
          <p:nvPr/>
        </p:nvGrpSpPr>
        <p:grpSpPr bwMode="auto">
          <a:xfrm>
            <a:off x="4499548" y="1187970"/>
            <a:ext cx="2667000" cy="1371600"/>
            <a:chOff x="1920" y="1152"/>
            <a:chExt cx="1680" cy="864"/>
          </a:xfrm>
        </p:grpSpPr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EB6AF8DD-925F-2146-568B-43DE30BAE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152"/>
              <a:ext cx="0" cy="8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1" name="Text Box 28">
              <a:extLst>
                <a:ext uri="{FF2B5EF4-FFF2-40B4-BE49-F238E27FC236}">
                  <a16:creationId xmlns:a16="http://schemas.microsoft.com/office/drawing/2014/main" id="{F47A0466-AC96-2DC1-410B-E949963CB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392"/>
              <a:ext cx="720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>
                  <a:solidFill>
                    <a:srgbClr val="000000"/>
                  </a:solidFill>
                </a:rPr>
                <a:t>y</a:t>
              </a:r>
              <a:r>
                <a:rPr lang="es-MX" altLang="es-CO" baseline="-25000">
                  <a:solidFill>
                    <a:srgbClr val="000000"/>
                  </a:solidFill>
                </a:rPr>
                <a:t>max</a:t>
              </a:r>
              <a:endParaRPr lang="es-MX" altLang="es-CO">
                <a:solidFill>
                  <a:srgbClr val="000000"/>
                </a:solidFill>
              </a:endParaRPr>
            </a:p>
          </p:txBody>
        </p:sp>
        <p:sp>
          <p:nvSpPr>
            <p:cNvPr id="42" name="Text Box 29">
              <a:extLst>
                <a:ext uri="{FF2B5EF4-FFF2-40B4-BE49-F238E27FC236}">
                  <a16:creationId xmlns:a16="http://schemas.microsoft.com/office/drawing/2014/main" id="{8FFDD647-57A7-5AD2-5118-F5E58FF70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344"/>
              <a:ext cx="8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 err="1">
                  <a:solidFill>
                    <a:srgbClr val="000000"/>
                  </a:solidFill>
                </a:rPr>
                <a:t>y</a:t>
              </a:r>
              <a:r>
                <a:rPr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= 0</a:t>
              </a:r>
            </a:p>
          </p:txBody>
        </p:sp>
        <p:sp>
          <p:nvSpPr>
            <p:cNvPr id="43" name="Line 30">
              <a:extLst>
                <a:ext uri="{FF2B5EF4-FFF2-40B4-BE49-F238E27FC236}">
                  <a16:creationId xmlns:a16="http://schemas.microsoft.com/office/drawing/2014/main" id="{265CEA58-7BD2-0336-1465-FB5E4EFBDC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3" y="1182"/>
              <a:ext cx="448" cy="21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44" name="Rectangle 34">
            <a:extLst>
              <a:ext uri="{FF2B5EF4-FFF2-40B4-BE49-F238E27FC236}">
                <a16:creationId xmlns:a16="http://schemas.microsoft.com/office/drawing/2014/main" id="{CC7CB6DD-512F-CDB4-A6F0-72D5021B8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1344" y="1160983"/>
            <a:ext cx="19622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baseline="-25000" dirty="0">
                <a:solidFill>
                  <a:srgbClr val="000000"/>
                </a:solidFill>
              </a:rPr>
              <a:t>ox</a:t>
            </a:r>
            <a:r>
              <a:rPr lang="es-MX" altLang="es-CO" sz="2400" dirty="0">
                <a:solidFill>
                  <a:srgbClr val="000000"/>
                </a:solidFill>
              </a:rPr>
              <a:t> = </a:t>
            </a:r>
            <a:r>
              <a:rPr lang="es-MX" altLang="es-CO" sz="2400" i="0" dirty="0">
                <a:solidFill>
                  <a:srgbClr val="000000"/>
                </a:solidFill>
              </a:rPr>
              <a:t>24.2 m/s</a:t>
            </a:r>
          </a:p>
        </p:txBody>
      </p:sp>
      <p:sp>
        <p:nvSpPr>
          <p:cNvPr id="45" name="Rectangle 35">
            <a:extLst>
              <a:ext uri="{FF2B5EF4-FFF2-40B4-BE49-F238E27FC236}">
                <a16:creationId xmlns:a16="http://schemas.microsoft.com/office/drawing/2014/main" id="{F97884A1-89DC-D741-88CA-C09C96D0D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9024" y="1556717"/>
            <a:ext cx="19395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i="0" baseline="-25000" dirty="0">
                <a:solidFill>
                  <a:srgbClr val="000000"/>
                </a:solidFill>
              </a:rPr>
              <a:t>oy</a:t>
            </a:r>
            <a:r>
              <a:rPr lang="es-MX" altLang="es-CO" sz="2400" i="0" dirty="0">
                <a:solidFill>
                  <a:srgbClr val="000000"/>
                </a:solidFill>
              </a:rPr>
              <a:t> = + 14 m/s</a:t>
            </a:r>
          </a:p>
        </p:txBody>
      </p:sp>
    </p:spTree>
    <p:extLst>
      <p:ext uri="{BB962C8B-B14F-4D97-AF65-F5344CB8AC3E}">
        <p14:creationId xmlns:p14="http://schemas.microsoft.com/office/powerpoint/2010/main" val="353525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autoUpdateAnimBg="0" advAuto="0"/>
      <p:bldP spid="4" grpId="0" animBg="1" autoUpdateAnimBg="0"/>
      <p:bldP spid="44" grpId="0" autoUpdateAnimBg="0"/>
      <p:bldP spid="4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ABACC-30B4-175C-EC91-445369B3B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8C31AC7-1477-6B76-0170-02F1B9FEA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41" y="52465"/>
            <a:ext cx="12012118" cy="688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A continuación, encuentre el rango del proyectil si v = 28 m/s a 30</a:t>
            </a:r>
            <a:r>
              <a:rPr lang="es-MX" altLang="es-CO" sz="2400" baseline="30000" dirty="0"/>
              <a:t>0</a:t>
            </a:r>
            <a:r>
              <a:rPr lang="es-MX" altLang="es-CO" sz="2400" dirty="0"/>
              <a:t>.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813D27A-DFB8-DDAC-10B0-A1A4CDED5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646" y="3353972"/>
            <a:ext cx="112276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kumimoji="0" lang="es-MX" altLang="es-CO" sz="2400" i="0" dirty="0"/>
              <a:t>El rango </a:t>
            </a:r>
            <a:r>
              <a:rPr kumimoji="0" lang="es-MX" altLang="es-CO" sz="2400" dirty="0" err="1"/>
              <a:t>x</a:t>
            </a:r>
            <a:r>
              <a:rPr kumimoji="0" lang="es-MX" altLang="es-CO" sz="2400" baseline="-25000" dirty="0" err="1"/>
              <a:t>r</a:t>
            </a:r>
            <a:r>
              <a:rPr kumimoji="0" lang="es-MX" altLang="es-CO" sz="2400" i="0" dirty="0"/>
              <a:t> se define como la distancia horizontal que coincide con el tiempo para el regreso vertical.</a:t>
            </a:r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AD2B5391-294B-40BE-06F4-A623883337D7}"/>
              </a:ext>
            </a:extLst>
          </p:cNvPr>
          <p:cNvGrpSpPr>
            <a:grpSpLocks/>
          </p:cNvGrpSpPr>
          <p:nvPr/>
        </p:nvGrpSpPr>
        <p:grpSpPr bwMode="auto">
          <a:xfrm>
            <a:off x="1769516" y="999709"/>
            <a:ext cx="7959725" cy="1905000"/>
            <a:chOff x="410" y="1104"/>
            <a:chExt cx="5014" cy="1200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40B9DBF4-21FC-7B38-922B-394989EC6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104"/>
              <a:ext cx="4992" cy="1200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7C422C32-5419-2573-BA0D-055CF0C96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918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81ED1EF7-D264-DB93-A7B2-20DBEC6A2E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7" y="1604"/>
              <a:ext cx="576" cy="38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85625D5C-FB2E-7792-3345-683FAC6B1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004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64C87992-DD83-7842-0C1A-215EC46718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" y="1582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ED802ED1-740A-9AA6-D9B2-369A232BE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142"/>
              <a:ext cx="3744" cy="776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3F87C5F2-FE41-A556-5E9B-8E5ADD973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" y="1360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>
                  <a:solidFill>
                    <a:srgbClr val="000000"/>
                  </a:solidFill>
                </a:rPr>
                <a:t>oy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5123737D-0F0B-0EF8-E90D-058423439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" y="1380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28 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m/s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F0E6CF72-9F61-F681-EC7C-A518B9FF9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" y="1961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ox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03B425E9-8CA5-41F8-39DF-9B7812EB6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72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30</a:t>
              </a:r>
              <a:r>
                <a:rPr kumimoji="0" lang="es-MX" altLang="es-CO" sz="2400" i="0" baseline="30000" dirty="0">
                  <a:solidFill>
                    <a:srgbClr val="000000"/>
                  </a:solidFill>
                </a:rPr>
                <a:t>o</a:t>
              </a:r>
              <a:endParaRPr kumimoji="0" lang="es-MX" altLang="es-CO" i="0" dirty="0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362F21B3-5B18-F447-5254-5B3D56318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38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8AA6B685-5D31-C4AD-FA2C-7114F31C2E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1152"/>
              <a:ext cx="0" cy="8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B61343CE-CBEA-3EEE-C1D4-F20C22F06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1123"/>
              <a:ext cx="12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ox</a:t>
              </a:r>
              <a:r>
                <a:rPr lang="es-MX" altLang="es-CO" sz="2400" dirty="0">
                  <a:solidFill>
                    <a:srgbClr val="000000"/>
                  </a:solidFill>
                </a:rPr>
                <a:t> =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24.2 m/s</a:t>
              </a:r>
            </a:p>
          </p:txBody>
        </p: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C4839061-4E88-B17C-6437-4353E739C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1390"/>
              <a:ext cx="12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lang="es-MX" altLang="es-CO" sz="2400" i="0" baseline="-25000" dirty="0">
                  <a:solidFill>
                    <a:srgbClr val="000000"/>
                  </a:solidFill>
                </a:rPr>
                <a:t>oy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 = + 14 m/s</a:t>
              </a:r>
            </a:p>
          </p:txBody>
        </p:sp>
        <p:sp>
          <p:nvSpPr>
            <p:cNvPr id="19" name="Line 26">
              <a:extLst>
                <a:ext uri="{FF2B5EF4-FFF2-40B4-BE49-F238E27FC236}">
                  <a16:creationId xmlns:a16="http://schemas.microsoft.com/office/drawing/2014/main" id="{DCE7CEF0-3393-90CB-D104-F0B717A1A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016"/>
              <a:ext cx="44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Text Box 27">
              <a:extLst>
                <a:ext uri="{FF2B5EF4-FFF2-40B4-BE49-F238E27FC236}">
                  <a16:creationId xmlns:a16="http://schemas.microsoft.com/office/drawing/2014/main" id="{7FF8B4E8-33AB-F094-821C-D768FA0F0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968"/>
              <a:ext cx="18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800">
                  <a:solidFill>
                    <a:srgbClr val="000000"/>
                  </a:solidFill>
                </a:rPr>
                <a:t>Rango x</a:t>
              </a:r>
              <a:r>
                <a:rPr lang="es-MX" altLang="es-CO" sz="2800" baseline="-25000">
                  <a:solidFill>
                    <a:srgbClr val="000000"/>
                  </a:solidFill>
                </a:rPr>
                <a:t>r</a:t>
              </a:r>
              <a:endParaRPr lang="es-MX" altLang="es-CO" sz="2800">
                <a:solidFill>
                  <a:srgbClr val="000000"/>
                </a:solidFill>
              </a:endParaRPr>
            </a:p>
          </p:txBody>
        </p:sp>
      </p:grpSp>
      <p:sp>
        <p:nvSpPr>
          <p:cNvPr id="21" name="Text Box 30">
            <a:extLst>
              <a:ext uri="{FF2B5EF4-FFF2-40B4-BE49-F238E27FC236}">
                <a16:creationId xmlns:a16="http://schemas.microsoft.com/office/drawing/2014/main" id="{14FD1E2A-CE79-91DF-9EE0-6EF3036BA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041" y="4308060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El tiempo de vuelo se encuentra al hacer </a:t>
            </a:r>
            <a:r>
              <a:rPr lang="es-MX" altLang="es-CO" sz="2400" dirty="0"/>
              <a:t>y </a:t>
            </a:r>
            <a:r>
              <a:rPr lang="es-MX" altLang="es-CO" sz="2400" i="0" dirty="0"/>
              <a:t>= 0:</a:t>
            </a:r>
          </a:p>
        </p:txBody>
      </p:sp>
      <p:graphicFrame>
        <p:nvGraphicFramePr>
          <p:cNvPr id="22" name="Object 31">
            <a:extLst>
              <a:ext uri="{FF2B5EF4-FFF2-40B4-BE49-F238E27FC236}">
                <a16:creationId xmlns:a16="http://schemas.microsoft.com/office/drawing/2014/main" id="{A329529A-8641-A88F-8106-72B281311A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079054"/>
              </p:ext>
            </p:extLst>
          </p:nvPr>
        </p:nvGraphicFramePr>
        <p:xfrm>
          <a:off x="2680741" y="5232816"/>
          <a:ext cx="35814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253800" progId="Equation.DSMT4">
                  <p:embed/>
                </p:oleObj>
              </mc:Choice>
              <mc:Fallback>
                <p:oleObj name="Equation" r:id="rId4" imgW="1143000" imgH="253800" progId="Equation.DSMT4">
                  <p:embed/>
                  <p:pic>
                    <p:nvPicPr>
                      <p:cNvPr id="524319" name="Object 31">
                        <a:extLst>
                          <a:ext uri="{FF2B5EF4-FFF2-40B4-BE49-F238E27FC236}">
                            <a16:creationId xmlns:a16="http://schemas.microsoft.com/office/drawing/2014/main" id="{3F194FAB-F3F8-DED6-B91E-09779F8A50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741" y="5232816"/>
                        <a:ext cx="3581400" cy="7953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2">
            <a:extLst>
              <a:ext uri="{FF2B5EF4-FFF2-40B4-BE49-F238E27FC236}">
                <a16:creationId xmlns:a16="http://schemas.microsoft.com/office/drawing/2014/main" id="{8A1FFCBF-E976-2344-324C-B5C7B0493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5541" y="5309016"/>
            <a:ext cx="236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(continúa)</a:t>
            </a:r>
          </a:p>
        </p:txBody>
      </p:sp>
    </p:spTree>
    <p:extLst>
      <p:ext uri="{BB962C8B-B14F-4D97-AF65-F5344CB8AC3E}">
        <p14:creationId xmlns:p14="http://schemas.microsoft.com/office/powerpoint/2010/main" val="95113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autoUpdateAnimBg="0"/>
      <p:bldP spid="21" grpId="0" autoUpdateAnimBg="0"/>
      <p:bldP spid="2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DF739-4C2F-E415-35CF-34882E91A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6087898-00D4-2093-C2D5-73A51952D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833" y="142407"/>
            <a:ext cx="9955967" cy="549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Primero se encuentra el tiempo de vuelo </a:t>
            </a:r>
            <a:r>
              <a:rPr lang="es-MX" altLang="es-CO" sz="2400" i="1" dirty="0" err="1"/>
              <a:t>t</a:t>
            </a:r>
            <a:r>
              <a:rPr lang="es-MX" altLang="es-CO" sz="2400" i="1" baseline="-25000" dirty="0" err="1"/>
              <a:t>r</a:t>
            </a:r>
            <a:r>
              <a:rPr lang="es-MX" altLang="es-CO" sz="2400" dirty="0"/>
              <a:t>, luego el rango </a:t>
            </a:r>
            <a:r>
              <a:rPr lang="es-MX" altLang="es-CO" sz="2400" i="1" dirty="0" err="1"/>
              <a:t>x</a:t>
            </a:r>
            <a:r>
              <a:rPr lang="es-MX" altLang="es-CO" sz="2400" i="1" baseline="-25000" dirty="0" err="1"/>
              <a:t>r</a:t>
            </a:r>
            <a:r>
              <a:rPr lang="es-MX" altLang="es-CO" sz="2400" dirty="0"/>
              <a:t>.</a:t>
            </a:r>
          </a:p>
        </p:txBody>
      </p:sp>
      <p:graphicFrame>
        <p:nvGraphicFramePr>
          <p:cNvPr id="20" name="Object 22">
            <a:extLst>
              <a:ext uri="{FF2B5EF4-FFF2-40B4-BE49-F238E27FC236}">
                <a16:creationId xmlns:a16="http://schemas.microsoft.com/office/drawing/2014/main" id="{3575B794-8FA8-E72C-8B34-1DB201BD5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121120"/>
              </p:ext>
            </p:extLst>
          </p:nvPr>
        </p:nvGraphicFramePr>
        <p:xfrm>
          <a:off x="1850792" y="4428852"/>
          <a:ext cx="23622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080" imgH="241200" progId="Equation.DSMT4">
                  <p:embed/>
                </p:oleObj>
              </mc:Choice>
              <mc:Fallback>
                <p:oleObj name="Equation" r:id="rId5" imgW="838080" imgH="241200" progId="Equation.DSMT4">
                  <p:embed/>
                  <p:pic>
                    <p:nvPicPr>
                      <p:cNvPr id="525334" name="Object 22">
                        <a:extLst>
                          <a:ext uri="{FF2B5EF4-FFF2-40B4-BE49-F238E27FC236}">
                            <a16:creationId xmlns:a16="http://schemas.microsoft.com/office/drawing/2014/main" id="{2D39FAF9-3F71-AF33-8859-2BCB76B40F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792" y="4428852"/>
                        <a:ext cx="2362200" cy="6810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4">
            <a:extLst>
              <a:ext uri="{FF2B5EF4-FFF2-40B4-BE49-F238E27FC236}">
                <a16:creationId xmlns:a16="http://schemas.microsoft.com/office/drawing/2014/main" id="{2376610B-60AA-918E-8FBE-6FF8061AE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647607"/>
            <a:ext cx="312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(Divida por t)</a:t>
            </a:r>
          </a:p>
        </p:txBody>
      </p:sp>
      <p:graphicFrame>
        <p:nvGraphicFramePr>
          <p:cNvPr id="22" name="Object 25">
            <a:extLst>
              <a:ext uri="{FF2B5EF4-FFF2-40B4-BE49-F238E27FC236}">
                <a16:creationId xmlns:a16="http://schemas.microsoft.com/office/drawing/2014/main" id="{63701C0F-DF0B-C943-DB6B-A190A09DE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494221"/>
              </p:ext>
            </p:extLst>
          </p:nvPr>
        </p:nvGraphicFramePr>
        <p:xfrm>
          <a:off x="1600200" y="3571407"/>
          <a:ext cx="35814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0" imgH="253800" progId="Equation.DSMT4">
                  <p:embed/>
                </p:oleObj>
              </mc:Choice>
              <mc:Fallback>
                <p:oleObj name="Equation" r:id="rId7" imgW="1143000" imgH="253800" progId="Equation.DSMT4">
                  <p:embed/>
                  <p:pic>
                    <p:nvPicPr>
                      <p:cNvPr id="525337" name="Object 25">
                        <a:extLst>
                          <a:ext uri="{FF2B5EF4-FFF2-40B4-BE49-F238E27FC236}">
                            <a16:creationId xmlns:a16="http://schemas.microsoft.com/office/drawing/2014/main" id="{AC372B60-48B4-4867-C5B6-E5B668D33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71407"/>
                        <a:ext cx="3581400" cy="7953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6">
            <a:extLst>
              <a:ext uri="{FF2B5EF4-FFF2-40B4-BE49-F238E27FC236}">
                <a16:creationId xmlns:a16="http://schemas.microsoft.com/office/drawing/2014/main" id="{7B516E37-BAA3-3EBB-7A36-07AF127CB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552607"/>
            <a:ext cx="556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 err="1"/>
              <a:t>x</a:t>
            </a:r>
            <a:r>
              <a:rPr lang="es-MX" altLang="es-CO" sz="2400" baseline="-25000" dirty="0" err="1"/>
              <a:t>r</a:t>
            </a:r>
            <a:r>
              <a:rPr lang="es-MX" altLang="es-CO" sz="2400" dirty="0"/>
              <a:t> = </a:t>
            </a:r>
            <a:r>
              <a:rPr lang="es-MX" altLang="es-CO" sz="2400" dirty="0" err="1"/>
              <a:t>v</a:t>
            </a:r>
            <a:r>
              <a:rPr lang="es-MX" altLang="es-CO" sz="2400" baseline="-25000" dirty="0" err="1"/>
              <a:t>ox</a:t>
            </a:r>
            <a:r>
              <a:rPr lang="es-MX" altLang="es-CO" sz="2400" dirty="0" err="1"/>
              <a:t>t</a:t>
            </a:r>
            <a:r>
              <a:rPr lang="es-MX" altLang="es-CO" sz="2400" dirty="0"/>
              <a:t> = </a:t>
            </a:r>
            <a:r>
              <a:rPr lang="es-MX" altLang="es-CO" sz="2400" i="0" dirty="0"/>
              <a:t>(24.2 m/s)(2.86 s);</a:t>
            </a:r>
            <a:endParaRPr lang="es-MX" altLang="es-CO" sz="2400" dirty="0"/>
          </a:p>
        </p:txBody>
      </p:sp>
      <p:sp>
        <p:nvSpPr>
          <p:cNvPr id="24" name="Text Box 27">
            <a:extLst>
              <a:ext uri="{FF2B5EF4-FFF2-40B4-BE49-F238E27FC236}">
                <a16:creationId xmlns:a16="http://schemas.microsoft.com/office/drawing/2014/main" id="{4B44AC21-2115-1A73-21AD-8C0961754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476407"/>
            <a:ext cx="2209800" cy="507831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</a:rPr>
              <a:t>x</a:t>
            </a:r>
            <a:r>
              <a:rPr lang="es-MX" altLang="es-CO" sz="2400" baseline="-25000">
                <a:solidFill>
                  <a:srgbClr val="000000"/>
                </a:solidFill>
              </a:rPr>
              <a:t>r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69.2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m</a:t>
            </a:r>
            <a:endParaRPr lang="es-MX" altLang="es-CO" sz="2400">
              <a:solidFill>
                <a:srgbClr val="000000"/>
              </a:solidFill>
            </a:endParaRPr>
          </a:p>
        </p:txBody>
      </p:sp>
      <p:graphicFrame>
        <p:nvGraphicFramePr>
          <p:cNvPr id="25" name="Object 28">
            <a:extLst>
              <a:ext uri="{FF2B5EF4-FFF2-40B4-BE49-F238E27FC236}">
                <a16:creationId xmlns:a16="http://schemas.microsoft.com/office/drawing/2014/main" id="{CE69E0AC-FA18-4FD6-BE07-51FDAF3A6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097252"/>
              </p:ext>
            </p:extLst>
          </p:nvPr>
        </p:nvGraphicFramePr>
        <p:xfrm>
          <a:off x="5410200" y="4093175"/>
          <a:ext cx="51054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95200" imgH="444240" progId="Equation.DSMT4">
                  <p:embed/>
                </p:oleObj>
              </mc:Choice>
              <mc:Fallback>
                <p:oleObj name="Equation" r:id="rId9" imgW="2095200" imgH="444240" progId="Equation.DSMT4">
                  <p:embed/>
                  <p:pic>
                    <p:nvPicPr>
                      <p:cNvPr id="525340" name="Object 28">
                        <a:extLst>
                          <a:ext uri="{FF2B5EF4-FFF2-40B4-BE49-F238E27FC236}">
                            <a16:creationId xmlns:a16="http://schemas.microsoft.com/office/drawing/2014/main" id="{4321614E-F91A-E0B4-B08F-4B5E69E891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093175"/>
                        <a:ext cx="5105400" cy="10842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32">
            <a:extLst>
              <a:ext uri="{FF2B5EF4-FFF2-40B4-BE49-F238E27FC236}">
                <a16:creationId xmlns:a16="http://schemas.microsoft.com/office/drawing/2014/main" id="{7D3F0591-441C-FECF-2C34-CB3F0719F805}"/>
              </a:ext>
            </a:extLst>
          </p:cNvPr>
          <p:cNvGrpSpPr>
            <a:grpSpLocks/>
          </p:cNvGrpSpPr>
          <p:nvPr/>
        </p:nvGrpSpPr>
        <p:grpSpPr bwMode="auto">
          <a:xfrm>
            <a:off x="2061148" y="1111770"/>
            <a:ext cx="7924800" cy="1905000"/>
            <a:chOff x="432" y="1104"/>
            <a:chExt cx="4992" cy="1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71C0F47-9EE0-1315-71BD-8CA9FD16F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104"/>
              <a:ext cx="4992" cy="1200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460F4B92-06FE-C568-A5AA-590A1AE06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918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Line 6">
              <a:extLst>
                <a:ext uri="{FF2B5EF4-FFF2-40B4-BE49-F238E27FC236}">
                  <a16:creationId xmlns:a16="http://schemas.microsoft.com/office/drawing/2014/main" id="{23EBE060-DDF0-DE37-B819-0BBAB03538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7" y="1604"/>
              <a:ext cx="576" cy="38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Line 7">
              <a:extLst>
                <a:ext uri="{FF2B5EF4-FFF2-40B4-BE49-F238E27FC236}">
                  <a16:creationId xmlns:a16="http://schemas.microsoft.com/office/drawing/2014/main" id="{3F2791BA-4CB1-708F-E246-6EF627299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004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Line 8">
              <a:extLst>
                <a:ext uri="{FF2B5EF4-FFF2-40B4-BE49-F238E27FC236}">
                  <a16:creationId xmlns:a16="http://schemas.microsoft.com/office/drawing/2014/main" id="{5D527FAD-3E76-0042-76D0-A10AB89481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" y="1582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ED1C682F-630C-6F11-1F24-7903BDDFF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142"/>
              <a:ext cx="3744" cy="776"/>
            </a:xfrm>
            <a:custGeom>
              <a:avLst/>
              <a:gdLst>
                <a:gd name="T0" fmla="*/ 0 w 3744"/>
                <a:gd name="T1" fmla="*/ 440 h 776"/>
                <a:gd name="T2" fmla="*/ 624 w 3744"/>
                <a:gd name="T3" fmla="*/ 200 h 776"/>
                <a:gd name="T4" fmla="*/ 1248 w 3744"/>
                <a:gd name="T5" fmla="*/ 56 h 776"/>
                <a:gd name="T6" fmla="*/ 1776 w 3744"/>
                <a:gd name="T7" fmla="*/ 8 h 776"/>
                <a:gd name="T8" fmla="*/ 2400 w 3744"/>
                <a:gd name="T9" fmla="*/ 104 h 776"/>
                <a:gd name="T10" fmla="*/ 3168 w 3744"/>
                <a:gd name="T11" fmla="*/ 392 h 776"/>
                <a:gd name="T12" fmla="*/ 3744 w 3744"/>
                <a:gd name="T13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4" h="776">
                  <a:moveTo>
                    <a:pt x="0" y="440"/>
                  </a:moveTo>
                  <a:cubicBezTo>
                    <a:pt x="208" y="352"/>
                    <a:pt x="416" y="264"/>
                    <a:pt x="624" y="200"/>
                  </a:cubicBezTo>
                  <a:cubicBezTo>
                    <a:pt x="832" y="136"/>
                    <a:pt x="1056" y="88"/>
                    <a:pt x="1248" y="56"/>
                  </a:cubicBezTo>
                  <a:cubicBezTo>
                    <a:pt x="1440" y="24"/>
                    <a:pt x="1584" y="0"/>
                    <a:pt x="1776" y="8"/>
                  </a:cubicBezTo>
                  <a:cubicBezTo>
                    <a:pt x="1968" y="16"/>
                    <a:pt x="2168" y="40"/>
                    <a:pt x="2400" y="104"/>
                  </a:cubicBezTo>
                  <a:cubicBezTo>
                    <a:pt x="2632" y="168"/>
                    <a:pt x="2944" y="280"/>
                    <a:pt x="3168" y="392"/>
                  </a:cubicBezTo>
                  <a:cubicBezTo>
                    <a:pt x="3392" y="504"/>
                    <a:pt x="3672" y="704"/>
                    <a:pt x="3744" y="77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11F23B75-9267-705D-BBD1-712814B7B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1303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 dirty="0">
                  <a:solidFill>
                    <a:srgbClr val="000000"/>
                  </a:solidFill>
                </a:rPr>
                <a:t>oy</a:t>
              </a:r>
            </a:p>
          </p:txBody>
        </p:sp>
        <p:sp>
          <p:nvSpPr>
            <p:cNvPr id="34" name="Text Box 11">
              <a:extLst>
                <a:ext uri="{FF2B5EF4-FFF2-40B4-BE49-F238E27FC236}">
                  <a16:creationId xmlns:a16="http://schemas.microsoft.com/office/drawing/2014/main" id="{3C37E0F8-9E46-899F-6380-EC4086529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38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28 </a:t>
              </a:r>
              <a:r>
                <a:rPr kumimoji="0" lang="es-MX" altLang="es-CO" sz="2400" dirty="0">
                  <a:solidFill>
                    <a:srgbClr val="000000"/>
                  </a:solidFill>
                </a:rPr>
                <a:t>m/s</a:t>
              </a:r>
            </a:p>
          </p:txBody>
        </p:sp>
        <p:sp>
          <p:nvSpPr>
            <p:cNvPr id="35" name="Text Box 12">
              <a:extLst>
                <a:ext uri="{FF2B5EF4-FFF2-40B4-BE49-F238E27FC236}">
                  <a16:creationId xmlns:a16="http://schemas.microsoft.com/office/drawing/2014/main" id="{54A761E7-13DC-49CB-6E48-2091DA8E2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1956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>
                  <a:solidFill>
                    <a:srgbClr val="000000"/>
                  </a:solidFill>
                </a:rPr>
                <a:t>v</a:t>
              </a:r>
              <a:r>
                <a:rPr kumimoji="0" lang="es-MX" altLang="es-CO" sz="2400" baseline="-25000">
                  <a:solidFill>
                    <a:srgbClr val="000000"/>
                  </a:solidFill>
                </a:rPr>
                <a:t>ox</a:t>
              </a:r>
            </a:p>
          </p:txBody>
        </p:sp>
        <p:sp>
          <p:nvSpPr>
            <p:cNvPr id="36" name="Text Box 13">
              <a:extLst>
                <a:ext uri="{FF2B5EF4-FFF2-40B4-BE49-F238E27FC236}">
                  <a16:creationId xmlns:a16="http://schemas.microsoft.com/office/drawing/2014/main" id="{11AE1F49-FB86-D73D-7426-A1A41DA85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7" y="1699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>
                  <a:solidFill>
                    <a:srgbClr val="000000"/>
                  </a:solidFill>
                </a:rPr>
                <a:t>30</a:t>
              </a:r>
              <a:r>
                <a:rPr kumimoji="0" lang="es-MX" altLang="es-CO" sz="2400" i="0" baseline="30000" dirty="0">
                  <a:solidFill>
                    <a:srgbClr val="000000"/>
                  </a:solidFill>
                </a:rPr>
                <a:t>o</a:t>
              </a:r>
              <a:endParaRPr kumimoji="0" lang="es-MX" altLang="es-CO" i="0" dirty="0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37" name="Line 25">
              <a:extLst>
                <a:ext uri="{FF2B5EF4-FFF2-40B4-BE49-F238E27FC236}">
                  <a16:creationId xmlns:a16="http://schemas.microsoft.com/office/drawing/2014/main" id="{0624ADD1-29BB-5224-1320-57509DB06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38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38" name="Group 31">
            <a:extLst>
              <a:ext uri="{FF2B5EF4-FFF2-40B4-BE49-F238E27FC236}">
                <a16:creationId xmlns:a16="http://schemas.microsoft.com/office/drawing/2014/main" id="{F0A17AA8-449B-F0A2-207F-051B6B822A7C}"/>
              </a:ext>
            </a:extLst>
          </p:cNvPr>
          <p:cNvGrpSpPr>
            <a:grpSpLocks/>
          </p:cNvGrpSpPr>
          <p:nvPr/>
        </p:nvGrpSpPr>
        <p:grpSpPr bwMode="auto">
          <a:xfrm>
            <a:off x="4499548" y="1187970"/>
            <a:ext cx="2667000" cy="1371600"/>
            <a:chOff x="1920" y="1152"/>
            <a:chExt cx="1680" cy="864"/>
          </a:xfrm>
        </p:grpSpPr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4CEC549C-D7B3-0217-0E8B-5950C968F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152"/>
              <a:ext cx="0" cy="8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0" name="Text Box 28">
              <a:extLst>
                <a:ext uri="{FF2B5EF4-FFF2-40B4-BE49-F238E27FC236}">
                  <a16:creationId xmlns:a16="http://schemas.microsoft.com/office/drawing/2014/main" id="{1D7C18A8-B3B6-29D3-B4FC-B868C7C9F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392"/>
              <a:ext cx="720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>
                  <a:solidFill>
                    <a:srgbClr val="000000"/>
                  </a:solidFill>
                </a:rPr>
                <a:t>y</a:t>
              </a:r>
              <a:r>
                <a:rPr lang="es-MX" altLang="es-CO" baseline="-25000">
                  <a:solidFill>
                    <a:srgbClr val="000000"/>
                  </a:solidFill>
                </a:rPr>
                <a:t>max</a:t>
              </a:r>
              <a:endParaRPr lang="es-MX" altLang="es-CO">
                <a:solidFill>
                  <a:srgbClr val="000000"/>
                </a:solidFill>
              </a:endParaRPr>
            </a:p>
          </p:txBody>
        </p:sp>
        <p:sp>
          <p:nvSpPr>
            <p:cNvPr id="41" name="Text Box 29">
              <a:extLst>
                <a:ext uri="{FF2B5EF4-FFF2-40B4-BE49-F238E27FC236}">
                  <a16:creationId xmlns:a16="http://schemas.microsoft.com/office/drawing/2014/main" id="{D161618B-3C5E-720B-BE7E-AC6D91ED1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344"/>
              <a:ext cx="8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 err="1">
                  <a:solidFill>
                    <a:srgbClr val="000000"/>
                  </a:solidFill>
                </a:rPr>
                <a:t>y</a:t>
              </a:r>
              <a:r>
                <a:rPr lang="es-MX" altLang="es-CO" sz="2400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= 0</a:t>
              </a:r>
            </a:p>
          </p:txBody>
        </p:sp>
        <p:sp>
          <p:nvSpPr>
            <p:cNvPr id="42" name="Line 30">
              <a:extLst>
                <a:ext uri="{FF2B5EF4-FFF2-40B4-BE49-F238E27FC236}">
                  <a16:creationId xmlns:a16="http://schemas.microsoft.com/office/drawing/2014/main" id="{96DAC151-FE65-0D6E-C382-3D9A8FA1B0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3" y="1182"/>
              <a:ext cx="448" cy="21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43" name="Rectangle 34">
            <a:extLst>
              <a:ext uri="{FF2B5EF4-FFF2-40B4-BE49-F238E27FC236}">
                <a16:creationId xmlns:a16="http://schemas.microsoft.com/office/drawing/2014/main" id="{57BB88E9-4312-3798-7C0A-4B4B57BCD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1344" y="1160983"/>
            <a:ext cx="19622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baseline="-25000" dirty="0">
                <a:solidFill>
                  <a:srgbClr val="000000"/>
                </a:solidFill>
              </a:rPr>
              <a:t>ox</a:t>
            </a:r>
            <a:r>
              <a:rPr lang="es-MX" altLang="es-CO" sz="2400" dirty="0">
                <a:solidFill>
                  <a:srgbClr val="000000"/>
                </a:solidFill>
              </a:rPr>
              <a:t> = </a:t>
            </a:r>
            <a:r>
              <a:rPr lang="es-MX" altLang="es-CO" sz="2400" i="0" dirty="0">
                <a:solidFill>
                  <a:srgbClr val="000000"/>
                </a:solidFill>
              </a:rPr>
              <a:t>24.2 m/s</a:t>
            </a:r>
          </a:p>
        </p:txBody>
      </p:sp>
      <p:sp>
        <p:nvSpPr>
          <p:cNvPr id="44" name="Rectangle 35">
            <a:extLst>
              <a:ext uri="{FF2B5EF4-FFF2-40B4-BE49-F238E27FC236}">
                <a16:creationId xmlns:a16="http://schemas.microsoft.com/office/drawing/2014/main" id="{56875A28-E5AB-A1F4-61BC-2CA238729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9024" y="1556717"/>
            <a:ext cx="19395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v</a:t>
            </a:r>
            <a:r>
              <a:rPr lang="es-MX" altLang="es-CO" sz="2400" i="0" baseline="-25000" dirty="0">
                <a:solidFill>
                  <a:srgbClr val="000000"/>
                </a:solidFill>
              </a:rPr>
              <a:t>oy</a:t>
            </a:r>
            <a:r>
              <a:rPr lang="es-MX" altLang="es-CO" sz="2400" i="0" dirty="0">
                <a:solidFill>
                  <a:srgbClr val="000000"/>
                </a:solidFill>
              </a:rPr>
              <a:t> = + 14 m/s</a:t>
            </a:r>
          </a:p>
        </p:txBody>
      </p:sp>
    </p:spTree>
    <p:extLst>
      <p:ext uri="{BB962C8B-B14F-4D97-AF65-F5344CB8AC3E}">
        <p14:creationId xmlns:p14="http://schemas.microsoft.com/office/powerpoint/2010/main" val="141225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1" grpId="0" autoUpdateAnimBg="0"/>
      <p:bldP spid="23" grpId="0" autoUpdateAnimBg="0"/>
      <p:bldP spid="24" grpId="0" animBg="1" autoUpdateAnimBg="0"/>
      <p:bldP spid="43" grpId="0" autoUpdateAnimBg="0"/>
      <p:bldP spid="4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FB992-3EA4-9DAA-9EA9-92771530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0C22614-EE9C-E56B-4985-A0858944E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371" y="149069"/>
            <a:ext cx="11576779" cy="8128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Ejemplo:</a:t>
            </a:r>
            <a:r>
              <a:rPr lang="es-MX" altLang="es-CO" sz="2400" dirty="0"/>
              <a:t> Una bola rueda desde lo alto de una mesa a 1.2 m de altura y aterriza en el suelo a una distancia horizontal de 2 m. ¿Cuál fue la velocidad cuando dejó la mesa?</a:t>
            </a:r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A2E940B6-0282-465E-7FB9-69526F8D49E2}"/>
              </a:ext>
            </a:extLst>
          </p:cNvPr>
          <p:cNvGrpSpPr>
            <a:grpSpLocks/>
          </p:cNvGrpSpPr>
          <p:nvPr/>
        </p:nvGrpSpPr>
        <p:grpSpPr bwMode="auto">
          <a:xfrm>
            <a:off x="2447144" y="1409546"/>
            <a:ext cx="4800600" cy="1620838"/>
            <a:chOff x="288" y="1440"/>
            <a:chExt cx="3024" cy="1021"/>
          </a:xfrm>
        </p:grpSpPr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DA15C0F6-AD41-272E-7CED-574776076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584"/>
              <a:ext cx="576" cy="14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Rectangle 20">
              <a:extLst>
                <a:ext uri="{FF2B5EF4-FFF2-40B4-BE49-F238E27FC236}">
                  <a16:creationId xmlns:a16="http://schemas.microsoft.com/office/drawing/2014/main" id="{8F24438C-BEF4-20D0-8C8D-D3531DC05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728"/>
              <a:ext cx="96" cy="7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CD0265C4-03A9-E45D-953B-029E91019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440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Line 22">
              <a:extLst>
                <a:ext uri="{FF2B5EF4-FFF2-40B4-BE49-F238E27FC236}">
                  <a16:creationId xmlns:a16="http://schemas.microsoft.com/office/drawing/2014/main" id="{90235F3A-F752-752F-DB46-61F77A99F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9" y="1523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Line 23">
              <a:extLst>
                <a:ext uri="{FF2B5EF4-FFF2-40B4-BE49-F238E27FC236}">
                  <a16:creationId xmlns:a16="http://schemas.microsoft.com/office/drawing/2014/main" id="{2D601152-F581-6FA2-08B9-5A038CCDC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2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Text Box 24">
              <a:extLst>
                <a:ext uri="{FF2B5EF4-FFF2-40B4-BE49-F238E27FC236}">
                  <a16:creationId xmlns:a16="http://schemas.microsoft.com/office/drawing/2014/main" id="{F1590F21-701F-91E5-5E19-C93AAFA4A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920"/>
              <a:ext cx="8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/>
                <a:t>1.2 m</a:t>
              </a:r>
            </a:p>
          </p:txBody>
        </p:sp>
        <p:sp>
          <p:nvSpPr>
            <p:cNvPr id="10" name="Line 25">
              <a:extLst>
                <a:ext uri="{FF2B5EF4-FFF2-40B4-BE49-F238E27FC236}">
                  <a16:creationId xmlns:a16="http://schemas.microsoft.com/office/drawing/2014/main" id="{0C1EADF1-F307-0A12-F7ED-339B112277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2256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26">
              <a:extLst>
                <a:ext uri="{FF2B5EF4-FFF2-40B4-BE49-F238E27FC236}">
                  <a16:creationId xmlns:a16="http://schemas.microsoft.com/office/drawing/2014/main" id="{EA98DB0B-EB3C-4D70-97D4-8B3549AC3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728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Text Box 27">
              <a:extLst>
                <a:ext uri="{FF2B5EF4-FFF2-40B4-BE49-F238E27FC236}">
                  <a16:creationId xmlns:a16="http://schemas.microsoft.com/office/drawing/2014/main" id="{96865010-5520-A1EC-E632-D7D77D3FF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170"/>
              <a:ext cx="5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/>
                <a:t>2 m</a:t>
              </a:r>
            </a:p>
          </p:txBody>
        </p:sp>
        <p:sp>
          <p:nvSpPr>
            <p:cNvPr id="13" name="Arc 29">
              <a:extLst>
                <a:ext uri="{FF2B5EF4-FFF2-40B4-BE49-F238E27FC236}">
                  <a16:creationId xmlns:a16="http://schemas.microsoft.com/office/drawing/2014/main" id="{2B502943-FA6B-29B8-A17B-E613002FF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1536"/>
              <a:ext cx="1776" cy="86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sp>
        <p:nvSpPr>
          <p:cNvPr id="14" name="Text Box 37">
            <a:extLst>
              <a:ext uri="{FF2B5EF4-FFF2-40B4-BE49-F238E27FC236}">
                <a16:creationId xmlns:a16="http://schemas.microsoft.com/office/drawing/2014/main" id="{F52B60A5-5261-DD16-F8E8-A746973B7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157" y="3716184"/>
            <a:ext cx="495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i="0" dirty="0"/>
              <a:t>Primero encuentre </a:t>
            </a:r>
            <a:r>
              <a:rPr kumimoji="0" lang="es-MX" altLang="es-CO" sz="2400" dirty="0"/>
              <a:t>t</a:t>
            </a:r>
            <a:r>
              <a:rPr kumimoji="0" lang="es-MX" altLang="es-CO" sz="2400" i="0" dirty="0"/>
              <a:t>  a partir de la ecuación </a:t>
            </a:r>
            <a:r>
              <a:rPr kumimoji="0" lang="es-MX" altLang="es-CO" sz="2400" dirty="0"/>
              <a:t>y</a:t>
            </a:r>
            <a:r>
              <a:rPr kumimoji="0" lang="es-MX" altLang="es-CO" sz="2400" i="0" dirty="0"/>
              <a:t>:</a:t>
            </a:r>
          </a:p>
        </p:txBody>
      </p:sp>
      <p:grpSp>
        <p:nvGrpSpPr>
          <p:cNvPr id="15" name="Group 50">
            <a:extLst>
              <a:ext uri="{FF2B5EF4-FFF2-40B4-BE49-F238E27FC236}">
                <a16:creationId xmlns:a16="http://schemas.microsoft.com/office/drawing/2014/main" id="{C1D5BC04-1A02-3027-1F50-F222E1D7121F}"/>
              </a:ext>
            </a:extLst>
          </p:cNvPr>
          <p:cNvGrpSpPr>
            <a:grpSpLocks/>
          </p:cNvGrpSpPr>
          <p:nvPr/>
        </p:nvGrpSpPr>
        <p:grpSpPr bwMode="auto">
          <a:xfrm>
            <a:off x="6933237" y="1498184"/>
            <a:ext cx="1143000" cy="990600"/>
            <a:chOff x="3168" y="1680"/>
            <a:chExt cx="720" cy="624"/>
          </a:xfrm>
        </p:grpSpPr>
        <p:sp>
          <p:nvSpPr>
            <p:cNvPr id="16" name="Line 38">
              <a:extLst>
                <a:ext uri="{FF2B5EF4-FFF2-40B4-BE49-F238E27FC236}">
                  <a16:creationId xmlns:a16="http://schemas.microsoft.com/office/drawing/2014/main" id="{EEEE25AB-CB34-9B28-E6FB-823FB9CF5B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920"/>
              <a:ext cx="432" cy="384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17" name="Text Box 39">
              <a:extLst>
                <a:ext uri="{FF2B5EF4-FFF2-40B4-BE49-F238E27FC236}">
                  <a16:creationId xmlns:a16="http://schemas.microsoft.com/office/drawing/2014/main" id="{B6F3B87A-343F-90E7-E158-BAFD8EE67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680"/>
              <a:ext cx="3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>
                  <a:solidFill>
                    <a:srgbClr val="66FF33"/>
                  </a:solidFill>
                </a:rPr>
                <a:t>0</a:t>
              </a:r>
            </a:p>
          </p:txBody>
        </p:sp>
      </p:grpSp>
      <p:sp>
        <p:nvSpPr>
          <p:cNvPr id="18" name="Text Box 42">
            <a:extLst>
              <a:ext uri="{FF2B5EF4-FFF2-40B4-BE49-F238E27FC236}">
                <a16:creationId xmlns:a16="http://schemas.microsoft.com/office/drawing/2014/main" id="{85D00AAD-07DA-B34D-1B7A-0FD466B27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282" y="4953729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dirty="0"/>
              <a:t>½</a:t>
            </a:r>
            <a:r>
              <a:rPr kumimoji="0" lang="es-MX" altLang="es-CO" sz="2400" i="0" dirty="0"/>
              <a:t>(-9.8)t</a:t>
            </a:r>
            <a:r>
              <a:rPr kumimoji="0" lang="es-MX" altLang="es-CO" sz="2400" i="0" baseline="30000" dirty="0"/>
              <a:t>2</a:t>
            </a:r>
            <a:r>
              <a:rPr kumimoji="0" lang="es-MX" altLang="es-CO" sz="2400" baseline="30000" dirty="0"/>
              <a:t> </a:t>
            </a:r>
            <a:r>
              <a:rPr kumimoji="0" lang="es-MX" altLang="es-CO" sz="2400" i="0" dirty="0"/>
              <a:t>= -(1.2)</a:t>
            </a:r>
          </a:p>
        </p:txBody>
      </p:sp>
      <p:sp>
        <p:nvSpPr>
          <p:cNvPr id="19" name="Text Box 43">
            <a:extLst>
              <a:ext uri="{FF2B5EF4-FFF2-40B4-BE49-F238E27FC236}">
                <a16:creationId xmlns:a16="http://schemas.microsoft.com/office/drawing/2014/main" id="{5C7216C1-47BE-D619-5B20-33DC53306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694" y="5737761"/>
            <a:ext cx="2125663" cy="461665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kumimoji="0" lang="es-MX" altLang="es-CO" sz="2400" dirty="0">
                <a:solidFill>
                  <a:srgbClr val="000000"/>
                </a:solidFill>
              </a:rPr>
              <a:t>t 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= 0.495 s</a:t>
            </a:r>
          </a:p>
        </p:txBody>
      </p:sp>
      <p:sp>
        <p:nvSpPr>
          <p:cNvPr id="20" name="Text Box 47">
            <a:extLst>
              <a:ext uri="{FF2B5EF4-FFF2-40B4-BE49-F238E27FC236}">
                <a16:creationId xmlns:a16="http://schemas.microsoft.com/office/drawing/2014/main" id="{348A3A13-B30A-F142-3729-74C00255C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8144" y="1246844"/>
            <a:ext cx="426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s-MX" altLang="es-CO" sz="2400" dirty="0"/>
              <a:t>Nota:</a:t>
            </a:r>
            <a:r>
              <a:rPr kumimoji="0" lang="es-MX" altLang="es-CO" sz="2400" i="0" dirty="0"/>
              <a:t>  x = </a:t>
            </a:r>
            <a:r>
              <a:rPr kumimoji="0" lang="es-MX" altLang="es-CO" sz="2400" dirty="0" err="1"/>
              <a:t>v</a:t>
            </a:r>
            <a:r>
              <a:rPr kumimoji="0" lang="es-MX" altLang="es-CO" sz="2400" baseline="-25000" dirty="0" err="1"/>
              <a:t>ox</a:t>
            </a:r>
            <a:r>
              <a:rPr kumimoji="0" lang="es-MX" altLang="es-CO" sz="2400" dirty="0" err="1"/>
              <a:t>t</a:t>
            </a:r>
            <a:r>
              <a:rPr kumimoji="0" lang="es-MX" altLang="es-CO" sz="2400" dirty="0"/>
              <a:t> = </a:t>
            </a:r>
            <a:r>
              <a:rPr kumimoji="0" lang="es-MX" altLang="es-CO" sz="2400" i="0" dirty="0"/>
              <a:t>2 m</a:t>
            </a:r>
          </a:p>
        </p:txBody>
      </p:sp>
      <p:sp>
        <p:nvSpPr>
          <p:cNvPr id="21" name="Text Box 48">
            <a:extLst>
              <a:ext uri="{FF2B5EF4-FFF2-40B4-BE49-F238E27FC236}">
                <a16:creationId xmlns:a16="http://schemas.microsoft.com/office/drawing/2014/main" id="{399A9475-DE93-0299-41F4-A2B244158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344" y="1867985"/>
            <a:ext cx="502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s-MX" altLang="es-CO" sz="2400" dirty="0"/>
              <a:t>y = </a:t>
            </a:r>
            <a:r>
              <a:rPr kumimoji="0" lang="es-MX" altLang="es-CO" sz="2400" dirty="0" err="1"/>
              <a:t>v</a:t>
            </a:r>
            <a:r>
              <a:rPr kumimoji="0" lang="es-MX" altLang="es-CO" sz="2400" baseline="-25000" dirty="0" err="1"/>
              <a:t>oy</a:t>
            </a:r>
            <a:r>
              <a:rPr kumimoji="0" lang="es-MX" altLang="es-CO" sz="2400" dirty="0" err="1"/>
              <a:t>t</a:t>
            </a:r>
            <a:r>
              <a:rPr kumimoji="0" lang="es-MX" altLang="es-CO" sz="2400" dirty="0"/>
              <a:t> + ½a</a:t>
            </a:r>
            <a:r>
              <a:rPr kumimoji="0" lang="es-MX" altLang="es-CO" sz="2400" baseline="-25000" dirty="0"/>
              <a:t>y</a:t>
            </a:r>
            <a:r>
              <a:rPr kumimoji="0" lang="es-MX" altLang="es-CO" sz="2400" dirty="0"/>
              <a:t>t</a:t>
            </a:r>
            <a:r>
              <a:rPr kumimoji="0" lang="es-MX" altLang="es-CO" sz="2400" baseline="30000" dirty="0"/>
              <a:t>2 </a:t>
            </a:r>
            <a:r>
              <a:rPr kumimoji="0" lang="es-MX" altLang="es-CO" sz="2400" i="0" dirty="0"/>
              <a:t>= -1.2 m</a:t>
            </a:r>
          </a:p>
        </p:txBody>
      </p:sp>
      <p:graphicFrame>
        <p:nvGraphicFramePr>
          <p:cNvPr id="22" name="Object 51">
            <a:extLst>
              <a:ext uri="{FF2B5EF4-FFF2-40B4-BE49-F238E27FC236}">
                <a16:creationId xmlns:a16="http://schemas.microsoft.com/office/drawing/2014/main" id="{E42CA518-43A9-AF97-4BDB-B2073697BB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759089"/>
              </p:ext>
            </p:extLst>
          </p:nvPr>
        </p:nvGraphicFramePr>
        <p:xfrm>
          <a:off x="6477000" y="3767906"/>
          <a:ext cx="33528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68200" imgH="241200" progId="Equation.DSMT4">
                  <p:embed/>
                </p:oleObj>
              </mc:Choice>
              <mc:Fallback>
                <p:oleObj name="Equation" r:id="rId5" imgW="1168200" imgH="241200" progId="Equation.DSMT4">
                  <p:embed/>
                  <p:pic>
                    <p:nvPicPr>
                      <p:cNvPr id="489523" name="Object 51">
                        <a:extLst>
                          <a:ext uri="{FF2B5EF4-FFF2-40B4-BE49-F238E27FC236}">
                            <a16:creationId xmlns:a16="http://schemas.microsoft.com/office/drawing/2014/main" id="{41162C58-08F3-0230-C0E0-6428863B4C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767906"/>
                        <a:ext cx="3352800" cy="6905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2">
            <a:extLst>
              <a:ext uri="{FF2B5EF4-FFF2-40B4-BE49-F238E27FC236}">
                <a16:creationId xmlns:a16="http://schemas.microsoft.com/office/drawing/2014/main" id="{F5ACDE0C-EE22-30A0-FD18-E66BFAAC0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675628"/>
              </p:ext>
            </p:extLst>
          </p:nvPr>
        </p:nvGraphicFramePr>
        <p:xfrm>
          <a:off x="6590337" y="4547181"/>
          <a:ext cx="2438400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50680" imgH="444240" progId="Equation.DSMT4">
                  <p:embed/>
                </p:oleObj>
              </mc:Choice>
              <mc:Fallback>
                <p:oleObj name="Equation" r:id="rId7" imgW="850680" imgH="444240" progId="Equation.DSMT4">
                  <p:embed/>
                  <p:pic>
                    <p:nvPicPr>
                      <p:cNvPr id="489524" name="Object 52">
                        <a:extLst>
                          <a:ext uri="{FF2B5EF4-FFF2-40B4-BE49-F238E27FC236}">
                            <a16:creationId xmlns:a16="http://schemas.microsoft.com/office/drawing/2014/main" id="{4526AC7C-A0F3-E580-74A2-CEDE13E48D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337" y="4547181"/>
                        <a:ext cx="2438400" cy="12747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54">
            <a:extLst>
              <a:ext uri="{FF2B5EF4-FFF2-40B4-BE49-F238E27FC236}">
                <a16:creationId xmlns:a16="http://schemas.microsoft.com/office/drawing/2014/main" id="{29D35EED-E9B6-D1EC-1726-5D395EABE1EE}"/>
              </a:ext>
            </a:extLst>
          </p:cNvPr>
          <p:cNvGrpSpPr>
            <a:grpSpLocks/>
          </p:cNvGrpSpPr>
          <p:nvPr/>
        </p:nvGrpSpPr>
        <p:grpSpPr bwMode="auto">
          <a:xfrm>
            <a:off x="3742544" y="1561945"/>
            <a:ext cx="3048000" cy="1447800"/>
            <a:chOff x="1104" y="1536"/>
            <a:chExt cx="1920" cy="912"/>
          </a:xfrm>
        </p:grpSpPr>
        <p:sp>
          <p:nvSpPr>
            <p:cNvPr id="25" name="Line 55">
              <a:extLst>
                <a:ext uri="{FF2B5EF4-FFF2-40B4-BE49-F238E27FC236}">
                  <a16:creationId xmlns:a16="http://schemas.microsoft.com/office/drawing/2014/main" id="{AD3380B4-6145-9899-BD2C-504BDA227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36"/>
              <a:ext cx="1920" cy="912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Text Box 56">
              <a:extLst>
                <a:ext uri="{FF2B5EF4-FFF2-40B4-BE49-F238E27FC236}">
                  <a16:creationId xmlns:a16="http://schemas.microsoft.com/office/drawing/2014/main" id="{8154814C-24CC-A9A9-14E6-74403E2C2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" y="1668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i="0" dirty="0">
                  <a:solidFill>
                    <a:srgbClr val="66FFCC"/>
                  </a:solidFill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054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14" grpId="0" build="p" autoUpdateAnimBg="0"/>
      <p:bldP spid="18" grpId="0" build="p" autoUpdateAnimBg="0"/>
      <p:bldP spid="19" grpId="0" animBg="1" autoUpdateAnimBg="0"/>
      <p:bldP spid="20" grpId="0" autoUpdateAnimBg="0"/>
      <p:bldP spid="2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E29B8-6B8D-B817-5BBD-69DCF0CF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ADB89BC-F9F7-E762-1A2F-16972524A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4715" y="217357"/>
            <a:ext cx="11362544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Ahora use la ecuación horizontal para encontrar v</a:t>
            </a:r>
            <a:r>
              <a:rPr lang="es-MX" altLang="es-CO" sz="2400" baseline="-25000" dirty="0"/>
              <a:t>ox </a:t>
            </a:r>
            <a:r>
              <a:rPr lang="es-MX" altLang="es-CO" sz="2400" dirty="0"/>
              <a:t>al salir de lo alto de la mesa.</a:t>
            </a: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002A1E73-8E27-2C6A-7C0F-B1B68E401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1698" y="3378070"/>
            <a:ext cx="594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i="0" dirty="0"/>
              <a:t>Use </a:t>
            </a:r>
            <a:r>
              <a:rPr kumimoji="0" lang="es-MX" altLang="es-CO" sz="2400" dirty="0"/>
              <a:t>t</a:t>
            </a:r>
            <a:r>
              <a:rPr kumimoji="0" lang="es-MX" altLang="es-CO" sz="2400" i="0" dirty="0"/>
              <a:t> = 0.495 s en la ecuación </a:t>
            </a:r>
            <a:r>
              <a:rPr kumimoji="0" lang="es-MX" altLang="es-CO" sz="2400" dirty="0"/>
              <a:t>x</a:t>
            </a:r>
            <a:r>
              <a:rPr kumimoji="0" lang="es-MX" altLang="es-CO" sz="2400" i="0" dirty="0"/>
              <a:t>: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6A7D9FA3-9DC5-E849-B923-E8DE7AB15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4185" y="5395783"/>
            <a:ext cx="2514600" cy="461665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kumimoji="0" lang="es-MX" altLang="es-CO" sz="2400">
                <a:solidFill>
                  <a:srgbClr val="000000"/>
                </a:solidFill>
              </a:rPr>
              <a:t>v </a:t>
            </a:r>
            <a:r>
              <a:rPr kumimoji="0" lang="es-MX" altLang="es-CO" sz="2400" i="0">
                <a:solidFill>
                  <a:srgbClr val="000000"/>
                </a:solidFill>
              </a:rPr>
              <a:t>= 4.04 m/s</a:t>
            </a:r>
          </a:p>
        </p:txBody>
      </p: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402924ED-466D-CB3C-390E-FC5CAE93C9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500102"/>
              </p:ext>
            </p:extLst>
          </p:nvPr>
        </p:nvGraphicFramePr>
        <p:xfrm>
          <a:off x="7089098" y="3341557"/>
          <a:ext cx="185896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640" imgH="228600" progId="Equation.DSMT4">
                  <p:embed/>
                </p:oleObj>
              </mc:Choice>
              <mc:Fallback>
                <p:oleObj name="Equation" r:id="rId5" imgW="647640" imgH="228600" progId="Equation.DSMT4">
                  <p:embed/>
                  <p:pic>
                    <p:nvPicPr>
                      <p:cNvPr id="523288" name="Object 24">
                        <a:extLst>
                          <a:ext uri="{FF2B5EF4-FFF2-40B4-BE49-F238E27FC236}">
                            <a16:creationId xmlns:a16="http://schemas.microsoft.com/office/drawing/2014/main" id="{6D316EB4-EB39-CF1A-37CF-0AA1C70BD9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9098" y="3341557"/>
                        <a:ext cx="1858963" cy="6540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7">
            <a:extLst>
              <a:ext uri="{FF2B5EF4-FFF2-40B4-BE49-F238E27FC236}">
                <a16:creationId xmlns:a16="http://schemas.microsoft.com/office/drawing/2014/main" id="{9294077B-1946-64F7-EDF2-5718D4B716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054170"/>
              </p:ext>
            </p:extLst>
          </p:nvPr>
        </p:nvGraphicFramePr>
        <p:xfrm>
          <a:off x="2059898" y="4027357"/>
          <a:ext cx="63246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34880" imgH="393480" progId="Equation.DSMT4">
                  <p:embed/>
                </p:oleObj>
              </mc:Choice>
              <mc:Fallback>
                <p:oleObj name="Equation" r:id="rId7" imgW="2234880" imgH="393480" progId="Equation.DSMT4">
                  <p:embed/>
                  <p:pic>
                    <p:nvPicPr>
                      <p:cNvPr id="523291" name="Object 27">
                        <a:extLst>
                          <a:ext uri="{FF2B5EF4-FFF2-40B4-BE49-F238E27FC236}">
                            <a16:creationId xmlns:a16="http://schemas.microsoft.com/office/drawing/2014/main" id="{4A890074-5ECD-294B-A0BE-04D06C1746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898" y="4027357"/>
                        <a:ext cx="6324600" cy="11144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8">
            <a:extLst>
              <a:ext uri="{FF2B5EF4-FFF2-40B4-BE49-F238E27FC236}">
                <a16:creationId xmlns:a16="http://schemas.microsoft.com/office/drawing/2014/main" id="{7E778A75-EE82-7C15-0758-00B7139E3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098" y="5246557"/>
            <a:ext cx="3733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La bola deja la mesa con una rapidez:</a:t>
            </a:r>
          </a:p>
        </p:txBody>
      </p:sp>
      <p:grpSp>
        <p:nvGrpSpPr>
          <p:cNvPr id="24" name="Group 31">
            <a:extLst>
              <a:ext uri="{FF2B5EF4-FFF2-40B4-BE49-F238E27FC236}">
                <a16:creationId xmlns:a16="http://schemas.microsoft.com/office/drawing/2014/main" id="{16FC8670-37A0-F40D-DF86-6B82F137D395}"/>
              </a:ext>
            </a:extLst>
          </p:cNvPr>
          <p:cNvGrpSpPr>
            <a:grpSpLocks/>
          </p:cNvGrpSpPr>
          <p:nvPr/>
        </p:nvGrpSpPr>
        <p:grpSpPr bwMode="auto">
          <a:xfrm>
            <a:off x="2460885" y="1248439"/>
            <a:ext cx="4800600" cy="1620838"/>
            <a:chOff x="288" y="1440"/>
            <a:chExt cx="3024" cy="1021"/>
          </a:xfrm>
        </p:grpSpPr>
        <p:sp>
          <p:nvSpPr>
            <p:cNvPr id="25" name="Rectangle 19">
              <a:extLst>
                <a:ext uri="{FF2B5EF4-FFF2-40B4-BE49-F238E27FC236}">
                  <a16:creationId xmlns:a16="http://schemas.microsoft.com/office/drawing/2014/main" id="{29F829B1-15A8-AA78-673C-3D8CEF592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584"/>
              <a:ext cx="576" cy="14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Rectangle 20">
              <a:extLst>
                <a:ext uri="{FF2B5EF4-FFF2-40B4-BE49-F238E27FC236}">
                  <a16:creationId xmlns:a16="http://schemas.microsoft.com/office/drawing/2014/main" id="{DE45F659-841F-DC51-0AF1-AC187F0F5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728"/>
              <a:ext cx="96" cy="7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Oval 21">
              <a:extLst>
                <a:ext uri="{FF2B5EF4-FFF2-40B4-BE49-F238E27FC236}">
                  <a16:creationId xmlns:a16="http://schemas.microsoft.com/office/drawing/2014/main" id="{E5AD54C4-3341-B394-71D7-F1C1D03B9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440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Line 22">
              <a:extLst>
                <a:ext uri="{FF2B5EF4-FFF2-40B4-BE49-F238E27FC236}">
                  <a16:creationId xmlns:a16="http://schemas.microsoft.com/office/drawing/2014/main" id="{ABCAC2C0-153F-8D14-650A-E4F352808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9" y="1523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23670EE0-25ED-82A1-2264-A81B4C230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2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Text Box 24">
              <a:extLst>
                <a:ext uri="{FF2B5EF4-FFF2-40B4-BE49-F238E27FC236}">
                  <a16:creationId xmlns:a16="http://schemas.microsoft.com/office/drawing/2014/main" id="{D007C808-49BE-BC19-9FC9-6715B6F97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920"/>
              <a:ext cx="8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/>
                <a:t>1.2 m</a:t>
              </a:r>
            </a:p>
          </p:txBody>
        </p:sp>
        <p:sp>
          <p:nvSpPr>
            <p:cNvPr id="31" name="Line 25">
              <a:extLst>
                <a:ext uri="{FF2B5EF4-FFF2-40B4-BE49-F238E27FC236}">
                  <a16:creationId xmlns:a16="http://schemas.microsoft.com/office/drawing/2014/main" id="{2942D9FC-3FF3-E702-6727-C3FFED759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2256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2" name="Line 26">
              <a:extLst>
                <a:ext uri="{FF2B5EF4-FFF2-40B4-BE49-F238E27FC236}">
                  <a16:creationId xmlns:a16="http://schemas.microsoft.com/office/drawing/2014/main" id="{FC70E463-84B3-0858-B5E3-7B698EA61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728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id="{3EEB730E-A4CC-4C4E-EA5B-31C60142E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170"/>
              <a:ext cx="5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/>
                <a:t>2 m</a:t>
              </a:r>
            </a:p>
          </p:txBody>
        </p:sp>
        <p:sp>
          <p:nvSpPr>
            <p:cNvPr id="34" name="Arc 29">
              <a:extLst>
                <a:ext uri="{FF2B5EF4-FFF2-40B4-BE49-F238E27FC236}">
                  <a16:creationId xmlns:a16="http://schemas.microsoft.com/office/drawing/2014/main" id="{BB5C0817-137E-5490-4BE4-9665AF45C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1536"/>
              <a:ext cx="1776" cy="86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</p:grpSp>
      <p:grpSp>
        <p:nvGrpSpPr>
          <p:cNvPr id="35" name="Group 50">
            <a:extLst>
              <a:ext uri="{FF2B5EF4-FFF2-40B4-BE49-F238E27FC236}">
                <a16:creationId xmlns:a16="http://schemas.microsoft.com/office/drawing/2014/main" id="{D63BE6F3-F689-74AC-3455-6F4D83DC1894}"/>
              </a:ext>
            </a:extLst>
          </p:cNvPr>
          <p:cNvGrpSpPr>
            <a:grpSpLocks/>
          </p:cNvGrpSpPr>
          <p:nvPr/>
        </p:nvGrpSpPr>
        <p:grpSpPr bwMode="auto">
          <a:xfrm>
            <a:off x="6946978" y="1337077"/>
            <a:ext cx="1143000" cy="990600"/>
            <a:chOff x="3168" y="1680"/>
            <a:chExt cx="720" cy="624"/>
          </a:xfrm>
        </p:grpSpPr>
        <p:sp>
          <p:nvSpPr>
            <p:cNvPr id="36" name="Line 38">
              <a:extLst>
                <a:ext uri="{FF2B5EF4-FFF2-40B4-BE49-F238E27FC236}">
                  <a16:creationId xmlns:a16="http://schemas.microsoft.com/office/drawing/2014/main" id="{B2954391-A11A-CE96-BC6D-63267528F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920"/>
              <a:ext cx="432" cy="384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7" name="Text Box 39">
              <a:extLst>
                <a:ext uri="{FF2B5EF4-FFF2-40B4-BE49-F238E27FC236}">
                  <a16:creationId xmlns:a16="http://schemas.microsoft.com/office/drawing/2014/main" id="{21AEED84-4010-2925-C54A-B56DC9C6C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680"/>
              <a:ext cx="3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>
                  <a:solidFill>
                    <a:srgbClr val="66FF33"/>
                  </a:solidFill>
                </a:rPr>
                <a:t>0</a:t>
              </a:r>
            </a:p>
          </p:txBody>
        </p:sp>
      </p:grpSp>
      <p:sp>
        <p:nvSpPr>
          <p:cNvPr id="38" name="Text Box 47">
            <a:extLst>
              <a:ext uri="{FF2B5EF4-FFF2-40B4-BE49-F238E27FC236}">
                <a16:creationId xmlns:a16="http://schemas.microsoft.com/office/drawing/2014/main" id="{EC770E15-468E-36F4-E8CF-255605667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885" y="1085737"/>
            <a:ext cx="426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s-MX" altLang="es-CO" sz="2400" dirty="0"/>
              <a:t>Nota:</a:t>
            </a:r>
            <a:r>
              <a:rPr kumimoji="0" lang="es-MX" altLang="es-CO" sz="2400" i="0" dirty="0"/>
              <a:t>  x = </a:t>
            </a:r>
            <a:r>
              <a:rPr kumimoji="0" lang="es-MX" altLang="es-CO" sz="2400" dirty="0" err="1"/>
              <a:t>v</a:t>
            </a:r>
            <a:r>
              <a:rPr kumimoji="0" lang="es-MX" altLang="es-CO" sz="2400" baseline="-25000" dirty="0" err="1"/>
              <a:t>ox</a:t>
            </a:r>
            <a:r>
              <a:rPr kumimoji="0" lang="es-MX" altLang="es-CO" sz="2400" dirty="0" err="1"/>
              <a:t>t</a:t>
            </a:r>
            <a:r>
              <a:rPr kumimoji="0" lang="es-MX" altLang="es-CO" sz="2400" dirty="0"/>
              <a:t> = </a:t>
            </a:r>
            <a:r>
              <a:rPr kumimoji="0" lang="es-MX" altLang="es-CO" sz="2400" i="0" dirty="0"/>
              <a:t>2 m</a:t>
            </a:r>
          </a:p>
        </p:txBody>
      </p:sp>
      <p:sp>
        <p:nvSpPr>
          <p:cNvPr id="39" name="Text Box 48">
            <a:extLst>
              <a:ext uri="{FF2B5EF4-FFF2-40B4-BE49-F238E27FC236}">
                <a16:creationId xmlns:a16="http://schemas.microsoft.com/office/drawing/2014/main" id="{BCC26F4F-6C10-7038-E045-099CB569B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8085" y="1706878"/>
            <a:ext cx="502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s-MX" altLang="es-CO" sz="2400" dirty="0"/>
              <a:t>y = </a:t>
            </a:r>
            <a:r>
              <a:rPr kumimoji="0" lang="es-MX" altLang="es-CO" sz="2400" dirty="0" err="1"/>
              <a:t>v</a:t>
            </a:r>
            <a:r>
              <a:rPr kumimoji="0" lang="es-MX" altLang="es-CO" sz="2400" baseline="-25000" dirty="0" err="1"/>
              <a:t>oy</a:t>
            </a:r>
            <a:r>
              <a:rPr kumimoji="0" lang="es-MX" altLang="es-CO" sz="2400" dirty="0" err="1"/>
              <a:t>t</a:t>
            </a:r>
            <a:r>
              <a:rPr kumimoji="0" lang="es-MX" altLang="es-CO" sz="2400" dirty="0"/>
              <a:t> + ½a</a:t>
            </a:r>
            <a:r>
              <a:rPr kumimoji="0" lang="es-MX" altLang="es-CO" sz="2400" baseline="-25000" dirty="0"/>
              <a:t>y</a:t>
            </a:r>
            <a:r>
              <a:rPr kumimoji="0" lang="es-MX" altLang="es-CO" sz="2400" dirty="0"/>
              <a:t>t</a:t>
            </a:r>
            <a:r>
              <a:rPr kumimoji="0" lang="es-MX" altLang="es-CO" sz="2400" baseline="30000" dirty="0"/>
              <a:t>2 </a:t>
            </a:r>
            <a:r>
              <a:rPr kumimoji="0" lang="es-MX" altLang="es-CO" sz="2400" i="0" dirty="0"/>
              <a:t>= -1.2 m</a:t>
            </a:r>
          </a:p>
        </p:txBody>
      </p:sp>
      <p:grpSp>
        <p:nvGrpSpPr>
          <p:cNvPr id="40" name="Group 54">
            <a:extLst>
              <a:ext uri="{FF2B5EF4-FFF2-40B4-BE49-F238E27FC236}">
                <a16:creationId xmlns:a16="http://schemas.microsoft.com/office/drawing/2014/main" id="{4E2A27BB-F703-0042-8CDC-5C75CC6B85F2}"/>
              </a:ext>
            </a:extLst>
          </p:cNvPr>
          <p:cNvGrpSpPr>
            <a:grpSpLocks/>
          </p:cNvGrpSpPr>
          <p:nvPr/>
        </p:nvGrpSpPr>
        <p:grpSpPr bwMode="auto">
          <a:xfrm>
            <a:off x="3756285" y="1400838"/>
            <a:ext cx="3048000" cy="1447800"/>
            <a:chOff x="1104" y="1536"/>
            <a:chExt cx="1920" cy="912"/>
          </a:xfrm>
        </p:grpSpPr>
        <p:sp>
          <p:nvSpPr>
            <p:cNvPr id="41" name="Line 55">
              <a:extLst>
                <a:ext uri="{FF2B5EF4-FFF2-40B4-BE49-F238E27FC236}">
                  <a16:creationId xmlns:a16="http://schemas.microsoft.com/office/drawing/2014/main" id="{8E1BE154-88E6-AC5D-A76B-8753A9D19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36"/>
              <a:ext cx="1920" cy="912"/>
            </a:xfrm>
            <a:prstGeom prst="line">
              <a:avLst/>
            </a:prstGeom>
            <a:noFill/>
            <a:ln w="38100">
              <a:solidFill>
                <a:srgbClr val="66FF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42" name="Text Box 56">
              <a:extLst>
                <a:ext uri="{FF2B5EF4-FFF2-40B4-BE49-F238E27FC236}">
                  <a16:creationId xmlns:a16="http://schemas.microsoft.com/office/drawing/2014/main" id="{BAC04452-F847-A17D-37EF-AF3D94C89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" y="1668"/>
              <a:ext cx="6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es-MX" altLang="es-CO" sz="2400" i="0" dirty="0">
                  <a:solidFill>
                    <a:srgbClr val="66FFCC"/>
                  </a:solidFill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044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autoUpdateAnimBg="0"/>
      <p:bldP spid="4" grpId="0" animBg="1" autoUpdateAnimBg="0"/>
      <p:bldP spid="23" grpId="0" autoUpdateAnimBg="0"/>
      <p:bldP spid="38" grpId="0" autoUpdateAnimBg="0"/>
      <p:bldP spid="3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DE98892-C5E0-AAEB-E41D-9A8906885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9803" y="17853"/>
            <a:ext cx="9522501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(Cont.):</a:t>
            </a:r>
            <a:r>
              <a:rPr lang="es-MX" altLang="es-CO" sz="2400" dirty="0"/>
              <a:t> ¿Cuál será su rapidez cuando golpee el suelo?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C4B9B16-3F01-8EFB-BDBB-F30E34858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501" y="3555844"/>
            <a:ext cx="518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s-MX" altLang="es-CO" sz="2400" dirty="0" err="1"/>
              <a:t>v</a:t>
            </a:r>
            <a:r>
              <a:rPr kumimoji="0" lang="es-MX" altLang="es-CO" sz="2400" baseline="-25000" dirty="0" err="1"/>
              <a:t>y</a:t>
            </a:r>
            <a:r>
              <a:rPr kumimoji="0" lang="es-MX" altLang="es-CO" sz="2400" dirty="0"/>
              <a:t> = </a:t>
            </a:r>
            <a:r>
              <a:rPr kumimoji="0" lang="es-MX" altLang="es-CO" sz="2400" i="0" dirty="0"/>
              <a:t>0 + (-9.8 m/s</a:t>
            </a:r>
            <a:r>
              <a:rPr kumimoji="0" lang="es-MX" altLang="es-CO" sz="2400" i="0" baseline="30000" dirty="0"/>
              <a:t>2</a:t>
            </a:r>
            <a:r>
              <a:rPr kumimoji="0" lang="es-MX" altLang="es-CO" sz="2400" i="0" dirty="0"/>
              <a:t>)(0.495 s)</a:t>
            </a:r>
            <a:endParaRPr kumimoji="0" lang="es-MX" altLang="es-CO" sz="2400" dirty="0"/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id="{B082918A-1322-18CC-0EC9-C89F308A4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976" y="2257269"/>
            <a:ext cx="2819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s-MX" altLang="es-CO" sz="2400" i="0" dirty="0"/>
              <a:t> </a:t>
            </a:r>
            <a:r>
              <a:rPr kumimoji="0" lang="es-MX" altLang="es-CO" sz="2400" i="0" dirty="0" err="1"/>
              <a:t>v</a:t>
            </a:r>
            <a:r>
              <a:rPr kumimoji="0" lang="es-MX" altLang="es-CO" sz="2400" i="0" baseline="-25000" dirty="0" err="1"/>
              <a:t>y</a:t>
            </a:r>
            <a:r>
              <a:rPr kumimoji="0" lang="es-MX" altLang="es-CO" sz="2400" i="0" dirty="0"/>
              <a:t> = </a:t>
            </a:r>
            <a:r>
              <a:rPr kumimoji="0" lang="es-MX" altLang="es-CO" sz="2400" dirty="0"/>
              <a:t>v</a:t>
            </a:r>
            <a:r>
              <a:rPr kumimoji="0" lang="es-MX" altLang="es-CO" sz="2400" baseline="-25000" dirty="0"/>
              <a:t>0y </a:t>
            </a:r>
            <a:r>
              <a:rPr kumimoji="0" lang="es-MX" altLang="es-CO" sz="2400" dirty="0"/>
              <a:t>+ </a:t>
            </a:r>
            <a:r>
              <a:rPr kumimoji="0" lang="es-MX" altLang="es-CO" sz="2400" dirty="0" err="1"/>
              <a:t>gt</a:t>
            </a:r>
            <a:endParaRPr kumimoji="0" lang="es-MX" altLang="es-CO" sz="2400" i="0" dirty="0"/>
          </a:p>
        </p:txBody>
      </p:sp>
      <p:grpSp>
        <p:nvGrpSpPr>
          <p:cNvPr id="5" name="Group 36">
            <a:extLst>
              <a:ext uri="{FF2B5EF4-FFF2-40B4-BE49-F238E27FC236}">
                <a16:creationId xmlns:a16="http://schemas.microsoft.com/office/drawing/2014/main" id="{65ADE9FE-4325-CF9C-3BF6-3A6DE5ADAD21}"/>
              </a:ext>
            </a:extLst>
          </p:cNvPr>
          <p:cNvGrpSpPr>
            <a:grpSpLocks/>
          </p:cNvGrpSpPr>
          <p:nvPr/>
        </p:nvGrpSpPr>
        <p:grpSpPr bwMode="auto">
          <a:xfrm>
            <a:off x="7846101" y="2104869"/>
            <a:ext cx="609600" cy="762000"/>
            <a:chOff x="4368" y="720"/>
            <a:chExt cx="384" cy="480"/>
          </a:xfrm>
        </p:grpSpPr>
        <p:sp>
          <p:nvSpPr>
            <p:cNvPr id="6" name="Line 33">
              <a:extLst>
                <a:ext uri="{FF2B5EF4-FFF2-40B4-BE49-F238E27FC236}">
                  <a16:creationId xmlns:a16="http://schemas.microsoft.com/office/drawing/2014/main" id="{7725D9B4-B9FB-49E0-B992-5D674FE4B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912"/>
              <a:ext cx="192" cy="288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Text Box 34">
              <a:extLst>
                <a:ext uri="{FF2B5EF4-FFF2-40B4-BE49-F238E27FC236}">
                  <a16:creationId xmlns:a16="http://schemas.microsoft.com/office/drawing/2014/main" id="{F29FFCC8-4760-98A4-606D-B48F509A6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7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66FF33"/>
                  </a:solidFill>
                </a:rPr>
                <a:t>0</a:t>
              </a:r>
              <a:endParaRPr lang="es-MX" altLang="es-CO" dirty="0"/>
            </a:p>
          </p:txBody>
        </p:sp>
      </p:grpSp>
      <p:sp>
        <p:nvSpPr>
          <p:cNvPr id="8" name="Text Box 35">
            <a:extLst>
              <a:ext uri="{FF2B5EF4-FFF2-40B4-BE49-F238E27FC236}">
                <a16:creationId xmlns:a16="http://schemas.microsoft.com/office/drawing/2014/main" id="{C5D431DC-629F-B190-1894-AE35A2CEE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001" y="1495367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 err="1"/>
              <a:t>v</a:t>
            </a:r>
            <a:r>
              <a:rPr lang="es-MX" altLang="es-CO" sz="2400" baseline="-25000" dirty="0" err="1"/>
              <a:t>x</a:t>
            </a:r>
            <a:r>
              <a:rPr lang="es-MX" altLang="es-CO" sz="2400" dirty="0"/>
              <a:t> = v</a:t>
            </a:r>
            <a:r>
              <a:rPr lang="es-MX" altLang="es-CO" sz="2400" baseline="-25000" dirty="0"/>
              <a:t>ox </a:t>
            </a:r>
            <a:r>
              <a:rPr lang="es-MX" altLang="es-CO" sz="2400" dirty="0"/>
              <a:t>= </a:t>
            </a:r>
            <a:r>
              <a:rPr lang="es-MX" altLang="es-CO" sz="2400" i="0" dirty="0"/>
              <a:t>4.04</a:t>
            </a:r>
            <a:r>
              <a:rPr lang="es-MX" altLang="es-CO" sz="2400" dirty="0"/>
              <a:t> </a:t>
            </a:r>
            <a:r>
              <a:rPr lang="es-MX" altLang="es-CO" sz="2400" i="0" dirty="0"/>
              <a:t>m/s</a:t>
            </a:r>
            <a:r>
              <a:rPr lang="es-MX" altLang="es-CO" sz="2400" dirty="0"/>
              <a:t> </a:t>
            </a: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id="{36ACFFB8-2A70-D6BC-17B7-6C468EC82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901" y="1038069"/>
            <a:ext cx="190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/>
              <a:t>Nota:</a:t>
            </a: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DC912544-0F58-54C1-163B-BB3447EC9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2301" y="1419069"/>
            <a:ext cx="2209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/>
              <a:t>t </a:t>
            </a:r>
            <a:r>
              <a:rPr lang="es-MX" altLang="es-CO" sz="2400" i="0" dirty="0"/>
              <a:t>= 0.495</a:t>
            </a:r>
            <a:r>
              <a:rPr lang="es-MX" altLang="es-CO" sz="2400" dirty="0"/>
              <a:t> </a:t>
            </a:r>
            <a:r>
              <a:rPr lang="es-MX" altLang="es-CO" sz="2400" i="0" dirty="0"/>
              <a:t>s</a:t>
            </a:r>
            <a:endParaRPr lang="es-MX" altLang="es-CO" sz="2400" dirty="0"/>
          </a:p>
        </p:txBody>
      </p:sp>
      <p:sp>
        <p:nvSpPr>
          <p:cNvPr id="11" name="Text Box 40">
            <a:extLst>
              <a:ext uri="{FF2B5EF4-FFF2-40B4-BE49-F238E27FC236}">
                <a16:creationId xmlns:a16="http://schemas.microsoft.com/office/drawing/2014/main" id="{D34CAB45-E923-44EE-6BC2-C3AA71E7D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901" y="3476469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/>
              <a:t>v</a:t>
            </a:r>
            <a:r>
              <a:rPr lang="es-MX" altLang="es-CO" sz="2400" baseline="-25000"/>
              <a:t>y</a:t>
            </a:r>
            <a:r>
              <a:rPr lang="es-MX" altLang="es-CO" sz="2400"/>
              <a:t> </a:t>
            </a:r>
            <a:r>
              <a:rPr lang="es-MX" altLang="es-CO" sz="2400" i="0"/>
              <a:t>= -4.85 m/s</a:t>
            </a:r>
            <a:endParaRPr lang="es-MX" altLang="es-CO" sz="2400"/>
          </a:p>
        </p:txBody>
      </p:sp>
      <p:graphicFrame>
        <p:nvGraphicFramePr>
          <p:cNvPr id="12" name="Object 41">
            <a:extLst>
              <a:ext uri="{FF2B5EF4-FFF2-40B4-BE49-F238E27FC236}">
                <a16:creationId xmlns:a16="http://schemas.microsoft.com/office/drawing/2014/main" id="{DD4AEF25-F7B6-43A7-CB10-7225F3900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498127"/>
              </p:ext>
            </p:extLst>
          </p:nvPr>
        </p:nvGraphicFramePr>
        <p:xfrm>
          <a:off x="1445301" y="4390869"/>
          <a:ext cx="54276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6280" imgH="279360" progId="Equation.DSMT4">
                  <p:embed/>
                </p:oleObj>
              </mc:Choice>
              <mc:Fallback>
                <p:oleObj name="Equation" r:id="rId5" imgW="2006280" imgH="279360" progId="Equation.DSMT4">
                  <p:embed/>
                  <p:pic>
                    <p:nvPicPr>
                      <p:cNvPr id="526377" name="Object 41">
                        <a:extLst>
                          <a:ext uri="{FF2B5EF4-FFF2-40B4-BE49-F238E27FC236}">
                            <a16:creationId xmlns:a16="http://schemas.microsoft.com/office/drawing/2014/main" id="{050607A6-A4ED-7EBC-9D4C-279FD8AF9F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301" y="4390869"/>
                        <a:ext cx="5427663" cy="7429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2">
            <a:extLst>
              <a:ext uri="{FF2B5EF4-FFF2-40B4-BE49-F238E27FC236}">
                <a16:creationId xmlns:a16="http://schemas.microsoft.com/office/drawing/2014/main" id="{512CAD69-0C0F-B83A-4B34-69B74122A9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309799"/>
              </p:ext>
            </p:extLst>
          </p:nvPr>
        </p:nvGraphicFramePr>
        <p:xfrm>
          <a:off x="7334926" y="4314669"/>
          <a:ext cx="2603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1120" imgH="393480" progId="Equation.DSMT4">
                  <p:embed/>
                </p:oleObj>
              </mc:Choice>
              <mc:Fallback>
                <p:oleObj name="Equation" r:id="rId7" imgW="1041120" imgH="393480" progId="Equation.DSMT4">
                  <p:embed/>
                  <p:pic>
                    <p:nvPicPr>
                      <p:cNvPr id="526378" name="Object 42">
                        <a:extLst>
                          <a:ext uri="{FF2B5EF4-FFF2-40B4-BE49-F238E27FC236}">
                            <a16:creationId xmlns:a16="http://schemas.microsoft.com/office/drawing/2014/main" id="{9CB82E88-6DB5-E246-66FD-28E8398417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926" y="4314669"/>
                        <a:ext cx="2603500" cy="9842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43">
            <a:extLst>
              <a:ext uri="{FF2B5EF4-FFF2-40B4-BE49-F238E27FC236}">
                <a16:creationId xmlns:a16="http://schemas.microsoft.com/office/drawing/2014/main" id="{7F3CF039-B044-CB84-0D5D-A2C4B56C5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501" y="5457669"/>
            <a:ext cx="25908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</a:rPr>
              <a:t>v</a:t>
            </a:r>
            <a:r>
              <a:rPr lang="es-MX" altLang="es-CO" sz="2400" baseline="-25000">
                <a:solidFill>
                  <a:srgbClr val="000000"/>
                </a:solidFill>
              </a:rPr>
              <a:t>4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146 ft/s</a:t>
            </a:r>
            <a:endParaRPr lang="es-MX" altLang="es-CO" sz="2400">
              <a:solidFill>
                <a:srgbClr val="000000"/>
              </a:solidFill>
            </a:endParaRPr>
          </a:p>
        </p:txBody>
      </p:sp>
      <p:sp>
        <p:nvSpPr>
          <p:cNvPr id="15" name="Text Box 44">
            <a:extLst>
              <a:ext uri="{FF2B5EF4-FFF2-40B4-BE49-F238E27FC236}">
                <a16:creationId xmlns:a16="http://schemas.microsoft.com/office/drawing/2014/main" id="{BFA1E271-6A9E-870A-4B83-174D460F9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8901" y="5457669"/>
            <a:ext cx="2362200" cy="507831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bIns="91440"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  <a:r>
              <a:rPr lang="es-MX" altLang="es-CO" sz="2400" baseline="-25000">
                <a:solidFill>
                  <a:srgbClr val="000000"/>
                </a:solidFill>
                <a:latin typeface="Symbol" panose="05050102010706020507" pitchFamily="18" charset="2"/>
              </a:rPr>
              <a:t>2</a:t>
            </a:r>
            <a:r>
              <a:rPr lang="es-MX" altLang="es-CO" sz="2400">
                <a:solidFill>
                  <a:srgbClr val="000000"/>
                </a:solidFill>
              </a:rPr>
              <a:t> </a:t>
            </a:r>
            <a:r>
              <a:rPr lang="es-MX" altLang="es-CO" sz="2400" i="0">
                <a:solidFill>
                  <a:srgbClr val="000000"/>
                </a:solidFill>
              </a:rPr>
              <a:t>= 309.8</a:t>
            </a:r>
            <a:r>
              <a:rPr lang="es-MX" altLang="es-CO" sz="2400" i="0" baseline="30000">
                <a:solidFill>
                  <a:srgbClr val="000000"/>
                </a:solidFill>
              </a:rPr>
              <a:t>0</a:t>
            </a:r>
            <a:endParaRPr lang="es-MX" altLang="es-CO" sz="2400" i="0">
              <a:solidFill>
                <a:srgbClr val="000000"/>
              </a:solidFill>
            </a:endParaRPr>
          </a:p>
        </p:txBody>
      </p:sp>
      <p:sp>
        <p:nvSpPr>
          <p:cNvPr id="16" name="Rectangle 45">
            <a:extLst>
              <a:ext uri="{FF2B5EF4-FFF2-40B4-BE49-F238E27FC236}">
                <a16:creationId xmlns:a16="http://schemas.microsoft.com/office/drawing/2014/main" id="{8768A624-2306-AC39-CA73-5E4190877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701" y="4390869"/>
            <a:ext cx="152400" cy="205740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s-CO"/>
          </a:p>
        </p:txBody>
      </p:sp>
      <p:grpSp>
        <p:nvGrpSpPr>
          <p:cNvPr id="17" name="Group 47">
            <a:extLst>
              <a:ext uri="{FF2B5EF4-FFF2-40B4-BE49-F238E27FC236}">
                <a16:creationId xmlns:a16="http://schemas.microsoft.com/office/drawing/2014/main" id="{CF7F958C-39BC-0C2F-E95B-18BE662D9DF6}"/>
              </a:ext>
            </a:extLst>
          </p:cNvPr>
          <p:cNvGrpSpPr>
            <a:grpSpLocks/>
          </p:cNvGrpSpPr>
          <p:nvPr/>
        </p:nvGrpSpPr>
        <p:grpSpPr bwMode="auto">
          <a:xfrm>
            <a:off x="1521501" y="1266669"/>
            <a:ext cx="5181600" cy="2163763"/>
            <a:chOff x="288" y="864"/>
            <a:chExt cx="3264" cy="1363"/>
          </a:xfrm>
        </p:grpSpPr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9638B4E8-5D99-FB23-42A8-ACE668DD3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08"/>
              <a:ext cx="576" cy="14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302798FE-9C60-D16F-3CE2-636DC948E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152"/>
              <a:ext cx="96" cy="7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52C7AFC7-BB35-6C5F-82DE-F05F30A4E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9" y="947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64B9B085-9096-C06C-8587-C2330538C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872"/>
              <a:ext cx="2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15E62D7B-4272-E852-D97E-66183BB5F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344"/>
              <a:ext cx="8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/>
                <a:t>1.2 m</a:t>
              </a: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3CF31B5E-8FF4-CF67-D9C3-EC70DD1CE7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680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4" name="Line 14">
              <a:extLst>
                <a:ext uri="{FF2B5EF4-FFF2-40B4-BE49-F238E27FC236}">
                  <a16:creationId xmlns:a16="http://schemas.microsoft.com/office/drawing/2014/main" id="{419D5E00-ECFD-F865-2557-01292E9D1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152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5" name="Text Box 15">
              <a:extLst>
                <a:ext uri="{FF2B5EF4-FFF2-40B4-BE49-F238E27FC236}">
                  <a16:creationId xmlns:a16="http://schemas.microsoft.com/office/drawing/2014/main" id="{536AC5AE-A6EA-9F8C-CB9C-99BD8468DE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4" y="1590"/>
              <a:ext cx="5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s-MX" altLang="es-CO" sz="2400" i="0" dirty="0"/>
                <a:t>2 m</a:t>
              </a:r>
            </a:p>
          </p:txBody>
        </p:sp>
        <p:sp>
          <p:nvSpPr>
            <p:cNvPr id="26" name="Oval 24">
              <a:extLst>
                <a:ext uri="{FF2B5EF4-FFF2-40B4-BE49-F238E27FC236}">
                  <a16:creationId xmlns:a16="http://schemas.microsoft.com/office/drawing/2014/main" id="{955BC04C-6986-54D1-0839-6D99146F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1789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2875E811-4B0E-6C2E-737A-72F492CB5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872"/>
              <a:ext cx="576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9AB2871B-958E-09F3-9C48-4976104EB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296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7D74F0BC-714E-D85C-0B74-8FFEE97AF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960"/>
              <a:ext cx="1728" cy="864"/>
            </a:xfrm>
            <a:custGeom>
              <a:avLst/>
              <a:gdLst>
                <a:gd name="T0" fmla="*/ 0 w 1728"/>
                <a:gd name="T1" fmla="*/ 0 h 864"/>
                <a:gd name="T2" fmla="*/ 912 w 1728"/>
                <a:gd name="T3" fmla="*/ 384 h 864"/>
                <a:gd name="T4" fmla="*/ 1728 w 1728"/>
                <a:gd name="T5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" h="864">
                  <a:moveTo>
                    <a:pt x="0" y="0"/>
                  </a:moveTo>
                  <a:cubicBezTo>
                    <a:pt x="312" y="120"/>
                    <a:pt x="624" y="240"/>
                    <a:pt x="912" y="384"/>
                  </a:cubicBezTo>
                  <a:cubicBezTo>
                    <a:pt x="1200" y="528"/>
                    <a:pt x="1464" y="696"/>
                    <a:pt x="1728" y="86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D9E9A090-5207-5064-A57E-A04A75741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872"/>
              <a:ext cx="0" cy="336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77AF7BC0-5BBC-ECAF-3DB9-41732AC4D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872"/>
              <a:ext cx="528" cy="28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4A46B76C-2764-2E98-5DDB-E2F3C7704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96"/>
              <a:ext cx="62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MX" altLang="es-CO"/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653E6E2A-68DA-79F2-CEE7-5C67B43AE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553"/>
              <a:ext cx="4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 err="1"/>
                <a:t>v</a:t>
              </a:r>
              <a:r>
                <a:rPr lang="es-MX" altLang="es-CO" sz="2400" baseline="-25000" dirty="0" err="1"/>
                <a:t>x</a:t>
              </a:r>
              <a:endParaRPr lang="es-MX" altLang="es-CO" sz="2400" dirty="0"/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B791017D-9CD1-6E08-8A37-F38CA2DC4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1936"/>
              <a:ext cx="4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 err="1"/>
                <a:t>v</a:t>
              </a:r>
              <a:r>
                <a:rPr lang="es-MX" altLang="es-CO" sz="2400" baseline="-25000" dirty="0" err="1"/>
                <a:t>y</a:t>
              </a:r>
              <a:endParaRPr lang="es-MX" altLang="es-CO" sz="2400" dirty="0"/>
            </a:p>
          </p:txBody>
        </p:sp>
        <p:sp>
          <p:nvSpPr>
            <p:cNvPr id="35" name="Oval 46">
              <a:extLst>
                <a:ext uri="{FF2B5EF4-FFF2-40B4-BE49-F238E27FC236}">
                  <a16:creationId xmlns:a16="http://schemas.microsoft.com/office/drawing/2014/main" id="{32962FFB-C3DD-D3E1-538E-917646F71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864"/>
              <a:ext cx="144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53010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autoUpdateAnimBg="0"/>
      <p:bldP spid="4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4" grpId="0" animBg="1" autoUpdateAnimBg="0"/>
      <p:bldP spid="15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EBF258F-8C92-8303-4DF1-A1E8641E5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872" y="0"/>
            <a:ext cx="11647358" cy="1143000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Ejemplo.</a:t>
            </a:r>
            <a:r>
              <a:rPr lang="es-MX" altLang="es-CO" sz="2400" dirty="0"/>
              <a:t> </a:t>
            </a:r>
            <a:r>
              <a:rPr lang="es-MX" altLang="es-CO" sz="2400" dirty="0">
                <a:solidFill>
                  <a:schemeClr val="tx1"/>
                </a:solidFill>
              </a:rPr>
              <a:t>Encuentre el “tiempo colgado” para el balón cuya velocidad inicial es 25 m/s, 60</a:t>
            </a:r>
            <a:r>
              <a:rPr lang="es-MX" altLang="es-CO" sz="2400" baseline="30000" dirty="0">
                <a:solidFill>
                  <a:schemeClr val="tx1"/>
                </a:solidFill>
              </a:rPr>
              <a:t>0</a:t>
            </a:r>
            <a:r>
              <a:rPr lang="es-MX" altLang="es-CO" sz="2400" dirty="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148834D-55B0-C49B-8D05-6B44527FF706}"/>
              </a:ext>
            </a:extLst>
          </p:cNvPr>
          <p:cNvGrpSpPr>
            <a:grpSpLocks/>
          </p:cNvGrpSpPr>
          <p:nvPr/>
        </p:nvGrpSpPr>
        <p:grpSpPr bwMode="auto">
          <a:xfrm>
            <a:off x="2246026" y="976313"/>
            <a:ext cx="8077200" cy="1828800"/>
            <a:chOff x="432" y="1056"/>
            <a:chExt cx="5088" cy="1152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39AF75AA-8702-6BA2-8F17-A522B138D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056"/>
              <a:ext cx="5088" cy="1152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 dirty="0"/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B6DB2912-3EDF-4435-5D0B-64DF3F070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920"/>
              <a:ext cx="288" cy="9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B97C619B-F616-4EB3-B816-B9404FA8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920"/>
              <a:ext cx="288" cy="9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BA93983-A9EB-88FF-FD7F-A23FBD0F8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480"/>
              <a:ext cx="2304" cy="440"/>
            </a:xfrm>
            <a:custGeom>
              <a:avLst/>
              <a:gdLst>
                <a:gd name="T0" fmla="*/ 0 w 2304"/>
                <a:gd name="T1" fmla="*/ 440 h 440"/>
                <a:gd name="T2" fmla="*/ 624 w 2304"/>
                <a:gd name="T3" fmla="*/ 104 h 440"/>
                <a:gd name="T4" fmla="*/ 1200 w 2304"/>
                <a:gd name="T5" fmla="*/ 8 h 440"/>
                <a:gd name="T6" fmla="*/ 1824 w 2304"/>
                <a:gd name="T7" fmla="*/ 152 h 440"/>
                <a:gd name="T8" fmla="*/ 2304 w 2304"/>
                <a:gd name="T9" fmla="*/ 44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4" h="440">
                  <a:moveTo>
                    <a:pt x="0" y="440"/>
                  </a:moveTo>
                  <a:cubicBezTo>
                    <a:pt x="212" y="308"/>
                    <a:pt x="424" y="176"/>
                    <a:pt x="624" y="104"/>
                  </a:cubicBezTo>
                  <a:cubicBezTo>
                    <a:pt x="824" y="32"/>
                    <a:pt x="1000" y="0"/>
                    <a:pt x="1200" y="8"/>
                  </a:cubicBezTo>
                  <a:cubicBezTo>
                    <a:pt x="1400" y="16"/>
                    <a:pt x="1640" y="80"/>
                    <a:pt x="1824" y="152"/>
                  </a:cubicBezTo>
                  <a:cubicBezTo>
                    <a:pt x="2008" y="224"/>
                    <a:pt x="2240" y="320"/>
                    <a:pt x="2304" y="44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F8C03CFC-2B3F-3B29-EA6C-09A98A40C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440"/>
              <a:ext cx="288" cy="9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DA0780AA-41CC-F366-ACA3-2D7E95D93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" y="1352"/>
              <a:ext cx="14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i="0" baseline="-25000" dirty="0" err="1">
                  <a:solidFill>
                    <a:srgbClr val="000000"/>
                  </a:solidFill>
                </a:rPr>
                <a:t>o</a:t>
              </a:r>
              <a:r>
                <a:rPr lang="es-MX" altLang="es-CO" sz="2400" i="0" baseline="-25000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=25 m/s</a:t>
              </a: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DBE79410-A62B-885C-D702-B6D8F318A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1632"/>
              <a:ext cx="576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F33C9776-93D2-32E7-785F-96D891ED9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968"/>
              <a:ext cx="96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3093AA02-CD2F-C8D1-707A-BE57CA67C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8" y="1737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>
                  <a:solidFill>
                    <a:srgbClr val="000000"/>
                  </a:solidFill>
                </a:rPr>
                <a:t>60</a:t>
              </a:r>
              <a:r>
                <a:rPr lang="es-MX" altLang="es-CO" sz="2400" i="0" baseline="30000" dirty="0">
                  <a:solidFill>
                    <a:srgbClr val="000000"/>
                  </a:solidFill>
                </a:rPr>
                <a:t>0</a:t>
              </a:r>
              <a:endParaRPr lang="es-MX" altLang="es-CO" sz="2400" i="0" dirty="0">
                <a:solidFill>
                  <a:srgbClr val="000000"/>
                </a:solidFill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8ADFAE72-BAC7-EAC1-8A94-D4E48419B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067"/>
              <a:ext cx="19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>
                  <a:solidFill>
                    <a:srgbClr val="000000"/>
                  </a:solidFill>
                </a:rPr>
                <a:t>y = 0; a = -9.8 m/s</a:t>
              </a:r>
              <a:r>
                <a:rPr lang="es-MX" altLang="es-CO" sz="2400" i="0" baseline="30000" dirty="0">
                  <a:solidFill>
                    <a:srgbClr val="000000"/>
                  </a:solidFill>
                </a:rPr>
                <a:t>2</a:t>
              </a:r>
              <a:endParaRPr lang="es-MX" altLang="es-CO" sz="2400" i="0" dirty="0">
                <a:solidFill>
                  <a:srgbClr val="000000"/>
                </a:solidFill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AE20389B-331E-3DF2-3A8F-3EDE832CB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" y="1725"/>
              <a:ext cx="15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s-MX" altLang="es-CO" sz="2400" i="0" dirty="0">
                  <a:solidFill>
                    <a:srgbClr val="000000"/>
                  </a:solidFill>
                </a:rPr>
                <a:t>Tiempo de vuelo </a:t>
              </a:r>
              <a:r>
                <a:rPr lang="es-MX" altLang="es-CO" sz="2400" dirty="0">
                  <a:solidFill>
                    <a:srgbClr val="000000"/>
                  </a:solidFill>
                </a:rPr>
                <a:t>t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FF69A987-CA26-8835-7E90-421CC1091D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392"/>
              <a:ext cx="16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ox</a:t>
              </a:r>
              <a:r>
                <a:rPr lang="es-MX" altLang="es-CO" sz="2400" dirty="0">
                  <a:solidFill>
                    <a:srgbClr val="000000"/>
                  </a:solidFill>
                </a:rPr>
                <a:t> = </a:t>
              </a:r>
              <a:r>
                <a:rPr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 err="1">
                  <a:solidFill>
                    <a:srgbClr val="000000"/>
                  </a:solidFill>
                </a:rPr>
                <a:t>o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dirty="0">
                  <a:solidFill>
                    <a:srgbClr val="000000"/>
                  </a:solidFill>
                </a:rPr>
                <a:t>cos </a:t>
              </a:r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s-MX" altLang="es-CO" sz="2400" dirty="0">
                <a:solidFill>
                  <a:srgbClr val="000000"/>
                </a:solidFill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67E40D6C-F6AB-B06F-84FB-6501514C6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632"/>
              <a:ext cx="158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137160" bIns="137160"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oy</a:t>
              </a:r>
              <a:r>
                <a:rPr lang="es-MX" altLang="es-CO" sz="2400" dirty="0">
                  <a:solidFill>
                    <a:srgbClr val="000000"/>
                  </a:solidFill>
                </a:rPr>
                <a:t> = </a:t>
              </a:r>
              <a:r>
                <a:rPr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 err="1">
                  <a:solidFill>
                    <a:srgbClr val="000000"/>
                  </a:solidFill>
                </a:rPr>
                <a:t>o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dirty="0">
                  <a:solidFill>
                    <a:srgbClr val="000000"/>
                  </a:solidFill>
                </a:rPr>
                <a:t>sin </a:t>
              </a:r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s-MX" altLang="es-CO" sz="2400" dirty="0">
                <a:solidFill>
                  <a:srgbClr val="000000"/>
                </a:solidFill>
              </a:endParaRP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144D568E-3D28-8C11-895A-B33EB5F71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104"/>
              <a:ext cx="1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>
                  <a:solidFill>
                    <a:srgbClr val="000000"/>
                  </a:solidFill>
                </a:rPr>
                <a:t>Inicial </a:t>
              </a:r>
              <a:r>
                <a:rPr lang="es-MX" altLang="es-CO" sz="2400" i="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i="0" baseline="-25000" dirty="0" err="1">
                  <a:solidFill>
                    <a:srgbClr val="000000"/>
                  </a:solidFill>
                </a:rPr>
                <a:t>o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:</a:t>
              </a:r>
            </a:p>
          </p:txBody>
        </p:sp>
      </p:grpSp>
      <p:sp>
        <p:nvSpPr>
          <p:cNvPr id="18" name="Text Box 18">
            <a:extLst>
              <a:ext uri="{FF2B5EF4-FFF2-40B4-BE49-F238E27FC236}">
                <a16:creationId xmlns:a16="http://schemas.microsoft.com/office/drawing/2014/main" id="{5652E878-EED6-16A9-3DFE-00A3E3D0D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026" y="3352800"/>
            <a:ext cx="693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V</a:t>
            </a:r>
            <a:r>
              <a:rPr lang="es-MX" altLang="es-CO" sz="2400" i="0" baseline="-25000" dirty="0"/>
              <a:t>ox</a:t>
            </a:r>
            <a:r>
              <a:rPr lang="es-MX" altLang="es-CO" sz="2400" i="0" dirty="0"/>
              <a:t> = (25 m/s) cos 60</a:t>
            </a:r>
            <a:r>
              <a:rPr lang="es-MX" altLang="es-CO" sz="2400" i="0" baseline="30000" dirty="0"/>
              <a:t>0</a:t>
            </a:r>
            <a:r>
              <a:rPr lang="es-MX" altLang="es-CO" sz="2400" i="0" dirty="0"/>
              <a:t>;    v</a:t>
            </a:r>
            <a:r>
              <a:rPr lang="es-MX" altLang="es-CO" sz="2400" i="0" baseline="-25000" dirty="0"/>
              <a:t>ox</a:t>
            </a:r>
            <a:r>
              <a:rPr lang="es-MX" altLang="es-CO" sz="2400" i="0" dirty="0"/>
              <a:t> = 12.5 m/s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1DE1D1B8-FF04-4275-5E50-3619DA4D2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026" y="4038600"/>
            <a:ext cx="693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V</a:t>
            </a:r>
            <a:r>
              <a:rPr lang="es-MX" altLang="es-CO" sz="2400" i="0" baseline="-25000" dirty="0"/>
              <a:t>oy</a:t>
            </a:r>
            <a:r>
              <a:rPr lang="es-MX" altLang="es-CO" sz="2400" i="0" dirty="0"/>
              <a:t> = (25 m/s) sen 60</a:t>
            </a:r>
            <a:r>
              <a:rPr lang="es-MX" altLang="es-CO" sz="2400" i="0" baseline="30000" dirty="0"/>
              <a:t>0</a:t>
            </a:r>
            <a:r>
              <a:rPr lang="es-MX" altLang="es-CO" sz="2400" i="0" dirty="0"/>
              <a:t>;    v</a:t>
            </a:r>
            <a:r>
              <a:rPr lang="es-MX" altLang="es-CO" sz="2400" i="0" baseline="-25000" dirty="0"/>
              <a:t>ox</a:t>
            </a:r>
            <a:r>
              <a:rPr lang="es-MX" altLang="es-CO" sz="2400" i="0" dirty="0"/>
              <a:t> = 21.7 m/s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104AFA9F-9B3B-9571-AB59-73D9060D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226" y="4800600"/>
            <a:ext cx="85344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Sólo los parámetros verticales afectan al tiempo de vuelo.</a:t>
            </a:r>
          </a:p>
        </p:txBody>
      </p:sp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49D6BC09-2FC6-5860-C2A8-7A5858533A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05874"/>
              </p:ext>
            </p:extLst>
          </p:nvPr>
        </p:nvGraphicFramePr>
        <p:xfrm>
          <a:off x="2550826" y="5410200"/>
          <a:ext cx="701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2720" imgH="253800" progId="Equation.DSMT4">
                  <p:embed/>
                </p:oleObj>
              </mc:Choice>
              <mc:Fallback>
                <p:oleObj name="Equation" r:id="rId5" imgW="2412720" imgH="253800" progId="Equation.DSMT4">
                  <p:embed/>
                  <p:pic>
                    <p:nvPicPr>
                      <p:cNvPr id="530453" name="Object 21">
                        <a:extLst>
                          <a:ext uri="{FF2B5EF4-FFF2-40B4-BE49-F238E27FC236}">
                            <a16:creationId xmlns:a16="http://schemas.microsoft.com/office/drawing/2014/main" id="{EAA70ADE-58A2-8B05-9745-E8D91940E5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0826" y="5410200"/>
                        <a:ext cx="7010400" cy="7366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972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8" grpId="0" autoUpdateAnimBg="0"/>
      <p:bldP spid="19" grpId="0" autoUpdateAnimBg="0"/>
      <p:bldP spid="2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A06C4-C6EB-2CC4-EC71-2A2D6DD4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20">
            <a:extLst>
              <a:ext uri="{FF2B5EF4-FFF2-40B4-BE49-F238E27FC236}">
                <a16:creationId xmlns:a16="http://schemas.microsoft.com/office/drawing/2014/main" id="{9F668FFA-52FC-2793-8D3D-8B6598976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0583" y="4191000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4.9 </a:t>
            </a:r>
            <a:r>
              <a:rPr lang="es-MX" altLang="es-CO" sz="2400" dirty="0"/>
              <a:t>t</a:t>
            </a:r>
            <a:r>
              <a:rPr lang="es-MX" altLang="es-CO" sz="2400" baseline="30000" dirty="0"/>
              <a:t>2</a:t>
            </a:r>
            <a:r>
              <a:rPr lang="es-MX" altLang="es-CO" sz="2400" dirty="0"/>
              <a:t> = </a:t>
            </a:r>
            <a:r>
              <a:rPr lang="es-MX" altLang="es-CO" sz="2400" i="0" dirty="0"/>
              <a:t>21.7 </a:t>
            </a:r>
            <a:r>
              <a:rPr lang="es-MX" altLang="es-CO" sz="2400" dirty="0"/>
              <a:t>t</a:t>
            </a:r>
            <a:endParaRPr lang="es-MX" altLang="es-CO" sz="2400" i="0" dirty="0"/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4331C488-AA9B-0D8A-7F06-51E754ABC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383" y="4191000"/>
            <a:ext cx="236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4.9 </a:t>
            </a:r>
            <a:r>
              <a:rPr lang="es-MX" altLang="es-CO" sz="2400" dirty="0"/>
              <a:t>t = </a:t>
            </a:r>
            <a:r>
              <a:rPr lang="es-MX" altLang="es-CO" sz="2400" i="0" dirty="0"/>
              <a:t>21.7</a:t>
            </a:r>
          </a:p>
        </p:txBody>
      </p:sp>
      <p:graphicFrame>
        <p:nvGraphicFramePr>
          <p:cNvPr id="21" name="Object 22">
            <a:extLst>
              <a:ext uri="{FF2B5EF4-FFF2-40B4-BE49-F238E27FC236}">
                <a16:creationId xmlns:a16="http://schemas.microsoft.com/office/drawing/2014/main" id="{FA0880A5-DB7F-B6DB-7CE0-F9830D8D31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067293"/>
              </p:ext>
            </p:extLst>
          </p:nvPr>
        </p:nvGraphicFramePr>
        <p:xfrm>
          <a:off x="3377783" y="5029200"/>
          <a:ext cx="21336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920" imgH="393480" progId="Equation.DSMT4">
                  <p:embed/>
                </p:oleObj>
              </mc:Choice>
              <mc:Fallback>
                <p:oleObj name="Equation" r:id="rId6" imgW="799920" imgH="393480" progId="Equation.DSMT4">
                  <p:embed/>
                  <p:pic>
                    <p:nvPicPr>
                      <p:cNvPr id="531478" name="Object 22">
                        <a:extLst>
                          <a:ext uri="{FF2B5EF4-FFF2-40B4-BE49-F238E27FC236}">
                            <a16:creationId xmlns:a16="http://schemas.microsoft.com/office/drawing/2014/main" id="{8D3B633C-8C35-B23F-EFFA-813B35ED06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7783" y="5029200"/>
                        <a:ext cx="2133600" cy="10493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3">
            <a:extLst>
              <a:ext uri="{FF2B5EF4-FFF2-40B4-BE49-F238E27FC236}">
                <a16:creationId xmlns:a16="http://schemas.microsoft.com/office/drawing/2014/main" id="{2A0F47A9-8BDB-A2B6-50FB-1C1C039AA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183" y="5181600"/>
            <a:ext cx="2057400" cy="738664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182880" bIns="182880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t</a:t>
            </a:r>
            <a:r>
              <a:rPr lang="es-MX" altLang="es-CO" sz="2400" i="0" dirty="0">
                <a:solidFill>
                  <a:srgbClr val="000000"/>
                </a:solidFill>
              </a:rPr>
              <a:t> = 4.42 s</a:t>
            </a:r>
            <a:endParaRPr lang="es-MX" altLang="es-CO" sz="2400" dirty="0">
              <a:solidFill>
                <a:srgbClr val="000000"/>
              </a:solidFill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12F41B54-0D18-F8E1-25EE-BD3D658CAA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892" y="0"/>
            <a:ext cx="11707318" cy="1143000"/>
          </a:xfrm>
          <a:noFill/>
          <a:ln/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(Cont.)</a:t>
            </a:r>
            <a:r>
              <a:rPr lang="es-MX" altLang="es-CO" sz="2400" dirty="0"/>
              <a:t> Encuentre el “tiempo de vuelo” para el balón cuya velocidad inicial es 25 m/s, 60</a:t>
            </a:r>
            <a:r>
              <a:rPr lang="es-MX" altLang="es-CO" sz="2400" baseline="30000" dirty="0"/>
              <a:t>0</a:t>
            </a:r>
            <a:r>
              <a:rPr lang="es-MX" altLang="es-CO" sz="2400" dirty="0"/>
              <a:t>.</a:t>
            </a:r>
          </a:p>
        </p:txBody>
      </p:sp>
      <p:graphicFrame>
        <p:nvGraphicFramePr>
          <p:cNvPr id="24" name="Object 19">
            <a:extLst>
              <a:ext uri="{FF2B5EF4-FFF2-40B4-BE49-F238E27FC236}">
                <a16:creationId xmlns:a16="http://schemas.microsoft.com/office/drawing/2014/main" id="{D8FEB4F1-8AA8-D08F-B5D6-E311B6E853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913151"/>
              </p:ext>
            </p:extLst>
          </p:nvPr>
        </p:nvGraphicFramePr>
        <p:xfrm>
          <a:off x="2794419" y="2935288"/>
          <a:ext cx="701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720" imgH="253800" progId="Equation.DSMT4">
                  <p:embed/>
                </p:oleObj>
              </mc:Choice>
              <mc:Fallback>
                <p:oleObj name="Equation" r:id="rId8" imgW="2412720" imgH="253800" progId="Equation.DSMT4">
                  <p:embed/>
                  <p:pic>
                    <p:nvPicPr>
                      <p:cNvPr id="4" name="Object 19">
                        <a:extLst>
                          <a:ext uri="{FF2B5EF4-FFF2-40B4-BE49-F238E27FC236}">
                            <a16:creationId xmlns:a16="http://schemas.microsoft.com/office/drawing/2014/main" id="{D8FEB4F1-8AA8-D08F-B5D6-E311B6E853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419" y="2935288"/>
                        <a:ext cx="7010400" cy="7366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3">
            <a:extLst>
              <a:ext uri="{FF2B5EF4-FFF2-40B4-BE49-F238E27FC236}">
                <a16:creationId xmlns:a16="http://schemas.microsoft.com/office/drawing/2014/main" id="{088C671A-7E2E-4E81-573E-073335245A1C}"/>
              </a:ext>
            </a:extLst>
          </p:cNvPr>
          <p:cNvGrpSpPr>
            <a:grpSpLocks/>
          </p:cNvGrpSpPr>
          <p:nvPr/>
        </p:nvGrpSpPr>
        <p:grpSpPr bwMode="auto">
          <a:xfrm>
            <a:off x="2246026" y="976313"/>
            <a:ext cx="8077200" cy="1828800"/>
            <a:chOff x="432" y="1056"/>
            <a:chExt cx="5088" cy="1152"/>
          </a:xfrm>
        </p:grpSpPr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275034A7-81AE-2E77-8269-0F6D40B4B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056"/>
              <a:ext cx="5088" cy="1152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endParaRPr lang="es-CO" dirty="0"/>
            </a:p>
          </p:txBody>
        </p:sp>
        <p:sp>
          <p:nvSpPr>
            <p:cNvPr id="27" name="Oval 5">
              <a:extLst>
                <a:ext uri="{FF2B5EF4-FFF2-40B4-BE49-F238E27FC236}">
                  <a16:creationId xmlns:a16="http://schemas.microsoft.com/office/drawing/2014/main" id="{716F9305-774E-3F85-B5D0-AAB4F6B53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920"/>
              <a:ext cx="288" cy="9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8" name="Oval 6">
              <a:extLst>
                <a:ext uri="{FF2B5EF4-FFF2-40B4-BE49-F238E27FC236}">
                  <a16:creationId xmlns:a16="http://schemas.microsoft.com/office/drawing/2014/main" id="{356EFE85-323F-4E83-5CEF-825389857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920"/>
              <a:ext cx="288" cy="9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8734106-BFDC-B089-6DCD-80B7C3127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480"/>
              <a:ext cx="2304" cy="440"/>
            </a:xfrm>
            <a:custGeom>
              <a:avLst/>
              <a:gdLst>
                <a:gd name="T0" fmla="*/ 0 w 2304"/>
                <a:gd name="T1" fmla="*/ 440 h 440"/>
                <a:gd name="T2" fmla="*/ 624 w 2304"/>
                <a:gd name="T3" fmla="*/ 104 h 440"/>
                <a:gd name="T4" fmla="*/ 1200 w 2304"/>
                <a:gd name="T5" fmla="*/ 8 h 440"/>
                <a:gd name="T6" fmla="*/ 1824 w 2304"/>
                <a:gd name="T7" fmla="*/ 152 h 440"/>
                <a:gd name="T8" fmla="*/ 2304 w 2304"/>
                <a:gd name="T9" fmla="*/ 44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4" h="440">
                  <a:moveTo>
                    <a:pt x="0" y="440"/>
                  </a:moveTo>
                  <a:cubicBezTo>
                    <a:pt x="212" y="308"/>
                    <a:pt x="424" y="176"/>
                    <a:pt x="624" y="104"/>
                  </a:cubicBezTo>
                  <a:cubicBezTo>
                    <a:pt x="824" y="32"/>
                    <a:pt x="1000" y="0"/>
                    <a:pt x="1200" y="8"/>
                  </a:cubicBezTo>
                  <a:cubicBezTo>
                    <a:pt x="1400" y="16"/>
                    <a:pt x="1640" y="80"/>
                    <a:pt x="1824" y="152"/>
                  </a:cubicBezTo>
                  <a:cubicBezTo>
                    <a:pt x="2008" y="224"/>
                    <a:pt x="2240" y="320"/>
                    <a:pt x="2304" y="44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0" name="Oval 8">
              <a:extLst>
                <a:ext uri="{FF2B5EF4-FFF2-40B4-BE49-F238E27FC236}">
                  <a16:creationId xmlns:a16="http://schemas.microsoft.com/office/drawing/2014/main" id="{77911324-1560-BC65-A399-2B8E1D8FB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440"/>
              <a:ext cx="288" cy="9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51C5B98-EDB5-7F70-C204-F34C87AFE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" y="1352"/>
              <a:ext cx="14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i="0" baseline="-25000" dirty="0" err="1">
                  <a:solidFill>
                    <a:srgbClr val="000000"/>
                  </a:solidFill>
                </a:rPr>
                <a:t>o</a:t>
              </a:r>
              <a:r>
                <a:rPr lang="es-MX" altLang="es-CO" sz="2400" i="0" baseline="-25000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=25 m/s</a:t>
              </a:r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3709107D-33AD-756A-6FD4-4BB4D85D34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1632"/>
              <a:ext cx="576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0CC5892A-1771-0D02-0A99-7A3D69956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968"/>
              <a:ext cx="96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34" name="Text Box 12">
              <a:extLst>
                <a:ext uri="{FF2B5EF4-FFF2-40B4-BE49-F238E27FC236}">
                  <a16:creationId xmlns:a16="http://schemas.microsoft.com/office/drawing/2014/main" id="{29A71532-5509-F247-48D8-4B32B2254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8" y="1737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>
                  <a:solidFill>
                    <a:srgbClr val="000000"/>
                  </a:solidFill>
                </a:rPr>
                <a:t>60</a:t>
              </a:r>
              <a:r>
                <a:rPr lang="es-MX" altLang="es-CO" sz="2400" i="0" baseline="30000" dirty="0">
                  <a:solidFill>
                    <a:srgbClr val="000000"/>
                  </a:solidFill>
                </a:rPr>
                <a:t>0</a:t>
              </a:r>
              <a:endParaRPr lang="es-MX" altLang="es-CO" sz="2400" i="0" dirty="0">
                <a:solidFill>
                  <a:srgbClr val="000000"/>
                </a:solidFill>
              </a:endParaRPr>
            </a:p>
          </p:txBody>
        </p:sp>
        <p:sp>
          <p:nvSpPr>
            <p:cNvPr id="35" name="Text Box 13">
              <a:extLst>
                <a:ext uri="{FF2B5EF4-FFF2-40B4-BE49-F238E27FC236}">
                  <a16:creationId xmlns:a16="http://schemas.microsoft.com/office/drawing/2014/main" id="{F1C17744-540D-0D4E-C56D-D8768CA19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067"/>
              <a:ext cx="19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>
                  <a:solidFill>
                    <a:srgbClr val="000000"/>
                  </a:solidFill>
                </a:rPr>
                <a:t>y = 0; a = -9.8 m/s</a:t>
              </a:r>
              <a:r>
                <a:rPr lang="es-MX" altLang="es-CO" sz="2400" i="0" baseline="30000" dirty="0">
                  <a:solidFill>
                    <a:srgbClr val="000000"/>
                  </a:solidFill>
                </a:rPr>
                <a:t>2</a:t>
              </a:r>
              <a:endParaRPr lang="es-MX" altLang="es-CO" sz="2400" i="0" dirty="0">
                <a:solidFill>
                  <a:srgbClr val="000000"/>
                </a:solidFill>
              </a:endParaRPr>
            </a:p>
          </p:txBody>
        </p:sp>
        <p:sp>
          <p:nvSpPr>
            <p:cNvPr id="36" name="Text Box 14">
              <a:extLst>
                <a:ext uri="{FF2B5EF4-FFF2-40B4-BE49-F238E27FC236}">
                  <a16:creationId xmlns:a16="http://schemas.microsoft.com/office/drawing/2014/main" id="{D756F89A-BDE7-03DB-12E4-147F269D0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" y="1725"/>
              <a:ext cx="15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s-MX" altLang="es-CO" sz="2400" i="0" dirty="0">
                  <a:solidFill>
                    <a:srgbClr val="000000"/>
                  </a:solidFill>
                </a:rPr>
                <a:t>Tiempo de vuelo </a:t>
              </a:r>
              <a:r>
                <a:rPr lang="es-MX" altLang="es-CO" sz="2400" dirty="0">
                  <a:solidFill>
                    <a:srgbClr val="000000"/>
                  </a:solidFill>
                </a:rPr>
                <a:t>t</a:t>
              </a:r>
            </a:p>
          </p:txBody>
        </p:sp>
        <p:sp>
          <p:nvSpPr>
            <p:cNvPr id="37" name="Text Box 15">
              <a:extLst>
                <a:ext uri="{FF2B5EF4-FFF2-40B4-BE49-F238E27FC236}">
                  <a16:creationId xmlns:a16="http://schemas.microsoft.com/office/drawing/2014/main" id="{7AAD8EAE-DAE5-B3E7-3F1B-19A3C0480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392"/>
              <a:ext cx="16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ox</a:t>
              </a:r>
              <a:r>
                <a:rPr lang="es-MX" altLang="es-CO" sz="2400" dirty="0">
                  <a:solidFill>
                    <a:srgbClr val="000000"/>
                  </a:solidFill>
                </a:rPr>
                <a:t> = </a:t>
              </a:r>
              <a:r>
                <a:rPr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 err="1">
                  <a:solidFill>
                    <a:srgbClr val="000000"/>
                  </a:solidFill>
                </a:rPr>
                <a:t>o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dirty="0">
                  <a:solidFill>
                    <a:srgbClr val="000000"/>
                  </a:solidFill>
                </a:rPr>
                <a:t>cos </a:t>
              </a:r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s-MX" altLang="es-CO" sz="2400" dirty="0">
                <a:solidFill>
                  <a:srgbClr val="000000"/>
                </a:solidFill>
              </a:endParaRPr>
            </a:p>
          </p:txBody>
        </p:sp>
        <p:sp>
          <p:nvSpPr>
            <p:cNvPr id="38" name="Text Box 16">
              <a:extLst>
                <a:ext uri="{FF2B5EF4-FFF2-40B4-BE49-F238E27FC236}">
                  <a16:creationId xmlns:a16="http://schemas.microsoft.com/office/drawing/2014/main" id="{DA51FC3E-2E6C-474E-F4FF-B3869626C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632"/>
              <a:ext cx="158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137160" bIns="137160"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oy</a:t>
              </a:r>
              <a:r>
                <a:rPr lang="es-MX" altLang="es-CO" sz="2400" dirty="0">
                  <a:solidFill>
                    <a:srgbClr val="000000"/>
                  </a:solidFill>
                </a:rPr>
                <a:t> = </a:t>
              </a:r>
              <a:r>
                <a:rPr lang="es-MX" altLang="es-CO" sz="240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baseline="-25000" dirty="0" err="1">
                  <a:solidFill>
                    <a:srgbClr val="000000"/>
                  </a:solidFill>
                </a:rPr>
                <a:t>o</a:t>
              </a:r>
              <a:r>
                <a:rPr lang="es-MX" altLang="es-CO" sz="2400" baseline="-25000" dirty="0">
                  <a:solidFill>
                    <a:srgbClr val="000000"/>
                  </a:solidFill>
                </a:rPr>
                <a:t> </a:t>
              </a:r>
              <a:r>
                <a:rPr lang="es-MX" altLang="es-CO" sz="2400" dirty="0">
                  <a:solidFill>
                    <a:srgbClr val="000000"/>
                  </a:solidFill>
                </a:rPr>
                <a:t>sin </a:t>
              </a:r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s-MX" altLang="es-CO" sz="2400" dirty="0">
                <a:solidFill>
                  <a:srgbClr val="000000"/>
                </a:solidFill>
              </a:endParaRPr>
            </a:p>
          </p:txBody>
        </p:sp>
        <p:sp>
          <p:nvSpPr>
            <p:cNvPr id="39" name="Text Box 17">
              <a:extLst>
                <a:ext uri="{FF2B5EF4-FFF2-40B4-BE49-F238E27FC236}">
                  <a16:creationId xmlns:a16="http://schemas.microsoft.com/office/drawing/2014/main" id="{AA4F7598-BC6B-AE7B-3B26-1D16749C3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104"/>
              <a:ext cx="1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i="0" dirty="0">
                  <a:solidFill>
                    <a:srgbClr val="000000"/>
                  </a:solidFill>
                </a:rPr>
                <a:t>Inicial </a:t>
              </a:r>
              <a:r>
                <a:rPr lang="es-MX" altLang="es-CO" sz="2400" i="0" dirty="0" err="1">
                  <a:solidFill>
                    <a:srgbClr val="000000"/>
                  </a:solidFill>
                </a:rPr>
                <a:t>v</a:t>
              </a:r>
              <a:r>
                <a:rPr lang="es-MX" altLang="es-CO" sz="2400" i="0" baseline="-25000" dirty="0" err="1">
                  <a:solidFill>
                    <a:srgbClr val="000000"/>
                  </a:solidFill>
                </a:rPr>
                <a:t>o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294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0" grpId="0" autoUpdateAnimBg="0"/>
      <p:bldP spid="22" grpId="0" animBg="1" autoUpdateAnimBg="0"/>
      <p:bldP spid="23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D68CC-9793-3155-206F-B6A5C16B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83D3270-A949-C0C4-6E0C-84A943998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9802" y="0"/>
            <a:ext cx="11377535" cy="822325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</a:t>
            </a:r>
            <a:r>
              <a:rPr lang="es-MX" altLang="es-CO" sz="2400" dirty="0"/>
              <a:t>. Un perro que corre salta con velocidad inicial de 11 m/s a 30</a:t>
            </a:r>
            <a:r>
              <a:rPr lang="es-MX" altLang="es-CO" sz="2400" baseline="30000" dirty="0"/>
              <a:t>0</a:t>
            </a:r>
            <a:r>
              <a:rPr lang="es-MX" altLang="es-CO" sz="2400" dirty="0"/>
              <a:t>. ¿Cuál es el rango?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28D5CAF-FB8E-8753-C0A6-49874F435F07}"/>
              </a:ext>
            </a:extLst>
          </p:cNvPr>
          <p:cNvGrpSpPr>
            <a:grpSpLocks/>
          </p:cNvGrpSpPr>
          <p:nvPr/>
        </p:nvGrpSpPr>
        <p:grpSpPr bwMode="auto">
          <a:xfrm>
            <a:off x="6440775" y="941616"/>
            <a:ext cx="3810000" cy="2438400"/>
            <a:chOff x="2832" y="1152"/>
            <a:chExt cx="2400" cy="1536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34547141-5747-7B61-FCF3-7D03B64D0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152"/>
              <a:ext cx="2400" cy="1536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88657D31-8869-EE52-3FCC-17871E5F1D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1776"/>
              <a:ext cx="672" cy="52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6" name="Arc 6">
              <a:extLst>
                <a:ext uri="{FF2B5EF4-FFF2-40B4-BE49-F238E27FC236}">
                  <a16:creationId xmlns:a16="http://schemas.microsoft.com/office/drawing/2014/main" id="{E6E9E0EC-5A79-F24D-8C38-39E9B4729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968"/>
              <a:ext cx="768" cy="37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3973"/>
                <a:gd name="T2" fmla="*/ 21469 w 21600"/>
                <a:gd name="T3" fmla="*/ 23973 h 23973"/>
                <a:gd name="T4" fmla="*/ 0 w 21600"/>
                <a:gd name="T5" fmla="*/ 21600 h 23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397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392"/>
                    <a:pt x="21556" y="23185"/>
                    <a:pt x="21469" y="23973"/>
                  </a:cubicBezTo>
                </a:path>
                <a:path w="21600" h="2397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392"/>
                    <a:pt x="21556" y="23185"/>
                    <a:pt x="21469" y="2397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7" name="Arc 7">
              <a:extLst>
                <a:ext uri="{FF2B5EF4-FFF2-40B4-BE49-F238E27FC236}">
                  <a16:creationId xmlns:a16="http://schemas.microsoft.com/office/drawing/2014/main" id="{78427E8C-2D7E-783E-39AD-BF1DCF2A588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48" y="1968"/>
              <a:ext cx="768" cy="3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86BCEF11-2446-B2FA-C642-8C03DD722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304"/>
              <a:ext cx="6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622BDEA7-7D4A-C020-4308-5CEA2A1BA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1680"/>
              <a:ext cx="0" cy="6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03702AA6-AF58-9983-C890-49BB44BE41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064"/>
              <a:ext cx="816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4AA58E0C-FD40-7679-1157-2AD06238B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" y="1555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v =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11 m/s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5DB8BD39-E9C4-A539-8DFC-098492043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04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 </a:t>
              </a:r>
              <a:r>
                <a:rPr lang="es-MX" altLang="es-CO" sz="2400" dirty="0">
                  <a:solidFill>
                    <a:srgbClr val="000000"/>
                  </a:solidFill>
                </a:rPr>
                <a:t>=30</a:t>
              </a:r>
              <a:r>
                <a:rPr lang="es-MX" altLang="es-CO" sz="2400" baseline="30000" dirty="0">
                  <a:solidFill>
                    <a:srgbClr val="000000"/>
                  </a:solidFill>
                </a:rPr>
                <a:t>0</a:t>
              </a:r>
              <a:endParaRPr lang="es-MX" altLang="es-CO" sz="2400" dirty="0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sp>
        <p:nvSpPr>
          <p:cNvPr id="13" name="Text Box 13">
            <a:extLst>
              <a:ext uri="{FF2B5EF4-FFF2-40B4-BE49-F238E27FC236}">
                <a16:creationId xmlns:a16="http://schemas.microsoft.com/office/drawing/2014/main" id="{C5FA9264-4F9E-E3EE-BF4B-8895CDD8E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527" y="1084497"/>
            <a:ext cx="381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Dibuje figura y encuentre componentes: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5BC101ED-A624-2235-3B98-A95CDAF96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427" y="2286000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/>
              <a:t>v</a:t>
            </a:r>
            <a:r>
              <a:rPr lang="es-MX" altLang="es-CO" sz="2400" baseline="-25000" dirty="0"/>
              <a:t>ox </a:t>
            </a:r>
            <a:r>
              <a:rPr lang="es-MX" altLang="es-CO" sz="2400" dirty="0"/>
              <a:t>= </a:t>
            </a:r>
            <a:r>
              <a:rPr lang="es-MX" altLang="es-CO" sz="2400" i="0" dirty="0"/>
              <a:t>9.53 m/s</a:t>
            </a:r>
            <a:endParaRPr lang="es-MX" altLang="es-CO" sz="2400" dirty="0"/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8224CE3E-B1A3-BBE1-1C68-2DC61D7BF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427" y="2909888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/>
              <a:t>v</a:t>
            </a:r>
            <a:r>
              <a:rPr lang="es-MX" altLang="es-CO" sz="2400" baseline="-25000" dirty="0"/>
              <a:t>oy </a:t>
            </a:r>
            <a:r>
              <a:rPr lang="es-MX" altLang="es-CO" sz="2400" dirty="0"/>
              <a:t>= </a:t>
            </a:r>
            <a:r>
              <a:rPr lang="es-MX" altLang="es-CO" sz="2400" i="0" dirty="0"/>
              <a:t>5.50 m/s</a:t>
            </a:r>
            <a:endParaRPr lang="es-MX" altLang="es-CO" sz="2400" dirty="0"/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4EEF581B-6573-A5BD-6FC4-CC9577A91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737" y="2912088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0" lang="es-MX" altLang="es-CO" sz="2400" i="0" dirty="0">
                <a:solidFill>
                  <a:srgbClr val="000000"/>
                </a:solidFill>
              </a:rPr>
              <a:t>v</a:t>
            </a:r>
            <a:r>
              <a:rPr kumimoji="0" lang="es-MX" altLang="es-CO" sz="2400" i="0" baseline="-25000" dirty="0">
                <a:solidFill>
                  <a:srgbClr val="000000"/>
                </a:solidFill>
              </a:rPr>
              <a:t>ox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 = 11 cos 30</a:t>
            </a:r>
            <a:r>
              <a:rPr kumimoji="0" lang="es-MX" altLang="es-CO" sz="2400" i="0" baseline="30000" dirty="0">
                <a:solidFill>
                  <a:srgbClr val="000000"/>
                </a:solidFill>
              </a:rPr>
              <a:t>0</a:t>
            </a:r>
            <a:endParaRPr kumimoji="0" lang="es-MX" altLang="es-CO" sz="2400" i="0" dirty="0">
              <a:solidFill>
                <a:srgbClr val="000000"/>
              </a:solidFill>
            </a:endParaRP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826F993B-0AA4-72FD-F3B5-0A097FDCF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775" y="976125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0" lang="es-MX" altLang="es-CO" sz="2400" i="0" dirty="0">
                <a:solidFill>
                  <a:srgbClr val="000000"/>
                </a:solidFill>
              </a:rPr>
              <a:t>v</a:t>
            </a:r>
            <a:r>
              <a:rPr kumimoji="0" lang="es-MX" altLang="es-CO" sz="2400" i="0" baseline="-25000" dirty="0">
                <a:solidFill>
                  <a:srgbClr val="000000"/>
                </a:solidFill>
              </a:rPr>
              <a:t>oy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 = 11 sen 30</a:t>
            </a:r>
            <a:r>
              <a:rPr kumimoji="0" lang="es-MX" altLang="es-CO" sz="2400" i="0" baseline="30000" dirty="0">
                <a:solidFill>
                  <a:srgbClr val="000000"/>
                </a:solidFill>
              </a:rPr>
              <a:t>0</a:t>
            </a:r>
            <a:endParaRPr kumimoji="0" lang="es-MX" altLang="es-CO" sz="2400" i="0" dirty="0">
              <a:solidFill>
                <a:srgbClr val="000000"/>
              </a:solidFill>
            </a:endParaRPr>
          </a:p>
        </p:txBody>
      </p:sp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EDD02966-88D6-AE98-E6E8-38724CF5AB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444730"/>
              </p:ext>
            </p:extLst>
          </p:nvPr>
        </p:nvGraphicFramePr>
        <p:xfrm>
          <a:off x="2550827" y="4267200"/>
          <a:ext cx="69738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00120" imgH="253800" progId="Equation.DSMT4">
                  <p:embed/>
                </p:oleObj>
              </mc:Choice>
              <mc:Fallback>
                <p:oleObj name="Equation" r:id="rId7" imgW="2400120" imgH="253800" progId="Equation.DSMT4">
                  <p:embed/>
                  <p:pic>
                    <p:nvPicPr>
                      <p:cNvPr id="532498" name="Object 18">
                        <a:extLst>
                          <a:ext uri="{FF2B5EF4-FFF2-40B4-BE49-F238E27FC236}">
                            <a16:creationId xmlns:a16="http://schemas.microsoft.com/office/drawing/2014/main" id="{C613DB6D-6B3B-A6C4-F4DF-7217AC83F2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0827" y="4267200"/>
                        <a:ext cx="6973888" cy="7366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>
            <a:extLst>
              <a:ext uri="{FF2B5EF4-FFF2-40B4-BE49-F238E27FC236}">
                <a16:creationId xmlns:a16="http://schemas.microsoft.com/office/drawing/2014/main" id="{C45DC265-CE22-3400-8CAB-EFB70F1D2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498" y="3535154"/>
            <a:ext cx="710533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s-MX" altLang="es-CO" sz="2400" i="0" dirty="0"/>
              <a:t>Para encontrar el rango, primero encuentre </a:t>
            </a:r>
            <a:r>
              <a:rPr lang="es-MX" altLang="es-CO" sz="2400" dirty="0"/>
              <a:t>t</a:t>
            </a:r>
            <a:r>
              <a:rPr lang="es-MX" altLang="es-CO" sz="2400" i="0" dirty="0"/>
              <a:t> </a:t>
            </a:r>
          </a:p>
          <a:p>
            <a:pPr algn="just">
              <a:spcBef>
                <a:spcPct val="0"/>
              </a:spcBef>
            </a:pPr>
            <a:r>
              <a:rPr lang="es-MX" altLang="es-CO" sz="2400" i="0" dirty="0"/>
              <a:t>cuando y = 0; </a:t>
            </a:r>
            <a:r>
              <a:rPr lang="es-MX" altLang="es-CO" sz="2400" dirty="0">
                <a:latin typeface="Times New Roman" panose="02020603050405020304" pitchFamily="18" charset="0"/>
              </a:rPr>
              <a:t>a</a:t>
            </a:r>
            <a:r>
              <a:rPr lang="es-MX" altLang="es-CO" sz="2400" i="0" dirty="0"/>
              <a:t> = -9.8 m/s</a:t>
            </a:r>
            <a:r>
              <a:rPr lang="es-MX" altLang="es-CO" sz="2400" i="0" baseline="30000" dirty="0"/>
              <a:t>2</a:t>
            </a:r>
            <a:endParaRPr lang="es-MX" altLang="es-CO" sz="2400" i="0" dirty="0"/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DC1E6B9C-EB39-19DF-F226-F7A191B29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627" y="5105400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4.9 </a:t>
            </a:r>
            <a:r>
              <a:rPr lang="es-MX" altLang="es-CO" sz="2400" dirty="0"/>
              <a:t>t</a:t>
            </a:r>
            <a:r>
              <a:rPr lang="es-MX" altLang="es-CO" sz="2400" baseline="30000" dirty="0"/>
              <a:t>2</a:t>
            </a:r>
            <a:r>
              <a:rPr lang="es-MX" altLang="es-CO" sz="2400" dirty="0"/>
              <a:t> = </a:t>
            </a:r>
            <a:r>
              <a:rPr lang="es-MX" altLang="es-CO" sz="2400" i="0" dirty="0"/>
              <a:t>5.50 </a:t>
            </a:r>
            <a:r>
              <a:rPr lang="es-MX" altLang="es-CO" sz="2400" dirty="0"/>
              <a:t>t</a:t>
            </a:r>
            <a:endParaRPr lang="es-MX" altLang="es-CO" sz="2400" i="0" dirty="0"/>
          </a:p>
        </p:txBody>
      </p:sp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B9C8D7BA-D0BD-8E3C-BDC2-58B3CF9E2C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667247"/>
              </p:ext>
            </p:extLst>
          </p:nvPr>
        </p:nvGraphicFramePr>
        <p:xfrm>
          <a:off x="5309902" y="5105400"/>
          <a:ext cx="2100263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87320" imgH="393480" progId="Equation.DSMT4">
                  <p:embed/>
                </p:oleObj>
              </mc:Choice>
              <mc:Fallback>
                <p:oleObj name="Equation" r:id="rId9" imgW="787320" imgH="393480" progId="Equation.DSMT4">
                  <p:embed/>
                  <p:pic>
                    <p:nvPicPr>
                      <p:cNvPr id="532501" name="Object 21">
                        <a:extLst>
                          <a:ext uri="{FF2B5EF4-FFF2-40B4-BE49-F238E27FC236}">
                            <a16:creationId xmlns:a16="http://schemas.microsoft.com/office/drawing/2014/main" id="{43B01484-0527-9F46-292D-AC728D382B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9902" y="5105400"/>
                        <a:ext cx="2100263" cy="10493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>
            <a:extLst>
              <a:ext uri="{FF2B5EF4-FFF2-40B4-BE49-F238E27FC236}">
                <a16:creationId xmlns:a16="http://schemas.microsoft.com/office/drawing/2014/main" id="{8CE598A9-0C6A-EE5A-31E9-62C234C6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4827" y="5257800"/>
            <a:ext cx="2057400" cy="738664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182880" bIns="182880">
            <a:spAutoFit/>
          </a:bodyPr>
          <a:lstStyle/>
          <a:p>
            <a:r>
              <a:rPr lang="es-MX" altLang="es-CO" sz="2400">
                <a:solidFill>
                  <a:srgbClr val="000000"/>
                </a:solidFill>
              </a:rPr>
              <a:t>t</a:t>
            </a:r>
            <a:r>
              <a:rPr lang="es-MX" altLang="es-CO" sz="2400" i="0">
                <a:solidFill>
                  <a:srgbClr val="000000"/>
                </a:solidFill>
              </a:rPr>
              <a:t> = 1.12 s</a:t>
            </a:r>
            <a:endParaRPr lang="es-MX" altLang="es-CO" sz="2400">
              <a:solidFill>
                <a:srgbClr val="000000"/>
              </a:solidFill>
            </a:endParaRP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C6396689-2FD2-FDDE-2CB4-7C62F6E0A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773" y="5712515"/>
            <a:ext cx="236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4.9 </a:t>
            </a:r>
            <a:r>
              <a:rPr lang="es-MX" altLang="es-CO" sz="2400" dirty="0"/>
              <a:t>t = </a:t>
            </a:r>
            <a:r>
              <a:rPr lang="es-MX" altLang="es-CO" sz="2400" i="0" dirty="0"/>
              <a:t>5.50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A74E5C8C-A529-B5C6-2D24-47711554A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027" y="5181600"/>
            <a:ext cx="76200" cy="990600"/>
          </a:xfrm>
          <a:prstGeom prst="rect">
            <a:avLst/>
          </a:prstGeom>
          <a:solidFill>
            <a:schemeClr val="accent1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731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9" grpId="0" autoUpdateAnimBg="0"/>
      <p:bldP spid="20" grpId="0" autoUpdateAnimBg="0"/>
      <p:bldP spid="22" grpId="0" animBg="1" autoUpdateAnimBg="0"/>
      <p:bldP spid="2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C75D1-E551-570D-6B48-705AB6D8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2CB761C-0D6C-5E5C-2CC2-420EAED20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4773" y="0"/>
            <a:ext cx="11287593" cy="822325"/>
          </a:xfrm>
        </p:spPr>
        <p:txBody>
          <a:bodyPr>
            <a:normAutofit/>
          </a:bodyPr>
          <a:lstStyle/>
          <a:p>
            <a:pPr algn="just"/>
            <a:r>
              <a:rPr lang="es-MX" altLang="es-CO" sz="2400" u="sng" dirty="0"/>
              <a:t>Ejemplo (Cont</a:t>
            </a:r>
            <a:r>
              <a:rPr lang="es-MX" altLang="es-CO" sz="2400" dirty="0"/>
              <a:t>.) Un perro salta con velocidad inicial de 11 m/s a 30</a:t>
            </a:r>
            <a:r>
              <a:rPr lang="es-MX" altLang="es-CO" sz="2400" baseline="30000" dirty="0"/>
              <a:t>0</a:t>
            </a:r>
            <a:r>
              <a:rPr lang="es-MX" altLang="es-CO" sz="2400" dirty="0"/>
              <a:t>. ¿Cuál es el rango?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F873A962-A559-2215-F49C-DA0C9DBF7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570" y="1371600"/>
            <a:ext cx="3886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El rango se encuentra a partir del componente </a:t>
            </a:r>
            <a:r>
              <a:rPr lang="es-MX" altLang="es-CO" sz="2400" dirty="0"/>
              <a:t>x</a:t>
            </a:r>
            <a:r>
              <a:rPr lang="es-MX" altLang="es-CO" sz="2400" i="0" dirty="0"/>
              <a:t>: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560A2CE8-AF7D-B993-C28A-CC41B3D3A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570" y="2247840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 err="1"/>
              <a:t>v</a:t>
            </a:r>
            <a:r>
              <a:rPr lang="es-MX" altLang="es-CO" sz="2400" baseline="-25000" dirty="0" err="1"/>
              <a:t>x</a:t>
            </a:r>
            <a:r>
              <a:rPr lang="es-MX" altLang="es-CO" sz="2400" baseline="-25000" dirty="0"/>
              <a:t> </a:t>
            </a:r>
            <a:r>
              <a:rPr lang="es-MX" altLang="es-CO" sz="2400" dirty="0"/>
              <a:t>= v</a:t>
            </a:r>
            <a:r>
              <a:rPr lang="es-MX" altLang="es-CO" sz="2400" baseline="-25000" dirty="0"/>
              <a:t>ox</a:t>
            </a:r>
            <a:r>
              <a:rPr lang="es-MX" altLang="es-CO" sz="2400" dirty="0"/>
              <a:t> = </a:t>
            </a:r>
            <a:r>
              <a:rPr lang="es-MX" altLang="es-CO" sz="2400" baseline="-25000" dirty="0"/>
              <a:t> </a:t>
            </a:r>
            <a:r>
              <a:rPr lang="es-MX" altLang="es-CO" sz="2400" i="0" dirty="0"/>
              <a:t>9.53 m/s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FE1F31E2-12E4-DF6B-1326-770A49BE0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471" y="2789453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dirty="0"/>
              <a:t>x = </a:t>
            </a:r>
            <a:r>
              <a:rPr lang="es-MX" altLang="es-CO" sz="2400" dirty="0" err="1"/>
              <a:t>v</a:t>
            </a:r>
            <a:r>
              <a:rPr lang="es-MX" altLang="es-CO" sz="2400" baseline="-25000" dirty="0" err="1"/>
              <a:t>x</a:t>
            </a:r>
            <a:r>
              <a:rPr lang="es-MX" altLang="es-CO" sz="2400" dirty="0" err="1"/>
              <a:t>t</a:t>
            </a:r>
            <a:r>
              <a:rPr lang="es-MX" altLang="es-CO" sz="2400" dirty="0"/>
              <a:t>;  t = </a:t>
            </a:r>
            <a:r>
              <a:rPr lang="es-MX" altLang="es-CO" sz="2400" i="0" dirty="0"/>
              <a:t>1.12</a:t>
            </a:r>
            <a:r>
              <a:rPr lang="es-MX" altLang="es-CO" sz="2400" dirty="0"/>
              <a:t> </a:t>
            </a:r>
            <a:r>
              <a:rPr lang="es-MX" altLang="es-CO" sz="2400" i="0" dirty="0"/>
              <a:t>s</a:t>
            </a:r>
            <a:endParaRPr lang="es-MX" altLang="es-CO" sz="2400" dirty="0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E41543A6-7ED8-4431-D478-C65726B91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970" y="3810000"/>
            <a:ext cx="838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La velocidad horizontal es constante: </a:t>
            </a:r>
            <a:r>
              <a:rPr lang="es-MX" altLang="es-CO" sz="2400" dirty="0" err="1"/>
              <a:t>v</a:t>
            </a:r>
            <a:r>
              <a:rPr lang="es-MX" altLang="es-CO" sz="2400" baseline="-25000" dirty="0" err="1"/>
              <a:t>x</a:t>
            </a:r>
            <a:r>
              <a:rPr lang="es-MX" altLang="es-CO" sz="2400" dirty="0"/>
              <a:t> = </a:t>
            </a:r>
            <a:r>
              <a:rPr lang="es-MX" altLang="es-CO" sz="2400" i="0" dirty="0"/>
              <a:t>9.53</a:t>
            </a:r>
            <a:r>
              <a:rPr lang="es-MX" altLang="es-CO" sz="2400" dirty="0"/>
              <a:t> </a:t>
            </a:r>
            <a:r>
              <a:rPr lang="es-MX" altLang="es-CO" sz="2400" i="0" dirty="0"/>
              <a:t>m/s 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B00BAFFD-77FC-7962-E5B6-5B8B18C51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275" y="5177720"/>
            <a:ext cx="3429000" cy="738664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tIns="182880" bIns="182880">
            <a:spAutoFit/>
          </a:bodyPr>
          <a:lstStyle/>
          <a:p>
            <a:r>
              <a:rPr lang="es-MX" altLang="es-CO" sz="2400" dirty="0">
                <a:solidFill>
                  <a:srgbClr val="000000"/>
                </a:solidFill>
              </a:rPr>
              <a:t>Rango:  x </a:t>
            </a:r>
            <a:r>
              <a:rPr lang="es-MX" altLang="es-CO" sz="2400" i="0" dirty="0">
                <a:solidFill>
                  <a:srgbClr val="000000"/>
                </a:solidFill>
              </a:rPr>
              <a:t>= 10.7 m</a:t>
            </a:r>
            <a:endParaRPr lang="es-MX" altLang="es-CO" sz="2400" dirty="0">
              <a:solidFill>
                <a:srgbClr val="000000"/>
              </a:solidFill>
            </a:endParaRP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EC7B6DD9-5744-951D-7214-3F1BF34E4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7170" y="4433888"/>
            <a:ext cx="609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MX" altLang="es-CO" sz="2400" i="0" dirty="0"/>
              <a:t>x = (9.53 m/s)(1.12 s) = 10.7 m</a:t>
            </a:r>
          </a:p>
        </p:txBody>
      </p:sp>
      <p:grpSp>
        <p:nvGrpSpPr>
          <p:cNvPr id="21" name="Group 3">
            <a:extLst>
              <a:ext uri="{FF2B5EF4-FFF2-40B4-BE49-F238E27FC236}">
                <a16:creationId xmlns:a16="http://schemas.microsoft.com/office/drawing/2014/main" id="{7DFFBCF7-05CB-42A5-D07A-257EAD8BED75}"/>
              </a:ext>
            </a:extLst>
          </p:cNvPr>
          <p:cNvGrpSpPr>
            <a:grpSpLocks/>
          </p:cNvGrpSpPr>
          <p:nvPr/>
        </p:nvGrpSpPr>
        <p:grpSpPr bwMode="auto">
          <a:xfrm>
            <a:off x="6440775" y="941616"/>
            <a:ext cx="3810000" cy="2438400"/>
            <a:chOff x="2832" y="1152"/>
            <a:chExt cx="2400" cy="1536"/>
          </a:xfrm>
        </p:grpSpPr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3A751E19-8AF7-BAA3-BF42-BADA510D3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152"/>
              <a:ext cx="2400" cy="1536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sp>
          <p:nvSpPr>
            <p:cNvPr id="23" name="Line 5">
              <a:extLst>
                <a:ext uri="{FF2B5EF4-FFF2-40B4-BE49-F238E27FC236}">
                  <a16:creationId xmlns:a16="http://schemas.microsoft.com/office/drawing/2014/main" id="{1CA9790E-B6DB-3A88-5284-4B6EC9A119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1776"/>
              <a:ext cx="672" cy="52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8D5E93F9-E177-6D7E-0ACF-D0A7C7534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968"/>
              <a:ext cx="768" cy="37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3973"/>
                <a:gd name="T2" fmla="*/ 21469 w 21600"/>
                <a:gd name="T3" fmla="*/ 23973 h 23973"/>
                <a:gd name="T4" fmla="*/ 0 w 21600"/>
                <a:gd name="T5" fmla="*/ 21600 h 23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397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392"/>
                    <a:pt x="21556" y="23185"/>
                    <a:pt x="21469" y="23973"/>
                  </a:cubicBezTo>
                </a:path>
                <a:path w="21600" h="2397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392"/>
                    <a:pt x="21556" y="23185"/>
                    <a:pt x="21469" y="2397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5" name="Arc 7">
              <a:extLst>
                <a:ext uri="{FF2B5EF4-FFF2-40B4-BE49-F238E27FC236}">
                  <a16:creationId xmlns:a16="http://schemas.microsoft.com/office/drawing/2014/main" id="{C5BE8669-50FE-BEDE-C491-FB6B311C62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48" y="1968"/>
              <a:ext cx="768" cy="3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6" name="Line 8">
              <a:extLst>
                <a:ext uri="{FF2B5EF4-FFF2-40B4-BE49-F238E27FC236}">
                  <a16:creationId xmlns:a16="http://schemas.microsoft.com/office/drawing/2014/main" id="{72AEF180-FBD4-400E-E612-FD8E32789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304"/>
              <a:ext cx="6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s-CO"/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id="{82561453-D320-C611-789C-CD3C042BB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1680"/>
              <a:ext cx="0" cy="6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s-CO"/>
            </a:p>
          </p:txBody>
        </p:sp>
        <p:pic>
          <p:nvPicPr>
            <p:cNvPr id="28" name="Picture 10">
              <a:extLst>
                <a:ext uri="{FF2B5EF4-FFF2-40B4-BE49-F238E27FC236}">
                  <a16:creationId xmlns:a16="http://schemas.microsoft.com/office/drawing/2014/main" id="{C09F0FBE-EC86-C807-9DD8-A0128FFF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064"/>
              <a:ext cx="816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" name="Text Box 11">
              <a:extLst>
                <a:ext uri="{FF2B5EF4-FFF2-40B4-BE49-F238E27FC236}">
                  <a16:creationId xmlns:a16="http://schemas.microsoft.com/office/drawing/2014/main" id="{6C0F65FC-A638-26A7-F541-B227A4799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" y="1555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</a:rPr>
                <a:t>v = </a:t>
              </a:r>
              <a:r>
                <a:rPr lang="es-MX" altLang="es-CO" sz="2400" i="0" dirty="0">
                  <a:solidFill>
                    <a:srgbClr val="000000"/>
                  </a:solidFill>
                </a:rPr>
                <a:t>11 m/s</a:t>
              </a:r>
            </a:p>
          </p:txBody>
        </p:sp>
        <p:sp>
          <p:nvSpPr>
            <p:cNvPr id="30" name="Text Box 12">
              <a:extLst>
                <a:ext uri="{FF2B5EF4-FFF2-40B4-BE49-F238E27FC236}">
                  <a16:creationId xmlns:a16="http://schemas.microsoft.com/office/drawing/2014/main" id="{99A695F7-483D-F9F7-4F61-7743CA331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046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s-MX" altLang="es-CO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q </a:t>
              </a:r>
              <a:r>
                <a:rPr lang="es-MX" altLang="es-CO" sz="2400" dirty="0">
                  <a:solidFill>
                    <a:srgbClr val="000000"/>
                  </a:solidFill>
                </a:rPr>
                <a:t>=30</a:t>
              </a:r>
              <a:r>
                <a:rPr lang="es-MX" altLang="es-CO" sz="2400" baseline="30000" dirty="0">
                  <a:solidFill>
                    <a:srgbClr val="000000"/>
                  </a:solidFill>
                </a:rPr>
                <a:t>0</a:t>
              </a:r>
              <a:endParaRPr lang="es-MX" altLang="es-CO" sz="2400" dirty="0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sp>
        <p:nvSpPr>
          <p:cNvPr id="31" name="Text Box 16">
            <a:extLst>
              <a:ext uri="{FF2B5EF4-FFF2-40B4-BE49-F238E27FC236}">
                <a16:creationId xmlns:a16="http://schemas.microsoft.com/office/drawing/2014/main" id="{65062F00-0DD0-9C50-233C-F5D8E106D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737" y="2912088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0" lang="es-MX" altLang="es-CO" sz="2400" i="0" dirty="0">
                <a:solidFill>
                  <a:srgbClr val="000000"/>
                </a:solidFill>
              </a:rPr>
              <a:t>v</a:t>
            </a:r>
            <a:r>
              <a:rPr kumimoji="0" lang="es-MX" altLang="es-CO" sz="2400" i="0" baseline="-25000" dirty="0">
                <a:solidFill>
                  <a:srgbClr val="000000"/>
                </a:solidFill>
              </a:rPr>
              <a:t>ox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 = 11 cos 30</a:t>
            </a:r>
            <a:r>
              <a:rPr kumimoji="0" lang="es-MX" altLang="es-CO" sz="2400" i="0" baseline="30000" dirty="0">
                <a:solidFill>
                  <a:srgbClr val="000000"/>
                </a:solidFill>
              </a:rPr>
              <a:t>0</a:t>
            </a:r>
            <a:endParaRPr kumimoji="0" lang="es-MX" altLang="es-CO" sz="2400" i="0" dirty="0">
              <a:solidFill>
                <a:srgbClr val="000000"/>
              </a:solidFill>
            </a:endParaRPr>
          </a:p>
        </p:txBody>
      </p:sp>
      <p:sp>
        <p:nvSpPr>
          <p:cNvPr id="32" name="Text Box 17">
            <a:extLst>
              <a:ext uri="{FF2B5EF4-FFF2-40B4-BE49-F238E27FC236}">
                <a16:creationId xmlns:a16="http://schemas.microsoft.com/office/drawing/2014/main" id="{93C09F69-AD26-CAF1-6102-5C441DA0B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775" y="976125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0" lang="es-MX" altLang="es-CO" sz="2400" i="0" dirty="0">
                <a:solidFill>
                  <a:srgbClr val="000000"/>
                </a:solidFill>
              </a:rPr>
              <a:t>v</a:t>
            </a:r>
            <a:r>
              <a:rPr kumimoji="0" lang="es-MX" altLang="es-CO" sz="2400" i="0" baseline="-25000" dirty="0">
                <a:solidFill>
                  <a:srgbClr val="000000"/>
                </a:solidFill>
              </a:rPr>
              <a:t>oy</a:t>
            </a:r>
            <a:r>
              <a:rPr kumimoji="0" lang="es-MX" altLang="es-CO" sz="2400" i="0" dirty="0">
                <a:solidFill>
                  <a:srgbClr val="000000"/>
                </a:solidFill>
              </a:rPr>
              <a:t> = 11 sen 30</a:t>
            </a:r>
            <a:r>
              <a:rPr kumimoji="0" lang="es-MX" altLang="es-CO" sz="2400" i="0" baseline="30000" dirty="0">
                <a:solidFill>
                  <a:srgbClr val="000000"/>
                </a:solidFill>
              </a:rPr>
              <a:t>0</a:t>
            </a:r>
            <a:endParaRPr kumimoji="0" lang="es-MX" altLang="es-CO" sz="2400" i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86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3" grpId="0" autoUpdateAnimBg="0"/>
      <p:bldP spid="14" grpId="0" autoUpdateAnimBg="0"/>
      <p:bldP spid="15" grpId="0" autoUpdateAnimBg="0"/>
      <p:bldP spid="18" grpId="0" autoUpdateAnimBg="0"/>
      <p:bldP spid="19" grpId="0" animBg="1" autoUpdateAnimBg="0"/>
      <p:bldP spid="20" grpId="0" autoUpdateAnimBg="0"/>
      <p:bldP spid="31" grpId="0" autoUpdateAnimBg="0"/>
      <p:bldP spid="3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184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504</TotalTime>
  <Words>2269</Words>
  <Application>Microsoft Office PowerPoint</Application>
  <PresentationFormat>Panorámica</PresentationFormat>
  <Paragraphs>389</Paragraphs>
  <Slides>40</Slides>
  <Notes>0</Notes>
  <HiddenSlides>0</HiddenSlides>
  <MMClips>1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40</vt:i4>
      </vt:variant>
    </vt:vector>
  </HeadingPairs>
  <TitlesOfParts>
    <vt:vector size="51" baseType="lpstr">
      <vt:lpstr>Aptos</vt:lpstr>
      <vt:lpstr>Aptos Display</vt:lpstr>
      <vt:lpstr>Arial</vt:lpstr>
      <vt:lpstr>Helvetica</vt:lpstr>
      <vt:lpstr>Symbol</vt:lpstr>
      <vt:lpstr>Tahoma</vt:lpstr>
      <vt:lpstr>Times New Roman</vt:lpstr>
      <vt:lpstr>Wingdings</vt:lpstr>
      <vt:lpstr>Tema de Office</vt:lpstr>
      <vt:lpstr>Equation</vt:lpstr>
      <vt:lpstr>MathType 4.0 Equation</vt:lpstr>
      <vt:lpstr> Luis Enrique Mealla Sánchez enero – mayo 2026</vt:lpstr>
      <vt:lpstr>Objetivos: Después de completar este módulo, deberá:</vt:lpstr>
      <vt:lpstr>Movimiento de proyectiles</vt:lpstr>
      <vt:lpstr>Movimiento vertical y horizontal</vt:lpstr>
      <vt:lpstr>Movimiento vertical y horizontal</vt:lpstr>
      <vt:lpstr>Bola proyectada horizontalmente y otra soltada al mismo tiempo:</vt:lpstr>
      <vt:lpstr>Observe el movimiento de cada bola</vt:lpstr>
      <vt:lpstr>Considere por separado los movimientos horizontal y vertical:</vt:lpstr>
      <vt:lpstr>Cálculo de desplazamiento para proyección horizontal:</vt:lpstr>
      <vt:lpstr>Cálculo de velocidad para proyección horizontal:</vt:lpstr>
      <vt:lpstr>Ejemplo: Una bola de béisbol se golpea con una rapidez horizontal de 25 m/s. ¿Cuál es su posición y velocidad después de 2 s?</vt:lpstr>
      <vt:lpstr>Ejemplo (Cont.): ¿Cuáles son los componentes de la velocidad después de 2 s?</vt:lpstr>
      <vt:lpstr>Considere proyectil a un ángulo:</vt:lpstr>
      <vt:lpstr>Cálculos de desplazamiento para proyección general:</vt:lpstr>
      <vt:lpstr>Cálculos de velocidad para proyección general:</vt:lpstr>
      <vt:lpstr>Estrategia para resolución de problemas:</vt:lpstr>
      <vt:lpstr>Estrategia para el problema:</vt:lpstr>
      <vt:lpstr>Ejemplo: Una bola tiene una velocidad inicial de 160 ft/s a un ángulo de 30o con la horizontal. Encuentre su posición y velocidad después de 2 s y de 4 s.</vt:lpstr>
      <vt:lpstr>Ejemplo: (continuación)</vt:lpstr>
      <vt:lpstr>Ejemplo (Cont.): A continuación encuentre los componentes verticales de la posición después de 2 s y 4 s.</vt:lpstr>
      <vt:lpstr>(Cont.)  Los signos de y indicarán la ubicación del desplazamiento (arriba + o abajo – del origen).</vt:lpstr>
      <vt:lpstr>(Cont.): A continuación encuentre los componentes horizontal y vertical de la velocidad después de 2 y 4 s.</vt:lpstr>
      <vt:lpstr>Ejemplo: (continuación)</vt:lpstr>
      <vt:lpstr>Ejemplo: (continuación)</vt:lpstr>
      <vt:lpstr>(Cont.): El desplazamiento R2,q se encuentra a partir de los desplazamientos componentes x2 y y2.</vt:lpstr>
      <vt:lpstr>(Cont.): De igual modo, el desplazamiento R4,q se encuentra a partir de los desplazamientos componentes x4 y y4.</vt:lpstr>
      <vt:lpstr>(Cont.): Ahora se encuentra la velocidad después de 2 s a partir de los componentes vx y vy.</vt:lpstr>
      <vt:lpstr>(Cont.) A continuación, encuentre la velocidad después de 4 s a partir de los componentes v4x y v4y.</vt:lpstr>
      <vt:lpstr>Ejemplo: ¿Cuáles son la altura máxima y el rango de un proyectil si vo = 28 m/s a 300?</vt:lpstr>
      <vt:lpstr>Ejemplo (Cont.): ¿Cuál es la altura máxima del proyectil si v = 28 m/s a 300?</vt:lpstr>
      <vt:lpstr>Ejemplo (Cont.): A continuación, encuentre el rango del proyectil si v = 28 m/s a 300.</vt:lpstr>
      <vt:lpstr>Ejemplo (Cont.): Primero se encuentra el tiempo de vuelo tr, luego el rango xr.</vt:lpstr>
      <vt:lpstr>Ejemplo: Una bola rueda desde lo alto de una mesa a 1.2 m de altura y aterriza en el suelo a una distancia horizontal de 2 m. ¿Cuál fue la velocidad cuando dejó la mesa?</vt:lpstr>
      <vt:lpstr>Ejemplo (Cont.): Ahora use la ecuación horizontal para encontrar vox al salir de lo alto de la mesa.</vt:lpstr>
      <vt:lpstr>Ejemplo (Cont.): ¿Cuál será su rapidez cuando golpee el suelo?</vt:lpstr>
      <vt:lpstr>Ejemplo. Encuentre el “tiempo colgado” para el balón cuya velocidad inicial es 25 m/s, 600.</vt:lpstr>
      <vt:lpstr>Ejemplo (Cont.) Encuentre el “tiempo de vuelo” para el balón cuya velocidad inicial es 25 m/s, 600.</vt:lpstr>
      <vt:lpstr>Ejemplo. Un perro que corre salta con velocidad inicial de 11 m/s a 300. ¿Cuál es el rango?</vt:lpstr>
      <vt:lpstr>Ejemplo (Cont.) Un perro salta con velocidad inicial de 11 m/s a 300. ¿Cuál es el rango?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 CAROLINA VELASCO CALDERON</dc:creator>
  <cp:lastModifiedBy>LUIS ENRIQUE  MEALLA SANCHEZ</cp:lastModifiedBy>
  <cp:revision>46</cp:revision>
  <dcterms:created xsi:type="dcterms:W3CDTF">2024-07-29T16:18:31Z</dcterms:created>
  <dcterms:modified xsi:type="dcterms:W3CDTF">2026-03-04T02:32:58Z</dcterms:modified>
</cp:coreProperties>
</file>