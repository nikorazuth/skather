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8"/>
  </p:notesMasterIdLst>
  <p:sldIdLst>
    <p:sldId id="256" r:id="rId2"/>
    <p:sldId id="268" r:id="rId3"/>
    <p:sldId id="271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333" r:id="rId18"/>
    <p:sldId id="299" r:id="rId19"/>
    <p:sldId id="300" r:id="rId20"/>
    <p:sldId id="337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2" r:id="rId53"/>
    <p:sldId id="334" r:id="rId54"/>
    <p:sldId id="335" r:id="rId55"/>
    <p:sldId id="336" r:id="rId56"/>
    <p:sldId id="260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5"/>
    <p:restoredTop sz="94626"/>
  </p:normalViewPr>
  <p:slideViewPr>
    <p:cSldViewPr snapToGrid="0">
      <p:cViewPr varScale="1">
        <p:scale>
          <a:sx n="54" d="100"/>
          <a:sy n="54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CD146-31CB-4451-8E1F-AF4CD564FB89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0B31E2-73A2-4684-A56F-D0F502B6A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399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0B31E2-73A2-4684-A56F-D0F502B6A2CD}" type="slidenum">
              <a:rPr lang="es-CO" smtClean="0"/>
              <a:t>37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8942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38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99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30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965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7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30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482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921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71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414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20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7908B-2511-324D-860A-77FE7488EF5B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4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6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4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6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0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oleObject" Target="../embeddings/oleObject6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audio" Target="../media/audio1.wav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.jpg"/><Relationship Id="rId10" Type="http://schemas.openxmlformats.org/officeDocument/2006/relationships/image" Target="../media/image15.png"/><Relationship Id="rId4" Type="http://schemas.openxmlformats.org/officeDocument/2006/relationships/audio" Target="../media/audio4.wav"/><Relationship Id="rId9" Type="http://schemas.openxmlformats.org/officeDocument/2006/relationships/image" Target="../media/image17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5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5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18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.jpg"/><Relationship Id="rId4" Type="http://schemas.openxmlformats.org/officeDocument/2006/relationships/audio" Target="../media/audio5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5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22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5.wav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CC1-4FD3-2994-9787-67BD00F7A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1815" y="1122363"/>
            <a:ext cx="5820033" cy="2387600"/>
          </a:xfrm>
        </p:spPr>
        <p:txBody>
          <a:bodyPr/>
          <a:lstStyle/>
          <a:p>
            <a:b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srgbClr val="130F24"/>
                </a:solidFill>
                <a:effectLst/>
                <a:uLnTx/>
                <a:uFillTx/>
                <a:latin typeface="Helvetica" pitchFamily="2" charset="0"/>
                <a:ea typeface="+mj-ea"/>
                <a:cs typeface="+mj-cs"/>
              </a:rPr>
            </a:b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srgbClr val="130F24"/>
                </a:solidFill>
                <a:effectLst/>
                <a:uLnTx/>
                <a:uFillTx/>
                <a:latin typeface="Helvetica" pitchFamily="2" charset="0"/>
                <a:ea typeface="+mj-ea"/>
                <a:cs typeface="+mj-cs"/>
              </a:rPr>
              <a:t>Luis Enrique Mealla Sánchez</a:t>
            </a:r>
            <a:b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srgbClr val="130F24"/>
                </a:solidFill>
                <a:effectLst/>
                <a:uLnTx/>
                <a:uFillTx/>
                <a:latin typeface="Helvetica" pitchFamily="2" charset="0"/>
                <a:ea typeface="+mj-ea"/>
                <a:cs typeface="+mj-cs"/>
              </a:rPr>
            </a:b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srgbClr val="130F24"/>
                </a:solidFill>
                <a:effectLst/>
                <a:uLnTx/>
                <a:uFillTx/>
                <a:latin typeface="Helvetica" pitchFamily="2" charset="0"/>
                <a:ea typeface="+mj-ea"/>
                <a:cs typeface="+mj-cs"/>
              </a:rPr>
              <a:t>enero – mayo 2026</a:t>
            </a:r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3EAEB7-1BBB-A97B-2137-1F4BF9829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1814" y="3744096"/>
            <a:ext cx="5820033" cy="1513703"/>
          </a:xfrm>
        </p:spPr>
        <p:txBody>
          <a:bodyPr/>
          <a:lstStyle/>
          <a:p>
            <a:r>
              <a:rPr lang="es-ES" dirty="0">
                <a:solidFill>
                  <a:srgbClr val="130F24"/>
                </a:solidFill>
                <a:latin typeface="Helvetica" pitchFamily="2" charset="0"/>
              </a:rPr>
              <a:t>Aplicaciones de las leyes de Newton</a:t>
            </a:r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1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D94AB4B-D0EE-8ADE-D451-379438C66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8525" y="369757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Segunda ley de Newton: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DA9F37D-1B27-E5CB-7AF8-226B7A466A82}"/>
              </a:ext>
            </a:extLst>
          </p:cNvPr>
          <p:cNvSpPr txBox="1">
            <a:spLocks noChangeArrowheads="1"/>
          </p:cNvSpPr>
          <p:nvPr/>
        </p:nvSpPr>
        <p:spPr>
          <a:xfrm>
            <a:off x="734518" y="1512757"/>
            <a:ext cx="10852879" cy="1417638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altLang="es-CO" sz="2400"/>
              <a:t>Segunda ley:  Siempre que una fuerza resultante actúa sobre un objeto, produce una aceleración, una aceleración que es directamente proporcional a la fuerza e inversamente proporcional a la masa.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10BE088E-E3C5-AF11-EBD3-E9B8D9D20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908477"/>
              </p:ext>
            </p:extLst>
          </p:nvPr>
        </p:nvGraphicFramePr>
        <p:xfrm>
          <a:off x="5360857" y="3364576"/>
          <a:ext cx="1600200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240" imgH="393480" progId="Equation.DSMT4">
                  <p:embed/>
                </p:oleObj>
              </mc:Choice>
              <mc:Fallback>
                <p:oleObj name="Equation" r:id="rId5" imgW="444240" imgH="393480" progId="Equation.DSMT4">
                  <p:embed/>
                  <p:pic>
                    <p:nvPicPr>
                      <p:cNvPr id="671748" name="Object 4">
                        <a:extLst>
                          <a:ext uri="{FF2B5EF4-FFF2-40B4-BE49-F238E27FC236}">
                            <a16:creationId xmlns:a16="http://schemas.microsoft.com/office/drawing/2014/main" id="{5C9E85E7-7DF2-D8E0-4969-F74BF78B44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857" y="3364576"/>
                        <a:ext cx="1600200" cy="141763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645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FF2B5EF4-FFF2-40B4-BE49-F238E27FC236}">
                <a16:creationId xmlns:a16="http://schemas.microsoft.com/office/drawing/2014/main" id="{F2F67316-A621-FBB9-0E9D-B4D73F9F2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1405484"/>
            <a:ext cx="2935287" cy="30241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F8E438-9FB0-615F-A42B-0C6A556C1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19622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Diagrama de vector fuerza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9374EC-141A-BEB8-5842-5D7593231466}"/>
              </a:ext>
            </a:extLst>
          </p:cNvPr>
          <p:cNvGrpSpPr>
            <a:grpSpLocks/>
          </p:cNvGrpSpPr>
          <p:nvPr/>
        </p:nvGrpSpPr>
        <p:grpSpPr bwMode="auto">
          <a:xfrm>
            <a:off x="2528887" y="1356272"/>
            <a:ext cx="2935288" cy="3024187"/>
            <a:chOff x="3772" y="994"/>
            <a:chExt cx="1849" cy="19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7AADEB-1F85-977C-AE75-3C020DCA8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2" y="994"/>
              <a:ext cx="1849" cy="190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1A52AE9-5ECF-3E40-9666-AD721C2AD1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7" y="1133"/>
              <a:ext cx="1504" cy="1579"/>
              <a:chOff x="4005" y="1013"/>
              <a:chExt cx="1504" cy="157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D742E82-5343-9FDE-2FFF-08C338A6D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3" y="1041"/>
                <a:ext cx="111" cy="1551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5225191-0E29-4DEB-6F6E-2EE2A09EB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5" y="1013"/>
                <a:ext cx="1504" cy="120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9" name="Line 8">
                <a:extLst>
                  <a:ext uri="{FF2B5EF4-FFF2-40B4-BE49-F238E27FC236}">
                    <a16:creationId xmlns:a16="http://schemas.microsoft.com/office/drawing/2014/main" id="{B0078651-348F-1D1D-2899-5CAE5F21DE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5" y="1719"/>
                <a:ext cx="52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31A306EB-875B-524B-B812-F8399FD33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9" y="1654"/>
                <a:ext cx="138" cy="130"/>
              </a:xfrm>
              <a:custGeom>
                <a:avLst/>
                <a:gdLst>
                  <a:gd name="G0" fmla="+- 5400 0 0"/>
                  <a:gd name="G1" fmla="+- 21600 0 5400"/>
                  <a:gd name="G2" fmla="+- 21600 0 5400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1" name="Line 10">
                <a:extLst>
                  <a:ext uri="{FF2B5EF4-FFF2-40B4-BE49-F238E27FC236}">
                    <a16:creationId xmlns:a16="http://schemas.microsoft.com/office/drawing/2014/main" id="{31F705B3-EF63-CB96-6BFB-3D182E21E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10" y="1106"/>
                <a:ext cx="558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Line 11">
                <a:extLst>
                  <a:ext uri="{FF2B5EF4-FFF2-40B4-BE49-F238E27FC236}">
                    <a16:creationId xmlns:a16="http://schemas.microsoft.com/office/drawing/2014/main" id="{70E2125D-2057-7902-D61B-D4B669C3E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3" y="1765"/>
                <a:ext cx="0" cy="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D9535F8-BFB5-4CD2-57E6-88217388E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099"/>
                <a:ext cx="362" cy="325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B469D9B1-7433-83CB-A831-1B29452DD4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1" y="2161"/>
                <a:ext cx="604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b="0" i="1" u="none" dirty="0"/>
                  <a:t>W</a:t>
                </a:r>
              </a:p>
            </p:txBody>
          </p:sp>
          <p:sp>
            <p:nvSpPr>
              <p:cNvPr id="15" name="Text Box 14">
                <a:extLst>
                  <a:ext uri="{FF2B5EF4-FFF2-40B4-BE49-F238E27FC236}">
                    <a16:creationId xmlns:a16="http://schemas.microsoft.com/office/drawing/2014/main" id="{F299CA03-E43B-19E7-41A3-74A51BED4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8" y="1133"/>
                <a:ext cx="5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b="0" u="none" dirty="0"/>
                  <a:t>40</a:t>
                </a:r>
                <a:r>
                  <a:rPr lang="es-MX" altLang="es-CO" sz="2000" b="0" u="none" baseline="30000" dirty="0"/>
                  <a:t>0</a:t>
                </a:r>
                <a:endParaRPr lang="es-MX" altLang="es-CO" sz="2000" b="0" u="none" dirty="0"/>
              </a:p>
            </p:txBody>
          </p:sp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B270DE39-240B-06B1-F365-C93CADE57B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9" y="1329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b="0" i="1" u="none" dirty="0"/>
                  <a:t>A</a:t>
                </a:r>
              </a:p>
            </p:txBody>
          </p:sp>
          <p:sp>
            <p:nvSpPr>
              <p:cNvPr id="17" name="Text Box 16">
                <a:extLst>
                  <a:ext uri="{FF2B5EF4-FFF2-40B4-BE49-F238E27FC236}">
                    <a16:creationId xmlns:a16="http://schemas.microsoft.com/office/drawing/2014/main" id="{7241E4ED-8BB1-4C0A-9B7F-43C4328974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3" y="1430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b="0" i="1" u="none"/>
                  <a:t>B</a:t>
                </a:r>
              </a:p>
            </p:txBody>
          </p:sp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C057EF5E-899E-DD61-C4C8-2922B5D90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5" y="1772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b="0" i="1" u="none"/>
                  <a:t>C</a:t>
                </a:r>
              </a:p>
            </p:txBody>
          </p:sp>
        </p:grpSp>
      </p:grpSp>
      <p:sp>
        <p:nvSpPr>
          <p:cNvPr id="19" name="Line 18">
            <a:extLst>
              <a:ext uri="{FF2B5EF4-FFF2-40B4-BE49-F238E27FC236}">
                <a16:creationId xmlns:a16="http://schemas.microsoft.com/office/drawing/2014/main" id="{501BD928-BCB0-08F4-DDB8-ADDD5EF12A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8487" y="2683422"/>
            <a:ext cx="2095500" cy="142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D1792E57-51F1-9F71-2E16-4C243BB305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1125" y="1886497"/>
            <a:ext cx="15875" cy="13573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21" name="AutoShape 22">
            <a:extLst>
              <a:ext uri="{FF2B5EF4-FFF2-40B4-BE49-F238E27FC236}">
                <a16:creationId xmlns:a16="http://schemas.microsoft.com/office/drawing/2014/main" id="{6E1D092D-53A3-CB45-13EF-D723F397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112" y="2643734"/>
            <a:ext cx="219075" cy="20637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2C682C97-DC13-0E4B-0125-4B3DE7CE1C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18450" y="1773784"/>
            <a:ext cx="885825" cy="914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87D03D32-B073-EDB0-F707-23556EC55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812" y="3615035"/>
            <a:ext cx="9588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b="0" i="1" u="none" dirty="0"/>
              <a:t>W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E7826FFA-31C4-CC64-FBC2-8FBD17DAF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2919" y="2359571"/>
            <a:ext cx="8270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000" b="0" u="none" dirty="0"/>
              <a:t>40</a:t>
            </a:r>
            <a:r>
              <a:rPr lang="es-MX" altLang="es-CO" sz="2000" b="0" u="none" baseline="30000" dirty="0"/>
              <a:t>0</a:t>
            </a:r>
            <a:endParaRPr lang="es-MX" altLang="es-CO" sz="2000" b="0" u="none" dirty="0"/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1249FF1C-F644-353B-84E4-F074A704B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5" y="1492797"/>
            <a:ext cx="722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/>
              <a:t>A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0E5F54C2-7434-1FCE-AC3F-53EC9FC1D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282" y="2304296"/>
            <a:ext cx="722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/>
              <a:t>B</a:t>
            </a: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E275B664-6347-8205-41D0-8507717EB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863" y="3098552"/>
            <a:ext cx="722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/>
              <a:t>C</a:t>
            </a:r>
          </a:p>
        </p:txBody>
      </p:sp>
      <p:sp>
        <p:nvSpPr>
          <p:cNvPr id="28" name="Line 30">
            <a:extLst>
              <a:ext uri="{FF2B5EF4-FFF2-40B4-BE49-F238E27FC236}">
                <a16:creationId xmlns:a16="http://schemas.microsoft.com/office/drawing/2014/main" id="{946E9E13-0953-330B-473A-E72BF85A60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27850" y="2748509"/>
            <a:ext cx="2317750" cy="14288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29" name="Line 31">
            <a:extLst>
              <a:ext uri="{FF2B5EF4-FFF2-40B4-BE49-F238E27FC236}">
                <a16:creationId xmlns:a16="http://schemas.microsoft.com/office/drawing/2014/main" id="{53C40CF2-30D0-885B-EC2A-F65D921DC4D6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880225" y="2567534"/>
            <a:ext cx="1946275" cy="158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30" name="Line 32">
            <a:extLst>
              <a:ext uri="{FF2B5EF4-FFF2-40B4-BE49-F238E27FC236}">
                <a16:creationId xmlns:a16="http://schemas.microsoft.com/office/drawing/2014/main" id="{4596D87C-EBD4-C079-9B00-E67404022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4825" y="2746922"/>
            <a:ext cx="958850" cy="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31" name="Line 33">
            <a:extLst>
              <a:ext uri="{FF2B5EF4-FFF2-40B4-BE49-F238E27FC236}">
                <a16:creationId xmlns:a16="http://schemas.microsoft.com/office/drawing/2014/main" id="{999C7CE9-73EB-4476-D6AF-C17115B78A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7812" y="2746922"/>
            <a:ext cx="95885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32" name="Line 34">
            <a:extLst>
              <a:ext uri="{FF2B5EF4-FFF2-40B4-BE49-F238E27FC236}">
                <a16:creationId xmlns:a16="http://schemas.microsoft.com/office/drawing/2014/main" id="{47972295-2949-F92C-AC98-97BF09EBE5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2887" y="1761084"/>
            <a:ext cx="0" cy="928688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grpSp>
        <p:nvGrpSpPr>
          <p:cNvPr id="33" name="Group 35">
            <a:extLst>
              <a:ext uri="{FF2B5EF4-FFF2-40B4-BE49-F238E27FC236}">
                <a16:creationId xmlns:a16="http://schemas.microsoft.com/office/drawing/2014/main" id="{44156C04-BF92-917D-3363-81F2302A5A1A}"/>
              </a:ext>
            </a:extLst>
          </p:cNvPr>
          <p:cNvGrpSpPr>
            <a:grpSpLocks/>
          </p:cNvGrpSpPr>
          <p:nvPr/>
        </p:nvGrpSpPr>
        <p:grpSpPr bwMode="auto">
          <a:xfrm>
            <a:off x="8256587" y="1983334"/>
            <a:ext cx="342900" cy="334963"/>
            <a:chOff x="4227" y="1414"/>
            <a:chExt cx="216" cy="211"/>
          </a:xfrm>
        </p:grpSpPr>
        <p:sp>
          <p:nvSpPr>
            <p:cNvPr id="34" name="Line 36">
              <a:extLst>
                <a:ext uri="{FF2B5EF4-FFF2-40B4-BE49-F238E27FC236}">
                  <a16:creationId xmlns:a16="http://schemas.microsoft.com/office/drawing/2014/main" id="{7F4C57A6-64DC-ED35-9A07-156F696A6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486"/>
              <a:ext cx="148" cy="13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5" name="Line 37">
              <a:extLst>
                <a:ext uri="{FF2B5EF4-FFF2-40B4-BE49-F238E27FC236}">
                  <a16:creationId xmlns:a16="http://schemas.microsoft.com/office/drawing/2014/main" id="{F533A878-EC0A-C0B5-1A7F-20D6C885A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5" y="1414"/>
              <a:ext cx="148" cy="13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sp>
        <p:nvSpPr>
          <p:cNvPr id="36" name="Text Box 38">
            <a:extLst>
              <a:ext uri="{FF2B5EF4-FFF2-40B4-BE49-F238E27FC236}">
                <a16:creationId xmlns:a16="http://schemas.microsoft.com/office/drawing/2014/main" id="{1BD1D6F9-39FE-E428-F530-6BCE1A8AB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499" y="2751684"/>
            <a:ext cx="75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 err="1">
                <a:solidFill>
                  <a:srgbClr val="FFFF00"/>
                </a:solidFill>
              </a:rPr>
              <a:t>A</a:t>
            </a:r>
            <a:r>
              <a:rPr lang="es-MX" altLang="es-CO" sz="2400" b="0" i="1" u="none" baseline="-25000" dirty="0" err="1">
                <a:solidFill>
                  <a:srgbClr val="FFFF00"/>
                </a:solidFill>
              </a:rPr>
              <a:t>x</a:t>
            </a:r>
            <a:endParaRPr lang="es-MX" altLang="es-CO" sz="2400" b="0" i="1" u="none" dirty="0">
              <a:solidFill>
                <a:srgbClr val="FFFF00"/>
              </a:solidFill>
            </a:endParaRPr>
          </a:p>
        </p:txBody>
      </p:sp>
      <p:sp>
        <p:nvSpPr>
          <p:cNvPr id="37" name="Text Box 39">
            <a:extLst>
              <a:ext uri="{FF2B5EF4-FFF2-40B4-BE49-F238E27FC236}">
                <a16:creationId xmlns:a16="http://schemas.microsoft.com/office/drawing/2014/main" id="{0A235B8B-A6B0-960C-F848-3221D6D3C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3462" y="2010323"/>
            <a:ext cx="75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>
                <a:solidFill>
                  <a:srgbClr val="FFFF00"/>
                </a:solidFill>
              </a:rPr>
              <a:t>A</a:t>
            </a:r>
            <a:r>
              <a:rPr lang="es-MX" altLang="es-CO" sz="2400" b="0" i="1" u="none" baseline="-25000" dirty="0">
                <a:solidFill>
                  <a:srgbClr val="FFFF00"/>
                </a:solidFill>
              </a:rPr>
              <a:t>y</a:t>
            </a:r>
            <a:endParaRPr lang="es-MX" altLang="es-CO" sz="2400" b="0" i="1" u="none" dirty="0">
              <a:solidFill>
                <a:srgbClr val="FFFF00"/>
              </a:solidFill>
            </a:endParaRPr>
          </a:p>
        </p:txBody>
      </p:sp>
      <p:sp>
        <p:nvSpPr>
          <p:cNvPr id="38" name="Text Box 40">
            <a:extLst>
              <a:ext uri="{FF2B5EF4-FFF2-40B4-BE49-F238E27FC236}">
                <a16:creationId xmlns:a16="http://schemas.microsoft.com/office/drawing/2014/main" id="{EA4847F7-A78E-E4EF-EA55-D63BCA860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7" y="4791622"/>
            <a:ext cx="868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s-MX" altLang="es-CO" sz="2400" b="0" u="none" dirty="0"/>
              <a:t>Un diagrama de cuerpo libre es un diagrama de fuerza</a:t>
            </a: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33FF3948-1FD3-52A6-AE71-58C418A69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3212" y="1827759"/>
            <a:ext cx="8413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5FCF4399-4ED6-A984-2292-D7E13BEDA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8875" y="1827759"/>
            <a:ext cx="0" cy="9445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41" name="Text Box 43">
            <a:extLst>
              <a:ext uri="{FF2B5EF4-FFF2-40B4-BE49-F238E27FC236}">
                <a16:creationId xmlns:a16="http://schemas.microsoft.com/office/drawing/2014/main" id="{D305FA7B-25BB-4C17-A399-4D5A73605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3487" y="2041162"/>
            <a:ext cx="75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/>
              <a:t>A</a:t>
            </a:r>
            <a:r>
              <a:rPr lang="es-MX" altLang="es-CO" sz="2400" b="0" i="1" u="none" baseline="-25000"/>
              <a:t>y</a:t>
            </a:r>
            <a:endParaRPr lang="es-MX" altLang="es-CO" sz="2400" b="0" i="1" u="none"/>
          </a:p>
        </p:txBody>
      </p:sp>
      <p:sp>
        <p:nvSpPr>
          <p:cNvPr id="42" name="Text Box 44">
            <a:extLst>
              <a:ext uri="{FF2B5EF4-FFF2-40B4-BE49-F238E27FC236}">
                <a16:creationId xmlns:a16="http://schemas.microsoft.com/office/drawing/2014/main" id="{DFCD6D15-FBE4-B002-25D7-CF916A9F1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587" y="5183734"/>
            <a:ext cx="87249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u="none" dirty="0"/>
              <a:t>que muestra todos los elementos en este diagrama: ejes, vectores, componentes y ángulos.</a:t>
            </a: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F8CA93C5-2502-719D-347E-46BD81BD0B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86212" y="2123034"/>
            <a:ext cx="530225" cy="515938"/>
          </a:xfrm>
          <a:prstGeom prst="line">
            <a:avLst/>
          </a:prstGeom>
          <a:noFill/>
          <a:ln w="57150">
            <a:solidFill>
              <a:srgbClr val="99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44" name="Line 46">
            <a:extLst>
              <a:ext uri="{FF2B5EF4-FFF2-40B4-BE49-F238E27FC236}">
                <a16:creationId xmlns:a16="http://schemas.microsoft.com/office/drawing/2014/main" id="{761F5DEE-300A-501A-6C4A-C02F545671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7" y="2683422"/>
            <a:ext cx="633413" cy="0"/>
          </a:xfrm>
          <a:prstGeom prst="line">
            <a:avLst/>
          </a:prstGeom>
          <a:noFill/>
          <a:ln w="57150">
            <a:solidFill>
              <a:srgbClr val="99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45" name="Line 47">
            <a:extLst>
              <a:ext uri="{FF2B5EF4-FFF2-40B4-BE49-F238E27FC236}">
                <a16:creationId xmlns:a16="http://schemas.microsoft.com/office/drawing/2014/main" id="{408DA592-C792-A8A8-1F4F-B1E2E68BE3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0012" y="2770734"/>
            <a:ext cx="15875" cy="560388"/>
          </a:xfrm>
          <a:prstGeom prst="line">
            <a:avLst/>
          </a:prstGeom>
          <a:noFill/>
          <a:ln w="57150">
            <a:solidFill>
              <a:srgbClr val="99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46" name="Line 24">
            <a:extLst>
              <a:ext uri="{FF2B5EF4-FFF2-40B4-BE49-F238E27FC236}">
                <a16:creationId xmlns:a16="http://schemas.microsoft.com/office/drawing/2014/main" id="{A4FEEDB0-8F9B-8BE3-2601-60A5D3336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9712" y="2819947"/>
            <a:ext cx="0" cy="928687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152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23" grpId="0"/>
      <p:bldP spid="24" grpId="0"/>
      <p:bldP spid="25" grpId="0"/>
      <p:bldP spid="26" grpId="0"/>
      <p:bldP spid="27" grpId="0"/>
      <p:bldP spid="36" grpId="0"/>
      <p:bldP spid="37" grpId="0"/>
      <p:bldP spid="38" grpId="0"/>
      <p:bldP spid="41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A06C4-C6EB-2CC4-EC71-2A2D6DD4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6F9D724-B447-08D8-CD62-EC9918A3B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139909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Diagramas de cuerpo libre: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344AF5E-82D6-6756-B771-DF554A04C1A6}"/>
              </a:ext>
            </a:extLst>
          </p:cNvPr>
          <p:cNvSpPr txBox="1">
            <a:spLocks noChangeArrowheads="1"/>
          </p:cNvSpPr>
          <p:nvPr/>
        </p:nvSpPr>
        <p:spPr>
          <a:xfrm>
            <a:off x="1424066" y="1619562"/>
            <a:ext cx="9818557" cy="2959307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altLang="es-CO" sz="2400" dirty="0"/>
              <a:t>Lea el problema; dibuje y etiquete un esquema.</a:t>
            </a:r>
          </a:p>
          <a:p>
            <a:pPr algn="just"/>
            <a:r>
              <a:rPr lang="es-MX" altLang="es-CO" sz="2400" dirty="0"/>
              <a:t>Aísle un punto común donde actúen todas las fuerzas.</a:t>
            </a:r>
          </a:p>
          <a:p>
            <a:pPr algn="just"/>
            <a:r>
              <a:rPr lang="es-MX" altLang="es-CO" sz="2400" dirty="0"/>
              <a:t>Construya un diagrama de fuerza en el origen de los ejes </a:t>
            </a:r>
            <a:r>
              <a:rPr lang="es-MX" altLang="es-CO" sz="2400" i="1" dirty="0"/>
              <a:t>x</a:t>
            </a:r>
            <a:r>
              <a:rPr lang="es-MX" altLang="es-CO" sz="2400" dirty="0"/>
              <a:t>, </a:t>
            </a:r>
            <a:r>
              <a:rPr lang="es-MX" altLang="es-CO" sz="2400" i="1" dirty="0"/>
              <a:t>y</a:t>
            </a:r>
            <a:r>
              <a:rPr lang="es-MX" altLang="es-CO" sz="2400" dirty="0"/>
              <a:t>.</a:t>
            </a:r>
          </a:p>
          <a:p>
            <a:pPr algn="just"/>
            <a:r>
              <a:rPr lang="es-MX" altLang="es-CO" sz="2400" dirty="0"/>
              <a:t>Puntee rectángulos y etiquete los componentes </a:t>
            </a:r>
            <a:r>
              <a:rPr lang="es-MX" altLang="es-CO" sz="2400" i="1" dirty="0"/>
              <a:t>x </a:t>
            </a:r>
            <a:r>
              <a:rPr lang="es-MX" altLang="es-CO" sz="2400" dirty="0"/>
              <a:t>y </a:t>
            </a:r>
            <a:r>
              <a:rPr lang="es-MX" altLang="es-CO" sz="2400" i="1" dirty="0" err="1"/>
              <a:t>y</a:t>
            </a:r>
            <a:r>
              <a:rPr lang="es-MX" altLang="es-CO" sz="2400" dirty="0"/>
              <a:t> opuesto y adyacentes a los ángulos.</a:t>
            </a:r>
          </a:p>
          <a:p>
            <a:pPr algn="just"/>
            <a:r>
              <a:rPr lang="es-MX" altLang="es-CO" sz="2400" dirty="0"/>
              <a:t>Etiquete toda la información dada y establezca qué fuerzas o ángulos se deben encontrar.</a:t>
            </a:r>
          </a:p>
        </p:txBody>
      </p:sp>
    </p:spTree>
    <p:extLst>
      <p:ext uri="{BB962C8B-B14F-4D97-AF65-F5344CB8AC3E}">
        <p14:creationId xmlns:p14="http://schemas.microsoft.com/office/powerpoint/2010/main" val="152298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D68CC-9793-3155-206F-B6A5C16B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FF2B5EF4-FFF2-40B4-BE49-F238E27FC236}">
                <a16:creationId xmlns:a16="http://schemas.microsoft.com/office/drawing/2014/main" id="{8EA6C8F9-7C03-AC32-A70E-F404CACBB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880" y="1231900"/>
            <a:ext cx="2935288" cy="30241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" name="Line 111">
            <a:extLst>
              <a:ext uri="{FF2B5EF4-FFF2-40B4-BE49-F238E27FC236}">
                <a16:creationId xmlns:a16="http://schemas.microsoft.com/office/drawing/2014/main" id="{9964A573-12C1-DAC2-42FD-5C749FCE1F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3368" y="1533525"/>
            <a:ext cx="14287" cy="1814513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331587-9947-2970-067B-0D190F048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4218" y="220663"/>
            <a:ext cx="840105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Observe de nuevo el arreglo anterior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11C51F34-3B76-4A89-1558-D07CF23B7325}"/>
              </a:ext>
            </a:extLst>
          </p:cNvPr>
          <p:cNvGrpSpPr>
            <a:grpSpLocks/>
          </p:cNvGrpSpPr>
          <p:nvPr/>
        </p:nvGrpSpPr>
        <p:grpSpPr bwMode="auto">
          <a:xfrm>
            <a:off x="2953818" y="1227138"/>
            <a:ext cx="2935287" cy="3024187"/>
            <a:chOff x="3772" y="994"/>
            <a:chExt cx="1849" cy="1905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96A279BF-9576-1201-00D2-1DA2ADF0A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2" y="994"/>
              <a:ext cx="1849" cy="190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C465625-CFEB-8417-9109-928F9194B6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7" y="1133"/>
              <a:ext cx="1504" cy="1579"/>
              <a:chOff x="4005" y="1013"/>
              <a:chExt cx="1504" cy="157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C7A581DE-2BE0-6F44-7D21-956564476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3" y="1041"/>
                <a:ext cx="111" cy="1551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96219CC9-F0CF-C594-FA84-28BA1227C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5" y="1013"/>
                <a:ext cx="1504" cy="120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0" name="Line 8">
                <a:extLst>
                  <a:ext uri="{FF2B5EF4-FFF2-40B4-BE49-F238E27FC236}">
                    <a16:creationId xmlns:a16="http://schemas.microsoft.com/office/drawing/2014/main" id="{D363381F-120D-8F66-4536-F96CE7923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5" y="1719"/>
                <a:ext cx="52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1" name="AutoShape 9">
                <a:extLst>
                  <a:ext uri="{FF2B5EF4-FFF2-40B4-BE49-F238E27FC236}">
                    <a16:creationId xmlns:a16="http://schemas.microsoft.com/office/drawing/2014/main" id="{A81B786F-EBDC-2291-CA59-C82EAF318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9" y="1654"/>
                <a:ext cx="138" cy="130"/>
              </a:xfrm>
              <a:custGeom>
                <a:avLst/>
                <a:gdLst>
                  <a:gd name="G0" fmla="+- 5400 0 0"/>
                  <a:gd name="G1" fmla="+- 21600 0 5400"/>
                  <a:gd name="G2" fmla="+- 21600 0 5400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1F843134-09E4-BF8B-273C-31168DB7F6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10" y="1106"/>
                <a:ext cx="558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id="{548AADF1-48B1-73EE-86DD-3FB7FA148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3" y="1765"/>
                <a:ext cx="0" cy="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4" name="Oval 12">
                <a:extLst>
                  <a:ext uri="{FF2B5EF4-FFF2-40B4-BE49-F238E27FC236}">
                    <a16:creationId xmlns:a16="http://schemas.microsoft.com/office/drawing/2014/main" id="{5C2FA7A4-44B1-9DF0-ACEC-BD455EA14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099"/>
                <a:ext cx="362" cy="325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2A3014E1-34EC-527F-AAFD-10E5F8A8A7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1" y="2172"/>
                <a:ext cx="604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b="0" i="1" u="none" dirty="0"/>
                  <a:t>W</a:t>
                </a:r>
              </a:p>
            </p:txBody>
          </p:sp>
          <p:sp>
            <p:nvSpPr>
              <p:cNvPr id="16" name="Text Box 14">
                <a:extLst>
                  <a:ext uri="{FF2B5EF4-FFF2-40B4-BE49-F238E27FC236}">
                    <a16:creationId xmlns:a16="http://schemas.microsoft.com/office/drawing/2014/main" id="{04174728-0C98-0D02-7686-F12A797250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0" y="1133"/>
                <a:ext cx="5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b="0" u="none" dirty="0"/>
                  <a:t>40</a:t>
                </a:r>
                <a:r>
                  <a:rPr lang="es-MX" altLang="es-CO" sz="2000" b="0" u="none" baseline="30000" dirty="0"/>
                  <a:t>0</a:t>
                </a:r>
                <a:endParaRPr lang="es-MX" altLang="es-CO" sz="2000" b="0" u="none" dirty="0"/>
              </a:p>
            </p:txBody>
          </p:sp>
          <p:sp>
            <p:nvSpPr>
              <p:cNvPr id="17" name="Text Box 15">
                <a:extLst>
                  <a:ext uri="{FF2B5EF4-FFF2-40B4-BE49-F238E27FC236}">
                    <a16:creationId xmlns:a16="http://schemas.microsoft.com/office/drawing/2014/main" id="{AA8F9EF6-5C1F-DE79-8C04-860DE3C08C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1" y="1356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b="0" i="1" u="none" dirty="0"/>
                  <a:t>A</a:t>
                </a:r>
              </a:p>
            </p:txBody>
          </p:sp>
          <p:sp>
            <p:nvSpPr>
              <p:cNvPr id="18" name="Text Box 16">
                <a:extLst>
                  <a:ext uri="{FF2B5EF4-FFF2-40B4-BE49-F238E27FC236}">
                    <a16:creationId xmlns:a16="http://schemas.microsoft.com/office/drawing/2014/main" id="{DD818358-0319-DBA9-3899-47CCD34832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5" y="1438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b="0" i="1" u="none" dirty="0"/>
                  <a:t>B</a:t>
                </a:r>
              </a:p>
            </p:txBody>
          </p:sp>
          <p:sp>
            <p:nvSpPr>
              <p:cNvPr id="19" name="Text Box 17">
                <a:extLst>
                  <a:ext uri="{FF2B5EF4-FFF2-40B4-BE49-F238E27FC236}">
                    <a16:creationId xmlns:a16="http://schemas.microsoft.com/office/drawing/2014/main" id="{4DA33BE7-11B8-C87D-175E-574098D267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1820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b="0" i="1" u="none" dirty="0"/>
                  <a:t>C</a:t>
                </a:r>
              </a:p>
            </p:txBody>
          </p:sp>
        </p:grpSp>
      </p:grpSp>
      <p:sp>
        <p:nvSpPr>
          <p:cNvPr id="20" name="Text Box 46">
            <a:extLst>
              <a:ext uri="{FF2B5EF4-FFF2-40B4-BE49-F238E27FC236}">
                <a16:creationId xmlns:a16="http://schemas.microsoft.com/office/drawing/2014/main" id="{4F735576-B86C-A5AB-A7F0-620EA8EC4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8068" y="4513263"/>
            <a:ext cx="3054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s-MX" altLang="es-CO" b="0" u="none" dirty="0">
                <a:latin typeface="+mn-lt"/>
              </a:rPr>
              <a:t>Aísle punto.</a:t>
            </a:r>
          </a:p>
        </p:txBody>
      </p:sp>
      <p:sp>
        <p:nvSpPr>
          <p:cNvPr id="21" name="Oval 47">
            <a:extLst>
              <a:ext uri="{FF2B5EF4-FFF2-40B4-BE49-F238E27FC236}">
                <a16:creationId xmlns:a16="http://schemas.microsoft.com/office/drawing/2014/main" id="{D29389B9-2013-9BC9-3A9B-D13EBE4F3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5543" y="2332038"/>
            <a:ext cx="649287" cy="471487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22" name="Text Box 48">
            <a:extLst>
              <a:ext uri="{FF2B5EF4-FFF2-40B4-BE49-F238E27FC236}">
                <a16:creationId xmlns:a16="http://schemas.microsoft.com/office/drawing/2014/main" id="{01FA6D7B-FC25-8927-7AD9-089B6A8F7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830" y="5165725"/>
            <a:ext cx="31861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b="0" u="none" dirty="0">
                <a:latin typeface="+mn-lt"/>
              </a:rPr>
              <a:t>2. Dibuje ejes </a:t>
            </a:r>
            <a:r>
              <a:rPr lang="es-MX" altLang="es-CO" b="0" i="1" u="none" dirty="0">
                <a:latin typeface="+mn-lt"/>
              </a:rPr>
              <a:t>x</a:t>
            </a:r>
            <a:r>
              <a:rPr lang="es-MX" altLang="es-CO" b="0" u="none" dirty="0">
                <a:latin typeface="+mn-lt"/>
              </a:rPr>
              <a:t>, </a:t>
            </a:r>
            <a:r>
              <a:rPr lang="es-MX" altLang="es-CO" b="0" i="1" u="none" dirty="0">
                <a:latin typeface="+mn-lt"/>
              </a:rPr>
              <a:t>y</a:t>
            </a:r>
            <a:r>
              <a:rPr lang="es-MX" altLang="es-CO" b="0" u="none" dirty="0">
                <a:latin typeface="+mn-lt"/>
              </a:rPr>
              <a:t>.</a:t>
            </a:r>
          </a:p>
        </p:txBody>
      </p:sp>
      <p:sp>
        <p:nvSpPr>
          <p:cNvPr id="23" name="Text Box 49">
            <a:extLst>
              <a:ext uri="{FF2B5EF4-FFF2-40B4-BE49-F238E27FC236}">
                <a16:creationId xmlns:a16="http://schemas.microsoft.com/office/drawing/2014/main" id="{45E3E219-0A43-AAEF-2CE8-D72CD9B2C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7118" y="5800725"/>
            <a:ext cx="3479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b="0" u="none">
                <a:latin typeface="+mn-lt"/>
              </a:rPr>
              <a:t>3. Dibuje vectores.</a:t>
            </a:r>
          </a:p>
        </p:txBody>
      </p:sp>
      <p:sp>
        <p:nvSpPr>
          <p:cNvPr id="24" name="Text Box 52">
            <a:extLst>
              <a:ext uri="{FF2B5EF4-FFF2-40B4-BE49-F238E27FC236}">
                <a16:creationId xmlns:a16="http://schemas.microsoft.com/office/drawing/2014/main" id="{236AC943-2A55-5500-19A2-1D658BBD0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8580" y="5192713"/>
            <a:ext cx="383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b="0" u="none">
                <a:latin typeface="+mn-lt"/>
              </a:rPr>
              <a:t>5. Muestre toda la información dada.</a:t>
            </a:r>
          </a:p>
        </p:txBody>
      </p:sp>
      <p:sp>
        <p:nvSpPr>
          <p:cNvPr id="25" name="Line 59">
            <a:extLst>
              <a:ext uri="{FF2B5EF4-FFF2-40B4-BE49-F238E27FC236}">
                <a16:creationId xmlns:a16="http://schemas.microsoft.com/office/drawing/2014/main" id="{0A73CE9C-C831-5E18-A54E-EFE05F39C9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3255" y="2552700"/>
            <a:ext cx="2095500" cy="142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26" name="Line 60">
            <a:extLst>
              <a:ext uri="{FF2B5EF4-FFF2-40B4-BE49-F238E27FC236}">
                <a16:creationId xmlns:a16="http://schemas.microsoft.com/office/drawing/2014/main" id="{5DFD9734-4AD0-82E5-861E-0B83D85F23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58755" y="1727200"/>
            <a:ext cx="15875" cy="135731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27" name="Line 63">
            <a:extLst>
              <a:ext uri="{FF2B5EF4-FFF2-40B4-BE49-F238E27FC236}">
                <a16:creationId xmlns:a16="http://schemas.microsoft.com/office/drawing/2014/main" id="{5C5771C0-5637-6A54-22B8-36A52F57EE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3218" y="1614488"/>
            <a:ext cx="885825" cy="914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28" name="Text Box 64">
            <a:extLst>
              <a:ext uri="{FF2B5EF4-FFF2-40B4-BE49-F238E27FC236}">
                <a16:creationId xmlns:a16="http://schemas.microsoft.com/office/drawing/2014/main" id="{F15D6810-A2D6-9D47-8E3E-49705F8BD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3167" y="1270782"/>
            <a:ext cx="722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/>
              <a:t>A</a:t>
            </a:r>
            <a:endParaRPr lang="es-MX" altLang="es-CO" b="0" u="none"/>
          </a:p>
        </p:txBody>
      </p:sp>
      <p:sp>
        <p:nvSpPr>
          <p:cNvPr id="29" name="Line 73">
            <a:extLst>
              <a:ext uri="{FF2B5EF4-FFF2-40B4-BE49-F238E27FC236}">
                <a16:creationId xmlns:a16="http://schemas.microsoft.com/office/drawing/2014/main" id="{53B0939C-F1A1-D998-7C9C-BFDA7ABD33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46443" y="2573338"/>
            <a:ext cx="2227262" cy="14287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30" name="Line 75">
            <a:extLst>
              <a:ext uri="{FF2B5EF4-FFF2-40B4-BE49-F238E27FC236}">
                <a16:creationId xmlns:a16="http://schemas.microsoft.com/office/drawing/2014/main" id="{AF361454-0578-D6D6-FF41-A3DECF155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3643" y="1682750"/>
            <a:ext cx="0" cy="9445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31" name="Line 76">
            <a:extLst>
              <a:ext uri="{FF2B5EF4-FFF2-40B4-BE49-F238E27FC236}">
                <a16:creationId xmlns:a16="http://schemas.microsoft.com/office/drawing/2014/main" id="{616FB0EC-D4BF-0972-0AA2-2891DC662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7980" y="1668463"/>
            <a:ext cx="8413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32" name="Text Box 80">
            <a:extLst>
              <a:ext uri="{FF2B5EF4-FFF2-40B4-BE49-F238E27FC236}">
                <a16:creationId xmlns:a16="http://schemas.microsoft.com/office/drawing/2014/main" id="{857C396C-323C-DC9C-12E2-6A6534B9A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6907" y="2216945"/>
            <a:ext cx="8270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000" b="0" u="none" dirty="0"/>
              <a:t>40</a:t>
            </a:r>
            <a:r>
              <a:rPr lang="es-MX" altLang="es-CO" sz="2000" b="0" u="none" baseline="30000" dirty="0"/>
              <a:t>0</a:t>
            </a:r>
            <a:endParaRPr lang="es-MX" altLang="es-CO" b="0" u="none" dirty="0"/>
          </a:p>
        </p:txBody>
      </p:sp>
      <p:sp>
        <p:nvSpPr>
          <p:cNvPr id="33" name="Text Box 81">
            <a:extLst>
              <a:ext uri="{FF2B5EF4-FFF2-40B4-BE49-F238E27FC236}">
                <a16:creationId xmlns:a16="http://schemas.microsoft.com/office/drawing/2014/main" id="{E41D32D1-9060-260E-FD23-CCF217BD2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700" y="3508375"/>
            <a:ext cx="9588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b="0" i="1" u="none" dirty="0"/>
              <a:t>W</a:t>
            </a:r>
            <a:endParaRPr lang="es-MX" altLang="es-CO" b="0" u="none" dirty="0"/>
          </a:p>
        </p:txBody>
      </p:sp>
      <p:sp>
        <p:nvSpPr>
          <p:cNvPr id="34" name="Text Box 82">
            <a:extLst>
              <a:ext uri="{FF2B5EF4-FFF2-40B4-BE49-F238E27FC236}">
                <a16:creationId xmlns:a16="http://schemas.microsoft.com/office/drawing/2014/main" id="{5B6C8807-008D-A65E-A43C-14B3C901B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6550" y="1913744"/>
            <a:ext cx="75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/>
              <a:t>A</a:t>
            </a:r>
            <a:r>
              <a:rPr lang="es-MX" altLang="es-CO" sz="2400" b="0" i="1" u="none" baseline="-25000"/>
              <a:t>y</a:t>
            </a:r>
            <a:endParaRPr lang="es-MX" altLang="es-CO" b="0" u="none"/>
          </a:p>
        </p:txBody>
      </p:sp>
      <p:grpSp>
        <p:nvGrpSpPr>
          <p:cNvPr id="35" name="Group 84">
            <a:extLst>
              <a:ext uri="{FF2B5EF4-FFF2-40B4-BE49-F238E27FC236}">
                <a16:creationId xmlns:a16="http://schemas.microsoft.com/office/drawing/2014/main" id="{B15F78CF-8723-B4E2-22B0-7F168DE11E19}"/>
              </a:ext>
            </a:extLst>
          </p:cNvPr>
          <p:cNvGrpSpPr>
            <a:grpSpLocks/>
          </p:cNvGrpSpPr>
          <p:nvPr/>
        </p:nvGrpSpPr>
        <p:grpSpPr bwMode="auto">
          <a:xfrm>
            <a:off x="8651355" y="1824038"/>
            <a:ext cx="342900" cy="334962"/>
            <a:chOff x="4227" y="1414"/>
            <a:chExt cx="216" cy="211"/>
          </a:xfrm>
        </p:grpSpPr>
        <p:sp>
          <p:nvSpPr>
            <p:cNvPr id="36" name="Line 85">
              <a:extLst>
                <a:ext uri="{FF2B5EF4-FFF2-40B4-BE49-F238E27FC236}">
                  <a16:creationId xmlns:a16="http://schemas.microsoft.com/office/drawing/2014/main" id="{419834AB-90C6-40C4-5978-ECD8105E4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486"/>
              <a:ext cx="148" cy="13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7" name="Line 86">
              <a:extLst>
                <a:ext uri="{FF2B5EF4-FFF2-40B4-BE49-F238E27FC236}">
                  <a16:creationId xmlns:a16="http://schemas.microsoft.com/office/drawing/2014/main" id="{C527ACC2-13A3-2027-1AFA-404B04272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5" y="1414"/>
              <a:ext cx="148" cy="13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38" name="Group 65">
            <a:extLst>
              <a:ext uri="{FF2B5EF4-FFF2-40B4-BE49-F238E27FC236}">
                <a16:creationId xmlns:a16="http://schemas.microsoft.com/office/drawing/2014/main" id="{18CBAE62-CB6D-4AA2-529B-08CCFEA1F7C1}"/>
              </a:ext>
            </a:extLst>
          </p:cNvPr>
          <p:cNvGrpSpPr>
            <a:grpSpLocks/>
          </p:cNvGrpSpPr>
          <p:nvPr/>
        </p:nvGrpSpPr>
        <p:grpSpPr bwMode="auto">
          <a:xfrm>
            <a:off x="7184508" y="2130425"/>
            <a:ext cx="1023938" cy="457200"/>
            <a:chOff x="3402" y="1342"/>
            <a:chExt cx="645" cy="288"/>
          </a:xfrm>
        </p:grpSpPr>
        <p:sp>
          <p:nvSpPr>
            <p:cNvPr id="39" name="Text Box 66">
              <a:extLst>
                <a:ext uri="{FF2B5EF4-FFF2-40B4-BE49-F238E27FC236}">
                  <a16:creationId xmlns:a16="http://schemas.microsoft.com/office/drawing/2014/main" id="{0EC77CD1-2214-6E66-3FA2-40A208B39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1342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B</a:t>
              </a:r>
              <a:endParaRPr lang="es-MX" altLang="es-CO" b="0" u="none" dirty="0"/>
            </a:p>
          </p:txBody>
        </p:sp>
        <p:sp>
          <p:nvSpPr>
            <p:cNvPr id="40" name="Line 67">
              <a:extLst>
                <a:ext uri="{FF2B5EF4-FFF2-40B4-BE49-F238E27FC236}">
                  <a16:creationId xmlns:a16="http://schemas.microsoft.com/office/drawing/2014/main" id="{5E5667DC-A050-F04B-E921-3E95A8C34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" y="1630"/>
              <a:ext cx="604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41" name="Group 106">
            <a:extLst>
              <a:ext uri="{FF2B5EF4-FFF2-40B4-BE49-F238E27FC236}">
                <a16:creationId xmlns:a16="http://schemas.microsoft.com/office/drawing/2014/main" id="{7C4B67A8-6600-CB45-3A4F-44D446D9B05A}"/>
              </a:ext>
            </a:extLst>
          </p:cNvPr>
          <p:cNvGrpSpPr>
            <a:grpSpLocks/>
          </p:cNvGrpSpPr>
          <p:nvPr/>
        </p:nvGrpSpPr>
        <p:grpSpPr bwMode="auto">
          <a:xfrm>
            <a:off x="7822681" y="2660650"/>
            <a:ext cx="722312" cy="928688"/>
            <a:chOff x="3804" y="1676"/>
            <a:chExt cx="455" cy="585"/>
          </a:xfrm>
        </p:grpSpPr>
        <p:sp>
          <p:nvSpPr>
            <p:cNvPr id="42" name="Text Box 107">
              <a:extLst>
                <a:ext uri="{FF2B5EF4-FFF2-40B4-BE49-F238E27FC236}">
                  <a16:creationId xmlns:a16="http://schemas.microsoft.com/office/drawing/2014/main" id="{7ACC55D4-1202-AB50-65FA-B79E50ED2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1823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C</a:t>
              </a:r>
              <a:endParaRPr lang="es-MX" altLang="es-CO" b="0" u="none" dirty="0"/>
            </a:p>
          </p:txBody>
        </p:sp>
        <p:sp>
          <p:nvSpPr>
            <p:cNvPr id="43" name="Line 108">
              <a:extLst>
                <a:ext uri="{FF2B5EF4-FFF2-40B4-BE49-F238E27FC236}">
                  <a16:creationId xmlns:a16="http://schemas.microsoft.com/office/drawing/2014/main" id="{96506883-99A9-0361-2210-C40B64E85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6" y="1676"/>
              <a:ext cx="0" cy="585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44" name="Group 110">
            <a:extLst>
              <a:ext uri="{FF2B5EF4-FFF2-40B4-BE49-F238E27FC236}">
                <a16:creationId xmlns:a16="http://schemas.microsoft.com/office/drawing/2014/main" id="{96688C34-FDB1-86B4-0005-F1F1013BACA3}"/>
              </a:ext>
            </a:extLst>
          </p:cNvPr>
          <p:cNvGrpSpPr>
            <a:grpSpLocks/>
          </p:cNvGrpSpPr>
          <p:nvPr/>
        </p:nvGrpSpPr>
        <p:grpSpPr bwMode="auto">
          <a:xfrm>
            <a:off x="7719493" y="1601788"/>
            <a:ext cx="752475" cy="928687"/>
            <a:chOff x="3739" y="1009"/>
            <a:chExt cx="474" cy="585"/>
          </a:xfrm>
        </p:grpSpPr>
        <p:sp>
          <p:nvSpPr>
            <p:cNvPr id="45" name="Text Box 103">
              <a:extLst>
                <a:ext uri="{FF2B5EF4-FFF2-40B4-BE49-F238E27FC236}">
                  <a16:creationId xmlns:a16="http://schemas.microsoft.com/office/drawing/2014/main" id="{8A07DF15-F82C-2E08-3FB1-F02100E0A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9" y="1147"/>
              <a:ext cx="4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A</a:t>
              </a:r>
              <a:r>
                <a:rPr lang="es-MX" altLang="es-CO" sz="2400" b="0" i="1" u="none" baseline="-25000" dirty="0"/>
                <a:t>y</a:t>
              </a:r>
              <a:endParaRPr lang="es-MX" altLang="es-CO" b="0" u="none" dirty="0"/>
            </a:p>
          </p:txBody>
        </p:sp>
        <p:sp>
          <p:nvSpPr>
            <p:cNvPr id="46" name="Line 102">
              <a:extLst>
                <a:ext uri="{FF2B5EF4-FFF2-40B4-BE49-F238E27FC236}">
                  <a16:creationId xmlns:a16="http://schemas.microsoft.com/office/drawing/2014/main" id="{45F68B2C-3703-3A39-B922-E036F0F47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8" y="1009"/>
              <a:ext cx="0" cy="585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47" name="Group 118">
            <a:extLst>
              <a:ext uri="{FF2B5EF4-FFF2-40B4-BE49-F238E27FC236}">
                <a16:creationId xmlns:a16="http://schemas.microsoft.com/office/drawing/2014/main" id="{6639078F-727A-6DE2-9E53-EB8C0A603317}"/>
              </a:ext>
            </a:extLst>
          </p:cNvPr>
          <p:cNvGrpSpPr>
            <a:grpSpLocks/>
          </p:cNvGrpSpPr>
          <p:nvPr/>
        </p:nvGrpSpPr>
        <p:grpSpPr bwMode="auto">
          <a:xfrm>
            <a:off x="8318315" y="2597153"/>
            <a:ext cx="885825" cy="461963"/>
            <a:chOff x="4646" y="2063"/>
            <a:chExt cx="558" cy="291"/>
          </a:xfrm>
        </p:grpSpPr>
        <p:sp>
          <p:nvSpPr>
            <p:cNvPr id="48" name="Text Box 115">
              <a:extLst>
                <a:ext uri="{FF2B5EF4-FFF2-40B4-BE49-F238E27FC236}">
                  <a16:creationId xmlns:a16="http://schemas.microsoft.com/office/drawing/2014/main" id="{20C9138D-01A5-845E-8A46-D492F75FF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0" y="2066"/>
              <a:ext cx="4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 err="1"/>
                <a:t>A</a:t>
              </a:r>
              <a:r>
                <a:rPr lang="es-MX" altLang="es-CO" sz="2400" b="0" i="1" u="none" baseline="-25000" dirty="0" err="1"/>
                <a:t>x</a:t>
              </a:r>
              <a:endParaRPr lang="es-MX" altLang="es-CO" b="0" u="none" dirty="0"/>
            </a:p>
          </p:txBody>
        </p:sp>
        <p:sp>
          <p:nvSpPr>
            <p:cNvPr id="49" name="Line 117">
              <a:extLst>
                <a:ext uri="{FF2B5EF4-FFF2-40B4-BE49-F238E27FC236}">
                  <a16:creationId xmlns:a16="http://schemas.microsoft.com/office/drawing/2014/main" id="{01E5327D-18B0-401A-CFF6-7075E0193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6" y="2063"/>
              <a:ext cx="557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50" name="Group 121">
            <a:extLst>
              <a:ext uri="{FF2B5EF4-FFF2-40B4-BE49-F238E27FC236}">
                <a16:creationId xmlns:a16="http://schemas.microsoft.com/office/drawing/2014/main" id="{1D8F5F5A-8578-5B5E-97E6-ECAF09C7B65B}"/>
              </a:ext>
            </a:extLst>
          </p:cNvPr>
          <p:cNvGrpSpPr>
            <a:grpSpLocks/>
          </p:cNvGrpSpPr>
          <p:nvPr/>
        </p:nvGrpSpPr>
        <p:grpSpPr bwMode="auto">
          <a:xfrm>
            <a:off x="8140180" y="2455863"/>
            <a:ext cx="219075" cy="204787"/>
            <a:chOff x="5370" y="1530"/>
            <a:chExt cx="138" cy="129"/>
          </a:xfrm>
        </p:grpSpPr>
        <p:sp>
          <p:nvSpPr>
            <p:cNvPr id="51" name="AutoShape 119">
              <a:extLst>
                <a:ext uri="{FF2B5EF4-FFF2-40B4-BE49-F238E27FC236}">
                  <a16:creationId xmlns:a16="http://schemas.microsoft.com/office/drawing/2014/main" id="{ADBE1C0C-FB29-A5FE-7B49-F09EA227A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" y="1530"/>
              <a:ext cx="138" cy="129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2" name="Oval 120">
              <a:extLst>
                <a:ext uri="{FF2B5EF4-FFF2-40B4-BE49-F238E27FC236}">
                  <a16:creationId xmlns:a16="http://schemas.microsoft.com/office/drawing/2014/main" id="{7B4F7A27-688B-4605-CA85-276C53770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8" y="1569"/>
              <a:ext cx="74" cy="5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53" name="Text Box 51">
            <a:extLst>
              <a:ext uri="{FF2B5EF4-FFF2-40B4-BE49-F238E27FC236}">
                <a16:creationId xmlns:a16="http://schemas.microsoft.com/office/drawing/2014/main" id="{9CC910F0-0DE2-B0ED-6956-505947A50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206" y="4536281"/>
            <a:ext cx="4738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b="0" u="none" dirty="0">
                <a:latin typeface="+mn-lt"/>
              </a:rPr>
              <a:t>4. Etiquete componentes.</a:t>
            </a:r>
          </a:p>
        </p:txBody>
      </p:sp>
    </p:spTree>
    <p:extLst>
      <p:ext uri="{BB962C8B-B14F-4D97-AF65-F5344CB8AC3E}">
        <p14:creationId xmlns:p14="http://schemas.microsoft.com/office/powerpoint/2010/main" val="259414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0"/>
                            </p:stCondLst>
                            <p:childTnLst>
                              <p:par>
                                <p:cTn id="87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0" grpId="0" autoUpdateAnimBg="0"/>
      <p:bldP spid="22" grpId="0" autoUpdateAnimBg="0"/>
      <p:bldP spid="23" grpId="0" autoUpdateAnimBg="0"/>
      <p:bldP spid="24" grpId="0" autoUpdateAnimBg="0"/>
      <p:bldP spid="28" grpId="0" autoUpdateAnimBg="0"/>
      <p:bldP spid="32" grpId="0"/>
      <p:bldP spid="33" grpId="0" autoUpdateAnimBg="0"/>
      <p:bldP spid="34" grpId="0" autoUpdateAnimBg="0"/>
      <p:bldP spid="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C75D1-E551-570D-6B48-705AB6D8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78C620F-BB2C-F5D4-491C-74A3A5A7C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9619" y="83800"/>
            <a:ext cx="11032762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dirty="0"/>
              <a:t>Ejemplo. </a:t>
            </a:r>
            <a:r>
              <a:rPr lang="es-MX" altLang="es-CO" sz="2400" dirty="0">
                <a:solidFill>
                  <a:schemeClr val="tx1"/>
                </a:solidFill>
              </a:rPr>
              <a:t>Dibuje un diagrama de cuerpo libre para el arreglo que se muestra a la izquierda. El asta es ligera y de peso despreciable.</a:t>
            </a:r>
          </a:p>
        </p:txBody>
      </p:sp>
      <p:grpSp>
        <p:nvGrpSpPr>
          <p:cNvPr id="3" name="Group 81">
            <a:extLst>
              <a:ext uri="{FF2B5EF4-FFF2-40B4-BE49-F238E27FC236}">
                <a16:creationId xmlns:a16="http://schemas.microsoft.com/office/drawing/2014/main" id="{392D3EB5-BFB7-7EA9-9385-81462687E23A}"/>
              </a:ext>
            </a:extLst>
          </p:cNvPr>
          <p:cNvGrpSpPr>
            <a:grpSpLocks/>
          </p:cNvGrpSpPr>
          <p:nvPr/>
        </p:nvGrpSpPr>
        <p:grpSpPr bwMode="auto">
          <a:xfrm>
            <a:off x="2147523" y="1493499"/>
            <a:ext cx="2168525" cy="2773363"/>
            <a:chOff x="739" y="988"/>
            <a:chExt cx="1366" cy="1747"/>
          </a:xfrm>
        </p:grpSpPr>
        <p:sp>
          <p:nvSpPr>
            <p:cNvPr id="4" name="Rectangle 34">
              <a:extLst>
                <a:ext uri="{FF2B5EF4-FFF2-40B4-BE49-F238E27FC236}">
                  <a16:creationId xmlns:a16="http://schemas.microsoft.com/office/drawing/2014/main" id="{FC3E0686-0C3C-B825-668E-CF2791D21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" y="988"/>
              <a:ext cx="1366" cy="1747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09EB8286-23AE-FE5C-6FD0-2695EF706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1016"/>
              <a:ext cx="111" cy="155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40">
              <a:extLst>
                <a:ext uri="{FF2B5EF4-FFF2-40B4-BE49-F238E27FC236}">
                  <a16:creationId xmlns:a16="http://schemas.microsoft.com/office/drawing/2014/main" id="{FEEA9B9A-6981-3D9C-4509-BB0C51843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6" y="1156"/>
              <a:ext cx="716" cy="5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7" name="Line 41">
              <a:extLst>
                <a:ext uri="{FF2B5EF4-FFF2-40B4-BE49-F238E27FC236}">
                  <a16:creationId xmlns:a16="http://schemas.microsoft.com/office/drawing/2014/main" id="{11331856-94A2-7B67-8C55-3151522B8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5" y="1777"/>
              <a:ext cx="0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8" name="Oval 42">
              <a:extLst>
                <a:ext uri="{FF2B5EF4-FFF2-40B4-BE49-F238E27FC236}">
                  <a16:creationId xmlns:a16="http://schemas.microsoft.com/office/drawing/2014/main" id="{AF59500A-020E-6E2C-52E2-30CD7B771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" y="2102"/>
              <a:ext cx="362" cy="325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Text Box 43">
              <a:extLst>
                <a:ext uri="{FF2B5EF4-FFF2-40B4-BE49-F238E27FC236}">
                  <a16:creationId xmlns:a16="http://schemas.microsoft.com/office/drawing/2014/main" id="{95924C8A-4DAE-0133-4E65-C08C442D7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2092"/>
              <a:ext cx="60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b="0" i="1" u="none"/>
                <a:t>W</a:t>
              </a:r>
            </a:p>
          </p:txBody>
        </p:sp>
        <p:sp>
          <p:nvSpPr>
            <p:cNvPr id="10" name="Text Box 44">
              <a:extLst>
                <a:ext uri="{FF2B5EF4-FFF2-40B4-BE49-F238E27FC236}">
                  <a16:creationId xmlns:a16="http://schemas.microsoft.com/office/drawing/2014/main" id="{2158B53C-1678-02B7-EB28-0D9F532D1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2" y="1508"/>
              <a:ext cx="5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000" b="0" u="none" dirty="0"/>
                <a:t>30</a:t>
              </a:r>
              <a:r>
                <a:rPr lang="es-MX" altLang="es-CO" sz="2000" b="0" u="none" baseline="30000" dirty="0"/>
                <a:t>0</a:t>
              </a:r>
              <a:endParaRPr lang="es-MX" altLang="es-CO" sz="2000" b="0" u="none" dirty="0"/>
            </a:p>
          </p:txBody>
        </p:sp>
        <p:sp>
          <p:nvSpPr>
            <p:cNvPr id="11" name="Text Box 45">
              <a:extLst>
                <a:ext uri="{FF2B5EF4-FFF2-40B4-BE49-F238E27FC236}">
                  <a16:creationId xmlns:a16="http://schemas.microsoft.com/office/drawing/2014/main" id="{671E6881-E28B-E0BE-A647-F5CB5F3F8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1165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A</a:t>
              </a:r>
            </a:p>
          </p:txBody>
        </p:sp>
        <p:sp>
          <p:nvSpPr>
            <p:cNvPr id="12" name="Text Box 46">
              <a:extLst>
                <a:ext uri="{FF2B5EF4-FFF2-40B4-BE49-F238E27FC236}">
                  <a16:creationId xmlns:a16="http://schemas.microsoft.com/office/drawing/2014/main" id="{625615AB-4B53-6F19-F826-B8676819D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" y="1731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/>
                <a:t>B</a:t>
              </a:r>
            </a:p>
          </p:txBody>
        </p:sp>
        <p:sp>
          <p:nvSpPr>
            <p:cNvPr id="13" name="Text Box 47">
              <a:extLst>
                <a:ext uri="{FF2B5EF4-FFF2-40B4-BE49-F238E27FC236}">
                  <a16:creationId xmlns:a16="http://schemas.microsoft.com/office/drawing/2014/main" id="{93D13A10-58F9-AE7E-51F7-5BFF33697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1814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C</a:t>
              </a:r>
            </a:p>
          </p:txBody>
        </p:sp>
        <p:sp>
          <p:nvSpPr>
            <p:cNvPr id="14" name="Text Box 52">
              <a:extLst>
                <a:ext uri="{FF2B5EF4-FFF2-40B4-BE49-F238E27FC236}">
                  <a16:creationId xmlns:a16="http://schemas.microsoft.com/office/drawing/2014/main" id="{6E51FA26-7944-C26C-0ADE-3258CE147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8" y="2400"/>
              <a:ext cx="7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u="none"/>
                <a:t>700 N</a:t>
              </a:r>
            </a:p>
          </p:txBody>
        </p:sp>
        <p:sp>
          <p:nvSpPr>
            <p:cNvPr id="15" name="Rectangle 53">
              <a:extLst>
                <a:ext uri="{FF2B5EF4-FFF2-40B4-BE49-F238E27FC236}">
                  <a16:creationId xmlns:a16="http://schemas.microsoft.com/office/drawing/2014/main" id="{917D66D8-A7B9-B692-2B67-91E527FC7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" y="1719"/>
              <a:ext cx="743" cy="5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16" name="Text Box 55">
            <a:extLst>
              <a:ext uri="{FF2B5EF4-FFF2-40B4-BE49-F238E27FC236}">
                <a16:creationId xmlns:a16="http://schemas.microsoft.com/office/drawing/2014/main" id="{217620B4-3526-8667-87FB-B5B0EC1C4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9748" y="1490324"/>
            <a:ext cx="18811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MX" altLang="es-CO" sz="2400" b="0" u="none" dirty="0"/>
              <a:t>Cuidado:</a:t>
            </a:r>
          </a:p>
          <a:p>
            <a:pPr algn="just"/>
            <a:r>
              <a:rPr lang="es-MX" altLang="es-CO" sz="2400" b="0" u="none" dirty="0"/>
              <a:t>El asta sólo puede empujar o jalar pues no tiene peso.</a:t>
            </a:r>
          </a:p>
        </p:txBody>
      </p:sp>
      <p:sp>
        <p:nvSpPr>
          <p:cNvPr id="17" name="Text Box 82">
            <a:extLst>
              <a:ext uri="{FF2B5EF4-FFF2-40B4-BE49-F238E27FC236}">
                <a16:creationId xmlns:a16="http://schemas.microsoft.com/office/drawing/2014/main" id="{07B8CCAD-9CE6-E39C-8D41-450490AB4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860" y="4585949"/>
            <a:ext cx="7994650" cy="1200329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l"/>
            <a:r>
              <a:rPr lang="es-MX" altLang="es-CO" sz="2400" b="0" u="none" dirty="0">
                <a:solidFill>
                  <a:srgbClr val="000000"/>
                </a:solidFill>
              </a:rPr>
              <a:t>La fuerza </a:t>
            </a:r>
            <a:r>
              <a:rPr lang="es-MX" altLang="es-CO" sz="2400" b="0" i="1" u="none" dirty="0">
                <a:solidFill>
                  <a:srgbClr val="000000"/>
                </a:solidFill>
              </a:rPr>
              <a:t>B</a:t>
            </a:r>
            <a:r>
              <a:rPr lang="es-MX" altLang="es-CO" sz="2400" b="0" u="none" dirty="0">
                <a:solidFill>
                  <a:srgbClr val="000000"/>
                </a:solidFill>
              </a:rPr>
              <a:t> es la fuerza ejercida </a:t>
            </a:r>
            <a:r>
              <a:rPr lang="es-MX" altLang="es-CO" sz="2400" dirty="0">
                <a:solidFill>
                  <a:srgbClr val="000000"/>
                </a:solidFill>
              </a:rPr>
              <a:t>sobre</a:t>
            </a:r>
            <a:r>
              <a:rPr lang="es-MX" altLang="es-CO" sz="2400" b="0" u="none" dirty="0">
                <a:solidFill>
                  <a:srgbClr val="000000"/>
                </a:solidFill>
              </a:rPr>
              <a:t> la cuerda </a:t>
            </a:r>
            <a:r>
              <a:rPr lang="es-MX" altLang="es-CO" sz="2400" dirty="0">
                <a:solidFill>
                  <a:srgbClr val="000000"/>
                </a:solidFill>
              </a:rPr>
              <a:t>por</a:t>
            </a:r>
            <a:r>
              <a:rPr lang="es-MX" altLang="es-CO" sz="2400" b="0" u="none" dirty="0">
                <a:solidFill>
                  <a:srgbClr val="000000"/>
                </a:solidFill>
              </a:rPr>
              <a:t> el asta. No la confunda con la fuerza de reacción ejercida </a:t>
            </a:r>
            <a:r>
              <a:rPr lang="es-MX" altLang="es-CO" sz="2400" dirty="0">
                <a:solidFill>
                  <a:srgbClr val="000000"/>
                </a:solidFill>
              </a:rPr>
              <a:t>por</a:t>
            </a:r>
            <a:r>
              <a:rPr lang="es-MX" altLang="es-CO" sz="2400" b="0" u="none" dirty="0">
                <a:solidFill>
                  <a:srgbClr val="000000"/>
                </a:solidFill>
              </a:rPr>
              <a:t> la cuerda </a:t>
            </a:r>
            <a:r>
              <a:rPr lang="es-MX" altLang="es-CO" sz="2400" dirty="0">
                <a:solidFill>
                  <a:srgbClr val="000000"/>
                </a:solidFill>
              </a:rPr>
              <a:t>sobre</a:t>
            </a:r>
            <a:r>
              <a:rPr lang="es-MX" altLang="es-CO" sz="2400" b="0" u="none" dirty="0">
                <a:solidFill>
                  <a:srgbClr val="000000"/>
                </a:solidFill>
              </a:rPr>
              <a:t> el asta.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E5D95D59-1B71-BE8F-FFDA-10A79203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4948" y="1460162"/>
            <a:ext cx="2786062" cy="2727325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19" name="Group 131">
            <a:extLst>
              <a:ext uri="{FF2B5EF4-FFF2-40B4-BE49-F238E27FC236}">
                <a16:creationId xmlns:a16="http://schemas.microsoft.com/office/drawing/2014/main" id="{62AC7FB1-1404-2DC2-2A17-CA2575BAB357}"/>
              </a:ext>
            </a:extLst>
          </p:cNvPr>
          <p:cNvGrpSpPr>
            <a:grpSpLocks/>
          </p:cNvGrpSpPr>
          <p:nvPr/>
        </p:nvGrpSpPr>
        <p:grpSpPr bwMode="auto">
          <a:xfrm>
            <a:off x="6952888" y="2334874"/>
            <a:ext cx="1230313" cy="455613"/>
            <a:chOff x="3766" y="1518"/>
            <a:chExt cx="775" cy="287"/>
          </a:xfrm>
        </p:grpSpPr>
        <p:sp>
          <p:nvSpPr>
            <p:cNvPr id="20" name="Text Box 12">
              <a:extLst>
                <a:ext uri="{FF2B5EF4-FFF2-40B4-BE49-F238E27FC236}">
                  <a16:creationId xmlns:a16="http://schemas.microsoft.com/office/drawing/2014/main" id="{433ED52D-FDFA-5C12-A46E-D24EA4AF3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1518"/>
              <a:ext cx="45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B</a:t>
              </a:r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84885735-68DA-85D3-CAFB-F4C77C030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1771"/>
              <a:ext cx="604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22" name="Group 138">
            <a:extLst>
              <a:ext uri="{FF2B5EF4-FFF2-40B4-BE49-F238E27FC236}">
                <a16:creationId xmlns:a16="http://schemas.microsoft.com/office/drawing/2014/main" id="{CB3B60AB-B684-DED3-62DF-EA587F1C85BA}"/>
              </a:ext>
            </a:extLst>
          </p:cNvPr>
          <p:cNvGrpSpPr>
            <a:grpSpLocks/>
          </p:cNvGrpSpPr>
          <p:nvPr/>
        </p:nvGrpSpPr>
        <p:grpSpPr bwMode="auto">
          <a:xfrm>
            <a:off x="8216537" y="1474450"/>
            <a:ext cx="1654176" cy="1303338"/>
            <a:chOff x="4562" y="976"/>
            <a:chExt cx="1042" cy="821"/>
          </a:xfrm>
        </p:grpSpPr>
        <p:sp>
          <p:nvSpPr>
            <p:cNvPr id="23" name="Line 139">
              <a:extLst>
                <a:ext uri="{FF2B5EF4-FFF2-40B4-BE49-F238E27FC236}">
                  <a16:creationId xmlns:a16="http://schemas.microsoft.com/office/drawing/2014/main" id="{580E32A9-2E1D-2FA8-3A9A-C83E022F8A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7" y="1161"/>
              <a:ext cx="558" cy="573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24" name="Text Box 140">
              <a:extLst>
                <a:ext uri="{FF2B5EF4-FFF2-40B4-BE49-F238E27FC236}">
                  <a16:creationId xmlns:a16="http://schemas.microsoft.com/office/drawing/2014/main" id="{D8EC744B-D912-723B-2881-AC39A308DE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1" y="1548"/>
              <a:ext cx="52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000" b="0" u="none" dirty="0"/>
                <a:t>30</a:t>
              </a:r>
              <a:r>
                <a:rPr lang="es-MX" altLang="es-CO" sz="2000" b="0" u="none" baseline="30000" dirty="0"/>
                <a:t>0</a:t>
              </a:r>
              <a:endParaRPr lang="es-MX" altLang="es-CO" b="0" u="none" dirty="0"/>
            </a:p>
          </p:txBody>
        </p:sp>
        <p:sp>
          <p:nvSpPr>
            <p:cNvPr id="25" name="Text Box 141">
              <a:extLst>
                <a:ext uri="{FF2B5EF4-FFF2-40B4-BE49-F238E27FC236}">
                  <a16:creationId xmlns:a16="http://schemas.microsoft.com/office/drawing/2014/main" id="{333FC78B-94C5-3C54-5CAB-FE5E9DECF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9" y="976"/>
              <a:ext cx="45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A</a:t>
              </a:r>
              <a:endParaRPr lang="es-MX" altLang="es-CO" b="0" u="none" dirty="0"/>
            </a:p>
          </p:txBody>
        </p:sp>
        <p:sp>
          <p:nvSpPr>
            <p:cNvPr id="26" name="Line 142">
              <a:extLst>
                <a:ext uri="{FF2B5EF4-FFF2-40B4-BE49-F238E27FC236}">
                  <a16:creationId xmlns:a16="http://schemas.microsoft.com/office/drawing/2014/main" id="{1858D080-F24D-F91A-1022-787270ECE0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3" y="1772"/>
              <a:ext cx="856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27" name="Line 143">
              <a:extLst>
                <a:ext uri="{FF2B5EF4-FFF2-40B4-BE49-F238E27FC236}">
                  <a16:creationId xmlns:a16="http://schemas.microsoft.com/office/drawing/2014/main" id="{52F4318F-0856-C2C5-54A6-9F6C0C0172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229" y="1358"/>
              <a:ext cx="675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28" name="Group 144">
            <a:extLst>
              <a:ext uri="{FF2B5EF4-FFF2-40B4-BE49-F238E27FC236}">
                <a16:creationId xmlns:a16="http://schemas.microsoft.com/office/drawing/2014/main" id="{05E01EA3-D744-71EE-7841-091B2FA109C5}"/>
              </a:ext>
            </a:extLst>
          </p:cNvPr>
          <p:cNvGrpSpPr>
            <a:grpSpLocks/>
          </p:cNvGrpSpPr>
          <p:nvPr/>
        </p:nvGrpSpPr>
        <p:grpSpPr bwMode="auto">
          <a:xfrm>
            <a:off x="7684723" y="2807949"/>
            <a:ext cx="1212850" cy="1339850"/>
            <a:chOff x="4227" y="1816"/>
            <a:chExt cx="764" cy="844"/>
          </a:xfrm>
        </p:grpSpPr>
        <p:sp>
          <p:nvSpPr>
            <p:cNvPr id="29" name="Line 145">
              <a:extLst>
                <a:ext uri="{FF2B5EF4-FFF2-40B4-BE49-F238E27FC236}">
                  <a16:creationId xmlns:a16="http://schemas.microsoft.com/office/drawing/2014/main" id="{2E4551EE-A4F1-8633-C31B-19D3E15DF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0" y="1816"/>
              <a:ext cx="0" cy="583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0" name="Text Box 146">
              <a:extLst>
                <a:ext uri="{FF2B5EF4-FFF2-40B4-BE49-F238E27FC236}">
                  <a16:creationId xmlns:a16="http://schemas.microsoft.com/office/drawing/2014/main" id="{D0E31308-8B7D-5143-60F9-E43625993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7" y="2314"/>
              <a:ext cx="60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 b="0" u="none"/>
            </a:p>
          </p:txBody>
        </p:sp>
        <p:sp>
          <p:nvSpPr>
            <p:cNvPr id="31" name="Text Box 147">
              <a:extLst>
                <a:ext uri="{FF2B5EF4-FFF2-40B4-BE49-F238E27FC236}">
                  <a16:creationId xmlns:a16="http://schemas.microsoft.com/office/drawing/2014/main" id="{FF3CE32D-3E8A-5791-8E70-61DFD9383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4" y="1944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C</a:t>
              </a:r>
              <a:endParaRPr lang="es-MX" altLang="es-CO" b="0" u="none" dirty="0"/>
            </a:p>
          </p:txBody>
        </p:sp>
        <p:sp>
          <p:nvSpPr>
            <p:cNvPr id="32" name="Text Box 148">
              <a:extLst>
                <a:ext uri="{FF2B5EF4-FFF2-40B4-BE49-F238E27FC236}">
                  <a16:creationId xmlns:a16="http://schemas.microsoft.com/office/drawing/2014/main" id="{DA938764-9311-4555-F584-D574D474E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2337"/>
              <a:ext cx="7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u="none"/>
                <a:t>700 N</a:t>
              </a:r>
              <a:endParaRPr lang="es-MX" altLang="es-CO" b="0" u="none"/>
            </a:p>
          </p:txBody>
        </p:sp>
      </p:grpSp>
      <p:grpSp>
        <p:nvGrpSpPr>
          <p:cNvPr id="33" name="Group 149">
            <a:extLst>
              <a:ext uri="{FF2B5EF4-FFF2-40B4-BE49-F238E27FC236}">
                <a16:creationId xmlns:a16="http://schemas.microsoft.com/office/drawing/2014/main" id="{56787B9C-6145-D9F1-4DE9-93779D064C6C}"/>
              </a:ext>
            </a:extLst>
          </p:cNvPr>
          <p:cNvGrpSpPr>
            <a:grpSpLocks/>
          </p:cNvGrpSpPr>
          <p:nvPr/>
        </p:nvGrpSpPr>
        <p:grpSpPr bwMode="auto">
          <a:xfrm>
            <a:off x="8626110" y="1979274"/>
            <a:ext cx="342900" cy="334963"/>
            <a:chOff x="4227" y="1414"/>
            <a:chExt cx="216" cy="211"/>
          </a:xfrm>
        </p:grpSpPr>
        <p:sp>
          <p:nvSpPr>
            <p:cNvPr id="34" name="Line 150">
              <a:extLst>
                <a:ext uri="{FF2B5EF4-FFF2-40B4-BE49-F238E27FC236}">
                  <a16:creationId xmlns:a16="http://schemas.microsoft.com/office/drawing/2014/main" id="{2F2D2B74-0ABE-4D30-3B92-252DA036E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486"/>
              <a:ext cx="148" cy="13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5" name="Line 151">
              <a:extLst>
                <a:ext uri="{FF2B5EF4-FFF2-40B4-BE49-F238E27FC236}">
                  <a16:creationId xmlns:a16="http://schemas.microsoft.com/office/drawing/2014/main" id="{EB318924-5E01-2BF5-3D69-BCEB0F839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5" y="1414"/>
              <a:ext cx="148" cy="13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sp>
        <p:nvSpPr>
          <p:cNvPr id="36" name="Line 152">
            <a:extLst>
              <a:ext uri="{FF2B5EF4-FFF2-40B4-BE49-F238E27FC236}">
                <a16:creationId xmlns:a16="http://schemas.microsoft.com/office/drawing/2014/main" id="{E9B13281-FC2D-DC64-4733-C11B32F5D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8398" y="1837987"/>
            <a:ext cx="0" cy="9445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37" name="Line 153">
            <a:extLst>
              <a:ext uri="{FF2B5EF4-FFF2-40B4-BE49-F238E27FC236}">
                <a16:creationId xmlns:a16="http://schemas.microsoft.com/office/drawing/2014/main" id="{C48B0C0A-19B3-855D-F629-9D690285D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2735" y="1823699"/>
            <a:ext cx="8413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grpSp>
        <p:nvGrpSpPr>
          <p:cNvPr id="38" name="Group 154">
            <a:extLst>
              <a:ext uri="{FF2B5EF4-FFF2-40B4-BE49-F238E27FC236}">
                <a16:creationId xmlns:a16="http://schemas.microsoft.com/office/drawing/2014/main" id="{35FBF2AE-51E2-4773-11B1-CAE5840151A9}"/>
              </a:ext>
            </a:extLst>
          </p:cNvPr>
          <p:cNvGrpSpPr>
            <a:grpSpLocks/>
          </p:cNvGrpSpPr>
          <p:nvPr/>
        </p:nvGrpSpPr>
        <p:grpSpPr bwMode="auto">
          <a:xfrm>
            <a:off x="7697423" y="1726862"/>
            <a:ext cx="663575" cy="928687"/>
            <a:chOff x="3231" y="773"/>
            <a:chExt cx="418" cy="585"/>
          </a:xfrm>
        </p:grpSpPr>
        <p:sp>
          <p:nvSpPr>
            <p:cNvPr id="39" name="Line 155">
              <a:extLst>
                <a:ext uri="{FF2B5EF4-FFF2-40B4-BE49-F238E27FC236}">
                  <a16:creationId xmlns:a16="http://schemas.microsoft.com/office/drawing/2014/main" id="{074FBF0C-85BF-980A-5546-249939C202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9" y="773"/>
              <a:ext cx="0" cy="585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40" name="Text Box 156">
              <a:extLst>
                <a:ext uri="{FF2B5EF4-FFF2-40B4-BE49-F238E27FC236}">
                  <a16:creationId xmlns:a16="http://schemas.microsoft.com/office/drawing/2014/main" id="{88E33CE2-DD65-1CFA-1653-D1C574049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1" y="940"/>
              <a:ext cx="4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A</a:t>
              </a:r>
              <a:r>
                <a:rPr lang="es-MX" altLang="es-CO" sz="2400" b="0" i="1" u="none" baseline="-25000" dirty="0"/>
                <a:t>y</a:t>
              </a:r>
              <a:endParaRPr lang="es-MX" altLang="es-CO" b="0" u="none" dirty="0"/>
            </a:p>
          </p:txBody>
        </p:sp>
      </p:grpSp>
      <p:grpSp>
        <p:nvGrpSpPr>
          <p:cNvPr id="41" name="Group 157">
            <a:extLst>
              <a:ext uri="{FF2B5EF4-FFF2-40B4-BE49-F238E27FC236}">
                <a16:creationId xmlns:a16="http://schemas.microsoft.com/office/drawing/2014/main" id="{C920A37D-88FF-1276-8403-3C91DBDA4997}"/>
              </a:ext>
            </a:extLst>
          </p:cNvPr>
          <p:cNvGrpSpPr>
            <a:grpSpLocks/>
          </p:cNvGrpSpPr>
          <p:nvPr/>
        </p:nvGrpSpPr>
        <p:grpSpPr bwMode="auto">
          <a:xfrm>
            <a:off x="8267335" y="2758737"/>
            <a:ext cx="993775" cy="460375"/>
            <a:chOff x="4594" y="1775"/>
            <a:chExt cx="626" cy="290"/>
          </a:xfrm>
        </p:grpSpPr>
        <p:sp>
          <p:nvSpPr>
            <p:cNvPr id="42" name="Line 158">
              <a:extLst>
                <a:ext uri="{FF2B5EF4-FFF2-40B4-BE49-F238E27FC236}">
                  <a16:creationId xmlns:a16="http://schemas.microsoft.com/office/drawing/2014/main" id="{341B1132-9F64-B85E-1635-5ED6D8FD3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4" y="1775"/>
              <a:ext cx="604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43" name="Text Box 159">
              <a:extLst>
                <a:ext uri="{FF2B5EF4-FFF2-40B4-BE49-F238E27FC236}">
                  <a16:creationId xmlns:a16="http://schemas.microsoft.com/office/drawing/2014/main" id="{A856F45C-51B4-4396-74FC-6290014C9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6" y="1777"/>
              <a:ext cx="4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/>
                <a:t>A</a:t>
              </a:r>
              <a:r>
                <a:rPr lang="es-MX" altLang="es-CO" sz="2400" b="0" i="1" u="none" baseline="-25000"/>
                <a:t>x</a:t>
              </a:r>
              <a:endParaRPr lang="es-MX" altLang="es-CO" b="0" u="none"/>
            </a:p>
          </p:txBody>
        </p:sp>
      </p:grpSp>
      <p:sp>
        <p:nvSpPr>
          <p:cNvPr id="44" name="AutoShape 160">
            <a:extLst>
              <a:ext uri="{FF2B5EF4-FFF2-40B4-BE49-F238E27FC236}">
                <a16:creationId xmlns:a16="http://schemas.microsoft.com/office/drawing/2014/main" id="{0971CF8C-AAB5-0C3F-83B4-13D061FF3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7635" y="2633324"/>
            <a:ext cx="219075" cy="20478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45" name="Text Box 161">
            <a:extLst>
              <a:ext uri="{FF2B5EF4-FFF2-40B4-BE49-F238E27FC236}">
                <a16:creationId xmlns:a16="http://schemas.microsoft.com/office/drawing/2014/main" id="{1DD7BBC5-F319-3C9B-0040-14E04DC3D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916" y="5828672"/>
            <a:ext cx="78565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u="none" dirty="0"/>
              <a:t>Aísle la cuerda en el extremo del </a:t>
            </a:r>
            <a:r>
              <a:rPr lang="es-MX" altLang="es-CO" sz="2400" b="0" i="1" u="none" dirty="0"/>
              <a:t>boom</a:t>
            </a:r>
            <a:r>
              <a:rPr lang="es-MX" altLang="es-CO" sz="2400" b="0" u="none" dirty="0"/>
              <a:t>. ¡Todas las fuerzas deben actuar SOBRE la cuerda!</a:t>
            </a:r>
          </a:p>
        </p:txBody>
      </p:sp>
      <p:grpSp>
        <p:nvGrpSpPr>
          <p:cNvPr id="46" name="Group 163">
            <a:extLst>
              <a:ext uri="{FF2B5EF4-FFF2-40B4-BE49-F238E27FC236}">
                <a16:creationId xmlns:a16="http://schemas.microsoft.com/office/drawing/2014/main" id="{4A4ADE37-F69E-C2D2-9A30-6F252A121F28}"/>
              </a:ext>
            </a:extLst>
          </p:cNvPr>
          <p:cNvGrpSpPr>
            <a:grpSpLocks/>
          </p:cNvGrpSpPr>
          <p:nvPr/>
        </p:nvGrpSpPr>
        <p:grpSpPr bwMode="auto">
          <a:xfrm>
            <a:off x="1154147" y="2406313"/>
            <a:ext cx="1855388" cy="581025"/>
            <a:chOff x="459" y="1563"/>
            <a:chExt cx="823" cy="366"/>
          </a:xfrm>
        </p:grpSpPr>
        <p:sp>
          <p:nvSpPr>
            <p:cNvPr id="47" name="Oval 54">
              <a:extLst>
                <a:ext uri="{FF2B5EF4-FFF2-40B4-BE49-F238E27FC236}">
                  <a16:creationId xmlns:a16="http://schemas.microsoft.com/office/drawing/2014/main" id="{CF465CF9-BF8E-A665-275D-CD3E5389F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1635"/>
              <a:ext cx="195" cy="223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8" name="Text Box 162">
              <a:extLst>
                <a:ext uri="{FF2B5EF4-FFF2-40B4-BE49-F238E27FC236}">
                  <a16:creationId xmlns:a16="http://schemas.microsoft.com/office/drawing/2014/main" id="{27AA689B-7AE4-08CF-0994-E5B6DFD8F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" y="1563"/>
              <a:ext cx="43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1600" b="0" u="none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Sobre cuerda</a:t>
              </a:r>
            </a:p>
          </p:txBody>
        </p:sp>
      </p:grpSp>
      <p:grpSp>
        <p:nvGrpSpPr>
          <p:cNvPr id="49" name="Group 164">
            <a:extLst>
              <a:ext uri="{FF2B5EF4-FFF2-40B4-BE49-F238E27FC236}">
                <a16:creationId xmlns:a16="http://schemas.microsoft.com/office/drawing/2014/main" id="{306EE137-B87D-3816-DAAE-14BF2C583BBF}"/>
              </a:ext>
            </a:extLst>
          </p:cNvPr>
          <p:cNvGrpSpPr>
            <a:grpSpLocks/>
          </p:cNvGrpSpPr>
          <p:nvPr/>
        </p:nvGrpSpPr>
        <p:grpSpPr bwMode="auto">
          <a:xfrm>
            <a:off x="1890348" y="2244389"/>
            <a:ext cx="1019175" cy="473076"/>
            <a:chOff x="3937" y="1473"/>
            <a:chExt cx="642" cy="298"/>
          </a:xfrm>
        </p:grpSpPr>
        <p:sp>
          <p:nvSpPr>
            <p:cNvPr id="50" name="Text Box 165">
              <a:extLst>
                <a:ext uri="{FF2B5EF4-FFF2-40B4-BE49-F238E27FC236}">
                  <a16:creationId xmlns:a16="http://schemas.microsoft.com/office/drawing/2014/main" id="{508CDF32-44B1-56C6-4AB7-624B7A99B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4" y="1473"/>
              <a:ext cx="45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i="1" u="none" dirty="0"/>
                <a:t>B</a:t>
              </a:r>
            </a:p>
          </p:txBody>
        </p:sp>
        <p:sp>
          <p:nvSpPr>
            <p:cNvPr id="51" name="Line 166">
              <a:extLst>
                <a:ext uri="{FF2B5EF4-FFF2-40B4-BE49-F238E27FC236}">
                  <a16:creationId xmlns:a16="http://schemas.microsoft.com/office/drawing/2014/main" id="{5EF0FDC0-C661-9FB9-60AD-40794AABB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1771"/>
              <a:ext cx="604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32388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6" grpId="0"/>
      <p:bldP spid="17" grpId="0" animBg="1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277B6-6569-1974-E6E5-83523F10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590A6BF-7087-C7C0-B667-EFC06DA4C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108679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Fuerzas de fricción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9B16154-646B-A680-C9E7-528E2B4AD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665" y="1263218"/>
            <a:ext cx="112576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i="1" dirty="0"/>
              <a:t>Cuando dos superficies están en contacto, las fuerzas de fricción se oponen al movimiento relativo o al movimiento inminente.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878F78D0-1F46-E018-C298-142D516BAED3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089879"/>
            <a:ext cx="2514600" cy="1074738"/>
            <a:chOff x="624" y="1579"/>
            <a:chExt cx="1584" cy="677"/>
          </a:xfrm>
        </p:grpSpPr>
        <p:sp>
          <p:nvSpPr>
            <p:cNvPr id="5" name="AutoShape 6">
              <a:extLst>
                <a:ext uri="{FF2B5EF4-FFF2-40B4-BE49-F238E27FC236}">
                  <a16:creationId xmlns:a16="http://schemas.microsoft.com/office/drawing/2014/main" id="{F5F95BC3-59C2-098A-01CC-E96B0B657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872"/>
              <a:ext cx="528" cy="144"/>
            </a:xfrm>
            <a:prstGeom prst="rightArrow">
              <a:avLst>
                <a:gd name="adj1" fmla="val 50000"/>
                <a:gd name="adj2" fmla="val 91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095F03F-0395-DB9E-BDB2-22E024822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12"/>
              <a:ext cx="1584" cy="144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B26AD00-4173-7B98-D124-9F1EF6622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824"/>
              <a:ext cx="480" cy="288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27B71F55-1DD8-6828-1B29-45CBDF5C4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579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</a:t>
              </a:r>
            </a:p>
          </p:txBody>
        </p:sp>
      </p:grpSp>
      <p:grpSp>
        <p:nvGrpSpPr>
          <p:cNvPr id="9" name="Group 42">
            <a:extLst>
              <a:ext uri="{FF2B5EF4-FFF2-40B4-BE49-F238E27FC236}">
                <a16:creationId xmlns:a16="http://schemas.microsoft.com/office/drawing/2014/main" id="{86AC2E40-55E8-31F6-B1FC-DF71A4D6F22C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623279"/>
            <a:ext cx="762000" cy="1439863"/>
            <a:chOff x="1152" y="1781"/>
            <a:chExt cx="480" cy="907"/>
          </a:xfrm>
        </p:grpSpPr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1A6350C4-C083-975D-A7C8-1B92A1F43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781"/>
              <a:ext cx="480" cy="288"/>
            </a:xfrm>
            <a:prstGeom prst="ellips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B1E7A1FE-EB9C-286D-2804-3843CD8CE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064"/>
              <a:ext cx="144" cy="624"/>
            </a:xfrm>
            <a:prstGeom prst="downArrow">
              <a:avLst>
                <a:gd name="adj1" fmla="val 50000"/>
                <a:gd name="adj2" fmla="val 108333"/>
              </a:avLst>
            </a:prstGeom>
            <a:solidFill>
              <a:srgbClr val="66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12" name="Group 38">
            <a:extLst>
              <a:ext uri="{FF2B5EF4-FFF2-40B4-BE49-F238E27FC236}">
                <a16:creationId xmlns:a16="http://schemas.microsoft.com/office/drawing/2014/main" id="{49AA3BC3-843D-7137-6F7B-6DA61950796B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071079"/>
            <a:ext cx="2660650" cy="838200"/>
            <a:chOff x="528" y="2784"/>
            <a:chExt cx="1676" cy="528"/>
          </a:xfrm>
        </p:grpSpPr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008EAAF7-A629-A7C0-1764-85A2893B4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784"/>
              <a:ext cx="1632" cy="5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66FF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Freeform 33">
              <a:extLst>
                <a:ext uri="{FF2B5EF4-FFF2-40B4-BE49-F238E27FC236}">
                  <a16:creationId xmlns:a16="http://schemas.microsoft.com/office/drawing/2014/main" id="{08FC3621-9C76-3BE8-9866-2E913D4C0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955"/>
              <a:ext cx="1623" cy="232"/>
            </a:xfrm>
            <a:custGeom>
              <a:avLst/>
              <a:gdLst>
                <a:gd name="T0" fmla="*/ 0 w 1623"/>
                <a:gd name="T1" fmla="*/ 76 h 232"/>
                <a:gd name="T2" fmla="*/ 38 w 1623"/>
                <a:gd name="T3" fmla="*/ 51 h 232"/>
                <a:gd name="T4" fmla="*/ 63 w 1623"/>
                <a:gd name="T5" fmla="*/ 25 h 232"/>
                <a:gd name="T6" fmla="*/ 114 w 1623"/>
                <a:gd name="T7" fmla="*/ 76 h 232"/>
                <a:gd name="T8" fmla="*/ 126 w 1623"/>
                <a:gd name="T9" fmla="*/ 114 h 232"/>
                <a:gd name="T10" fmla="*/ 152 w 1623"/>
                <a:gd name="T11" fmla="*/ 88 h 232"/>
                <a:gd name="T12" fmla="*/ 202 w 1623"/>
                <a:gd name="T13" fmla="*/ 25 h 232"/>
                <a:gd name="T14" fmla="*/ 215 w 1623"/>
                <a:gd name="T15" fmla="*/ 63 h 232"/>
                <a:gd name="T16" fmla="*/ 227 w 1623"/>
                <a:gd name="T17" fmla="*/ 126 h 232"/>
                <a:gd name="T18" fmla="*/ 265 w 1623"/>
                <a:gd name="T19" fmla="*/ 114 h 232"/>
                <a:gd name="T20" fmla="*/ 354 w 1623"/>
                <a:gd name="T21" fmla="*/ 38 h 232"/>
                <a:gd name="T22" fmla="*/ 429 w 1623"/>
                <a:gd name="T23" fmla="*/ 126 h 232"/>
                <a:gd name="T24" fmla="*/ 505 w 1623"/>
                <a:gd name="T25" fmla="*/ 38 h 232"/>
                <a:gd name="T26" fmla="*/ 556 w 1623"/>
                <a:gd name="T27" fmla="*/ 139 h 232"/>
                <a:gd name="T28" fmla="*/ 657 w 1623"/>
                <a:gd name="T29" fmla="*/ 51 h 232"/>
                <a:gd name="T30" fmla="*/ 758 w 1623"/>
                <a:gd name="T31" fmla="*/ 101 h 232"/>
                <a:gd name="T32" fmla="*/ 821 w 1623"/>
                <a:gd name="T33" fmla="*/ 38 h 232"/>
                <a:gd name="T34" fmla="*/ 846 w 1623"/>
                <a:gd name="T35" fmla="*/ 114 h 232"/>
                <a:gd name="T36" fmla="*/ 935 w 1623"/>
                <a:gd name="T37" fmla="*/ 38 h 232"/>
                <a:gd name="T38" fmla="*/ 960 w 1623"/>
                <a:gd name="T39" fmla="*/ 114 h 232"/>
                <a:gd name="T40" fmla="*/ 985 w 1623"/>
                <a:gd name="T41" fmla="*/ 88 h 232"/>
                <a:gd name="T42" fmla="*/ 1061 w 1623"/>
                <a:gd name="T43" fmla="*/ 38 h 232"/>
                <a:gd name="T44" fmla="*/ 1175 w 1623"/>
                <a:gd name="T45" fmla="*/ 88 h 232"/>
                <a:gd name="T46" fmla="*/ 1200 w 1623"/>
                <a:gd name="T47" fmla="*/ 126 h 232"/>
                <a:gd name="T48" fmla="*/ 1250 w 1623"/>
                <a:gd name="T49" fmla="*/ 51 h 232"/>
                <a:gd name="T50" fmla="*/ 1351 w 1623"/>
                <a:gd name="T51" fmla="*/ 114 h 232"/>
                <a:gd name="T52" fmla="*/ 1440 w 1623"/>
                <a:gd name="T53" fmla="*/ 25 h 232"/>
                <a:gd name="T54" fmla="*/ 1465 w 1623"/>
                <a:gd name="T55" fmla="*/ 101 h 232"/>
                <a:gd name="T56" fmla="*/ 1478 w 1623"/>
                <a:gd name="T57" fmla="*/ 139 h 232"/>
                <a:gd name="T58" fmla="*/ 1604 w 1623"/>
                <a:gd name="T59" fmla="*/ 88 h 232"/>
                <a:gd name="T60" fmla="*/ 1617 w 1623"/>
                <a:gd name="T61" fmla="*/ 126 h 232"/>
                <a:gd name="T62" fmla="*/ 1528 w 1623"/>
                <a:gd name="T63" fmla="*/ 126 h 232"/>
                <a:gd name="T64" fmla="*/ 1427 w 1623"/>
                <a:gd name="T65" fmla="*/ 139 h 232"/>
                <a:gd name="T66" fmla="*/ 1314 w 1623"/>
                <a:gd name="T67" fmla="*/ 189 h 232"/>
                <a:gd name="T68" fmla="*/ 1276 w 1623"/>
                <a:gd name="T69" fmla="*/ 164 h 232"/>
                <a:gd name="T70" fmla="*/ 1263 w 1623"/>
                <a:gd name="T71" fmla="*/ 202 h 232"/>
                <a:gd name="T72" fmla="*/ 1225 w 1623"/>
                <a:gd name="T73" fmla="*/ 189 h 232"/>
                <a:gd name="T74" fmla="*/ 1086 w 1623"/>
                <a:gd name="T75" fmla="*/ 177 h 232"/>
                <a:gd name="T76" fmla="*/ 1099 w 1623"/>
                <a:gd name="T77" fmla="*/ 139 h 232"/>
                <a:gd name="T78" fmla="*/ 1048 w 1623"/>
                <a:gd name="T79" fmla="*/ 152 h 232"/>
                <a:gd name="T80" fmla="*/ 985 w 1623"/>
                <a:gd name="T81" fmla="*/ 177 h 232"/>
                <a:gd name="T82" fmla="*/ 922 w 1623"/>
                <a:gd name="T83" fmla="*/ 189 h 232"/>
                <a:gd name="T84" fmla="*/ 846 w 1623"/>
                <a:gd name="T85" fmla="*/ 215 h 232"/>
                <a:gd name="T86" fmla="*/ 834 w 1623"/>
                <a:gd name="T87" fmla="*/ 164 h 232"/>
                <a:gd name="T88" fmla="*/ 821 w 1623"/>
                <a:gd name="T89" fmla="*/ 202 h 232"/>
                <a:gd name="T90" fmla="*/ 695 w 1623"/>
                <a:gd name="T91" fmla="*/ 227 h 232"/>
                <a:gd name="T92" fmla="*/ 682 w 1623"/>
                <a:gd name="T93" fmla="*/ 189 h 232"/>
                <a:gd name="T94" fmla="*/ 568 w 1623"/>
                <a:gd name="T95" fmla="*/ 202 h 232"/>
                <a:gd name="T96" fmla="*/ 530 w 1623"/>
                <a:gd name="T97" fmla="*/ 215 h 232"/>
                <a:gd name="T98" fmla="*/ 493 w 1623"/>
                <a:gd name="T99" fmla="*/ 202 h 232"/>
                <a:gd name="T100" fmla="*/ 467 w 1623"/>
                <a:gd name="T101" fmla="*/ 202 h 232"/>
                <a:gd name="T102" fmla="*/ 303 w 1623"/>
                <a:gd name="T103" fmla="*/ 152 h 232"/>
                <a:gd name="T104" fmla="*/ 114 w 1623"/>
                <a:gd name="T105" fmla="*/ 177 h 232"/>
                <a:gd name="T106" fmla="*/ 38 w 1623"/>
                <a:gd name="T107" fmla="*/ 88 h 232"/>
                <a:gd name="T108" fmla="*/ 76 w 1623"/>
                <a:gd name="T109" fmla="*/ 2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23" h="232">
                  <a:moveTo>
                    <a:pt x="0" y="76"/>
                  </a:moveTo>
                  <a:cubicBezTo>
                    <a:pt x="13" y="68"/>
                    <a:pt x="26" y="61"/>
                    <a:pt x="38" y="51"/>
                  </a:cubicBezTo>
                  <a:cubicBezTo>
                    <a:pt x="47" y="43"/>
                    <a:pt x="52" y="21"/>
                    <a:pt x="63" y="25"/>
                  </a:cubicBezTo>
                  <a:cubicBezTo>
                    <a:pt x="86" y="33"/>
                    <a:pt x="114" y="76"/>
                    <a:pt x="114" y="76"/>
                  </a:cubicBezTo>
                  <a:cubicBezTo>
                    <a:pt x="118" y="89"/>
                    <a:pt x="113" y="110"/>
                    <a:pt x="126" y="114"/>
                  </a:cubicBezTo>
                  <a:cubicBezTo>
                    <a:pt x="138" y="118"/>
                    <a:pt x="144" y="98"/>
                    <a:pt x="152" y="88"/>
                  </a:cubicBezTo>
                  <a:cubicBezTo>
                    <a:pt x="223" y="0"/>
                    <a:pt x="135" y="95"/>
                    <a:pt x="202" y="25"/>
                  </a:cubicBezTo>
                  <a:cubicBezTo>
                    <a:pt x="206" y="38"/>
                    <a:pt x="212" y="50"/>
                    <a:pt x="215" y="63"/>
                  </a:cubicBezTo>
                  <a:cubicBezTo>
                    <a:pt x="220" y="84"/>
                    <a:pt x="212" y="111"/>
                    <a:pt x="227" y="126"/>
                  </a:cubicBezTo>
                  <a:cubicBezTo>
                    <a:pt x="236" y="135"/>
                    <a:pt x="252" y="118"/>
                    <a:pt x="265" y="114"/>
                  </a:cubicBezTo>
                  <a:cubicBezTo>
                    <a:pt x="327" y="52"/>
                    <a:pt x="296" y="76"/>
                    <a:pt x="354" y="38"/>
                  </a:cubicBezTo>
                  <a:cubicBezTo>
                    <a:pt x="410" y="57"/>
                    <a:pt x="412" y="71"/>
                    <a:pt x="429" y="126"/>
                  </a:cubicBezTo>
                  <a:cubicBezTo>
                    <a:pt x="491" y="107"/>
                    <a:pt x="469" y="92"/>
                    <a:pt x="505" y="38"/>
                  </a:cubicBezTo>
                  <a:cubicBezTo>
                    <a:pt x="534" y="125"/>
                    <a:pt x="511" y="96"/>
                    <a:pt x="556" y="139"/>
                  </a:cubicBezTo>
                  <a:cubicBezTo>
                    <a:pt x="598" y="112"/>
                    <a:pt x="615" y="78"/>
                    <a:pt x="657" y="51"/>
                  </a:cubicBezTo>
                  <a:cubicBezTo>
                    <a:pt x="692" y="102"/>
                    <a:pt x="695" y="123"/>
                    <a:pt x="758" y="101"/>
                  </a:cubicBezTo>
                  <a:cubicBezTo>
                    <a:pt x="759" y="99"/>
                    <a:pt x="802" y="23"/>
                    <a:pt x="821" y="38"/>
                  </a:cubicBezTo>
                  <a:cubicBezTo>
                    <a:pt x="842" y="55"/>
                    <a:pt x="846" y="114"/>
                    <a:pt x="846" y="114"/>
                  </a:cubicBezTo>
                  <a:cubicBezTo>
                    <a:pt x="899" y="96"/>
                    <a:pt x="897" y="75"/>
                    <a:pt x="935" y="38"/>
                  </a:cubicBezTo>
                  <a:cubicBezTo>
                    <a:pt x="943" y="63"/>
                    <a:pt x="952" y="89"/>
                    <a:pt x="960" y="114"/>
                  </a:cubicBezTo>
                  <a:cubicBezTo>
                    <a:pt x="964" y="125"/>
                    <a:pt x="975" y="95"/>
                    <a:pt x="985" y="88"/>
                  </a:cubicBezTo>
                  <a:cubicBezTo>
                    <a:pt x="1009" y="70"/>
                    <a:pt x="1061" y="38"/>
                    <a:pt x="1061" y="38"/>
                  </a:cubicBezTo>
                  <a:cubicBezTo>
                    <a:pt x="1102" y="52"/>
                    <a:pt x="1134" y="75"/>
                    <a:pt x="1175" y="88"/>
                  </a:cubicBezTo>
                  <a:cubicBezTo>
                    <a:pt x="1183" y="101"/>
                    <a:pt x="1185" y="126"/>
                    <a:pt x="1200" y="126"/>
                  </a:cubicBezTo>
                  <a:cubicBezTo>
                    <a:pt x="1232" y="126"/>
                    <a:pt x="1244" y="71"/>
                    <a:pt x="1250" y="51"/>
                  </a:cubicBezTo>
                  <a:cubicBezTo>
                    <a:pt x="1313" y="71"/>
                    <a:pt x="1289" y="92"/>
                    <a:pt x="1351" y="114"/>
                  </a:cubicBezTo>
                  <a:cubicBezTo>
                    <a:pt x="1392" y="86"/>
                    <a:pt x="1413" y="66"/>
                    <a:pt x="1440" y="25"/>
                  </a:cubicBezTo>
                  <a:cubicBezTo>
                    <a:pt x="1448" y="50"/>
                    <a:pt x="1457" y="76"/>
                    <a:pt x="1465" y="101"/>
                  </a:cubicBezTo>
                  <a:cubicBezTo>
                    <a:pt x="1469" y="114"/>
                    <a:pt x="1478" y="139"/>
                    <a:pt x="1478" y="139"/>
                  </a:cubicBezTo>
                  <a:cubicBezTo>
                    <a:pt x="1519" y="112"/>
                    <a:pt x="1558" y="104"/>
                    <a:pt x="1604" y="88"/>
                  </a:cubicBezTo>
                  <a:cubicBezTo>
                    <a:pt x="1608" y="101"/>
                    <a:pt x="1623" y="114"/>
                    <a:pt x="1617" y="126"/>
                  </a:cubicBezTo>
                  <a:cubicBezTo>
                    <a:pt x="1603" y="155"/>
                    <a:pt x="1539" y="129"/>
                    <a:pt x="1528" y="126"/>
                  </a:cubicBezTo>
                  <a:cubicBezTo>
                    <a:pt x="1439" y="185"/>
                    <a:pt x="1469" y="202"/>
                    <a:pt x="1427" y="139"/>
                  </a:cubicBezTo>
                  <a:cubicBezTo>
                    <a:pt x="1386" y="153"/>
                    <a:pt x="1355" y="176"/>
                    <a:pt x="1314" y="189"/>
                  </a:cubicBezTo>
                  <a:cubicBezTo>
                    <a:pt x="1301" y="181"/>
                    <a:pt x="1291" y="160"/>
                    <a:pt x="1276" y="164"/>
                  </a:cubicBezTo>
                  <a:cubicBezTo>
                    <a:pt x="1263" y="167"/>
                    <a:pt x="1275" y="196"/>
                    <a:pt x="1263" y="202"/>
                  </a:cubicBezTo>
                  <a:cubicBezTo>
                    <a:pt x="1251" y="208"/>
                    <a:pt x="1238" y="191"/>
                    <a:pt x="1225" y="189"/>
                  </a:cubicBezTo>
                  <a:cubicBezTo>
                    <a:pt x="1179" y="182"/>
                    <a:pt x="1132" y="181"/>
                    <a:pt x="1086" y="177"/>
                  </a:cubicBezTo>
                  <a:cubicBezTo>
                    <a:pt x="1090" y="164"/>
                    <a:pt x="1110" y="146"/>
                    <a:pt x="1099" y="139"/>
                  </a:cubicBezTo>
                  <a:cubicBezTo>
                    <a:pt x="1084" y="129"/>
                    <a:pt x="1065" y="146"/>
                    <a:pt x="1048" y="152"/>
                  </a:cubicBezTo>
                  <a:cubicBezTo>
                    <a:pt x="1027" y="159"/>
                    <a:pt x="1007" y="171"/>
                    <a:pt x="985" y="177"/>
                  </a:cubicBezTo>
                  <a:cubicBezTo>
                    <a:pt x="964" y="183"/>
                    <a:pt x="943" y="183"/>
                    <a:pt x="922" y="189"/>
                  </a:cubicBezTo>
                  <a:cubicBezTo>
                    <a:pt x="896" y="196"/>
                    <a:pt x="846" y="215"/>
                    <a:pt x="846" y="215"/>
                  </a:cubicBezTo>
                  <a:cubicBezTo>
                    <a:pt x="842" y="198"/>
                    <a:pt x="849" y="172"/>
                    <a:pt x="834" y="164"/>
                  </a:cubicBezTo>
                  <a:cubicBezTo>
                    <a:pt x="822" y="158"/>
                    <a:pt x="830" y="193"/>
                    <a:pt x="821" y="202"/>
                  </a:cubicBezTo>
                  <a:cubicBezTo>
                    <a:pt x="791" y="232"/>
                    <a:pt x="737" y="221"/>
                    <a:pt x="695" y="227"/>
                  </a:cubicBezTo>
                  <a:cubicBezTo>
                    <a:pt x="691" y="214"/>
                    <a:pt x="691" y="199"/>
                    <a:pt x="682" y="189"/>
                  </a:cubicBezTo>
                  <a:cubicBezTo>
                    <a:pt x="622" y="117"/>
                    <a:pt x="619" y="172"/>
                    <a:pt x="568" y="202"/>
                  </a:cubicBezTo>
                  <a:cubicBezTo>
                    <a:pt x="556" y="209"/>
                    <a:pt x="543" y="211"/>
                    <a:pt x="530" y="215"/>
                  </a:cubicBezTo>
                  <a:cubicBezTo>
                    <a:pt x="518" y="211"/>
                    <a:pt x="502" y="211"/>
                    <a:pt x="493" y="202"/>
                  </a:cubicBezTo>
                  <a:cubicBezTo>
                    <a:pt x="467" y="176"/>
                    <a:pt x="493" y="127"/>
                    <a:pt x="467" y="202"/>
                  </a:cubicBezTo>
                  <a:cubicBezTo>
                    <a:pt x="412" y="184"/>
                    <a:pt x="358" y="169"/>
                    <a:pt x="303" y="152"/>
                  </a:cubicBezTo>
                  <a:cubicBezTo>
                    <a:pt x="228" y="225"/>
                    <a:pt x="210" y="195"/>
                    <a:pt x="114" y="177"/>
                  </a:cubicBezTo>
                  <a:cubicBezTo>
                    <a:pt x="52" y="115"/>
                    <a:pt x="76" y="146"/>
                    <a:pt x="38" y="88"/>
                  </a:cubicBezTo>
                  <a:cubicBezTo>
                    <a:pt x="68" y="43"/>
                    <a:pt x="56" y="64"/>
                    <a:pt x="76" y="2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Line 34">
              <a:extLst>
                <a:ext uri="{FF2B5EF4-FFF2-40B4-BE49-F238E27FC236}">
                  <a16:creationId xmlns:a16="http://schemas.microsoft.com/office/drawing/2014/main" id="{4C58A3BE-29EA-717D-F27F-400BACDBC4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0" y="2880"/>
              <a:ext cx="192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35">
              <a:extLst>
                <a:ext uri="{FF2B5EF4-FFF2-40B4-BE49-F238E27FC236}">
                  <a16:creationId xmlns:a16="http://schemas.microsoft.com/office/drawing/2014/main" id="{F07574A9-A9A2-DC22-51EC-1EA2CACA87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2928"/>
              <a:ext cx="14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Line 36">
              <a:extLst>
                <a:ext uri="{FF2B5EF4-FFF2-40B4-BE49-F238E27FC236}">
                  <a16:creationId xmlns:a16="http://schemas.microsoft.com/office/drawing/2014/main" id="{FE06D328-D676-CC07-11ED-AC0A752DA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928"/>
              <a:ext cx="24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Line 37">
              <a:extLst>
                <a:ext uri="{FF2B5EF4-FFF2-40B4-BE49-F238E27FC236}">
                  <a16:creationId xmlns:a16="http://schemas.microsoft.com/office/drawing/2014/main" id="{AC177E38-D647-2486-BED9-85CCB2934A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2928"/>
              <a:ext cx="288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19" name="Text Box 39">
            <a:extLst>
              <a:ext uri="{FF2B5EF4-FFF2-40B4-BE49-F238E27FC236}">
                <a16:creationId xmlns:a16="http://schemas.microsoft.com/office/drawing/2014/main" id="{C7600817-2933-B497-E4A2-8931F459D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639" y="2422422"/>
            <a:ext cx="5105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kumimoji="0" lang="es-MX" altLang="es-CO" sz="2400" i="1" dirty="0"/>
              <a:t>Las </a:t>
            </a:r>
            <a:r>
              <a:rPr kumimoji="0" lang="es-MX" altLang="es-CO" sz="2400" i="1" u="sng" dirty="0"/>
              <a:t>fuerzas de fricción</a:t>
            </a:r>
            <a:r>
              <a:rPr kumimoji="0" lang="es-MX" altLang="es-CO" sz="2400" i="1" dirty="0"/>
              <a:t> son paralelas a las superficies en contacto y se oponen al movimiento o movimiento inminente.  </a:t>
            </a:r>
          </a:p>
        </p:txBody>
      </p:sp>
      <p:sp>
        <p:nvSpPr>
          <p:cNvPr id="20" name="Text Box 40">
            <a:extLst>
              <a:ext uri="{FF2B5EF4-FFF2-40B4-BE49-F238E27FC236}">
                <a16:creationId xmlns:a16="http://schemas.microsoft.com/office/drawing/2014/main" id="{A536A6D1-44DB-3FD2-3709-BE3202489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378018"/>
            <a:ext cx="3733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u="sng" dirty="0"/>
              <a:t>Fricción estática:</a:t>
            </a:r>
            <a:r>
              <a:rPr kumimoji="0" lang="es-MX" altLang="es-CO" sz="2400" i="1" dirty="0"/>
              <a:t> No movimiento relativo.</a:t>
            </a: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099DB38C-EFDC-400B-0A7D-543EFBB50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378018"/>
            <a:ext cx="3733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u="sng" dirty="0"/>
              <a:t>Fricción cinética:</a:t>
            </a:r>
            <a:r>
              <a:rPr kumimoji="0" lang="es-MX" altLang="es-CO" sz="2400" i="1" dirty="0"/>
              <a:t> Movimiento relativo.</a:t>
            </a:r>
          </a:p>
        </p:txBody>
      </p:sp>
    </p:spTree>
    <p:extLst>
      <p:ext uri="{BB962C8B-B14F-4D97-AF65-F5344CB8AC3E}">
        <p14:creationId xmlns:p14="http://schemas.microsoft.com/office/powerpoint/2010/main" val="152778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 advAuto="1000"/>
      <p:bldP spid="19" grpId="0" build="p" autoUpdateAnimBg="0"/>
      <p:bldP spid="20" grpId="0" build="p" autoUpdateAnimBg="0"/>
      <p:bldP spid="2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394D7-0C7A-2CDF-4BC5-96450DCD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365DC877-85CD-79CC-7B30-9D12559B82C9}"/>
              </a:ext>
            </a:extLst>
          </p:cNvPr>
          <p:cNvGrpSpPr>
            <a:grpSpLocks/>
          </p:cNvGrpSpPr>
          <p:nvPr/>
        </p:nvGrpSpPr>
        <p:grpSpPr bwMode="auto">
          <a:xfrm>
            <a:off x="3647089" y="2275490"/>
            <a:ext cx="990600" cy="792163"/>
            <a:chOff x="2592" y="2736"/>
            <a:chExt cx="624" cy="499"/>
          </a:xfrm>
        </p:grpSpPr>
        <p:sp>
          <p:nvSpPr>
            <p:cNvPr id="3" name="AutoShape 30">
              <a:extLst>
                <a:ext uri="{FF2B5EF4-FFF2-40B4-BE49-F238E27FC236}">
                  <a16:creationId xmlns:a16="http://schemas.microsoft.com/office/drawing/2014/main" id="{197A1882-CA4F-ACEC-3A1D-147B35A33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072"/>
              <a:ext cx="432" cy="163"/>
            </a:xfrm>
            <a:prstGeom prst="rightArrow">
              <a:avLst>
                <a:gd name="adj1" fmla="val 50000"/>
                <a:gd name="adj2" fmla="val 66258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" name="Text Box 36">
              <a:extLst>
                <a:ext uri="{FF2B5EF4-FFF2-40B4-BE49-F238E27FC236}">
                  <a16:creationId xmlns:a16="http://schemas.microsoft.com/office/drawing/2014/main" id="{557B2550-6C91-8AB6-67AB-8FE235830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736"/>
              <a:ext cx="57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  <a:r>
                <a:rPr kumimoji="0" lang="es-MX" altLang="es-CO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N</a:t>
              </a:r>
            </a:p>
          </p:txBody>
        </p:sp>
      </p:grpSp>
      <p:grpSp>
        <p:nvGrpSpPr>
          <p:cNvPr id="5" name="Group 34">
            <a:extLst>
              <a:ext uri="{FF2B5EF4-FFF2-40B4-BE49-F238E27FC236}">
                <a16:creationId xmlns:a16="http://schemas.microsoft.com/office/drawing/2014/main" id="{4032A788-5A85-2A14-D6A7-07A2AD784BCA}"/>
              </a:ext>
            </a:extLst>
          </p:cNvPr>
          <p:cNvGrpSpPr>
            <a:grpSpLocks/>
          </p:cNvGrpSpPr>
          <p:nvPr/>
        </p:nvGrpSpPr>
        <p:grpSpPr bwMode="auto">
          <a:xfrm>
            <a:off x="2123089" y="2580290"/>
            <a:ext cx="2514600" cy="954088"/>
            <a:chOff x="624" y="2688"/>
            <a:chExt cx="1584" cy="601"/>
          </a:xfrm>
        </p:grpSpPr>
        <p:sp>
          <p:nvSpPr>
            <p:cNvPr id="6" name="Rectangle 31">
              <a:extLst>
                <a:ext uri="{FF2B5EF4-FFF2-40B4-BE49-F238E27FC236}">
                  <a16:creationId xmlns:a16="http://schemas.microsoft.com/office/drawing/2014/main" id="{10933C18-C241-43D9-E599-E8AFDE59E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072"/>
              <a:ext cx="1584" cy="217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7" name="Rectangle 32">
              <a:extLst>
                <a:ext uri="{FF2B5EF4-FFF2-40B4-BE49-F238E27FC236}">
                  <a16:creationId xmlns:a16="http://schemas.microsoft.com/office/drawing/2014/main" id="{CA8E8003-A773-08FF-9193-A1007A568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32"/>
              <a:ext cx="432" cy="271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8" name="Line 33">
              <a:extLst>
                <a:ext uri="{FF2B5EF4-FFF2-40B4-BE49-F238E27FC236}">
                  <a16:creationId xmlns:a16="http://schemas.microsoft.com/office/drawing/2014/main" id="{AFC613B5-3C71-6EC1-0914-6C4AC10BF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688"/>
              <a:ext cx="1" cy="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A9C3366B-BDA0-7E77-E773-6423163F9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2689" y="141890"/>
            <a:ext cx="7315200" cy="1143000"/>
          </a:xfrm>
        </p:spPr>
        <p:txBody>
          <a:bodyPr>
            <a:normAutofit/>
          </a:bodyPr>
          <a:lstStyle/>
          <a:p>
            <a:r>
              <a:rPr lang="es-MX" altLang="es-CO" sz="2800" dirty="0"/>
              <a:t>Fricción y fuerza normal</a:t>
            </a:r>
          </a:p>
        </p:txBody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id="{144F7E2C-94C9-4366-6EF8-0A15BBE4114E}"/>
              </a:ext>
            </a:extLst>
          </p:cNvPr>
          <p:cNvGrpSpPr>
            <a:grpSpLocks/>
          </p:cNvGrpSpPr>
          <p:nvPr/>
        </p:nvGrpSpPr>
        <p:grpSpPr bwMode="auto">
          <a:xfrm>
            <a:off x="2808889" y="1581753"/>
            <a:ext cx="838200" cy="1123950"/>
            <a:chOff x="816" y="907"/>
            <a:chExt cx="528" cy="708"/>
          </a:xfrm>
        </p:grpSpPr>
        <p:sp>
          <p:nvSpPr>
            <p:cNvPr id="11" name="Text Box 27">
              <a:extLst>
                <a:ext uri="{FF2B5EF4-FFF2-40B4-BE49-F238E27FC236}">
                  <a16:creationId xmlns:a16="http://schemas.microsoft.com/office/drawing/2014/main" id="{24615A6C-62F1-F991-7374-31D40E1A8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907"/>
              <a:ext cx="52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 N</a:t>
              </a:r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03117B8A-F256-362B-497B-46F4DAB24F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1344"/>
              <a:ext cx="1" cy="27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13" name="Text Box 46">
            <a:extLst>
              <a:ext uri="{FF2B5EF4-FFF2-40B4-BE49-F238E27FC236}">
                <a16:creationId xmlns:a16="http://schemas.microsoft.com/office/drawing/2014/main" id="{1F619059-FA0F-CC16-46A2-C6C78017B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489" y="3879292"/>
            <a:ext cx="876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La fuerza que se requiere para superar la fricción estática o cinética es proporcional a la fuerza normal, n.</a:t>
            </a:r>
          </a:p>
        </p:txBody>
      </p:sp>
      <p:sp>
        <p:nvSpPr>
          <p:cNvPr id="14" name="Text Box 49">
            <a:extLst>
              <a:ext uri="{FF2B5EF4-FFF2-40B4-BE49-F238E27FC236}">
                <a16:creationId xmlns:a16="http://schemas.microsoft.com/office/drawing/2014/main" id="{DADF3376-630D-6110-E177-1F1289931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1289" y="4916395"/>
            <a:ext cx="2895600" cy="646331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137160" bIns="137160" anchor="ctr">
            <a:spAutoFit/>
          </a:bodyPr>
          <a:lstStyle/>
          <a:p>
            <a:pPr algn="ctr"/>
            <a:r>
              <a:rPr kumimoji="0" lang="es-MX" altLang="es-CO" sz="2400" i="1" dirty="0" err="1">
                <a:solidFill>
                  <a:srgbClr val="000000"/>
                </a:solidFill>
                <a:effectLst/>
              </a:rPr>
              <a:t>f</a:t>
            </a:r>
            <a:r>
              <a:rPr kumimoji="0" lang="es-MX" altLang="es-CO" sz="2400" i="1" baseline="-25000" dirty="0" err="1">
                <a:solidFill>
                  <a:srgbClr val="000000"/>
                </a:solidFill>
                <a:effectLst/>
              </a:rPr>
              <a:t>k</a:t>
            </a:r>
            <a:r>
              <a:rPr kumimoji="0" lang="es-MX" altLang="es-CO" sz="2400" i="1" dirty="0">
                <a:solidFill>
                  <a:srgbClr val="000000"/>
                </a:solidFill>
                <a:effectLst/>
              </a:rPr>
              <a:t> = </a:t>
            </a:r>
            <a:r>
              <a:rPr kumimoji="0" lang="es-MX" altLang="es-CO" sz="2400" i="1" dirty="0" err="1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m</a:t>
            </a:r>
            <a:r>
              <a:rPr kumimoji="0" lang="es-MX" altLang="es-CO" sz="2400" i="1" baseline="-25000" dirty="0" err="1">
                <a:solidFill>
                  <a:srgbClr val="000000"/>
                </a:solidFill>
                <a:effectLst/>
              </a:rPr>
              <a:t>k</a:t>
            </a:r>
            <a:r>
              <a:rPr kumimoji="0" lang="es-MX" altLang="es-CO" sz="2400" i="1" dirty="0" err="1">
                <a:solidFill>
                  <a:srgbClr val="000000"/>
                </a:solidFill>
                <a:effectLst/>
              </a:rPr>
              <a:t>n</a:t>
            </a:r>
            <a:endParaRPr kumimoji="0" lang="es-MX" altLang="es-CO" sz="2400" i="1" dirty="0">
              <a:solidFill>
                <a:srgbClr val="000000"/>
              </a:solidFill>
              <a:effectLst/>
            </a:endParaRPr>
          </a:p>
        </p:txBody>
      </p:sp>
      <p:sp>
        <p:nvSpPr>
          <p:cNvPr id="15" name="Text Box 50">
            <a:extLst>
              <a:ext uri="{FF2B5EF4-FFF2-40B4-BE49-F238E27FC236}">
                <a16:creationId xmlns:a16="http://schemas.microsoft.com/office/drawing/2014/main" id="{F912EEE5-3081-78B7-9BDC-CB001035B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89" y="4903230"/>
            <a:ext cx="2895600" cy="646331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137160" bIns="137160" anchor="ctr">
            <a:spAutoFit/>
          </a:bodyPr>
          <a:lstStyle/>
          <a:p>
            <a:pPr algn="ctr"/>
            <a:r>
              <a:rPr kumimoji="0" lang="es-MX" altLang="es-CO" sz="2400" i="1">
                <a:solidFill>
                  <a:srgbClr val="000000"/>
                </a:solidFill>
                <a:effectLst/>
              </a:rPr>
              <a:t>f</a:t>
            </a:r>
            <a:r>
              <a:rPr kumimoji="0" lang="es-MX" altLang="es-CO" sz="2400" i="1" baseline="-25000">
                <a:solidFill>
                  <a:srgbClr val="000000"/>
                </a:solidFill>
                <a:effectLst/>
              </a:rPr>
              <a:t>s</a:t>
            </a:r>
            <a:r>
              <a:rPr kumimoji="0" lang="es-MX" altLang="es-CO" sz="2400" i="1">
                <a:solidFill>
                  <a:srgbClr val="000000"/>
                </a:solidFill>
                <a:effectLst/>
              </a:rPr>
              <a:t> = </a:t>
            </a:r>
            <a:r>
              <a:rPr kumimoji="0" lang="es-MX" altLang="es-CO" sz="2400" i="1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m</a:t>
            </a:r>
            <a:r>
              <a:rPr kumimoji="0" lang="es-MX" altLang="es-CO" sz="2400" i="1" baseline="-25000">
                <a:solidFill>
                  <a:srgbClr val="000000"/>
                </a:solidFill>
                <a:effectLst/>
              </a:rPr>
              <a:t>s</a:t>
            </a:r>
            <a:r>
              <a:rPr kumimoji="0" lang="es-MX" altLang="es-CO" sz="2400" i="1">
                <a:solidFill>
                  <a:srgbClr val="000000"/>
                </a:solidFill>
                <a:effectLst/>
              </a:rPr>
              <a:t>n</a:t>
            </a:r>
          </a:p>
        </p:txBody>
      </p:sp>
      <p:sp>
        <p:nvSpPr>
          <p:cNvPr id="16" name="Text Box 51">
            <a:extLst>
              <a:ext uri="{FF2B5EF4-FFF2-40B4-BE49-F238E27FC236}">
                <a16:creationId xmlns:a16="http://schemas.microsoft.com/office/drawing/2014/main" id="{50C05AD2-3A63-23D1-2644-172634BCE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2289" y="189449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40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endParaRPr kumimoji="0" lang="es-MX" altLang="es-CO" sz="400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7" name="Group 55">
            <a:extLst>
              <a:ext uri="{FF2B5EF4-FFF2-40B4-BE49-F238E27FC236}">
                <a16:creationId xmlns:a16="http://schemas.microsoft.com/office/drawing/2014/main" id="{56CD2319-49EE-405C-AFC4-8008386D7A50}"/>
              </a:ext>
            </a:extLst>
          </p:cNvPr>
          <p:cNvGrpSpPr>
            <a:grpSpLocks/>
          </p:cNvGrpSpPr>
          <p:nvPr/>
        </p:nvGrpSpPr>
        <p:grpSpPr bwMode="auto">
          <a:xfrm>
            <a:off x="7990489" y="980090"/>
            <a:ext cx="2667000" cy="2554288"/>
            <a:chOff x="4080" y="528"/>
            <a:chExt cx="1680" cy="1609"/>
          </a:xfrm>
        </p:grpSpPr>
        <p:grpSp>
          <p:nvGrpSpPr>
            <p:cNvPr id="18" name="Group 48">
              <a:extLst>
                <a:ext uri="{FF2B5EF4-FFF2-40B4-BE49-F238E27FC236}">
                  <a16:creationId xmlns:a16="http://schemas.microsoft.com/office/drawing/2014/main" id="{814DB6F8-C330-FA71-C486-8B022AE131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528"/>
              <a:ext cx="1680" cy="1609"/>
              <a:chOff x="4080" y="528"/>
              <a:chExt cx="1680" cy="1609"/>
            </a:xfrm>
          </p:grpSpPr>
          <p:sp>
            <p:nvSpPr>
              <p:cNvPr id="20" name="AutoShape 26">
                <a:extLst>
                  <a:ext uri="{FF2B5EF4-FFF2-40B4-BE49-F238E27FC236}">
                    <a16:creationId xmlns:a16="http://schemas.microsoft.com/office/drawing/2014/main" id="{B89912EB-272F-EBFC-ED3D-E6AEB6496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4" y="1632"/>
                <a:ext cx="624" cy="163"/>
              </a:xfrm>
              <a:prstGeom prst="rightArrow">
                <a:avLst>
                  <a:gd name="adj1" fmla="val 50000"/>
                  <a:gd name="adj2" fmla="val 95706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49E620C6-BED4-F7D4-13E2-22B8E6F9E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" y="1920"/>
                <a:ext cx="1584" cy="217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55AD39EB-1194-BC3D-79A6-89250C357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5" y="1680"/>
                <a:ext cx="432" cy="271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23" name="Line 18">
                <a:extLst>
                  <a:ext uri="{FF2B5EF4-FFF2-40B4-BE49-F238E27FC236}">
                    <a16:creationId xmlns:a16="http://schemas.microsoft.com/office/drawing/2014/main" id="{9C66F285-29B5-4748-759C-E97A49F37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7" y="1056"/>
                <a:ext cx="1" cy="4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4" name="Rectangle 20">
                <a:extLst>
                  <a:ext uri="{FF2B5EF4-FFF2-40B4-BE49-F238E27FC236}">
                    <a16:creationId xmlns:a16="http://schemas.microsoft.com/office/drawing/2014/main" id="{1F620161-823C-4B15-445D-3B6E5AED3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5" y="1392"/>
                <a:ext cx="432" cy="271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FD45F376-AFC6-30BF-A02A-86F5FC4A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5" y="1104"/>
                <a:ext cx="432" cy="271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26" name="Line 14">
                <a:extLst>
                  <a:ext uri="{FF2B5EF4-FFF2-40B4-BE49-F238E27FC236}">
                    <a16:creationId xmlns:a16="http://schemas.microsoft.com/office/drawing/2014/main" id="{C5067C85-2C42-EE32-D78E-DAAA4081E1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7" y="1440"/>
                <a:ext cx="1" cy="4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Line 16">
                <a:extLst>
                  <a:ext uri="{FF2B5EF4-FFF2-40B4-BE49-F238E27FC236}">
                    <a16:creationId xmlns:a16="http://schemas.microsoft.com/office/drawing/2014/main" id="{56A04CAE-E028-438A-5567-808A44F1C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7" y="1008"/>
                <a:ext cx="1" cy="4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8" name="Line 19">
                <a:extLst>
                  <a:ext uri="{FF2B5EF4-FFF2-40B4-BE49-F238E27FC236}">
                    <a16:creationId xmlns:a16="http://schemas.microsoft.com/office/drawing/2014/main" id="{9282FC97-CA8D-EA0D-BE55-0F334AE68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5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9" name="Text Box 29">
                <a:extLst>
                  <a:ext uri="{FF2B5EF4-FFF2-40B4-BE49-F238E27FC236}">
                    <a16:creationId xmlns:a16="http://schemas.microsoft.com/office/drawing/2014/main" id="{8792BDCB-9F6A-6093-0382-E8C64CA46F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624"/>
                <a:ext cx="672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12 N</a:t>
                </a:r>
              </a:p>
            </p:txBody>
          </p:sp>
          <p:sp>
            <p:nvSpPr>
              <p:cNvPr id="30" name="Text Box 45">
                <a:extLst>
                  <a:ext uri="{FF2B5EF4-FFF2-40B4-BE49-F238E27FC236}">
                    <a16:creationId xmlns:a16="http://schemas.microsoft.com/office/drawing/2014/main" id="{2E5AF619-B342-F1B5-E090-D465506883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2" y="1296"/>
                <a:ext cx="52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6 N</a:t>
                </a:r>
              </a:p>
            </p:txBody>
          </p:sp>
        </p:grpSp>
        <p:sp>
          <p:nvSpPr>
            <p:cNvPr id="19" name="Text Box 52">
              <a:extLst>
                <a:ext uri="{FF2B5EF4-FFF2-40B4-BE49-F238E27FC236}">
                  <a16:creationId xmlns:a16="http://schemas.microsoft.com/office/drawing/2014/main" id="{9276DA23-6044-4206-7826-83F980A11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52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4000" i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n</a:t>
              </a:r>
              <a:endParaRPr kumimoji="0" lang="es-MX" altLang="es-CO" sz="4000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31" name="Group 54">
            <a:extLst>
              <a:ext uri="{FF2B5EF4-FFF2-40B4-BE49-F238E27FC236}">
                <a16:creationId xmlns:a16="http://schemas.microsoft.com/office/drawing/2014/main" id="{7D219A58-77E8-E839-CDFE-B42F0ADDCF0A}"/>
              </a:ext>
            </a:extLst>
          </p:cNvPr>
          <p:cNvGrpSpPr>
            <a:grpSpLocks/>
          </p:cNvGrpSpPr>
          <p:nvPr/>
        </p:nvGrpSpPr>
        <p:grpSpPr bwMode="auto">
          <a:xfrm>
            <a:off x="5094889" y="1208690"/>
            <a:ext cx="2525713" cy="2325688"/>
            <a:chOff x="2256" y="672"/>
            <a:chExt cx="1591" cy="1465"/>
          </a:xfrm>
        </p:grpSpPr>
        <p:grpSp>
          <p:nvGrpSpPr>
            <p:cNvPr id="32" name="Group 47">
              <a:extLst>
                <a:ext uri="{FF2B5EF4-FFF2-40B4-BE49-F238E27FC236}">
                  <a16:creationId xmlns:a16="http://schemas.microsoft.com/office/drawing/2014/main" id="{B52AE72E-F6DE-41A6-B75D-13CE8F5E4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720"/>
              <a:ext cx="1591" cy="1417"/>
              <a:chOff x="2256" y="720"/>
              <a:chExt cx="1591" cy="1417"/>
            </a:xfrm>
          </p:grpSpPr>
          <p:sp>
            <p:nvSpPr>
              <p:cNvPr id="34" name="AutoShape 25">
                <a:extLst>
                  <a:ext uri="{FF2B5EF4-FFF2-40B4-BE49-F238E27FC236}">
                    <a16:creationId xmlns:a16="http://schemas.microsoft.com/office/drawing/2014/main" id="{0A2C8B2F-79D7-37F1-B3E5-F0A8D7C95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9" y="1632"/>
                <a:ext cx="576" cy="163"/>
              </a:xfrm>
              <a:prstGeom prst="rightArrow">
                <a:avLst>
                  <a:gd name="adj1" fmla="val 50000"/>
                  <a:gd name="adj2" fmla="val 8834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5" name="Rectangle 8">
                <a:extLst>
                  <a:ext uri="{FF2B5EF4-FFF2-40B4-BE49-F238E27FC236}">
                    <a16:creationId xmlns:a16="http://schemas.microsoft.com/office/drawing/2014/main" id="{7CF6C800-5B65-6236-4AA8-32C0F463C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3" y="1920"/>
                <a:ext cx="1584" cy="217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36" name="Line 10">
                <a:extLst>
                  <a:ext uri="{FF2B5EF4-FFF2-40B4-BE49-F238E27FC236}">
                    <a16:creationId xmlns:a16="http://schemas.microsoft.com/office/drawing/2014/main" id="{CD042DDC-F709-BAC5-BD55-2E306A219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7" y="1296"/>
                <a:ext cx="1" cy="4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7" name="Line 11">
                <a:extLst>
                  <a:ext uri="{FF2B5EF4-FFF2-40B4-BE49-F238E27FC236}">
                    <a16:creationId xmlns:a16="http://schemas.microsoft.com/office/drawing/2014/main" id="{A0FA826A-5211-571C-1975-9B7752A53C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7" y="864"/>
                <a:ext cx="1" cy="43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8" name="Rectangle 17">
                <a:extLst>
                  <a:ext uri="{FF2B5EF4-FFF2-40B4-BE49-F238E27FC236}">
                    <a16:creationId xmlns:a16="http://schemas.microsoft.com/office/drawing/2014/main" id="{56FFA87F-E585-A02C-3844-2D89EF197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5" y="1632"/>
                <a:ext cx="432" cy="271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39" name="Rectangle 9">
                <a:extLst>
                  <a:ext uri="{FF2B5EF4-FFF2-40B4-BE49-F238E27FC236}">
                    <a16:creationId xmlns:a16="http://schemas.microsoft.com/office/drawing/2014/main" id="{67F56528-DDE4-696D-6BCA-1A28BEC3E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5" y="1344"/>
                <a:ext cx="432" cy="271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40" name="Line 22">
                <a:extLst>
                  <a:ext uri="{FF2B5EF4-FFF2-40B4-BE49-F238E27FC236}">
                    <a16:creationId xmlns:a16="http://schemas.microsoft.com/office/drawing/2014/main" id="{F3628AE5-6989-F641-4FC0-E35EFFA37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7" y="1200"/>
                <a:ext cx="1" cy="4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1" name="Line 23">
                <a:extLst>
                  <a:ext uri="{FF2B5EF4-FFF2-40B4-BE49-F238E27FC236}">
                    <a16:creationId xmlns:a16="http://schemas.microsoft.com/office/drawing/2014/main" id="{1194FCC3-DDBF-D8B3-D8AF-403F65071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7" y="1536"/>
                <a:ext cx="1" cy="4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2" name="Text Box 28">
                <a:extLst>
                  <a:ext uri="{FF2B5EF4-FFF2-40B4-BE49-F238E27FC236}">
                    <a16:creationId xmlns:a16="http://schemas.microsoft.com/office/drawing/2014/main" id="{EBDC9F4F-840A-DC17-6ADB-4AB6CC0A39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720"/>
                <a:ext cx="52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8 N</a:t>
                </a:r>
              </a:p>
            </p:txBody>
          </p:sp>
          <p:sp>
            <p:nvSpPr>
              <p:cNvPr id="43" name="Text Box 40">
                <a:extLst>
                  <a:ext uri="{FF2B5EF4-FFF2-40B4-BE49-F238E27FC236}">
                    <a16:creationId xmlns:a16="http://schemas.microsoft.com/office/drawing/2014/main" id="{3E6886F6-F4F8-8892-4290-9480850757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52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 N</a:t>
                </a:r>
              </a:p>
            </p:txBody>
          </p:sp>
        </p:grpSp>
        <p:sp>
          <p:nvSpPr>
            <p:cNvPr id="33" name="Text Box 53">
              <a:extLst>
                <a:ext uri="{FF2B5EF4-FFF2-40B4-BE49-F238E27FC236}">
                  <a16:creationId xmlns:a16="http://schemas.microsoft.com/office/drawing/2014/main" id="{03F30D39-0B47-99A8-A9F5-E6EE18919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672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4000" i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n</a:t>
              </a:r>
              <a:endParaRPr kumimoji="0" lang="es-MX" altLang="es-CO" sz="4000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748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3" grpId="0" build="p" autoUpdateAnimBg="0" advAuto="1000"/>
      <p:bldP spid="14" grpId="0" animBg="1" autoUpdateAnimBg="0"/>
      <p:bldP spid="15" grpId="0" animBg="1" autoUpdateAnimBg="0"/>
      <p:bldP spid="1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39CB4-50D5-1641-48C8-108A41E1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E29E0E1-94F1-E2A2-A0E0-E03A6ADDD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6380" y="291662"/>
            <a:ext cx="87630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Las fuerzas de fricción </a:t>
            </a:r>
            <a:br>
              <a:rPr lang="es-MX" altLang="es-CO" sz="2800" dirty="0"/>
            </a:br>
            <a:r>
              <a:rPr lang="es-MX" altLang="es-CO" sz="2800" dirty="0"/>
              <a:t>son independientes del área.</a:t>
            </a:r>
          </a:p>
        </p:txBody>
      </p:sp>
      <p:grpSp>
        <p:nvGrpSpPr>
          <p:cNvPr id="3" name="Group 60">
            <a:extLst>
              <a:ext uri="{FF2B5EF4-FFF2-40B4-BE49-F238E27FC236}">
                <a16:creationId xmlns:a16="http://schemas.microsoft.com/office/drawing/2014/main" id="{B5639F2D-2300-F956-1DD4-C8091BCF0C70}"/>
              </a:ext>
            </a:extLst>
          </p:cNvPr>
          <p:cNvGrpSpPr>
            <a:grpSpLocks/>
          </p:cNvGrpSpPr>
          <p:nvPr/>
        </p:nvGrpSpPr>
        <p:grpSpPr bwMode="auto">
          <a:xfrm>
            <a:off x="2950780" y="1579125"/>
            <a:ext cx="3505200" cy="1379537"/>
            <a:chOff x="816" y="955"/>
            <a:chExt cx="2208" cy="869"/>
          </a:xfrm>
        </p:grpSpPr>
        <p:grpSp>
          <p:nvGrpSpPr>
            <p:cNvPr id="4" name="Group 15">
              <a:extLst>
                <a:ext uri="{FF2B5EF4-FFF2-40B4-BE49-F238E27FC236}">
                  <a16:creationId xmlns:a16="http://schemas.microsoft.com/office/drawing/2014/main" id="{91BBB9E0-EDD4-4AF5-67AA-13939E4F3D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1824" cy="672"/>
              <a:chOff x="816" y="1152"/>
              <a:chExt cx="1824" cy="672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61C81E8F-0E1E-388E-C7EE-079C4EC64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584"/>
                <a:ext cx="1824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E7A287CD-5A9C-E109-EAF9-C307ECDA3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92"/>
                <a:ext cx="480" cy="192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D605A1B9-3E89-63A7-7F1D-3380B22C9E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152"/>
                <a:ext cx="480" cy="192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9" name="AutoShape 6">
                <a:extLst>
                  <a:ext uri="{FF2B5EF4-FFF2-40B4-BE49-F238E27FC236}">
                    <a16:creationId xmlns:a16="http://schemas.microsoft.com/office/drawing/2014/main" id="{0A30DF3F-9410-95BA-959B-54FBD61E3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344"/>
                <a:ext cx="576" cy="144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5" name="Text Box 12">
              <a:extLst>
                <a:ext uri="{FF2B5EF4-FFF2-40B4-BE49-F238E27FC236}">
                  <a16:creationId xmlns:a16="http://schemas.microsoft.com/office/drawing/2014/main" id="{4ECC5EAF-40AC-39A5-0FB3-C7F0F953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955"/>
              <a:ext cx="8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  <a:r>
                <a:rPr kumimoji="0" lang="es-MX" altLang="es-CO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N</a:t>
              </a:r>
              <a:endParaRPr kumimoji="0" lang="es-MX" altLang="es-CO" i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10" name="Group 16">
            <a:extLst>
              <a:ext uri="{FF2B5EF4-FFF2-40B4-BE49-F238E27FC236}">
                <a16:creationId xmlns:a16="http://schemas.microsoft.com/office/drawing/2014/main" id="{46F94A59-8D08-2814-09A1-671469FC8BF8}"/>
              </a:ext>
            </a:extLst>
          </p:cNvPr>
          <p:cNvGrpSpPr>
            <a:grpSpLocks/>
          </p:cNvGrpSpPr>
          <p:nvPr/>
        </p:nvGrpSpPr>
        <p:grpSpPr bwMode="auto">
          <a:xfrm>
            <a:off x="6455980" y="1663262"/>
            <a:ext cx="3505200" cy="1295400"/>
            <a:chOff x="3024" y="1008"/>
            <a:chExt cx="2208" cy="816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A4AFED8A-299D-A1EA-46A0-58F38DB77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584"/>
              <a:ext cx="1824" cy="240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6DD2F224-E674-7753-6500-0A4E63A87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344"/>
              <a:ext cx="480" cy="192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2AC13E1C-9700-63FD-B8AD-C821EAD09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440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6B6A8E68-B44C-03B1-A10A-29FADB217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344"/>
              <a:ext cx="480" cy="192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15" name="AutoShape 10">
              <a:extLst>
                <a:ext uri="{FF2B5EF4-FFF2-40B4-BE49-F238E27FC236}">
                  <a16:creationId xmlns:a16="http://schemas.microsoft.com/office/drawing/2014/main" id="{3D084CE4-31A0-797C-EA33-684BA18BE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44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8C387CA4-7A7B-1198-A984-6D9319AF7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008"/>
              <a:ext cx="8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  <a:r>
                <a:rPr kumimoji="0" lang="es-MX" altLang="es-CO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N</a:t>
              </a:r>
              <a:endParaRPr kumimoji="0" lang="es-MX" altLang="es-CO" i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7" name="Text Box 61">
            <a:extLst>
              <a:ext uri="{FF2B5EF4-FFF2-40B4-BE49-F238E27FC236}">
                <a16:creationId xmlns:a16="http://schemas.microsoft.com/office/drawing/2014/main" id="{E883730C-B1E9-F1D9-F58E-C694DF8B8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380" y="3339662"/>
            <a:ext cx="8763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s-MX" altLang="es-CO" sz="2400" dirty="0"/>
              <a:t>Si la masa total que jala es constante, se requiere la misma fuerza (4 N) para superar la fricción incluso con el doble de área de contacto.</a:t>
            </a:r>
          </a:p>
        </p:txBody>
      </p:sp>
      <p:sp>
        <p:nvSpPr>
          <p:cNvPr id="18" name="Text Box 62">
            <a:extLst>
              <a:ext uri="{FF2B5EF4-FFF2-40B4-BE49-F238E27FC236}">
                <a16:creationId xmlns:a16="http://schemas.microsoft.com/office/drawing/2014/main" id="{283BEAA5-DE19-9634-37DC-EC79CBFBD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480" y="4779239"/>
            <a:ext cx="876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s-MX" altLang="es-CO" sz="2400" dirty="0"/>
              <a:t>Para que esto sea cierto, es esencial que TODAS las otras variables se controlen estrictamente.  </a:t>
            </a:r>
          </a:p>
        </p:txBody>
      </p:sp>
    </p:spTree>
    <p:extLst>
      <p:ext uri="{BB962C8B-B14F-4D97-AF65-F5344CB8AC3E}">
        <p14:creationId xmlns:p14="http://schemas.microsoft.com/office/powerpoint/2010/main" val="370965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17" grpId="0" autoUpdateAnimBg="0"/>
      <p:bldP spid="1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01785-E018-AE06-23A5-6C8674BB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3FEBDA3-5906-A034-D0DF-DE24431D3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179" y="189186"/>
            <a:ext cx="80010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400" dirty="0"/>
              <a:t>Las fuerzas de fricción son independientes de la temperatura, siempre que no ocurran variaciones químicas o estructurales.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12AE8E4D-917B-D188-A5D6-8FD539646522}"/>
              </a:ext>
            </a:extLst>
          </p:cNvPr>
          <p:cNvGrpSpPr>
            <a:grpSpLocks/>
          </p:cNvGrpSpPr>
          <p:nvPr/>
        </p:nvGrpSpPr>
        <p:grpSpPr bwMode="auto">
          <a:xfrm>
            <a:off x="2493579" y="2170386"/>
            <a:ext cx="3124200" cy="1219200"/>
            <a:chOff x="720" y="2064"/>
            <a:chExt cx="1968" cy="768"/>
          </a:xfrm>
        </p:grpSpPr>
        <p:sp>
          <p:nvSpPr>
            <p:cNvPr id="4" name="Rectangle 18">
              <a:extLst>
                <a:ext uri="{FF2B5EF4-FFF2-40B4-BE49-F238E27FC236}">
                  <a16:creationId xmlns:a16="http://schemas.microsoft.com/office/drawing/2014/main" id="{8F4B910F-78E4-6560-0413-178D87F0F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92"/>
              <a:ext cx="1824" cy="240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5" name="Rectangle 19">
              <a:extLst>
                <a:ext uri="{FF2B5EF4-FFF2-40B4-BE49-F238E27FC236}">
                  <a16:creationId xmlns:a16="http://schemas.microsoft.com/office/drawing/2014/main" id="{482642BD-9DF6-1C38-EDC1-AA1B82128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00"/>
              <a:ext cx="480" cy="192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6" name="AutoShape 20">
              <a:extLst>
                <a:ext uri="{FF2B5EF4-FFF2-40B4-BE49-F238E27FC236}">
                  <a16:creationId xmlns:a16="http://schemas.microsoft.com/office/drawing/2014/main" id="{5CD69098-24AF-8861-2E79-06ACDEF0F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00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Text Box 21">
              <a:extLst>
                <a:ext uri="{FF2B5EF4-FFF2-40B4-BE49-F238E27FC236}">
                  <a16:creationId xmlns:a16="http://schemas.microsoft.com/office/drawing/2014/main" id="{81E8A95A-CE24-2670-506C-B67E1C2EA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064"/>
              <a:ext cx="8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  <a:r>
                <a:rPr kumimoji="0" lang="es-MX" altLang="es-CO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N</a:t>
              </a:r>
              <a:endParaRPr kumimoji="0" lang="es-MX" altLang="es-CO" i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8" name="Group 22">
            <a:extLst>
              <a:ext uri="{FF2B5EF4-FFF2-40B4-BE49-F238E27FC236}">
                <a16:creationId xmlns:a16="http://schemas.microsoft.com/office/drawing/2014/main" id="{CC969214-5D2C-3E82-782D-92245CA8978A}"/>
              </a:ext>
            </a:extLst>
          </p:cNvPr>
          <p:cNvGrpSpPr>
            <a:grpSpLocks/>
          </p:cNvGrpSpPr>
          <p:nvPr/>
        </p:nvGrpSpPr>
        <p:grpSpPr bwMode="auto">
          <a:xfrm>
            <a:off x="6303579" y="2170386"/>
            <a:ext cx="3124200" cy="1219200"/>
            <a:chOff x="720" y="2064"/>
            <a:chExt cx="1968" cy="768"/>
          </a:xfrm>
        </p:grpSpPr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44CB4884-133C-D667-A47B-6532D9E79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92"/>
              <a:ext cx="1824" cy="240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B31AB617-001B-FB39-7742-66E02E19F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00"/>
              <a:ext cx="480" cy="192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11" name="AutoShape 25">
              <a:extLst>
                <a:ext uri="{FF2B5EF4-FFF2-40B4-BE49-F238E27FC236}">
                  <a16:creationId xmlns:a16="http://schemas.microsoft.com/office/drawing/2014/main" id="{6242E31F-2592-E39F-A78D-88FA3C78C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00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C6EE8B10-DEA3-817A-3702-C785F153E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064"/>
              <a:ext cx="8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 N</a:t>
              </a:r>
              <a:endParaRPr kumimoji="0" lang="es-MX" altLang="es-CO" i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73720C7F-292E-5A42-B193-98DEB731E0B8}"/>
              </a:ext>
            </a:extLst>
          </p:cNvPr>
          <p:cNvGrpSpPr>
            <a:grpSpLocks/>
          </p:cNvGrpSpPr>
          <p:nvPr/>
        </p:nvGrpSpPr>
        <p:grpSpPr bwMode="auto">
          <a:xfrm>
            <a:off x="6760779" y="3389586"/>
            <a:ext cx="1828800" cy="609600"/>
            <a:chOff x="3408" y="2832"/>
            <a:chExt cx="1152" cy="384"/>
          </a:xfrm>
        </p:grpSpPr>
        <p:grpSp>
          <p:nvGrpSpPr>
            <p:cNvPr id="14" name="Group 28">
              <a:extLst>
                <a:ext uri="{FF2B5EF4-FFF2-40B4-BE49-F238E27FC236}">
                  <a16:creationId xmlns:a16="http://schemas.microsoft.com/office/drawing/2014/main" id="{EBCC9A5D-4969-6772-8B2A-2ED49BD60E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832"/>
              <a:ext cx="144" cy="384"/>
              <a:chOff x="3024" y="2976"/>
              <a:chExt cx="144" cy="384"/>
            </a:xfrm>
          </p:grpSpPr>
          <p:sp>
            <p:nvSpPr>
              <p:cNvPr id="21" name="Rectangle 29">
                <a:extLst>
                  <a:ext uri="{FF2B5EF4-FFF2-40B4-BE49-F238E27FC236}">
                    <a16:creationId xmlns:a16="http://schemas.microsoft.com/office/drawing/2014/main" id="{B393F51F-D5B3-F6DB-3489-46ECDB315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144" cy="192"/>
              </a:xfrm>
              <a:prstGeom prst="rect">
                <a:avLst/>
              </a:prstGeom>
              <a:solidFill>
                <a:srgbClr val="66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2" name="Freeform 30">
                <a:extLst>
                  <a:ext uri="{FF2B5EF4-FFF2-40B4-BE49-F238E27FC236}">
                    <a16:creationId xmlns:a16="http://schemas.microsoft.com/office/drawing/2014/main" id="{AD6ABC30-38E3-A5A5-DFCA-11F625C72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2976"/>
                <a:ext cx="142" cy="202"/>
              </a:xfrm>
              <a:custGeom>
                <a:avLst/>
                <a:gdLst>
                  <a:gd name="T0" fmla="*/ 29 w 142"/>
                  <a:gd name="T1" fmla="*/ 202 h 202"/>
                  <a:gd name="T2" fmla="*/ 79 w 142"/>
                  <a:gd name="T3" fmla="*/ 0 h 202"/>
                  <a:gd name="T4" fmla="*/ 142 w 142"/>
                  <a:gd name="T5" fmla="*/ 113 h 202"/>
                  <a:gd name="T6" fmla="*/ 79 w 142"/>
                  <a:gd name="T7" fmla="*/ 164 h 202"/>
                  <a:gd name="T8" fmla="*/ 29 w 142"/>
                  <a:gd name="T9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202">
                    <a:moveTo>
                      <a:pt x="29" y="202"/>
                    </a:moveTo>
                    <a:cubicBezTo>
                      <a:pt x="0" y="118"/>
                      <a:pt x="54" y="74"/>
                      <a:pt x="79" y="0"/>
                    </a:cubicBezTo>
                    <a:cubicBezTo>
                      <a:pt x="119" y="40"/>
                      <a:pt x="126" y="61"/>
                      <a:pt x="142" y="113"/>
                    </a:cubicBezTo>
                    <a:cubicBezTo>
                      <a:pt x="68" y="138"/>
                      <a:pt x="136" y="106"/>
                      <a:pt x="79" y="164"/>
                    </a:cubicBezTo>
                    <a:cubicBezTo>
                      <a:pt x="64" y="179"/>
                      <a:pt x="46" y="189"/>
                      <a:pt x="29" y="202"/>
                    </a:cubicBezTo>
                    <a:close/>
                  </a:path>
                </a:pathLst>
              </a:custGeom>
              <a:solidFill>
                <a:srgbClr val="FFFF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grpSp>
          <p:nvGrpSpPr>
            <p:cNvPr id="15" name="Group 31">
              <a:extLst>
                <a:ext uri="{FF2B5EF4-FFF2-40B4-BE49-F238E27FC236}">
                  <a16:creationId xmlns:a16="http://schemas.microsoft.com/office/drawing/2014/main" id="{F2A2C0E0-1C36-C240-CCFA-238151504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832"/>
              <a:ext cx="144" cy="384"/>
              <a:chOff x="3024" y="2976"/>
              <a:chExt cx="144" cy="384"/>
            </a:xfrm>
          </p:grpSpPr>
          <p:sp>
            <p:nvSpPr>
              <p:cNvPr id="19" name="Rectangle 32">
                <a:extLst>
                  <a:ext uri="{FF2B5EF4-FFF2-40B4-BE49-F238E27FC236}">
                    <a16:creationId xmlns:a16="http://schemas.microsoft.com/office/drawing/2014/main" id="{A9E8CE54-B159-8040-0DDD-802C48E44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144" cy="192"/>
              </a:xfrm>
              <a:prstGeom prst="rect">
                <a:avLst/>
              </a:prstGeom>
              <a:solidFill>
                <a:srgbClr val="66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0" name="Freeform 33">
                <a:extLst>
                  <a:ext uri="{FF2B5EF4-FFF2-40B4-BE49-F238E27FC236}">
                    <a16:creationId xmlns:a16="http://schemas.microsoft.com/office/drawing/2014/main" id="{1A327E6E-FD43-7090-AF68-C253659E6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2976"/>
                <a:ext cx="142" cy="202"/>
              </a:xfrm>
              <a:custGeom>
                <a:avLst/>
                <a:gdLst>
                  <a:gd name="T0" fmla="*/ 29 w 142"/>
                  <a:gd name="T1" fmla="*/ 202 h 202"/>
                  <a:gd name="T2" fmla="*/ 79 w 142"/>
                  <a:gd name="T3" fmla="*/ 0 h 202"/>
                  <a:gd name="T4" fmla="*/ 142 w 142"/>
                  <a:gd name="T5" fmla="*/ 113 h 202"/>
                  <a:gd name="T6" fmla="*/ 79 w 142"/>
                  <a:gd name="T7" fmla="*/ 164 h 202"/>
                  <a:gd name="T8" fmla="*/ 29 w 142"/>
                  <a:gd name="T9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202">
                    <a:moveTo>
                      <a:pt x="29" y="202"/>
                    </a:moveTo>
                    <a:cubicBezTo>
                      <a:pt x="0" y="118"/>
                      <a:pt x="54" y="74"/>
                      <a:pt x="79" y="0"/>
                    </a:cubicBezTo>
                    <a:cubicBezTo>
                      <a:pt x="119" y="40"/>
                      <a:pt x="126" y="61"/>
                      <a:pt x="142" y="113"/>
                    </a:cubicBezTo>
                    <a:cubicBezTo>
                      <a:pt x="68" y="138"/>
                      <a:pt x="136" y="106"/>
                      <a:pt x="79" y="164"/>
                    </a:cubicBezTo>
                    <a:cubicBezTo>
                      <a:pt x="64" y="179"/>
                      <a:pt x="46" y="189"/>
                      <a:pt x="29" y="202"/>
                    </a:cubicBezTo>
                    <a:close/>
                  </a:path>
                </a:pathLst>
              </a:custGeom>
              <a:solidFill>
                <a:srgbClr val="FFFF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grpSp>
          <p:nvGrpSpPr>
            <p:cNvPr id="16" name="Group 34">
              <a:extLst>
                <a:ext uri="{FF2B5EF4-FFF2-40B4-BE49-F238E27FC236}">
                  <a16:creationId xmlns:a16="http://schemas.microsoft.com/office/drawing/2014/main" id="{D276378D-DD1F-327B-DE52-4E0FBB266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832"/>
              <a:ext cx="144" cy="384"/>
              <a:chOff x="3024" y="2976"/>
              <a:chExt cx="144" cy="384"/>
            </a:xfrm>
          </p:grpSpPr>
          <p:sp>
            <p:nvSpPr>
              <p:cNvPr id="17" name="Rectangle 35">
                <a:extLst>
                  <a:ext uri="{FF2B5EF4-FFF2-40B4-BE49-F238E27FC236}">
                    <a16:creationId xmlns:a16="http://schemas.microsoft.com/office/drawing/2014/main" id="{69D898B2-F584-12CA-2CFE-CDAF6596C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144" cy="192"/>
              </a:xfrm>
              <a:prstGeom prst="rect">
                <a:avLst/>
              </a:prstGeom>
              <a:solidFill>
                <a:srgbClr val="66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827F5AAA-D047-7268-7D71-0DB36CB592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2976"/>
                <a:ext cx="142" cy="202"/>
              </a:xfrm>
              <a:custGeom>
                <a:avLst/>
                <a:gdLst>
                  <a:gd name="T0" fmla="*/ 29 w 142"/>
                  <a:gd name="T1" fmla="*/ 202 h 202"/>
                  <a:gd name="T2" fmla="*/ 79 w 142"/>
                  <a:gd name="T3" fmla="*/ 0 h 202"/>
                  <a:gd name="T4" fmla="*/ 142 w 142"/>
                  <a:gd name="T5" fmla="*/ 113 h 202"/>
                  <a:gd name="T6" fmla="*/ 79 w 142"/>
                  <a:gd name="T7" fmla="*/ 164 h 202"/>
                  <a:gd name="T8" fmla="*/ 29 w 142"/>
                  <a:gd name="T9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202">
                    <a:moveTo>
                      <a:pt x="29" y="202"/>
                    </a:moveTo>
                    <a:cubicBezTo>
                      <a:pt x="0" y="118"/>
                      <a:pt x="54" y="74"/>
                      <a:pt x="79" y="0"/>
                    </a:cubicBezTo>
                    <a:cubicBezTo>
                      <a:pt x="119" y="40"/>
                      <a:pt x="126" y="61"/>
                      <a:pt x="142" y="113"/>
                    </a:cubicBezTo>
                    <a:cubicBezTo>
                      <a:pt x="68" y="138"/>
                      <a:pt x="136" y="106"/>
                      <a:pt x="79" y="164"/>
                    </a:cubicBezTo>
                    <a:cubicBezTo>
                      <a:pt x="64" y="179"/>
                      <a:pt x="46" y="189"/>
                      <a:pt x="29" y="202"/>
                    </a:cubicBezTo>
                    <a:close/>
                  </a:path>
                </a:pathLst>
              </a:custGeom>
              <a:solidFill>
                <a:srgbClr val="FFFF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23" name="Text Box 57">
            <a:extLst>
              <a:ext uri="{FF2B5EF4-FFF2-40B4-BE49-F238E27FC236}">
                <a16:creationId xmlns:a16="http://schemas.microsoft.com/office/drawing/2014/main" id="{E1D6DB19-74B1-81A3-4938-B44583270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179" y="4380186"/>
            <a:ext cx="815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s-MX" altLang="es-CO" sz="2400" dirty="0"/>
              <a:t>A veces el calor puede hacer que las superficies se deformen o vuelvan pegajosas. En tales casos, la temperatura puede ser un factor.</a:t>
            </a:r>
          </a:p>
        </p:txBody>
      </p:sp>
    </p:spTree>
    <p:extLst>
      <p:ext uri="{BB962C8B-B14F-4D97-AF65-F5344CB8AC3E}">
        <p14:creationId xmlns:p14="http://schemas.microsoft.com/office/powerpoint/2010/main" val="318761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83474-5BAC-45DA-8CCF-B84D2B11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0">
            <a:extLst>
              <a:ext uri="{FF2B5EF4-FFF2-40B4-BE49-F238E27FC236}">
                <a16:creationId xmlns:a16="http://schemas.microsoft.com/office/drawing/2014/main" id="{CD848A47-4FEE-76EB-9708-0F11DB815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437289"/>
            <a:ext cx="7467600" cy="213360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FB4343-E441-01E8-DBB3-9C80AD46F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95700" y="111727"/>
            <a:ext cx="4495800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dirty="0"/>
              <a:t>Las fuerzas de fricción </a:t>
            </a:r>
            <a:br>
              <a:rPr lang="es-MX" altLang="es-CO" sz="2400" dirty="0"/>
            </a:br>
            <a:r>
              <a:rPr lang="es-MX" altLang="es-CO" sz="2400" dirty="0"/>
              <a:t>son independientes de la rapidez.</a:t>
            </a:r>
          </a:p>
        </p:txBody>
      </p:sp>
      <p:grpSp>
        <p:nvGrpSpPr>
          <p:cNvPr id="4" name="Group 37">
            <a:extLst>
              <a:ext uri="{FF2B5EF4-FFF2-40B4-BE49-F238E27FC236}">
                <a16:creationId xmlns:a16="http://schemas.microsoft.com/office/drawing/2014/main" id="{7E23C0BC-0898-CBB1-39C6-8B8BEEEB3173}"/>
              </a:ext>
            </a:extLst>
          </p:cNvPr>
          <p:cNvGrpSpPr>
            <a:grpSpLocks/>
          </p:cNvGrpSpPr>
          <p:nvPr/>
        </p:nvGrpSpPr>
        <p:grpSpPr bwMode="auto">
          <a:xfrm>
            <a:off x="6362700" y="1970689"/>
            <a:ext cx="3124200" cy="1219200"/>
            <a:chOff x="3216" y="3312"/>
            <a:chExt cx="1968" cy="768"/>
          </a:xfrm>
        </p:grpSpPr>
        <p:grpSp>
          <p:nvGrpSpPr>
            <p:cNvPr id="5" name="Group 38">
              <a:extLst>
                <a:ext uri="{FF2B5EF4-FFF2-40B4-BE49-F238E27FC236}">
                  <a16:creationId xmlns:a16="http://schemas.microsoft.com/office/drawing/2014/main" id="{3890B948-B035-68DD-6153-8ACAA32592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3312"/>
              <a:ext cx="1968" cy="768"/>
              <a:chOff x="720" y="2064"/>
              <a:chExt cx="1968" cy="768"/>
            </a:xfrm>
          </p:grpSpPr>
          <p:sp>
            <p:nvSpPr>
              <p:cNvPr id="10" name="Rectangle 39">
                <a:extLst>
                  <a:ext uri="{FF2B5EF4-FFF2-40B4-BE49-F238E27FC236}">
                    <a16:creationId xmlns:a16="http://schemas.microsoft.com/office/drawing/2014/main" id="{B8D0738B-1841-0B4B-D024-7E3D45134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1824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11" name="Rectangle 40">
                <a:extLst>
                  <a:ext uri="{FF2B5EF4-FFF2-40B4-BE49-F238E27FC236}">
                    <a16:creationId xmlns:a16="http://schemas.microsoft.com/office/drawing/2014/main" id="{ED7E3EBA-EC7D-43EB-8465-9C51657A6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480" cy="192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12" name="AutoShape 41">
                <a:extLst>
                  <a:ext uri="{FF2B5EF4-FFF2-40B4-BE49-F238E27FC236}">
                    <a16:creationId xmlns:a16="http://schemas.microsoft.com/office/drawing/2014/main" id="{99B9E044-D4EC-8845-2362-D20A93E1A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400"/>
                <a:ext cx="576" cy="144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Text Box 42">
                <a:extLst>
                  <a:ext uri="{FF2B5EF4-FFF2-40B4-BE49-F238E27FC236}">
                    <a16:creationId xmlns:a16="http://schemas.microsoft.com/office/drawing/2014/main" id="{129F2D8C-3436-7811-3614-BA9689D65B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64"/>
                <a:ext cx="81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 </a:t>
                </a:r>
                <a:r>
                  <a:rPr kumimoji="0" lang="es-MX" altLang="es-CO" i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</a:t>
                </a:r>
                <a:r>
                  <a:rPr kumimoji="0" lang="es-MX" altLang="es-CO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N</a:t>
                </a:r>
                <a:endParaRPr kumimoji="0" lang="es-MX" altLang="es-CO" i="1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</p:grpSp>
        <p:grpSp>
          <p:nvGrpSpPr>
            <p:cNvPr id="6" name="Group 43">
              <a:extLst>
                <a:ext uri="{FF2B5EF4-FFF2-40B4-BE49-F238E27FC236}">
                  <a16:creationId xmlns:a16="http://schemas.microsoft.com/office/drawing/2014/main" id="{30403D0D-7F41-EFB7-2214-0644BFA1C1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3648"/>
              <a:ext cx="480" cy="96"/>
              <a:chOff x="3360" y="3648"/>
              <a:chExt cx="480" cy="96"/>
            </a:xfrm>
          </p:grpSpPr>
          <p:sp>
            <p:nvSpPr>
              <p:cNvPr id="7" name="Line 44">
                <a:extLst>
                  <a:ext uri="{FF2B5EF4-FFF2-40B4-BE49-F238E27FC236}">
                    <a16:creationId xmlns:a16="http://schemas.microsoft.com/office/drawing/2014/main" id="{A36D6079-8489-794B-E7A5-B7AC0FE219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369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8" name="Line 45">
                <a:extLst>
                  <a:ext uri="{FF2B5EF4-FFF2-40B4-BE49-F238E27FC236}">
                    <a16:creationId xmlns:a16="http://schemas.microsoft.com/office/drawing/2014/main" id="{0E160D06-8D71-BE79-0F4C-02D7AB385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374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9" name="Line 46">
                <a:extLst>
                  <a:ext uri="{FF2B5EF4-FFF2-40B4-BE49-F238E27FC236}">
                    <a16:creationId xmlns:a16="http://schemas.microsoft.com/office/drawing/2014/main" id="{FE574184-351D-3ADE-F418-237AE912E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364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grpSp>
        <p:nvGrpSpPr>
          <p:cNvPr id="14" name="Group 47">
            <a:extLst>
              <a:ext uri="{FF2B5EF4-FFF2-40B4-BE49-F238E27FC236}">
                <a16:creationId xmlns:a16="http://schemas.microsoft.com/office/drawing/2014/main" id="{20CEA2A3-E770-A1E8-A387-391F6CCBBF4B}"/>
              </a:ext>
            </a:extLst>
          </p:cNvPr>
          <p:cNvGrpSpPr>
            <a:grpSpLocks/>
          </p:cNvGrpSpPr>
          <p:nvPr/>
        </p:nvGrpSpPr>
        <p:grpSpPr bwMode="auto">
          <a:xfrm>
            <a:off x="2476500" y="1970689"/>
            <a:ext cx="3124200" cy="1219200"/>
            <a:chOff x="768" y="3312"/>
            <a:chExt cx="1968" cy="768"/>
          </a:xfrm>
        </p:grpSpPr>
        <p:grpSp>
          <p:nvGrpSpPr>
            <p:cNvPr id="15" name="Group 48">
              <a:extLst>
                <a:ext uri="{FF2B5EF4-FFF2-40B4-BE49-F238E27FC236}">
                  <a16:creationId xmlns:a16="http://schemas.microsoft.com/office/drawing/2014/main" id="{CBF5181A-2E6C-CF4A-7FC4-4EB6AA3404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3312"/>
              <a:ext cx="1968" cy="768"/>
              <a:chOff x="720" y="2064"/>
              <a:chExt cx="1968" cy="768"/>
            </a:xfrm>
          </p:grpSpPr>
          <p:sp>
            <p:nvSpPr>
              <p:cNvPr id="20" name="Rectangle 49">
                <a:extLst>
                  <a:ext uri="{FF2B5EF4-FFF2-40B4-BE49-F238E27FC236}">
                    <a16:creationId xmlns:a16="http://schemas.microsoft.com/office/drawing/2014/main" id="{26675226-5E6A-3350-9AA8-66D651BE1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1824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21" name="Rectangle 50">
                <a:extLst>
                  <a:ext uri="{FF2B5EF4-FFF2-40B4-BE49-F238E27FC236}">
                    <a16:creationId xmlns:a16="http://schemas.microsoft.com/office/drawing/2014/main" id="{79105CC9-F512-35EC-AADD-7053797CD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480" cy="192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22" name="AutoShape 51">
                <a:extLst>
                  <a:ext uri="{FF2B5EF4-FFF2-40B4-BE49-F238E27FC236}">
                    <a16:creationId xmlns:a16="http://schemas.microsoft.com/office/drawing/2014/main" id="{3BF1CED7-2AED-EFB9-4A58-6167EA176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400"/>
                <a:ext cx="576" cy="144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3" name="Text Box 52">
                <a:extLst>
                  <a:ext uri="{FF2B5EF4-FFF2-40B4-BE49-F238E27FC236}">
                    <a16:creationId xmlns:a16="http://schemas.microsoft.com/office/drawing/2014/main" id="{41EF3133-213A-B387-9AC9-C7F7410463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64"/>
                <a:ext cx="81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 </a:t>
                </a:r>
                <a:r>
                  <a:rPr kumimoji="0" lang="es-MX" altLang="es-CO" i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</a:t>
                </a:r>
                <a:r>
                  <a:rPr kumimoji="0" lang="es-MX" altLang="es-CO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N</a:t>
                </a:r>
                <a:endParaRPr kumimoji="0" lang="es-MX" altLang="es-CO" i="1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</p:grpSp>
        <p:grpSp>
          <p:nvGrpSpPr>
            <p:cNvPr id="16" name="Group 53">
              <a:extLst>
                <a:ext uri="{FF2B5EF4-FFF2-40B4-BE49-F238E27FC236}">
                  <a16:creationId xmlns:a16="http://schemas.microsoft.com/office/drawing/2014/main" id="{76F8E074-D179-99A0-2C76-D8A38DA0D3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3648"/>
              <a:ext cx="240" cy="96"/>
              <a:chOff x="3360" y="3648"/>
              <a:chExt cx="480" cy="96"/>
            </a:xfrm>
          </p:grpSpPr>
          <p:sp>
            <p:nvSpPr>
              <p:cNvPr id="17" name="Line 54">
                <a:extLst>
                  <a:ext uri="{FF2B5EF4-FFF2-40B4-BE49-F238E27FC236}">
                    <a16:creationId xmlns:a16="http://schemas.microsoft.com/office/drawing/2014/main" id="{C42093CA-A7DE-0221-E157-7C340B6AD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369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8" name="Line 55">
                <a:extLst>
                  <a:ext uri="{FF2B5EF4-FFF2-40B4-BE49-F238E27FC236}">
                    <a16:creationId xmlns:a16="http://schemas.microsoft.com/office/drawing/2014/main" id="{6E5E19B1-848E-7CC6-5BDF-DD73DFB5B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374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9" name="Line 56">
                <a:extLst>
                  <a:ext uri="{FF2B5EF4-FFF2-40B4-BE49-F238E27FC236}">
                    <a16:creationId xmlns:a16="http://schemas.microsoft.com/office/drawing/2014/main" id="{82B86A0E-F182-025A-DFB1-1868CC701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364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24" name="Text Box 57">
            <a:extLst>
              <a:ext uri="{FF2B5EF4-FFF2-40B4-BE49-F238E27FC236}">
                <a16:creationId xmlns:a16="http://schemas.microsoft.com/office/drawing/2014/main" id="{56CEDCF6-55AC-86C2-D28F-220E506AB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3723289"/>
            <a:ext cx="7391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s-MX" altLang="es-CO" sz="2400" dirty="0"/>
              <a:t>La fuerza de fricción cinética es la misma a 5 m/s o a 20 m/s. De nuevo, debe suponer que no hay cambios químicos o mecánicos debido a la rapidez.</a:t>
            </a:r>
          </a:p>
        </p:txBody>
      </p:sp>
      <p:sp>
        <p:nvSpPr>
          <p:cNvPr id="25" name="Text Box 58">
            <a:extLst>
              <a:ext uri="{FF2B5EF4-FFF2-40B4-BE49-F238E27FC236}">
                <a16:creationId xmlns:a16="http://schemas.microsoft.com/office/drawing/2014/main" id="{4221C45C-3DB5-28B8-301B-746A9D4F6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1589689"/>
            <a:ext cx="1447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>
                <a:effectLst>
                  <a:outerShdw blurRad="38100" dist="38100" dir="2700000" algn="tl">
                    <a:srgbClr val="000000"/>
                  </a:outerShdw>
                </a:effectLst>
              </a:rPr>
              <a:t>5 m/s</a:t>
            </a:r>
          </a:p>
        </p:txBody>
      </p:sp>
      <p:sp>
        <p:nvSpPr>
          <p:cNvPr id="26" name="Text Box 59">
            <a:extLst>
              <a:ext uri="{FF2B5EF4-FFF2-40B4-BE49-F238E27FC236}">
                <a16:creationId xmlns:a16="http://schemas.microsoft.com/office/drawing/2014/main" id="{54BDF474-1511-C696-293C-1B327A143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1589689"/>
            <a:ext cx="1447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>
                <a:effectLst>
                  <a:outerShdw blurRad="38100" dist="38100" dir="2700000" algn="tl">
                    <a:srgbClr val="000000"/>
                  </a:outerShdw>
                </a:effectLst>
              </a:rPr>
              <a:t>20 m/s</a:t>
            </a:r>
          </a:p>
        </p:txBody>
      </p:sp>
    </p:spTree>
    <p:extLst>
      <p:ext uri="{BB962C8B-B14F-4D97-AF65-F5344CB8AC3E}">
        <p14:creationId xmlns:p14="http://schemas.microsoft.com/office/powerpoint/2010/main" val="387857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 advAuto="0"/>
      <p:bldP spid="24" grpId="0" autoUpdateAnimBg="0"/>
      <p:bldP spid="25" grpId="0" autoUpdateAnimBg="0"/>
      <p:bldP spid="2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EE546-2E96-ADA4-F240-0239A4D3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BB2D7EA-F4DF-B63F-7623-C0B7A2B22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9931" y="0"/>
            <a:ext cx="79248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La fuerza de fricción estática</a:t>
            </a:r>
          </a:p>
        </p:txBody>
      </p:sp>
      <p:grpSp>
        <p:nvGrpSpPr>
          <p:cNvPr id="3" name="Group 24">
            <a:extLst>
              <a:ext uri="{FF2B5EF4-FFF2-40B4-BE49-F238E27FC236}">
                <a16:creationId xmlns:a16="http://schemas.microsoft.com/office/drawing/2014/main" id="{ADF632E5-3F9E-3A73-9022-921C6256CA54}"/>
              </a:ext>
            </a:extLst>
          </p:cNvPr>
          <p:cNvGrpSpPr>
            <a:grpSpLocks/>
          </p:cNvGrpSpPr>
          <p:nvPr/>
        </p:nvGrpSpPr>
        <p:grpSpPr bwMode="auto">
          <a:xfrm>
            <a:off x="1418878" y="3962402"/>
            <a:ext cx="9585453" cy="1920876"/>
            <a:chOff x="-14" y="2448"/>
            <a:chExt cx="5198" cy="1210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FB65FF42-ECF1-8319-0E60-0F0BAD5FB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" y="2448"/>
              <a:ext cx="519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s-MX" altLang="es-CO" sz="2400" i="1" dirty="0"/>
                <a:t>En este módulo, cuando se use la siguiente ecuación, se refiere sólo al valor máximo de la fricción estática y se escribe simplemente</a:t>
              </a:r>
              <a:r>
                <a:rPr lang="es-MX" altLang="es-CO" sz="2400" dirty="0"/>
                <a:t>:</a:t>
              </a:r>
              <a:endParaRPr lang="es-MX" altLang="es-CO" sz="2400" i="1" dirty="0"/>
            </a:p>
          </p:txBody>
        </p:sp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5557CD89-4C19-4C65-461B-A14A33029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3173"/>
              <a:ext cx="1824" cy="485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tIns="137160" bIns="137160" anchor="ctr">
              <a:spAutoFit/>
            </a:bodyPr>
            <a:lstStyle/>
            <a:p>
              <a:pPr algn="ctr"/>
              <a:r>
                <a:rPr kumimoji="0" lang="es-MX" altLang="es-CO" sz="3200" i="1" dirty="0" err="1">
                  <a:effectLst/>
                </a:rPr>
                <a:t>f</a:t>
              </a:r>
              <a:r>
                <a:rPr kumimoji="0" lang="es-MX" altLang="es-CO" sz="3200" i="1" baseline="-25000" dirty="0" err="1">
                  <a:effectLst/>
                </a:rPr>
                <a:t>s</a:t>
              </a:r>
              <a:r>
                <a:rPr kumimoji="0" lang="es-MX" altLang="es-CO" sz="3200" i="1" dirty="0">
                  <a:effectLst/>
                </a:rPr>
                <a:t> = </a:t>
              </a:r>
              <a:r>
                <a:rPr kumimoji="0" lang="es-MX" altLang="es-CO" sz="3200" i="1" dirty="0" err="1">
                  <a:effectLst/>
                  <a:latin typeface="Symbol" panose="05050102010706020507" pitchFamily="18" charset="2"/>
                </a:rPr>
                <a:t>m</a:t>
              </a:r>
              <a:r>
                <a:rPr kumimoji="0" lang="es-MX" altLang="es-CO" sz="3200" i="1" baseline="-25000" dirty="0" err="1">
                  <a:effectLst/>
                </a:rPr>
                <a:t>s</a:t>
              </a:r>
              <a:r>
                <a:rPr kumimoji="0" lang="es-MX" altLang="es-CO" sz="3200" i="1" dirty="0" err="1">
                  <a:effectLst/>
                </a:rPr>
                <a:t>n</a:t>
              </a:r>
              <a:endParaRPr kumimoji="0" lang="es-MX" altLang="es-CO" sz="3200" i="1" dirty="0">
                <a:effectLst/>
              </a:endParaRPr>
            </a:p>
          </p:txBody>
        </p:sp>
      </p:grpSp>
      <p:grpSp>
        <p:nvGrpSpPr>
          <p:cNvPr id="6" name="Group 29">
            <a:extLst>
              <a:ext uri="{FF2B5EF4-FFF2-40B4-BE49-F238E27FC236}">
                <a16:creationId xmlns:a16="http://schemas.microsoft.com/office/drawing/2014/main" id="{1ADB088A-95AF-A318-D07E-9D4A2D894B2E}"/>
              </a:ext>
            </a:extLst>
          </p:cNvPr>
          <p:cNvGrpSpPr>
            <a:grpSpLocks/>
          </p:cNvGrpSpPr>
          <p:nvPr/>
        </p:nvGrpSpPr>
        <p:grpSpPr bwMode="auto">
          <a:xfrm>
            <a:off x="2774731" y="1143000"/>
            <a:ext cx="7620000" cy="2895600"/>
            <a:chOff x="576" y="624"/>
            <a:chExt cx="4800" cy="1824"/>
          </a:xfrm>
        </p:grpSpPr>
        <p:sp>
          <p:nvSpPr>
            <p:cNvPr id="7" name="Text Box 3">
              <a:extLst>
                <a:ext uri="{FF2B5EF4-FFF2-40B4-BE49-F238E27FC236}">
                  <a16:creationId xmlns:a16="http://schemas.microsoft.com/office/drawing/2014/main" id="{3F1392B9-CB84-2016-DDDC-DFDE28CE7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624"/>
              <a:ext cx="480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s-MX" altLang="es-CO" sz="2400" i="1" dirty="0"/>
                <a:t>Cuando se intenta mover un objeto sobre una superficie, la fricción estática aumenta lentamente hasta un valor MÁXIMO. </a:t>
              </a:r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578AC7FF-ADC7-F7D4-77D5-211E7E513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728"/>
              <a:ext cx="1824" cy="580"/>
              <a:chOff x="2016" y="2640"/>
              <a:chExt cx="1824" cy="580"/>
            </a:xfrm>
          </p:grpSpPr>
          <p:sp>
            <p:nvSpPr>
              <p:cNvPr id="22" name="Text Box 4">
                <a:extLst>
                  <a:ext uri="{FF2B5EF4-FFF2-40B4-BE49-F238E27FC236}">
                    <a16:creationId xmlns:a16="http://schemas.microsoft.com/office/drawing/2014/main" id="{27DC28C7-151A-3A0F-FBBD-145B958397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2640"/>
                <a:ext cx="1824" cy="580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tIns="137160" bIns="137160" anchor="ctr">
                <a:spAutoFit/>
              </a:bodyPr>
              <a:lstStyle/>
              <a:p>
                <a:endParaRPr kumimoji="0" lang="es-MX" altLang="es-CO" sz="4000" i="1">
                  <a:solidFill>
                    <a:srgbClr val="000000"/>
                  </a:solidFill>
                  <a:effectLst/>
                </a:endParaRPr>
              </a:p>
            </p:txBody>
          </p:sp>
          <p:graphicFrame>
            <p:nvGraphicFramePr>
              <p:cNvPr id="23" name="Object 5">
                <a:extLst>
                  <a:ext uri="{FF2B5EF4-FFF2-40B4-BE49-F238E27FC236}">
                    <a16:creationId xmlns:a16="http://schemas.microsoft.com/office/drawing/2014/main" id="{D8349B9E-6F80-7E9D-6FE6-9446DAFF22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04" y="2688"/>
              <a:ext cx="1200" cy="4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596880" imgH="228600" progId="Equation.DSMT4">
                      <p:embed/>
                    </p:oleObj>
                  </mc:Choice>
                  <mc:Fallback>
                    <p:oleObj name="Equation" r:id="rId4" imgW="596880" imgH="228600" progId="Equation.DSMT4">
                      <p:embed/>
                      <p:pic>
                        <p:nvPicPr>
                          <p:cNvPr id="550917" name="Object 5">
                            <a:extLst>
                              <a:ext uri="{FF2B5EF4-FFF2-40B4-BE49-F238E27FC236}">
                                <a16:creationId xmlns:a16="http://schemas.microsoft.com/office/drawing/2014/main" id="{65AFF9AF-06BD-2F9B-38DA-A1C5C6916B0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4" y="2688"/>
                            <a:ext cx="1200" cy="4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Group 28">
              <a:extLst>
                <a:ext uri="{FF2B5EF4-FFF2-40B4-BE49-F238E27FC236}">
                  <a16:creationId xmlns:a16="http://schemas.microsoft.com/office/drawing/2014/main" id="{3FA48DE7-C1D8-703C-8058-AAA9F729E1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440"/>
              <a:ext cx="1392" cy="1008"/>
              <a:chOff x="960" y="1440"/>
              <a:chExt cx="1392" cy="1008"/>
            </a:xfrm>
          </p:grpSpPr>
          <p:grpSp>
            <p:nvGrpSpPr>
              <p:cNvPr id="10" name="Group 12">
                <a:extLst>
                  <a:ext uri="{FF2B5EF4-FFF2-40B4-BE49-F238E27FC236}">
                    <a16:creationId xmlns:a16="http://schemas.microsoft.com/office/drawing/2014/main" id="{F4158BA4-3AA8-0E82-286A-0CF4DC2AEB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826"/>
                <a:ext cx="1200" cy="455"/>
                <a:chOff x="624" y="2688"/>
                <a:chExt cx="1584" cy="601"/>
              </a:xfrm>
            </p:grpSpPr>
            <p:sp>
              <p:nvSpPr>
                <p:cNvPr id="19" name="Rectangle 13">
                  <a:extLst>
                    <a:ext uri="{FF2B5EF4-FFF2-40B4-BE49-F238E27FC236}">
                      <a16:creationId xmlns:a16="http://schemas.microsoft.com/office/drawing/2014/main" id="{3B988D56-0953-AB5E-569F-52A3C83D85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3072"/>
                  <a:ext cx="1584" cy="217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Left"/>
                  <a:lightRig rig="legacyFlat3" dir="t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  <a:flatTx/>
                </a:bodyPr>
                <a:lstStyle/>
                <a:p>
                  <a:endParaRPr lang="es-CO"/>
                </a:p>
              </p:txBody>
            </p:sp>
            <p:sp>
              <p:nvSpPr>
                <p:cNvPr id="20" name="Rectangle 14">
                  <a:extLst>
                    <a:ext uri="{FF2B5EF4-FFF2-40B4-BE49-F238E27FC236}">
                      <a16:creationId xmlns:a16="http://schemas.microsoft.com/office/drawing/2014/main" id="{7ED8CDEB-82B4-DDD4-4052-E1767FBB59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832"/>
                  <a:ext cx="432" cy="27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Left"/>
                  <a:lightRig rig="legacyFlat3" dir="t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00"/>
                  </a:extrusionClr>
                  <a:contourClr>
                    <a:srgbClr val="FFFF00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  <a:flatTx/>
                </a:bodyPr>
                <a:lstStyle/>
                <a:p>
                  <a:endParaRPr lang="es-CO"/>
                </a:p>
              </p:txBody>
            </p:sp>
            <p:sp>
              <p:nvSpPr>
                <p:cNvPr id="21" name="Line 15">
                  <a:extLst>
                    <a:ext uri="{FF2B5EF4-FFF2-40B4-BE49-F238E27FC236}">
                      <a16:creationId xmlns:a16="http://schemas.microsoft.com/office/drawing/2014/main" id="{893B4F0D-2338-C914-D458-1FB61D86CD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2688"/>
                  <a:ext cx="1" cy="4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s-CO"/>
                </a:p>
              </p:txBody>
            </p:sp>
          </p:grpSp>
          <p:sp>
            <p:nvSpPr>
              <p:cNvPr id="11" name="Line 18">
                <a:extLst>
                  <a:ext uri="{FF2B5EF4-FFF2-40B4-BE49-F238E27FC236}">
                    <a16:creationId xmlns:a16="http://schemas.microsoft.com/office/drawing/2014/main" id="{8145D9D0-FF1D-F932-9E85-0041EFA91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632" y="1584"/>
                <a:ext cx="17" cy="30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Text Box 19">
                <a:extLst>
                  <a:ext uri="{FF2B5EF4-FFF2-40B4-BE49-F238E27FC236}">
                    <a16:creationId xmlns:a16="http://schemas.microsoft.com/office/drawing/2014/main" id="{ECB59AB3-AEB6-5B9A-1C4B-1AAEABA10B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440"/>
                <a:ext cx="33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sz="4000" i="1">
                    <a:solidFill>
                      <a:srgbClr val="FFFFFF"/>
                    </a:solidFill>
                    <a:effectLst/>
                  </a:rPr>
                  <a:t>n</a:t>
                </a:r>
                <a:endParaRPr kumimoji="0" lang="es-MX" altLang="es-CO" sz="4000" i="1">
                  <a:solidFill>
                    <a:srgbClr val="FFFF00"/>
                  </a:solidFill>
                  <a:effectLst/>
                </a:endParaRPr>
              </a:p>
            </p:txBody>
          </p:sp>
          <p:sp>
            <p:nvSpPr>
              <p:cNvPr id="13" name="Text Box 21">
                <a:extLst>
                  <a:ext uri="{FF2B5EF4-FFF2-40B4-BE49-F238E27FC236}">
                    <a16:creationId xmlns:a16="http://schemas.microsoft.com/office/drawing/2014/main" id="{E88ADB88-418B-040F-84BA-1B1F38A9AA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1824"/>
                <a:ext cx="52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s-MX" altLang="es-CO" i="1">
                    <a:effectLst/>
                  </a:rPr>
                  <a:t>f</a:t>
                </a:r>
                <a:r>
                  <a:rPr lang="es-MX" altLang="es-CO" i="1" baseline="-25000">
                    <a:effectLst/>
                  </a:rPr>
                  <a:t>s</a:t>
                </a:r>
                <a:endParaRPr lang="es-MX" altLang="es-CO" i="1">
                  <a:effectLst/>
                </a:endParaRPr>
              </a:p>
            </p:txBody>
          </p:sp>
          <p:sp>
            <p:nvSpPr>
              <p:cNvPr id="14" name="AutoShape 22">
                <a:extLst>
                  <a:ext uri="{FF2B5EF4-FFF2-40B4-BE49-F238E27FC236}">
                    <a16:creationId xmlns:a16="http://schemas.microsoft.com/office/drawing/2014/main" id="{56B3423F-041F-50D1-8F3E-DF2BD1E27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248" y="2031"/>
                <a:ext cx="328" cy="123"/>
              </a:xfrm>
              <a:prstGeom prst="rightArrow">
                <a:avLst>
                  <a:gd name="adj1" fmla="val 50000"/>
                  <a:gd name="adj2" fmla="val 6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5" name="AutoShape 10">
                <a:extLst>
                  <a:ext uri="{FF2B5EF4-FFF2-40B4-BE49-F238E27FC236}">
                    <a16:creationId xmlns:a16="http://schemas.microsoft.com/office/drawing/2014/main" id="{63E114DF-BC3A-1563-5F74-1A3EC5E0B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1" y="1935"/>
                <a:ext cx="328" cy="123"/>
              </a:xfrm>
              <a:prstGeom prst="rightArrow">
                <a:avLst>
                  <a:gd name="adj1" fmla="val 50000"/>
                  <a:gd name="adj2" fmla="val 6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6" name="Text Box 23">
                <a:extLst>
                  <a:ext uri="{FF2B5EF4-FFF2-40B4-BE49-F238E27FC236}">
                    <a16:creationId xmlns:a16="http://schemas.microsoft.com/office/drawing/2014/main" id="{CC5F50BE-959C-A446-3377-02457292E2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1680"/>
                <a:ext cx="28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s-MX" altLang="es-CO" i="1">
                    <a:effectLst/>
                  </a:rPr>
                  <a:t>P</a:t>
                </a:r>
              </a:p>
            </p:txBody>
          </p:sp>
          <p:sp>
            <p:nvSpPr>
              <p:cNvPr id="17" name="Line 26">
                <a:extLst>
                  <a:ext uri="{FF2B5EF4-FFF2-40B4-BE49-F238E27FC236}">
                    <a16:creationId xmlns:a16="http://schemas.microsoft.com/office/drawing/2014/main" id="{6C883854-96EA-0FBC-B68C-FF85A46D91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7" cy="30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8" name="Text Box 27">
                <a:extLst>
                  <a:ext uri="{FF2B5EF4-FFF2-40B4-BE49-F238E27FC236}">
                    <a16:creationId xmlns:a16="http://schemas.microsoft.com/office/drawing/2014/main" id="{35272C4A-AE75-8584-9BFD-126D7348CE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16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s-MX" altLang="es-CO" sz="2400" i="1">
                    <a:effectLst/>
                  </a:rPr>
                  <a:t>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371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A348D-2796-8321-B566-1B333B57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C883A64-59D6-B46B-4812-BC2DC45F5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7283" y="134007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Movimiento constante o inminente</a:t>
            </a:r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B964E030-EB58-2B47-EF0B-B3E0D1860D82}"/>
              </a:ext>
            </a:extLst>
          </p:cNvPr>
          <p:cNvGrpSpPr>
            <a:grpSpLocks/>
          </p:cNvGrpSpPr>
          <p:nvPr/>
        </p:nvGrpSpPr>
        <p:grpSpPr bwMode="auto">
          <a:xfrm>
            <a:off x="2903483" y="1200807"/>
            <a:ext cx="7386735" cy="3886200"/>
            <a:chOff x="480" y="768"/>
            <a:chExt cx="4560" cy="2448"/>
          </a:xfrm>
        </p:grpSpPr>
        <p:sp>
          <p:nvSpPr>
            <p:cNvPr id="4" name="Rectangle 33">
              <a:extLst>
                <a:ext uri="{FF2B5EF4-FFF2-40B4-BE49-F238E27FC236}">
                  <a16:creationId xmlns:a16="http://schemas.microsoft.com/office/drawing/2014/main" id="{D8AFD0F8-4BAD-3B10-B3BE-38EBDFF6D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768"/>
              <a:ext cx="4560" cy="2448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Text Box 23">
              <a:extLst>
                <a:ext uri="{FF2B5EF4-FFF2-40B4-BE49-F238E27FC236}">
                  <a16:creationId xmlns:a16="http://schemas.microsoft.com/office/drawing/2014/main" id="{9ADF8615-EB72-4BC7-DD50-F3F263C88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816"/>
              <a:ext cx="456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s-MX" altLang="es-CO" sz="2400" i="1" dirty="0"/>
                <a:t>Para el movimiento que es inminente y para el movimiento con rapidez constante, la fuerza resultante es cero y </a:t>
              </a:r>
              <a:r>
                <a:rPr lang="es-MX" altLang="es-CO" sz="2400" dirty="0">
                  <a:latin typeface="Symbol" panose="05050102010706020507" pitchFamily="18" charset="2"/>
                </a:rPr>
                <a:t>S</a:t>
              </a:r>
              <a:r>
                <a:rPr lang="es-MX" altLang="es-CO" sz="2400" i="1" dirty="0"/>
                <a:t>F = 0. (Equilibrio)</a:t>
              </a:r>
            </a:p>
          </p:txBody>
        </p:sp>
      </p:grpSp>
      <p:grpSp>
        <p:nvGrpSpPr>
          <p:cNvPr id="6" name="Group 37">
            <a:extLst>
              <a:ext uri="{FF2B5EF4-FFF2-40B4-BE49-F238E27FC236}">
                <a16:creationId xmlns:a16="http://schemas.microsoft.com/office/drawing/2014/main" id="{C9E76C8D-8D72-89FE-61D0-364AADEF7382}"/>
              </a:ext>
            </a:extLst>
          </p:cNvPr>
          <p:cNvGrpSpPr>
            <a:grpSpLocks/>
          </p:cNvGrpSpPr>
          <p:nvPr/>
        </p:nvGrpSpPr>
        <p:grpSpPr bwMode="auto">
          <a:xfrm>
            <a:off x="3208283" y="2877207"/>
            <a:ext cx="3124200" cy="1981200"/>
            <a:chOff x="576" y="1872"/>
            <a:chExt cx="1968" cy="1248"/>
          </a:xfrm>
        </p:grpSpPr>
        <p:sp>
          <p:nvSpPr>
            <p:cNvPr id="7" name="Rectangle 38">
              <a:extLst>
                <a:ext uri="{FF2B5EF4-FFF2-40B4-BE49-F238E27FC236}">
                  <a16:creationId xmlns:a16="http://schemas.microsoft.com/office/drawing/2014/main" id="{24232361-6BA4-09D0-4FB0-D6A803B83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1824" cy="336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8" name="Rectangle 39">
              <a:extLst>
                <a:ext uri="{FF2B5EF4-FFF2-40B4-BE49-F238E27FC236}">
                  <a16:creationId xmlns:a16="http://schemas.microsoft.com/office/drawing/2014/main" id="{B50DE17F-6FD6-D991-8208-300372A91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08"/>
              <a:ext cx="480" cy="192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9" name="AutoShape 40">
              <a:extLst>
                <a:ext uri="{FF2B5EF4-FFF2-40B4-BE49-F238E27FC236}">
                  <a16:creationId xmlns:a16="http://schemas.microsoft.com/office/drawing/2014/main" id="{99AAC9CF-4C2A-E86E-1BDB-BC55F1F7B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208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41">
              <a:extLst>
                <a:ext uri="{FF2B5EF4-FFF2-40B4-BE49-F238E27FC236}">
                  <a16:creationId xmlns:a16="http://schemas.microsoft.com/office/drawing/2014/main" id="{6D9ED147-2125-38F8-E318-8F78A02F6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72"/>
              <a:ext cx="8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>
                  <a:effectLst/>
                </a:rPr>
                <a:t>P</a:t>
              </a:r>
              <a:endParaRPr kumimoji="0" lang="es-MX" altLang="es-CO" i="1">
                <a:effectLst/>
              </a:endParaRPr>
            </a:p>
          </p:txBody>
        </p:sp>
        <p:sp>
          <p:nvSpPr>
            <p:cNvPr id="11" name="AutoShape 42">
              <a:extLst>
                <a:ext uri="{FF2B5EF4-FFF2-40B4-BE49-F238E27FC236}">
                  <a16:creationId xmlns:a16="http://schemas.microsoft.com/office/drawing/2014/main" id="{81D15F1E-FD6A-A87F-0156-458BA6C856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68" y="2304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Text Box 43">
              <a:extLst>
                <a:ext uri="{FF2B5EF4-FFF2-40B4-BE49-F238E27FC236}">
                  <a16:creationId xmlns:a16="http://schemas.microsoft.com/office/drawing/2014/main" id="{EFD9B867-98AB-D5AB-D228-5BB958CCA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2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i="1">
                  <a:effectLst/>
                </a:rPr>
                <a:t>f</a:t>
              </a:r>
              <a:r>
                <a:rPr kumimoji="0" lang="es-MX" altLang="es-CO" i="1" baseline="-25000">
                  <a:effectLst/>
                </a:rPr>
                <a:t>s</a:t>
              </a:r>
              <a:endParaRPr kumimoji="0" lang="es-MX" altLang="es-CO" i="1">
                <a:effectLst/>
              </a:endParaRPr>
            </a:p>
          </p:txBody>
        </p:sp>
        <p:sp>
          <p:nvSpPr>
            <p:cNvPr id="13" name="Text Box 44">
              <a:extLst>
                <a:ext uri="{FF2B5EF4-FFF2-40B4-BE49-F238E27FC236}">
                  <a16:creationId xmlns:a16="http://schemas.microsoft.com/office/drawing/2014/main" id="{22B072F4-99B3-C179-0D46-75369AE80D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774"/>
              <a:ext cx="129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i="1">
                  <a:effectLst/>
                </a:rPr>
                <a:t>P – f</a:t>
              </a:r>
              <a:r>
                <a:rPr kumimoji="0" lang="es-MX" altLang="es-CO" i="1" baseline="-25000">
                  <a:effectLst/>
                </a:rPr>
                <a:t>s</a:t>
              </a:r>
              <a:r>
                <a:rPr kumimoji="0" lang="es-MX" altLang="es-CO" i="1">
                  <a:effectLst/>
                </a:rPr>
                <a:t> = 0</a:t>
              </a:r>
            </a:p>
          </p:txBody>
        </p:sp>
        <p:sp>
          <p:nvSpPr>
            <p:cNvPr id="14" name="Text Box 45">
              <a:extLst>
                <a:ext uri="{FF2B5EF4-FFF2-40B4-BE49-F238E27FC236}">
                  <a16:creationId xmlns:a16="http://schemas.microsoft.com/office/drawing/2014/main" id="{043B0A97-6D30-7FDB-1DBA-A26493414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400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sz="1800" i="1">
                  <a:effectLst/>
                </a:rPr>
                <a:t>Reposo</a:t>
              </a:r>
            </a:p>
          </p:txBody>
        </p:sp>
      </p:grpSp>
      <p:grpSp>
        <p:nvGrpSpPr>
          <p:cNvPr id="15" name="Group 46">
            <a:extLst>
              <a:ext uri="{FF2B5EF4-FFF2-40B4-BE49-F238E27FC236}">
                <a16:creationId xmlns:a16="http://schemas.microsoft.com/office/drawing/2014/main" id="{02290AF4-F1CE-82F1-69F5-1ADCC8E06BDC}"/>
              </a:ext>
            </a:extLst>
          </p:cNvPr>
          <p:cNvGrpSpPr>
            <a:grpSpLocks/>
          </p:cNvGrpSpPr>
          <p:nvPr/>
        </p:nvGrpSpPr>
        <p:grpSpPr bwMode="auto">
          <a:xfrm>
            <a:off x="6942083" y="2877207"/>
            <a:ext cx="3200400" cy="1997075"/>
            <a:chOff x="2928" y="1872"/>
            <a:chExt cx="2016" cy="1258"/>
          </a:xfrm>
        </p:grpSpPr>
        <p:sp>
          <p:nvSpPr>
            <p:cNvPr id="16" name="Rectangle 47">
              <a:extLst>
                <a:ext uri="{FF2B5EF4-FFF2-40B4-BE49-F238E27FC236}">
                  <a16:creationId xmlns:a16="http://schemas.microsoft.com/office/drawing/2014/main" id="{B6037480-7594-7AA5-988E-BFB456D7F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400"/>
              <a:ext cx="1824" cy="336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17" name="Rectangle 48">
              <a:extLst>
                <a:ext uri="{FF2B5EF4-FFF2-40B4-BE49-F238E27FC236}">
                  <a16:creationId xmlns:a16="http://schemas.microsoft.com/office/drawing/2014/main" id="{300E8E7E-80C5-2F0B-FA43-4A515DF1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208"/>
              <a:ext cx="480" cy="192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18" name="AutoShape 49">
              <a:extLst>
                <a:ext uri="{FF2B5EF4-FFF2-40B4-BE49-F238E27FC236}">
                  <a16:creationId xmlns:a16="http://schemas.microsoft.com/office/drawing/2014/main" id="{AA1B0111-0975-E96C-D272-34B6CA735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08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Text Box 50">
              <a:extLst>
                <a:ext uri="{FF2B5EF4-FFF2-40B4-BE49-F238E27FC236}">
                  <a16:creationId xmlns:a16="http://schemas.microsoft.com/office/drawing/2014/main" id="{77584866-BCFA-1E6C-6B7A-09508A8A3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872"/>
              <a:ext cx="8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>
                  <a:effectLst/>
                </a:rPr>
                <a:t>P</a:t>
              </a:r>
              <a:endParaRPr kumimoji="0" lang="es-MX" altLang="es-CO" i="1">
                <a:effectLst/>
              </a:endParaRPr>
            </a:p>
          </p:txBody>
        </p:sp>
        <p:sp>
          <p:nvSpPr>
            <p:cNvPr id="20" name="Line 51">
              <a:extLst>
                <a:ext uri="{FF2B5EF4-FFF2-40B4-BE49-F238E27FC236}">
                  <a16:creationId xmlns:a16="http://schemas.microsoft.com/office/drawing/2014/main" id="{B72794CE-9E41-7500-AF75-20B51A408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25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Line 52">
              <a:extLst>
                <a:ext uri="{FF2B5EF4-FFF2-40B4-BE49-F238E27FC236}">
                  <a16:creationId xmlns:a16="http://schemas.microsoft.com/office/drawing/2014/main" id="{E251BC2C-8277-E8F1-9254-113B4776F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30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Line 53">
              <a:extLst>
                <a:ext uri="{FF2B5EF4-FFF2-40B4-BE49-F238E27FC236}">
                  <a16:creationId xmlns:a16="http://schemas.microsoft.com/office/drawing/2014/main" id="{4FD38B0D-9653-34C4-E665-5B58A4B49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20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AutoShape 54">
              <a:extLst>
                <a:ext uri="{FF2B5EF4-FFF2-40B4-BE49-F238E27FC236}">
                  <a16:creationId xmlns:a16="http://schemas.microsoft.com/office/drawing/2014/main" id="{D24C9DFE-C407-F473-3DEB-DFD5EBCBD9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68" y="2304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Text Box 55">
              <a:extLst>
                <a:ext uri="{FF2B5EF4-FFF2-40B4-BE49-F238E27FC236}">
                  <a16:creationId xmlns:a16="http://schemas.microsoft.com/office/drawing/2014/main" id="{2CF5881A-222E-8363-C982-0B75512B5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872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i="1">
                  <a:effectLst/>
                </a:rPr>
                <a:t>f</a:t>
              </a:r>
              <a:r>
                <a:rPr kumimoji="0" lang="es-MX" altLang="es-CO" i="1" baseline="-25000">
                  <a:effectLst/>
                </a:rPr>
                <a:t>k</a:t>
              </a:r>
              <a:endParaRPr kumimoji="0" lang="es-MX" altLang="es-CO" i="1">
                <a:effectLst/>
              </a:endParaRPr>
            </a:p>
          </p:txBody>
        </p:sp>
        <p:sp>
          <p:nvSpPr>
            <p:cNvPr id="25" name="Text Box 56">
              <a:extLst>
                <a:ext uri="{FF2B5EF4-FFF2-40B4-BE49-F238E27FC236}">
                  <a16:creationId xmlns:a16="http://schemas.microsoft.com/office/drawing/2014/main" id="{8435906C-D7E1-92EC-AB07-3B79918BF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784"/>
              <a:ext cx="129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i="1">
                  <a:effectLst/>
                </a:rPr>
                <a:t>P – f</a:t>
              </a:r>
              <a:r>
                <a:rPr kumimoji="0" lang="es-MX" altLang="es-CO" i="1" baseline="-25000">
                  <a:effectLst/>
                </a:rPr>
                <a:t>k</a:t>
              </a:r>
              <a:r>
                <a:rPr kumimoji="0" lang="es-MX" altLang="es-CO" i="1">
                  <a:effectLst/>
                </a:rPr>
                <a:t> = 0</a:t>
              </a:r>
            </a:p>
          </p:txBody>
        </p:sp>
        <p:sp>
          <p:nvSpPr>
            <p:cNvPr id="26" name="Text Box 57">
              <a:extLst>
                <a:ext uri="{FF2B5EF4-FFF2-40B4-BE49-F238E27FC236}">
                  <a16:creationId xmlns:a16="http://schemas.microsoft.com/office/drawing/2014/main" id="{D1F30C13-D9DF-A4FF-B0DA-B473EA6DE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00"/>
              <a:ext cx="16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sz="2000" i="1">
                  <a:effectLst/>
                </a:rPr>
                <a:t>Rapidez constante</a:t>
              </a:r>
            </a:p>
          </p:txBody>
        </p:sp>
      </p:grpSp>
      <p:sp>
        <p:nvSpPr>
          <p:cNvPr id="27" name="Text Box 58">
            <a:extLst>
              <a:ext uri="{FF2B5EF4-FFF2-40B4-BE49-F238E27FC236}">
                <a16:creationId xmlns:a16="http://schemas.microsoft.com/office/drawing/2014/main" id="{24012FEE-E6A3-1AA3-1FDC-5E73C4012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283" y="5315607"/>
            <a:ext cx="868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s-MX" altLang="es-CO" sz="2400" dirty="0"/>
              <a:t>Aquí el peso y las fuerzas normales están balanceadas y no afectan al movimiento.</a:t>
            </a:r>
          </a:p>
        </p:txBody>
      </p:sp>
    </p:spTree>
    <p:extLst>
      <p:ext uri="{BB962C8B-B14F-4D97-AF65-F5344CB8AC3E}">
        <p14:creationId xmlns:p14="http://schemas.microsoft.com/office/powerpoint/2010/main" val="204464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ABACC-30B4-175C-EC91-445369B3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5FFB1D2-1DB2-79C8-7647-875916BAA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8758" y="181304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Fricción y aceleración</a:t>
            </a:r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DCB97A26-12D3-0074-FA6A-2F6CEED77637}"/>
              </a:ext>
            </a:extLst>
          </p:cNvPr>
          <p:cNvGrpSpPr>
            <a:grpSpLocks/>
          </p:cNvGrpSpPr>
          <p:nvPr/>
        </p:nvGrpSpPr>
        <p:grpSpPr bwMode="auto">
          <a:xfrm>
            <a:off x="2624958" y="1171904"/>
            <a:ext cx="7543800" cy="3886200"/>
            <a:chOff x="432" y="768"/>
            <a:chExt cx="4752" cy="2448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C90C444-FC92-0834-EEA3-C0C2B823F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768"/>
              <a:ext cx="4656" cy="2448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EAFDB8D4-691B-C9EA-5D39-DEA24A8D4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813"/>
              <a:ext cx="470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i="1" dirty="0">
                  <a:effectLst/>
                </a:rPr>
                <a:t>Cuando P es mayor que el máximo </a:t>
              </a:r>
              <a:r>
                <a:rPr lang="es-MX" altLang="es-CO" sz="2400" i="1" dirty="0" err="1">
                  <a:effectLst/>
                </a:rPr>
                <a:t>f</a:t>
              </a:r>
              <a:r>
                <a:rPr lang="es-MX" altLang="es-CO" sz="2400" i="1" baseline="-25000" dirty="0" err="1">
                  <a:effectLst/>
                </a:rPr>
                <a:t>s</a:t>
              </a:r>
              <a:r>
                <a:rPr lang="es-MX" altLang="es-CO" sz="2400" i="1" dirty="0">
                  <a:effectLst/>
                </a:rPr>
                <a:t> la fuerza resultante produce aceleración.</a:t>
              </a:r>
            </a:p>
          </p:txBody>
        </p:sp>
      </p:grpSp>
      <p:sp>
        <p:nvSpPr>
          <p:cNvPr id="6" name="Text Box 27">
            <a:extLst>
              <a:ext uri="{FF2B5EF4-FFF2-40B4-BE49-F238E27FC236}">
                <a16:creationId xmlns:a16="http://schemas.microsoft.com/office/drawing/2014/main" id="{2584672C-1CA7-DE64-E259-997DC8DB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6358" y="5286704"/>
            <a:ext cx="868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dirty="0"/>
              <a:t>Note que la fuerza de fricción cinética permanece constante incluso mientras aumenta la velocidad.</a:t>
            </a:r>
          </a:p>
        </p:txBody>
      </p:sp>
      <p:grpSp>
        <p:nvGrpSpPr>
          <p:cNvPr id="7" name="Group 34">
            <a:extLst>
              <a:ext uri="{FF2B5EF4-FFF2-40B4-BE49-F238E27FC236}">
                <a16:creationId xmlns:a16="http://schemas.microsoft.com/office/drawing/2014/main" id="{14C53534-C070-D213-A916-D7E25C10D678}"/>
              </a:ext>
            </a:extLst>
          </p:cNvPr>
          <p:cNvGrpSpPr>
            <a:grpSpLocks/>
          </p:cNvGrpSpPr>
          <p:nvPr/>
        </p:nvGrpSpPr>
        <p:grpSpPr bwMode="auto">
          <a:xfrm>
            <a:off x="2929758" y="3000704"/>
            <a:ext cx="3200400" cy="1371600"/>
            <a:chOff x="624" y="1920"/>
            <a:chExt cx="2016" cy="864"/>
          </a:xfrm>
        </p:grpSpPr>
        <p:sp>
          <p:nvSpPr>
            <p:cNvPr id="8" name="Rectangle 35">
              <a:extLst>
                <a:ext uri="{FF2B5EF4-FFF2-40B4-BE49-F238E27FC236}">
                  <a16:creationId xmlns:a16="http://schemas.microsoft.com/office/drawing/2014/main" id="{0DFD72C9-1A7B-15AC-F510-822593C08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48"/>
              <a:ext cx="1824" cy="336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9" name="Rectangle 36">
              <a:extLst>
                <a:ext uri="{FF2B5EF4-FFF2-40B4-BE49-F238E27FC236}">
                  <a16:creationId xmlns:a16="http://schemas.microsoft.com/office/drawing/2014/main" id="{EC3EBC9D-B1D7-EF81-A7C6-1BCBD3072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480" cy="192"/>
            </a:xfrm>
            <a:prstGeom prst="rect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endParaRPr lang="es-CO"/>
            </a:p>
          </p:txBody>
        </p:sp>
        <p:sp>
          <p:nvSpPr>
            <p:cNvPr id="10" name="AutoShape 37">
              <a:extLst>
                <a:ext uri="{FF2B5EF4-FFF2-40B4-BE49-F238E27FC236}">
                  <a16:creationId xmlns:a16="http://schemas.microsoft.com/office/drawing/2014/main" id="{422CD9D8-80B9-6B8B-0CB3-AB7ECC519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256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Text Box 38">
              <a:extLst>
                <a:ext uri="{FF2B5EF4-FFF2-40B4-BE49-F238E27FC236}">
                  <a16:creationId xmlns:a16="http://schemas.microsoft.com/office/drawing/2014/main" id="{82A89353-6D43-F416-BD6F-891CA45B5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920"/>
              <a:ext cx="8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>
                  <a:effectLst/>
                </a:rPr>
                <a:t>P</a:t>
              </a:r>
              <a:endParaRPr kumimoji="0" lang="es-MX" altLang="es-CO" i="1">
                <a:effectLst/>
              </a:endParaRPr>
            </a:p>
          </p:txBody>
        </p:sp>
        <p:sp>
          <p:nvSpPr>
            <p:cNvPr id="12" name="Line 39">
              <a:extLst>
                <a:ext uri="{FF2B5EF4-FFF2-40B4-BE49-F238E27FC236}">
                  <a16:creationId xmlns:a16="http://schemas.microsoft.com/office/drawing/2014/main" id="{943A5648-A43E-EFFC-4358-6087535EA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0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40">
              <a:extLst>
                <a:ext uri="{FF2B5EF4-FFF2-40B4-BE49-F238E27FC236}">
                  <a16:creationId xmlns:a16="http://schemas.microsoft.com/office/drawing/2014/main" id="{61079C3E-80E4-51EE-5B64-39839AF48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35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Line 41">
              <a:extLst>
                <a:ext uri="{FF2B5EF4-FFF2-40B4-BE49-F238E27FC236}">
                  <a16:creationId xmlns:a16="http://schemas.microsoft.com/office/drawing/2014/main" id="{5CDA886A-432A-577F-7ECC-4FAA47E9F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5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AutoShape 42">
              <a:extLst>
                <a:ext uri="{FF2B5EF4-FFF2-40B4-BE49-F238E27FC236}">
                  <a16:creationId xmlns:a16="http://schemas.microsoft.com/office/drawing/2014/main" id="{90FA91A9-952C-348D-D0B4-D4F04F63A4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64" y="2352"/>
              <a:ext cx="576" cy="144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Text Box 43">
              <a:extLst>
                <a:ext uri="{FF2B5EF4-FFF2-40B4-BE49-F238E27FC236}">
                  <a16:creationId xmlns:a16="http://schemas.microsoft.com/office/drawing/2014/main" id="{6C0E55F6-6274-C269-8F24-A8526BB14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92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i="1">
                  <a:effectLst/>
                </a:rPr>
                <a:t>f</a:t>
              </a:r>
              <a:r>
                <a:rPr kumimoji="0" lang="es-MX" altLang="es-CO" i="1" baseline="-25000">
                  <a:effectLst/>
                </a:rPr>
                <a:t>k</a:t>
              </a:r>
              <a:endParaRPr kumimoji="0" lang="es-MX" altLang="es-CO" i="1">
                <a:effectLst/>
              </a:endParaRPr>
            </a:p>
          </p:txBody>
        </p:sp>
        <p:sp>
          <p:nvSpPr>
            <p:cNvPr id="17" name="Text Box 44">
              <a:extLst>
                <a:ext uri="{FF2B5EF4-FFF2-40B4-BE49-F238E27FC236}">
                  <a16:creationId xmlns:a16="http://schemas.microsoft.com/office/drawing/2014/main" id="{59A61DE9-EEFE-1E78-7126-8075CDDA9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48"/>
              <a:ext cx="16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sz="2000" i="1" dirty="0">
                  <a:effectLst/>
                </a:rPr>
                <a:t>Rapidez variable</a:t>
              </a:r>
            </a:p>
          </p:txBody>
        </p:sp>
      </p:grpSp>
      <p:sp>
        <p:nvSpPr>
          <p:cNvPr id="18" name="Text Box 45">
            <a:extLst>
              <a:ext uri="{FF2B5EF4-FFF2-40B4-BE49-F238E27FC236}">
                <a16:creationId xmlns:a16="http://schemas.microsoft.com/office/drawing/2014/main" id="{2801967C-6F9C-1875-EE0E-5E8FC9784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1158" y="2619704"/>
            <a:ext cx="3352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s-MX" altLang="es-CO" sz="2400" i="1" dirty="0">
                <a:effectLst/>
              </a:rPr>
              <a:t>Este caso se analizará en un capítulo posterior.</a:t>
            </a:r>
            <a:endParaRPr kumimoji="0" lang="es-MX" altLang="es-CO" sz="2400" i="1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9" name="Text Box 46">
            <a:extLst>
              <a:ext uri="{FF2B5EF4-FFF2-40B4-BE49-F238E27FC236}">
                <a16:creationId xmlns:a16="http://schemas.microsoft.com/office/drawing/2014/main" id="{46F654CE-CC39-61BF-21FE-B71532DC7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9758" y="4124108"/>
            <a:ext cx="2133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bIns="137160"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3200" i="1" dirty="0" err="1">
                <a:effectLst/>
              </a:rPr>
              <a:t>f</a:t>
            </a:r>
            <a:r>
              <a:rPr kumimoji="0" lang="es-MX" altLang="es-CO" sz="3200" i="1" baseline="-25000" dirty="0" err="1">
                <a:effectLst/>
              </a:rPr>
              <a:t>k</a:t>
            </a:r>
            <a:r>
              <a:rPr kumimoji="0" lang="es-MX" altLang="es-CO" sz="3200" i="1" dirty="0">
                <a:effectLst/>
              </a:rPr>
              <a:t> = </a:t>
            </a:r>
            <a:r>
              <a:rPr kumimoji="0" lang="es-MX" altLang="es-CO" sz="3200" i="1" dirty="0" err="1">
                <a:effectLst/>
                <a:latin typeface="Symbol" panose="05050102010706020507" pitchFamily="18" charset="2"/>
              </a:rPr>
              <a:t>m</a:t>
            </a:r>
            <a:r>
              <a:rPr kumimoji="0" lang="es-MX" altLang="es-CO" sz="3200" i="1" baseline="-25000" dirty="0" err="1">
                <a:effectLst/>
              </a:rPr>
              <a:t>k</a:t>
            </a:r>
            <a:r>
              <a:rPr kumimoji="0" lang="es-MX" altLang="es-CO" sz="3200" i="1" dirty="0" err="1">
                <a:effectLst/>
              </a:rPr>
              <a:t>n</a:t>
            </a:r>
            <a:endParaRPr kumimoji="0" lang="es-MX" altLang="es-CO" sz="3200" i="1" dirty="0">
              <a:effectLst/>
            </a:endParaRPr>
          </a:p>
        </p:txBody>
      </p:sp>
      <p:grpSp>
        <p:nvGrpSpPr>
          <p:cNvPr id="20" name="Group 49">
            <a:extLst>
              <a:ext uri="{FF2B5EF4-FFF2-40B4-BE49-F238E27FC236}">
                <a16:creationId xmlns:a16="http://schemas.microsoft.com/office/drawing/2014/main" id="{44609CB1-9DBE-907E-294E-4CA4316E6CE2}"/>
              </a:ext>
            </a:extLst>
          </p:cNvPr>
          <p:cNvGrpSpPr>
            <a:grpSpLocks/>
          </p:cNvGrpSpPr>
          <p:nvPr/>
        </p:nvGrpSpPr>
        <p:grpSpPr bwMode="auto">
          <a:xfrm>
            <a:off x="4072758" y="2467304"/>
            <a:ext cx="762000" cy="685800"/>
            <a:chOff x="1344" y="1584"/>
            <a:chExt cx="480" cy="432"/>
          </a:xfrm>
        </p:grpSpPr>
        <p:sp>
          <p:nvSpPr>
            <p:cNvPr id="21" name="AutoShape 47">
              <a:extLst>
                <a:ext uri="{FF2B5EF4-FFF2-40B4-BE49-F238E27FC236}">
                  <a16:creationId xmlns:a16="http://schemas.microsoft.com/office/drawing/2014/main" id="{80E9C0FE-ED31-3FB9-B5D3-EB08EFDFD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920"/>
              <a:ext cx="480" cy="96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FF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Text Box 48">
              <a:extLst>
                <a:ext uri="{FF2B5EF4-FFF2-40B4-BE49-F238E27FC236}">
                  <a16:creationId xmlns:a16="http://schemas.microsoft.com/office/drawing/2014/main" id="{921FD066-E624-95B9-7A7D-9637C7F11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584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3600" i="1">
                  <a:solidFill>
                    <a:srgbClr val="FFFF00"/>
                  </a:solidFill>
                  <a:effectLst/>
                  <a:latin typeface="Times New Roman" panose="02020603050405020304" pitchFamily="18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596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" grpId="0" autoUpdateAnimBg="0"/>
      <p:bldP spid="18" grpId="0" autoUpdateAnimBg="0"/>
      <p:bldP spid="1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DF739-4C2F-E415-35CF-34882E91A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42DC7AD-12B9-62C6-60AE-91AA361A2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6028" y="207579"/>
            <a:ext cx="11351172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Ejemplo:</a:t>
            </a:r>
            <a:r>
              <a:rPr lang="es-MX" altLang="es-CO" sz="2400" dirty="0"/>
              <a:t>  Si </a:t>
            </a:r>
            <a:r>
              <a:rPr lang="es-MX" altLang="es-CO" sz="2400" i="1" dirty="0" err="1">
                <a:latin typeface="Symbol" panose="05050102010706020507" pitchFamily="18" charset="2"/>
              </a:rPr>
              <a:t>m</a:t>
            </a:r>
            <a:r>
              <a:rPr lang="es-MX" altLang="es-CO" sz="2400" i="1" baseline="-25000" dirty="0" err="1"/>
              <a:t>k</a:t>
            </a:r>
            <a:r>
              <a:rPr lang="es-MX" altLang="es-CO" sz="2400" dirty="0"/>
              <a:t> = 0.3 y </a:t>
            </a:r>
            <a:r>
              <a:rPr lang="es-MX" altLang="es-CO" sz="2400" i="1" dirty="0">
                <a:latin typeface="Symbol" panose="05050102010706020507" pitchFamily="18" charset="2"/>
              </a:rPr>
              <a:t>m</a:t>
            </a:r>
            <a:r>
              <a:rPr lang="es-MX" altLang="es-CO" sz="2400" i="1" baseline="-25000" dirty="0"/>
              <a:t>s</a:t>
            </a:r>
            <a:r>
              <a:rPr lang="es-MX" altLang="es-CO" sz="2400" i="1" dirty="0"/>
              <a:t> </a:t>
            </a:r>
            <a:r>
              <a:rPr lang="es-MX" altLang="es-CO" sz="2400" dirty="0"/>
              <a:t>= 0.5, ¿qué jalón horizontal </a:t>
            </a:r>
            <a:r>
              <a:rPr lang="es-MX" altLang="es-CO" sz="2400" i="1" dirty="0"/>
              <a:t>P</a:t>
            </a:r>
            <a:r>
              <a:rPr lang="es-MX" altLang="es-CO" sz="2400" dirty="0"/>
              <a:t> se requiere para apenas iniciar el movimiento de un bloque de 250-N?</a:t>
            </a:r>
          </a:p>
        </p:txBody>
      </p:sp>
      <p:sp>
        <p:nvSpPr>
          <p:cNvPr id="3" name="Text Box 39">
            <a:extLst>
              <a:ext uri="{FF2B5EF4-FFF2-40B4-BE49-F238E27FC236}">
                <a16:creationId xmlns:a16="http://schemas.microsoft.com/office/drawing/2014/main" id="{2E691A13-955B-A136-C753-17E05038A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1069" y="1579179"/>
            <a:ext cx="495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2438" indent="-4524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67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i="1" dirty="0">
                <a:latin typeface="+mn-lt"/>
              </a:rPr>
              <a:t>1. Dibuje bosquejo y diagrama de cuerpo libre como se muestra.</a:t>
            </a:r>
          </a:p>
        </p:txBody>
      </p:sp>
      <p:grpSp>
        <p:nvGrpSpPr>
          <p:cNvPr id="4" name="Group 70">
            <a:extLst>
              <a:ext uri="{FF2B5EF4-FFF2-40B4-BE49-F238E27FC236}">
                <a16:creationId xmlns:a16="http://schemas.microsoft.com/office/drawing/2014/main" id="{D3B4693C-0D99-1CF3-E09C-D19814D1FF61}"/>
              </a:ext>
            </a:extLst>
          </p:cNvPr>
          <p:cNvGrpSpPr>
            <a:grpSpLocks/>
          </p:cNvGrpSpPr>
          <p:nvPr/>
        </p:nvGrpSpPr>
        <p:grpSpPr bwMode="auto">
          <a:xfrm>
            <a:off x="2102069" y="1579179"/>
            <a:ext cx="3200400" cy="3962400"/>
            <a:chOff x="336" y="1152"/>
            <a:chExt cx="2016" cy="2496"/>
          </a:xfrm>
        </p:grpSpPr>
        <p:sp>
          <p:nvSpPr>
            <p:cNvPr id="5" name="Rectangle 42">
              <a:extLst>
                <a:ext uri="{FF2B5EF4-FFF2-40B4-BE49-F238E27FC236}">
                  <a16:creationId xmlns:a16="http://schemas.microsoft.com/office/drawing/2014/main" id="{EF448A24-B863-C361-B68D-1CA4F8EB3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152"/>
              <a:ext cx="1968" cy="249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6" name="Group 43">
              <a:extLst>
                <a:ext uri="{FF2B5EF4-FFF2-40B4-BE49-F238E27FC236}">
                  <a16:creationId xmlns:a16="http://schemas.microsoft.com/office/drawing/2014/main" id="{8D0C1F58-55E1-8CD3-B47B-7051C578B6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488"/>
              <a:ext cx="1697" cy="432"/>
              <a:chOff x="576" y="1392"/>
              <a:chExt cx="1584" cy="432"/>
            </a:xfrm>
          </p:grpSpPr>
          <p:sp>
            <p:nvSpPr>
              <p:cNvPr id="7" name="Rectangle 44">
                <a:extLst>
                  <a:ext uri="{FF2B5EF4-FFF2-40B4-BE49-F238E27FC236}">
                    <a16:creationId xmlns:a16="http://schemas.microsoft.com/office/drawing/2014/main" id="{5A11BE59-45A6-16A8-477D-B11B2AA1E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632"/>
                <a:ext cx="1584" cy="192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PerspectiveFront">
                  <a:rot lat="1500000" lon="1500000" rev="0"/>
                </a:camera>
                <a:lightRig rig="legacyFlat2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8" name="Rectangle 45">
                <a:extLst>
                  <a:ext uri="{FF2B5EF4-FFF2-40B4-BE49-F238E27FC236}">
                    <a16:creationId xmlns:a16="http://schemas.microsoft.com/office/drawing/2014/main" id="{0C4D5252-B5D5-6288-F7C8-7D224BA31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392"/>
                <a:ext cx="43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PerspectiveFront">
                  <a:rot lat="1500000" lon="1500000" rev="0"/>
                </a:camera>
                <a:lightRig rig="legacyFlat2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9" name="Line 46">
                <a:extLst>
                  <a:ext uri="{FF2B5EF4-FFF2-40B4-BE49-F238E27FC236}">
                    <a16:creationId xmlns:a16="http://schemas.microsoft.com/office/drawing/2014/main" id="{8C754D1D-E18C-5283-BE48-73AA17419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1440"/>
                <a:ext cx="432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10" name="Text Box 66">
            <a:extLst>
              <a:ext uri="{FF2B5EF4-FFF2-40B4-BE49-F238E27FC236}">
                <a16:creationId xmlns:a16="http://schemas.microsoft.com/office/drawing/2014/main" id="{EBAB4879-18F6-F0BB-4F6E-23AD27A94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1069" y="2874579"/>
            <a:ext cx="495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2438" indent="-4524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67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i="1" dirty="0">
                <a:latin typeface="+mn-lt"/>
              </a:rPr>
              <a:t>2. Mencione lo conocido y etiquete lo que se encontrará:</a:t>
            </a:r>
          </a:p>
        </p:txBody>
      </p:sp>
      <p:sp>
        <p:nvSpPr>
          <p:cNvPr id="11" name="Text Box 67">
            <a:extLst>
              <a:ext uri="{FF2B5EF4-FFF2-40B4-BE49-F238E27FC236}">
                <a16:creationId xmlns:a16="http://schemas.microsoft.com/office/drawing/2014/main" id="{154435B1-7558-9D00-DDB5-2011740E6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669" y="3931853"/>
            <a:ext cx="5105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1" dirty="0" err="1">
                <a:latin typeface="Symbol" panose="05050102010706020507" pitchFamily="18" charset="2"/>
              </a:rPr>
              <a:t>m</a:t>
            </a:r>
            <a:r>
              <a:rPr lang="es-MX" altLang="es-CO" sz="2400" i="1" baseline="-25000" dirty="0" err="1"/>
              <a:t>k</a:t>
            </a:r>
            <a:r>
              <a:rPr lang="es-MX" altLang="es-CO" sz="2400" dirty="0"/>
              <a:t> = 0.3; </a:t>
            </a:r>
            <a:r>
              <a:rPr lang="es-MX" altLang="es-CO" sz="2400" i="1" dirty="0">
                <a:latin typeface="Symbol" panose="05050102010706020507" pitchFamily="18" charset="2"/>
              </a:rPr>
              <a:t>m</a:t>
            </a:r>
            <a:r>
              <a:rPr lang="es-MX" altLang="es-CO" sz="2400" i="1" baseline="-25000" dirty="0"/>
              <a:t>s</a:t>
            </a:r>
            <a:r>
              <a:rPr lang="es-MX" altLang="es-CO" sz="2400" dirty="0"/>
              <a:t> = 0.5; </a:t>
            </a:r>
            <a:r>
              <a:rPr lang="es-MX" altLang="es-CO" sz="2400" i="1" dirty="0"/>
              <a:t>W = </a:t>
            </a:r>
            <a:r>
              <a:rPr lang="es-MX" altLang="es-CO" sz="2400" dirty="0"/>
              <a:t>250 N</a:t>
            </a:r>
          </a:p>
        </p:txBody>
      </p:sp>
      <p:sp>
        <p:nvSpPr>
          <p:cNvPr id="12" name="Text Box 68">
            <a:extLst>
              <a:ext uri="{FF2B5EF4-FFF2-40B4-BE49-F238E27FC236}">
                <a16:creationId xmlns:a16="http://schemas.microsoft.com/office/drawing/2014/main" id="{EBB09020-26FA-FFC0-1C0D-C06501326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469" y="4916104"/>
            <a:ext cx="426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1" dirty="0"/>
              <a:t>Encontrar:  P = ¿? Para apenas comenzar</a:t>
            </a:r>
          </a:p>
        </p:txBody>
      </p:sp>
      <p:sp>
        <p:nvSpPr>
          <p:cNvPr id="13" name="Text Box 69">
            <a:extLst>
              <a:ext uri="{FF2B5EF4-FFF2-40B4-BE49-F238E27FC236}">
                <a16:creationId xmlns:a16="http://schemas.microsoft.com/office/drawing/2014/main" id="{F5DB205A-32D2-4629-D5AD-6B298DB9C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69" y="5922579"/>
            <a:ext cx="853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1" dirty="0"/>
              <a:t>3. Reconozca movimiento inminente:  P – </a:t>
            </a:r>
            <a:r>
              <a:rPr lang="es-MX" altLang="es-CO" sz="2400" i="1" dirty="0" err="1"/>
              <a:t>f</a:t>
            </a:r>
            <a:r>
              <a:rPr lang="es-MX" altLang="es-CO" sz="2400" i="1" baseline="-25000" dirty="0" err="1"/>
              <a:t>s</a:t>
            </a:r>
            <a:r>
              <a:rPr lang="es-MX" altLang="es-CO" sz="2400" i="1" dirty="0"/>
              <a:t> = 0</a:t>
            </a:r>
          </a:p>
        </p:txBody>
      </p:sp>
      <p:grpSp>
        <p:nvGrpSpPr>
          <p:cNvPr id="14" name="Group 90">
            <a:extLst>
              <a:ext uri="{FF2B5EF4-FFF2-40B4-BE49-F238E27FC236}">
                <a16:creationId xmlns:a16="http://schemas.microsoft.com/office/drawing/2014/main" id="{0385F0C7-32AA-AA69-9541-64FC15E2525A}"/>
              </a:ext>
            </a:extLst>
          </p:cNvPr>
          <p:cNvGrpSpPr>
            <a:grpSpLocks/>
          </p:cNvGrpSpPr>
          <p:nvPr/>
        </p:nvGrpSpPr>
        <p:grpSpPr bwMode="auto">
          <a:xfrm>
            <a:off x="2624357" y="3196842"/>
            <a:ext cx="2220913" cy="1827213"/>
            <a:chOff x="809" y="2123"/>
            <a:chExt cx="1399" cy="1151"/>
          </a:xfrm>
        </p:grpSpPr>
        <p:grpSp>
          <p:nvGrpSpPr>
            <p:cNvPr id="15" name="Group 71">
              <a:extLst>
                <a:ext uri="{FF2B5EF4-FFF2-40B4-BE49-F238E27FC236}">
                  <a16:creationId xmlns:a16="http://schemas.microsoft.com/office/drawing/2014/main" id="{CDB06835-27A9-F2D6-D1EC-1A3BE01EF0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160"/>
              <a:ext cx="1344" cy="1056"/>
              <a:chOff x="720" y="2208"/>
              <a:chExt cx="1344" cy="1056"/>
            </a:xfrm>
          </p:grpSpPr>
          <p:sp>
            <p:nvSpPr>
              <p:cNvPr id="32" name="Line 72">
                <a:extLst>
                  <a:ext uri="{FF2B5EF4-FFF2-40B4-BE49-F238E27FC236}">
                    <a16:creationId xmlns:a16="http://schemas.microsoft.com/office/drawing/2014/main" id="{49B98825-779A-EF42-46F7-A2BDE8759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88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3" name="Line 73">
                <a:extLst>
                  <a:ext uri="{FF2B5EF4-FFF2-40B4-BE49-F238E27FC236}">
                    <a16:creationId xmlns:a16="http://schemas.microsoft.com/office/drawing/2014/main" id="{4C31D634-337E-52B6-B64D-BF9E5F540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208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16" name="Oval 74">
              <a:extLst>
                <a:ext uri="{FF2B5EF4-FFF2-40B4-BE49-F238E27FC236}">
                  <a16:creationId xmlns:a16="http://schemas.microsoft.com/office/drawing/2014/main" id="{CDB7AA06-52E2-13EA-3AAB-F7D9B04DD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92"/>
              <a:ext cx="96" cy="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17" name="Group 75">
              <a:extLst>
                <a:ext uri="{FF2B5EF4-FFF2-40B4-BE49-F238E27FC236}">
                  <a16:creationId xmlns:a16="http://schemas.microsoft.com/office/drawing/2014/main" id="{2E4AD64D-6A57-78CF-73DB-1908793FA7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9" y="2123"/>
              <a:ext cx="384" cy="517"/>
              <a:chOff x="1015" y="2171"/>
              <a:chExt cx="384" cy="517"/>
            </a:xfrm>
          </p:grpSpPr>
          <p:sp>
            <p:nvSpPr>
              <p:cNvPr id="30" name="Line 76">
                <a:extLst>
                  <a:ext uri="{FF2B5EF4-FFF2-40B4-BE49-F238E27FC236}">
                    <a16:creationId xmlns:a16="http://schemas.microsoft.com/office/drawing/2014/main" id="{FCB74217-76B1-058A-2ED6-3D6FFE0BB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256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1" name="Text Box 77">
                <a:extLst>
                  <a:ext uri="{FF2B5EF4-FFF2-40B4-BE49-F238E27FC236}">
                    <a16:creationId xmlns:a16="http://schemas.microsoft.com/office/drawing/2014/main" id="{BB19272D-45D9-9B78-43E6-475397C23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5" y="2171"/>
                <a:ext cx="384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800" i="1" dirty="0">
                    <a:effectLst/>
                  </a:rPr>
                  <a:t>n</a:t>
                </a:r>
              </a:p>
            </p:txBody>
          </p:sp>
        </p:grpSp>
        <p:grpSp>
          <p:nvGrpSpPr>
            <p:cNvPr id="18" name="Group 78">
              <a:extLst>
                <a:ext uri="{FF2B5EF4-FFF2-40B4-BE49-F238E27FC236}">
                  <a16:creationId xmlns:a16="http://schemas.microsoft.com/office/drawing/2014/main" id="{B197F62B-3AD9-216C-3732-FB4E7C76AF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9" y="2327"/>
              <a:ext cx="631" cy="313"/>
              <a:chOff x="665" y="2375"/>
              <a:chExt cx="631" cy="313"/>
            </a:xfrm>
          </p:grpSpPr>
          <p:sp>
            <p:nvSpPr>
              <p:cNvPr id="28" name="Line 79">
                <a:extLst>
                  <a:ext uri="{FF2B5EF4-FFF2-40B4-BE49-F238E27FC236}">
                    <a16:creationId xmlns:a16="http://schemas.microsoft.com/office/drawing/2014/main" id="{B13FE154-5E96-E040-4C56-CB6E365EA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2" y="2688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9" name="Text Box 80">
                <a:extLst>
                  <a:ext uri="{FF2B5EF4-FFF2-40B4-BE49-F238E27FC236}">
                    <a16:creationId xmlns:a16="http://schemas.microsoft.com/office/drawing/2014/main" id="{30F5B8DF-308B-4E87-8AD2-CBD7E8173C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5" y="2375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i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</a:t>
                </a:r>
                <a:r>
                  <a:rPr kumimoji="0" lang="es-MX" altLang="es-CO" sz="2400" i="1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</a:t>
                </a:r>
                <a:endParaRPr kumimoji="0" lang="es-MX" altLang="es-CO" sz="24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9" name="Group 81">
              <a:extLst>
                <a:ext uri="{FF2B5EF4-FFF2-40B4-BE49-F238E27FC236}">
                  <a16:creationId xmlns:a16="http://schemas.microsoft.com/office/drawing/2014/main" id="{D76FBE36-C13E-8F1B-8396-F48DD57FB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335"/>
              <a:ext cx="607" cy="346"/>
              <a:chOff x="1296" y="2383"/>
              <a:chExt cx="607" cy="346"/>
            </a:xfrm>
          </p:grpSpPr>
          <p:sp>
            <p:nvSpPr>
              <p:cNvPr id="26" name="Line 82">
                <a:extLst>
                  <a:ext uri="{FF2B5EF4-FFF2-40B4-BE49-F238E27FC236}">
                    <a16:creationId xmlns:a16="http://schemas.microsoft.com/office/drawing/2014/main" id="{63E0B54C-99EE-30B5-C3AF-057F9F3A0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88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Text Box 83">
                <a:extLst>
                  <a:ext uri="{FF2B5EF4-FFF2-40B4-BE49-F238E27FC236}">
                    <a16:creationId xmlns:a16="http://schemas.microsoft.com/office/drawing/2014/main" id="{A066689C-81FB-B986-7794-92C3B3C9CF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7" y="2383"/>
                <a:ext cx="33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i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P</a:t>
                </a:r>
              </a:p>
            </p:txBody>
          </p:sp>
        </p:grpSp>
        <p:grpSp>
          <p:nvGrpSpPr>
            <p:cNvPr id="20" name="Group 84">
              <a:extLst>
                <a:ext uri="{FF2B5EF4-FFF2-40B4-BE49-F238E27FC236}">
                  <a16:creationId xmlns:a16="http://schemas.microsoft.com/office/drawing/2014/main" id="{471318F0-EE04-8027-0A21-C6C4B75C8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9" y="2688"/>
              <a:ext cx="528" cy="586"/>
              <a:chOff x="1005" y="2688"/>
              <a:chExt cx="528" cy="586"/>
            </a:xfrm>
          </p:grpSpPr>
          <p:sp>
            <p:nvSpPr>
              <p:cNvPr id="24" name="Line 85">
                <a:extLst>
                  <a:ext uri="{FF2B5EF4-FFF2-40B4-BE49-F238E27FC236}">
                    <a16:creationId xmlns:a16="http://schemas.microsoft.com/office/drawing/2014/main" id="{FEDDD3AD-4DAF-491F-194B-C3D57F1A02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88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5" name="Text Box 86">
                <a:extLst>
                  <a:ext uri="{FF2B5EF4-FFF2-40B4-BE49-F238E27FC236}">
                    <a16:creationId xmlns:a16="http://schemas.microsoft.com/office/drawing/2014/main" id="{0083B442-A8F1-EB5F-CC82-D867BA011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5" y="2928"/>
                <a:ext cx="52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i="1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W</a:t>
                </a:r>
              </a:p>
            </p:txBody>
          </p:sp>
        </p:grpSp>
        <p:grpSp>
          <p:nvGrpSpPr>
            <p:cNvPr id="21" name="Group 87">
              <a:extLst>
                <a:ext uri="{FF2B5EF4-FFF2-40B4-BE49-F238E27FC236}">
                  <a16:creationId xmlns:a16="http://schemas.microsoft.com/office/drawing/2014/main" id="{C2603687-B4B2-08D0-C1C4-1093611C78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736"/>
              <a:ext cx="624" cy="346"/>
              <a:chOff x="1392" y="2784"/>
              <a:chExt cx="624" cy="346"/>
            </a:xfrm>
          </p:grpSpPr>
          <p:sp>
            <p:nvSpPr>
              <p:cNvPr id="22" name="Line 88">
                <a:extLst>
                  <a:ext uri="{FF2B5EF4-FFF2-40B4-BE49-F238E27FC236}">
                    <a16:creationId xmlns:a16="http://schemas.microsoft.com/office/drawing/2014/main" id="{50E0D280-0282-77EF-B1E7-B60D28E57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3" name="Text Box 89">
                <a:extLst>
                  <a:ext uri="{FF2B5EF4-FFF2-40B4-BE49-F238E27FC236}">
                    <a16:creationId xmlns:a16="http://schemas.microsoft.com/office/drawing/2014/main" id="{5FD77B69-9E36-2973-437C-7C85284BAD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784"/>
                <a:ext cx="33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i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+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22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autoUpdateAnimBg="0"/>
      <p:bldP spid="10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FB992-3EA4-9DAA-9EA9-92771530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9E788E1-1CA3-294B-B745-5FF6BD02D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1076" y="134007"/>
            <a:ext cx="11508827" cy="114300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MX" altLang="es-CO" sz="2400" u="sng" dirty="0"/>
              <a:t>Ejemplo (cont.):</a:t>
            </a:r>
            <a:r>
              <a:rPr lang="es-MX" altLang="es-CO" sz="2400" dirty="0"/>
              <a:t>  </a:t>
            </a:r>
            <a:r>
              <a:rPr lang="es-MX" altLang="es-CO" sz="2400" i="1" dirty="0">
                <a:latin typeface="Symbol" panose="05050102010706020507" pitchFamily="18" charset="2"/>
              </a:rPr>
              <a:t>m</a:t>
            </a:r>
            <a:r>
              <a:rPr lang="es-MX" altLang="es-CO" sz="2400" baseline="-25000" dirty="0"/>
              <a:t>s</a:t>
            </a:r>
            <a:r>
              <a:rPr lang="es-MX" altLang="es-CO" sz="2400" dirty="0"/>
              <a:t> = 0.5, W = 250 N. Encontrar </a:t>
            </a:r>
            <a:r>
              <a:rPr lang="es-MX" altLang="es-CO" sz="2400" i="1" dirty="0"/>
              <a:t>P</a:t>
            </a:r>
            <a:r>
              <a:rPr lang="es-MX" altLang="es-CO" sz="2400" dirty="0"/>
              <a:t>  para superar </a:t>
            </a:r>
            <a:r>
              <a:rPr lang="es-MX" altLang="es-CO" sz="2400" i="1" dirty="0" err="1"/>
              <a:t>f</a:t>
            </a:r>
            <a:r>
              <a:rPr lang="es-MX" altLang="es-CO" sz="2400" i="1" baseline="-25000" dirty="0" err="1"/>
              <a:t>s</a:t>
            </a:r>
            <a:r>
              <a:rPr lang="es-MX" altLang="es-CO" sz="2400" i="1" baseline="-25000" dirty="0"/>
              <a:t> </a:t>
            </a:r>
            <a:r>
              <a:rPr lang="es-MX" altLang="es-CO" sz="2400" i="1" dirty="0"/>
              <a:t>(</a:t>
            </a:r>
            <a:r>
              <a:rPr lang="es-MX" altLang="es-CO" sz="2400" i="1" dirty="0" err="1"/>
              <a:t>máx</a:t>
            </a:r>
            <a:r>
              <a:rPr lang="es-MX" altLang="es-CO" sz="2400" i="1" dirty="0"/>
              <a:t>)</a:t>
            </a:r>
            <a:r>
              <a:rPr lang="es-MX" altLang="es-CO" sz="2400" dirty="0"/>
              <a:t>.  Aplique fricción estática.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1BB48DD-AE26-55A3-4C0F-28A717D5F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7845" y="2068435"/>
            <a:ext cx="495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2438" indent="-4524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67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i="1" dirty="0">
                <a:latin typeface="+mn-lt"/>
              </a:rPr>
              <a:t>4. Para encontrar P necesita conocer </a:t>
            </a:r>
            <a:r>
              <a:rPr lang="es-MX" altLang="es-CO" i="1" dirty="0" err="1">
                <a:latin typeface="+mn-lt"/>
              </a:rPr>
              <a:t>f</a:t>
            </a:r>
            <a:r>
              <a:rPr lang="es-MX" altLang="es-CO" i="1" baseline="-25000" dirty="0" err="1">
                <a:latin typeface="+mn-lt"/>
              </a:rPr>
              <a:t>s</a:t>
            </a:r>
            <a:r>
              <a:rPr lang="es-MX" altLang="es-CO" i="1" baseline="-25000" dirty="0">
                <a:latin typeface="+mn-lt"/>
              </a:rPr>
              <a:t> </a:t>
            </a:r>
            <a:r>
              <a:rPr lang="es-MX" altLang="es-CO" i="1" dirty="0">
                <a:latin typeface="+mn-lt"/>
              </a:rPr>
              <a:t>, que es: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23C70A88-2FF8-7A7C-6620-8E1A2A436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945" y="4309132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1" dirty="0"/>
              <a:t>5. Para encontrar n:</a:t>
            </a:r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78EF563F-174E-DE39-CD59-394481A22751}"/>
              </a:ext>
            </a:extLst>
          </p:cNvPr>
          <p:cNvGrpSpPr>
            <a:grpSpLocks/>
          </p:cNvGrpSpPr>
          <p:nvPr/>
        </p:nvGrpSpPr>
        <p:grpSpPr bwMode="auto">
          <a:xfrm>
            <a:off x="2052145" y="1429407"/>
            <a:ext cx="3124200" cy="2667000"/>
            <a:chOff x="528" y="960"/>
            <a:chExt cx="1968" cy="16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327544-4790-753C-7456-1F3BCEF69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960"/>
              <a:ext cx="1968" cy="168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C2DE4F17-510E-76D5-D008-6482B5CAAC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00"/>
              <a:ext cx="1344" cy="1056"/>
              <a:chOff x="720" y="2208"/>
              <a:chExt cx="1344" cy="1056"/>
            </a:xfrm>
          </p:grpSpPr>
          <p:sp>
            <p:nvSpPr>
              <p:cNvPr id="23" name="Line 16">
                <a:extLst>
                  <a:ext uri="{FF2B5EF4-FFF2-40B4-BE49-F238E27FC236}">
                    <a16:creationId xmlns:a16="http://schemas.microsoft.com/office/drawing/2014/main" id="{21141084-647E-2F1B-38B0-BB1681B551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88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4" name="Line 17">
                <a:extLst>
                  <a:ext uri="{FF2B5EF4-FFF2-40B4-BE49-F238E27FC236}">
                    <a16:creationId xmlns:a16="http://schemas.microsoft.com/office/drawing/2014/main" id="{01C7B3B1-6360-EC66-7C95-0458319C64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208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F94437BF-5334-1915-3FB6-C6D4DB233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632"/>
              <a:ext cx="96" cy="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9" name="Group 19">
              <a:extLst>
                <a:ext uri="{FF2B5EF4-FFF2-40B4-BE49-F238E27FC236}">
                  <a16:creationId xmlns:a16="http://schemas.microsoft.com/office/drawing/2014/main" id="{C4431024-318A-6129-C16B-A7B98AD9AA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8" y="1185"/>
              <a:ext cx="384" cy="495"/>
              <a:chOff x="1014" y="2193"/>
              <a:chExt cx="384" cy="495"/>
            </a:xfrm>
          </p:grpSpPr>
          <p:sp>
            <p:nvSpPr>
              <p:cNvPr id="21" name="Line 20">
                <a:extLst>
                  <a:ext uri="{FF2B5EF4-FFF2-40B4-BE49-F238E27FC236}">
                    <a16:creationId xmlns:a16="http://schemas.microsoft.com/office/drawing/2014/main" id="{8DE6B690-D14E-CB49-2973-F736DD202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256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2" name="Text Box 21">
                <a:extLst>
                  <a:ext uri="{FF2B5EF4-FFF2-40B4-BE49-F238E27FC236}">
                    <a16:creationId xmlns:a16="http://schemas.microsoft.com/office/drawing/2014/main" id="{D2CD9044-6747-3EB6-0744-7C6465DEFF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" y="2193"/>
                <a:ext cx="384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800" i="1" dirty="0">
                    <a:effectLst/>
                  </a:rPr>
                  <a:t>n</a:t>
                </a:r>
              </a:p>
            </p:txBody>
          </p:sp>
        </p:grpSp>
        <p:grpSp>
          <p:nvGrpSpPr>
            <p:cNvPr id="10" name="Group 22">
              <a:extLst>
                <a:ext uri="{FF2B5EF4-FFF2-40B4-BE49-F238E27FC236}">
                  <a16:creationId xmlns:a16="http://schemas.microsoft.com/office/drawing/2014/main" id="{1637D4D9-EC1D-850B-DAA0-78D5D94728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" y="1420"/>
              <a:ext cx="797" cy="291"/>
              <a:chOff x="499" y="2428"/>
              <a:chExt cx="797" cy="291"/>
            </a:xfrm>
          </p:grpSpPr>
          <p:sp>
            <p:nvSpPr>
              <p:cNvPr id="19" name="Line 23">
                <a:extLst>
                  <a:ext uri="{FF2B5EF4-FFF2-40B4-BE49-F238E27FC236}">
                    <a16:creationId xmlns:a16="http://schemas.microsoft.com/office/drawing/2014/main" id="{77CA6DB1-0707-4DCF-1631-F31E4388E0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2" y="2688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0" name="Text Box 24">
                <a:extLst>
                  <a:ext uri="{FF2B5EF4-FFF2-40B4-BE49-F238E27FC236}">
                    <a16:creationId xmlns:a16="http://schemas.microsoft.com/office/drawing/2014/main" id="{70D47D41-10DA-4776-29D2-EF1DBB4DC1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" y="2428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i="1" dirty="0" err="1">
                    <a:effectLst/>
                  </a:rPr>
                  <a:t>f</a:t>
                </a:r>
                <a:r>
                  <a:rPr kumimoji="0" lang="es-MX" altLang="es-CO" sz="2400" i="1" baseline="-25000" dirty="0" err="1">
                    <a:effectLst/>
                  </a:rPr>
                  <a:t>s</a:t>
                </a:r>
                <a:endParaRPr kumimoji="0" lang="es-MX" altLang="es-CO" sz="2400" i="1" dirty="0">
                  <a:effectLst/>
                </a:endParaRPr>
              </a:p>
            </p:txBody>
          </p:sp>
        </p:grpSp>
        <p:grpSp>
          <p:nvGrpSpPr>
            <p:cNvPr id="11" name="Group 25">
              <a:extLst>
                <a:ext uri="{FF2B5EF4-FFF2-40B4-BE49-F238E27FC236}">
                  <a16:creationId xmlns:a16="http://schemas.microsoft.com/office/drawing/2014/main" id="{3648B9DC-F526-6A3E-A3C2-9B48E496D6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392"/>
              <a:ext cx="659" cy="346"/>
              <a:chOff x="1296" y="2400"/>
              <a:chExt cx="659" cy="346"/>
            </a:xfrm>
          </p:grpSpPr>
          <p:sp>
            <p:nvSpPr>
              <p:cNvPr id="17" name="Line 26">
                <a:extLst>
                  <a:ext uri="{FF2B5EF4-FFF2-40B4-BE49-F238E27FC236}">
                    <a16:creationId xmlns:a16="http://schemas.microsoft.com/office/drawing/2014/main" id="{898D7B7D-071F-1D3E-8F4E-3C2C90B4F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88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8" name="Text Box 27">
                <a:extLst>
                  <a:ext uri="{FF2B5EF4-FFF2-40B4-BE49-F238E27FC236}">
                    <a16:creationId xmlns:a16="http://schemas.microsoft.com/office/drawing/2014/main" id="{2E42E3E6-DB28-DB7A-4953-2191656D50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9" y="2400"/>
                <a:ext cx="33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i="1" dirty="0">
                    <a:effectLst/>
                  </a:rPr>
                  <a:t>P</a:t>
                </a:r>
              </a:p>
            </p:txBody>
          </p:sp>
        </p:grpSp>
        <p:sp>
          <p:nvSpPr>
            <p:cNvPr id="12" name="Line 29">
              <a:extLst>
                <a:ext uri="{FF2B5EF4-FFF2-40B4-BE49-F238E27FC236}">
                  <a16:creationId xmlns:a16="http://schemas.microsoft.com/office/drawing/2014/main" id="{E691247F-1239-392F-A139-024CA90DB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728"/>
              <a:ext cx="0" cy="43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Text Box 30">
              <a:extLst>
                <a:ext uri="{FF2B5EF4-FFF2-40B4-BE49-F238E27FC236}">
                  <a16:creationId xmlns:a16="http://schemas.microsoft.com/office/drawing/2014/main" id="{451EED22-7DA1-759B-AC83-381D4F560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16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effectLst/>
                </a:rPr>
                <a:t>250 N</a:t>
              </a:r>
            </a:p>
          </p:txBody>
        </p:sp>
        <p:grpSp>
          <p:nvGrpSpPr>
            <p:cNvPr id="14" name="Group 31">
              <a:extLst>
                <a:ext uri="{FF2B5EF4-FFF2-40B4-BE49-F238E27FC236}">
                  <a16:creationId xmlns:a16="http://schemas.microsoft.com/office/drawing/2014/main" id="{87A0E657-F816-FD47-14DF-2E867EF6C9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776"/>
              <a:ext cx="624" cy="346"/>
              <a:chOff x="1392" y="2784"/>
              <a:chExt cx="624" cy="346"/>
            </a:xfrm>
          </p:grpSpPr>
          <p:sp>
            <p:nvSpPr>
              <p:cNvPr id="15" name="Line 32">
                <a:extLst>
                  <a:ext uri="{FF2B5EF4-FFF2-40B4-BE49-F238E27FC236}">
                    <a16:creationId xmlns:a16="http://schemas.microsoft.com/office/drawing/2014/main" id="{2F4EF448-7293-401A-5100-33EF9A207B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6" name="Text Box 33">
                <a:extLst>
                  <a:ext uri="{FF2B5EF4-FFF2-40B4-BE49-F238E27FC236}">
                    <a16:creationId xmlns:a16="http://schemas.microsoft.com/office/drawing/2014/main" id="{464F4EB9-3490-482B-602F-C2836548AD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784"/>
                <a:ext cx="33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i="1">
                    <a:effectLst/>
                  </a:rPr>
                  <a:t>+</a:t>
                </a:r>
              </a:p>
            </p:txBody>
          </p:sp>
        </p:grpSp>
      </p:grpSp>
      <p:sp>
        <p:nvSpPr>
          <p:cNvPr id="25" name="Text Box 36">
            <a:extLst>
              <a:ext uri="{FF2B5EF4-FFF2-40B4-BE49-F238E27FC236}">
                <a16:creationId xmlns:a16="http://schemas.microsoft.com/office/drawing/2014/main" id="{423A4F3F-7FB0-005D-4CC9-1D89A15A9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489" y="1447167"/>
            <a:ext cx="449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1" dirty="0"/>
              <a:t>Para este caso: P – </a:t>
            </a:r>
            <a:r>
              <a:rPr lang="es-MX" altLang="es-CO" sz="2400" i="1" dirty="0" err="1"/>
              <a:t>f</a:t>
            </a:r>
            <a:r>
              <a:rPr lang="es-MX" altLang="es-CO" sz="2400" i="1" baseline="-25000" dirty="0" err="1"/>
              <a:t>s</a:t>
            </a:r>
            <a:r>
              <a:rPr lang="es-MX" altLang="es-CO" sz="2400" i="1" dirty="0"/>
              <a:t> = 0</a:t>
            </a:r>
          </a:p>
        </p:txBody>
      </p:sp>
      <p:sp>
        <p:nvSpPr>
          <p:cNvPr id="26" name="Text Box 37">
            <a:extLst>
              <a:ext uri="{FF2B5EF4-FFF2-40B4-BE49-F238E27FC236}">
                <a16:creationId xmlns:a16="http://schemas.microsoft.com/office/drawing/2014/main" id="{9764285B-11CA-479E-B1C2-E17EC93DC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945" y="3166132"/>
            <a:ext cx="1676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s</a:t>
            </a:r>
            <a:r>
              <a:rPr kumimoji="0" lang="es-MX" altLang="es-CO" sz="2400" i="1" dirty="0"/>
              <a:t> = 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m</a:t>
            </a:r>
            <a:r>
              <a:rPr kumimoji="0" lang="es-MX" altLang="es-CO" sz="2400" i="1" baseline="-25000" dirty="0" err="1"/>
              <a:t>s</a:t>
            </a:r>
            <a:r>
              <a:rPr kumimoji="0" lang="es-MX" altLang="es-CO" sz="2400" i="1" dirty="0" err="1"/>
              <a:t>n</a:t>
            </a:r>
            <a:endParaRPr kumimoji="0" lang="es-MX" altLang="es-CO" sz="2400" i="1" dirty="0"/>
          </a:p>
        </p:txBody>
      </p:sp>
      <p:sp>
        <p:nvSpPr>
          <p:cNvPr id="27" name="Text Box 38">
            <a:extLst>
              <a:ext uri="{FF2B5EF4-FFF2-40B4-BE49-F238E27FC236}">
                <a16:creationId xmlns:a16="http://schemas.microsoft.com/office/drawing/2014/main" id="{C15EC5CD-A5CE-C3A5-BAB8-CA90572B9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245" y="3226458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i="1" dirty="0"/>
              <a:t>n = ?</a:t>
            </a:r>
          </a:p>
        </p:txBody>
      </p:sp>
      <p:sp>
        <p:nvSpPr>
          <p:cNvPr id="28" name="Text Box 39">
            <a:extLst>
              <a:ext uri="{FF2B5EF4-FFF2-40B4-BE49-F238E27FC236}">
                <a16:creationId xmlns:a16="http://schemas.microsoft.com/office/drawing/2014/main" id="{DB6D644F-FE0E-FA07-13F9-FAF4AB7B5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656" y="4340444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y</a:t>
            </a:r>
            <a:r>
              <a:rPr kumimoji="0" lang="es-MX" altLang="es-CO" sz="2400" i="1" dirty="0"/>
              <a:t> = </a:t>
            </a:r>
            <a:r>
              <a:rPr kumimoji="0" lang="es-MX" altLang="es-CO" sz="2400" dirty="0"/>
              <a:t>0</a:t>
            </a:r>
          </a:p>
        </p:txBody>
      </p:sp>
      <p:sp>
        <p:nvSpPr>
          <p:cNvPr id="29" name="Text Box 40">
            <a:extLst>
              <a:ext uri="{FF2B5EF4-FFF2-40B4-BE49-F238E27FC236}">
                <a16:creationId xmlns:a16="http://schemas.microsoft.com/office/drawing/2014/main" id="{866B24BE-B846-842B-9129-54AA6FC4C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282" y="4340443"/>
            <a:ext cx="228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n – W = </a:t>
            </a:r>
            <a:r>
              <a:rPr kumimoji="0" lang="es-MX" altLang="es-CO" sz="2400" dirty="0"/>
              <a:t>0</a:t>
            </a:r>
          </a:p>
        </p:txBody>
      </p:sp>
      <p:sp>
        <p:nvSpPr>
          <p:cNvPr id="30" name="Text Box 41">
            <a:extLst>
              <a:ext uri="{FF2B5EF4-FFF2-40B4-BE49-F238E27FC236}">
                <a16:creationId xmlns:a16="http://schemas.microsoft.com/office/drawing/2014/main" id="{B94C444F-D5E0-AF45-ED56-EF786E669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945" y="5207012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W = </a:t>
            </a:r>
            <a:r>
              <a:rPr kumimoji="0" lang="es-MX" altLang="es-CO" sz="2400" dirty="0"/>
              <a:t>250 N</a:t>
            </a:r>
          </a:p>
        </p:txBody>
      </p:sp>
      <p:sp>
        <p:nvSpPr>
          <p:cNvPr id="31" name="Text Box 42">
            <a:extLst>
              <a:ext uri="{FF2B5EF4-FFF2-40B4-BE49-F238E27FC236}">
                <a16:creationId xmlns:a16="http://schemas.microsoft.com/office/drawing/2014/main" id="{1099F97B-29C7-DDC7-6CD8-A99EAB2CC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345" y="5087007"/>
            <a:ext cx="236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i="1" dirty="0"/>
              <a:t>n = </a:t>
            </a:r>
            <a:r>
              <a:rPr kumimoji="0" lang="es-MX" altLang="es-CO" sz="2400" dirty="0"/>
              <a:t>250 N</a:t>
            </a:r>
          </a:p>
        </p:txBody>
      </p:sp>
      <p:sp>
        <p:nvSpPr>
          <p:cNvPr id="32" name="Text Box 45">
            <a:extLst>
              <a:ext uri="{FF2B5EF4-FFF2-40B4-BE49-F238E27FC236}">
                <a16:creationId xmlns:a16="http://schemas.microsoft.com/office/drawing/2014/main" id="{4F413EFC-4B89-A6D0-787C-140958F24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4345" y="6001407"/>
            <a:ext cx="243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1"/>
              <a:t>(continúa)</a:t>
            </a:r>
          </a:p>
        </p:txBody>
      </p:sp>
    </p:spTree>
    <p:extLst>
      <p:ext uri="{BB962C8B-B14F-4D97-AF65-F5344CB8AC3E}">
        <p14:creationId xmlns:p14="http://schemas.microsoft.com/office/powerpoint/2010/main" val="173337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autoUpdateAnimBg="0"/>
      <p:bldP spid="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6428-0A6F-F6D9-2516-23FA317F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17815A5-A16D-18C7-2A24-F3EA0F0CE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9903" y="165100"/>
            <a:ext cx="11445766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>
                <a:latin typeface="+mn-lt"/>
              </a:rPr>
              <a:t>Ejemplo (cont.):</a:t>
            </a:r>
            <a:r>
              <a:rPr lang="es-MX" altLang="es-CO" sz="2400" dirty="0">
                <a:latin typeface="+mn-lt"/>
              </a:rPr>
              <a:t>  m</a:t>
            </a:r>
            <a:r>
              <a:rPr lang="es-MX" altLang="es-CO" sz="2400" baseline="-25000" dirty="0">
                <a:latin typeface="+mn-lt"/>
              </a:rPr>
              <a:t>s</a:t>
            </a:r>
            <a:r>
              <a:rPr lang="es-MX" altLang="es-CO" sz="2400" dirty="0">
                <a:latin typeface="+mn-lt"/>
              </a:rPr>
              <a:t> = 0.5, </a:t>
            </a:r>
            <a:r>
              <a:rPr lang="es-MX" altLang="es-CO" sz="2400" i="1" dirty="0">
                <a:latin typeface="+mn-lt"/>
              </a:rPr>
              <a:t>W</a:t>
            </a:r>
            <a:r>
              <a:rPr lang="es-MX" altLang="es-CO" sz="2400" dirty="0">
                <a:latin typeface="+mn-lt"/>
              </a:rPr>
              <a:t> = 250 N. Encontrar </a:t>
            </a:r>
            <a:r>
              <a:rPr lang="es-MX" altLang="es-CO" sz="2400" i="1" dirty="0">
                <a:latin typeface="+mn-lt"/>
              </a:rPr>
              <a:t>P</a:t>
            </a:r>
            <a:r>
              <a:rPr lang="es-MX" altLang="es-CO" sz="2400" dirty="0">
                <a:latin typeface="+mn-lt"/>
              </a:rPr>
              <a:t>  para superar </a:t>
            </a:r>
            <a:r>
              <a:rPr lang="es-MX" altLang="es-CO" sz="2400" i="1" dirty="0" err="1">
                <a:latin typeface="+mn-lt"/>
              </a:rPr>
              <a:t>f</a:t>
            </a:r>
            <a:r>
              <a:rPr lang="es-MX" altLang="es-CO" sz="2400" i="1" baseline="-25000" dirty="0" err="1">
                <a:latin typeface="+mn-lt"/>
              </a:rPr>
              <a:t>s</a:t>
            </a:r>
            <a:r>
              <a:rPr lang="es-MX" altLang="es-CO" sz="2400" i="1" baseline="-25000" dirty="0">
                <a:latin typeface="+mn-lt"/>
              </a:rPr>
              <a:t> </a:t>
            </a:r>
            <a:r>
              <a:rPr lang="es-MX" altLang="es-CO" sz="2400" i="1" dirty="0">
                <a:latin typeface="+mn-lt"/>
              </a:rPr>
              <a:t>(</a:t>
            </a:r>
            <a:r>
              <a:rPr lang="es-MX" altLang="es-CO" sz="2400" i="1" dirty="0" err="1">
                <a:latin typeface="+mn-lt"/>
              </a:rPr>
              <a:t>máx</a:t>
            </a:r>
            <a:r>
              <a:rPr lang="es-MX" altLang="es-CO" sz="2400" i="1" dirty="0">
                <a:latin typeface="+mn-lt"/>
              </a:rPr>
              <a:t>)</a:t>
            </a:r>
            <a:r>
              <a:rPr lang="es-MX" altLang="es-CO" sz="2400" dirty="0">
                <a:latin typeface="+mn-lt"/>
              </a:rPr>
              <a:t>.  Ahora se conoce </a:t>
            </a:r>
            <a:r>
              <a:rPr lang="es-MX" altLang="es-CO" sz="2400" i="1" dirty="0">
                <a:latin typeface="+mn-lt"/>
              </a:rPr>
              <a:t>n</a:t>
            </a:r>
            <a:r>
              <a:rPr lang="es-MX" altLang="es-CO" sz="2400" dirty="0">
                <a:latin typeface="+mn-lt"/>
              </a:rPr>
              <a:t> = 250 N.</a:t>
            </a:r>
          </a:p>
        </p:txBody>
      </p:sp>
      <p:sp>
        <p:nvSpPr>
          <p:cNvPr id="3" name="Text Box 27">
            <a:extLst>
              <a:ext uri="{FF2B5EF4-FFF2-40B4-BE49-F238E27FC236}">
                <a16:creationId xmlns:a16="http://schemas.microsoft.com/office/drawing/2014/main" id="{1788C27B-91D4-43CA-D937-DDA362BB8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055" y="3028152"/>
            <a:ext cx="495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1" dirty="0"/>
              <a:t>7. Para este caso: P – </a:t>
            </a:r>
            <a:r>
              <a:rPr lang="es-MX" altLang="es-CO" sz="2400" i="1" dirty="0" err="1"/>
              <a:t>f</a:t>
            </a:r>
            <a:r>
              <a:rPr lang="es-MX" altLang="es-CO" sz="2400" i="1" baseline="-25000" dirty="0" err="1"/>
              <a:t>s</a:t>
            </a:r>
            <a:r>
              <a:rPr lang="es-MX" altLang="es-CO" sz="2400" i="1" dirty="0"/>
              <a:t> = 0</a:t>
            </a:r>
          </a:p>
        </p:txBody>
      </p:sp>
      <p:sp>
        <p:nvSpPr>
          <p:cNvPr id="4" name="Text Box 36">
            <a:extLst>
              <a:ext uri="{FF2B5EF4-FFF2-40B4-BE49-F238E27FC236}">
                <a16:creationId xmlns:a16="http://schemas.microsoft.com/office/drawing/2014/main" id="{B5FB4477-1E4D-EEAB-1693-79B8AB4AF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955" y="1459765"/>
            <a:ext cx="495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s-MX" altLang="es-CO" sz="2400" i="1" dirty="0"/>
              <a:t>6. A continuación encuentre </a:t>
            </a:r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s</a:t>
            </a:r>
            <a:r>
              <a:rPr kumimoji="0" lang="es-MX" altLang="es-CO" sz="2400" i="1" dirty="0"/>
              <a:t> a partir de: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B3F7F9A0-F7FF-AD18-2FF0-B388CDEC6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655" y="2324893"/>
            <a:ext cx="449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s</a:t>
            </a:r>
            <a:r>
              <a:rPr kumimoji="0" lang="es-MX" altLang="es-CO" sz="2400" i="1" dirty="0"/>
              <a:t> = 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m</a:t>
            </a:r>
            <a:r>
              <a:rPr kumimoji="0" lang="es-MX" altLang="es-CO" sz="2400" i="1" baseline="-25000" dirty="0" err="1"/>
              <a:t>s</a:t>
            </a:r>
            <a:r>
              <a:rPr kumimoji="0" lang="es-MX" altLang="es-CO" sz="2400" i="1" dirty="0" err="1"/>
              <a:t>n</a:t>
            </a:r>
            <a:r>
              <a:rPr kumimoji="0" lang="es-MX" altLang="es-CO" sz="2400" i="1" dirty="0"/>
              <a:t> = </a:t>
            </a:r>
            <a:r>
              <a:rPr kumimoji="0" lang="es-MX" altLang="es-CO" sz="2400" dirty="0"/>
              <a:t>0.5 (250 N)</a:t>
            </a:r>
            <a:endParaRPr kumimoji="0" lang="es-MX" altLang="es-CO" sz="2400" i="1" dirty="0"/>
          </a:p>
        </p:txBody>
      </p:sp>
      <p:sp>
        <p:nvSpPr>
          <p:cNvPr id="6" name="Text Box 60">
            <a:extLst>
              <a:ext uri="{FF2B5EF4-FFF2-40B4-BE49-F238E27FC236}">
                <a16:creationId xmlns:a16="http://schemas.microsoft.com/office/drawing/2014/main" id="{BAA46B31-27BE-8E74-4683-F8EB19605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555" y="3738563"/>
            <a:ext cx="457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P = </a:t>
            </a:r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s</a:t>
            </a:r>
            <a:r>
              <a:rPr kumimoji="0" lang="es-MX" altLang="es-CO" sz="2400" i="1" dirty="0"/>
              <a:t> = </a:t>
            </a:r>
            <a:r>
              <a:rPr kumimoji="0" lang="es-MX" altLang="es-CO" sz="2400" dirty="0"/>
              <a:t>0.5 (250 N)</a:t>
            </a:r>
            <a:endParaRPr kumimoji="0" lang="es-MX" altLang="es-CO" sz="2400" i="1" dirty="0"/>
          </a:p>
        </p:txBody>
      </p:sp>
      <p:sp>
        <p:nvSpPr>
          <p:cNvPr id="7" name="Text Box 62">
            <a:extLst>
              <a:ext uri="{FF2B5EF4-FFF2-40B4-BE49-F238E27FC236}">
                <a16:creationId xmlns:a16="http://schemas.microsoft.com/office/drawing/2014/main" id="{01D6B00F-D812-16D9-921C-C996F5F6D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937" y="4552305"/>
            <a:ext cx="2133600" cy="461665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es-MX" altLang="es-CO" sz="2400" i="1" dirty="0">
                <a:effectLst/>
              </a:rPr>
              <a:t>P = </a:t>
            </a:r>
            <a:r>
              <a:rPr lang="es-MX" altLang="es-CO" sz="2400" dirty="0">
                <a:effectLst/>
              </a:rPr>
              <a:t>125 N</a:t>
            </a:r>
          </a:p>
        </p:txBody>
      </p:sp>
      <p:sp>
        <p:nvSpPr>
          <p:cNvPr id="8" name="Text Box 63">
            <a:extLst>
              <a:ext uri="{FF2B5EF4-FFF2-40B4-BE49-F238E27FC236}">
                <a16:creationId xmlns:a16="http://schemas.microsoft.com/office/drawing/2014/main" id="{7EC98B53-FC76-86A8-66D1-86FF2FB86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555" y="5443046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s-MX" altLang="es-CO" sz="2400" dirty="0"/>
              <a:t>Esta fuerza (125 N) es necesaria para apenas iniciar el movimiento.  Considere a continuación </a:t>
            </a:r>
            <a:r>
              <a:rPr lang="es-MX" altLang="es-CO" sz="2400" i="1" dirty="0"/>
              <a:t>P</a:t>
            </a:r>
            <a:r>
              <a:rPr lang="es-MX" altLang="es-CO" sz="2400" dirty="0"/>
              <a:t> necesaria para rapidez constante</a:t>
            </a:r>
            <a:r>
              <a:rPr lang="es-MX" altLang="es-CO" sz="2400" i="1" dirty="0"/>
              <a:t>.</a:t>
            </a:r>
          </a:p>
        </p:txBody>
      </p:sp>
      <p:grpSp>
        <p:nvGrpSpPr>
          <p:cNvPr id="9" name="Group 67">
            <a:extLst>
              <a:ext uri="{FF2B5EF4-FFF2-40B4-BE49-F238E27FC236}">
                <a16:creationId xmlns:a16="http://schemas.microsoft.com/office/drawing/2014/main" id="{BDA35BF6-DFD9-4463-04AA-35EACA578892}"/>
              </a:ext>
            </a:extLst>
          </p:cNvPr>
          <p:cNvGrpSpPr>
            <a:grpSpLocks/>
          </p:cNvGrpSpPr>
          <p:nvPr/>
        </p:nvGrpSpPr>
        <p:grpSpPr bwMode="auto">
          <a:xfrm>
            <a:off x="6634655" y="1460500"/>
            <a:ext cx="3124200" cy="3733800"/>
            <a:chOff x="3504" y="912"/>
            <a:chExt cx="1968" cy="2352"/>
          </a:xfrm>
        </p:grpSpPr>
        <p:sp>
          <p:nvSpPr>
            <p:cNvPr id="10" name="Rectangle 39">
              <a:extLst>
                <a:ext uri="{FF2B5EF4-FFF2-40B4-BE49-F238E27FC236}">
                  <a16:creationId xmlns:a16="http://schemas.microsoft.com/office/drawing/2014/main" id="{B0B9119D-17C7-F0C4-3787-E622ED8FD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912"/>
              <a:ext cx="1968" cy="2352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11" name="Group 41">
              <a:extLst>
                <a:ext uri="{FF2B5EF4-FFF2-40B4-BE49-F238E27FC236}">
                  <a16:creationId xmlns:a16="http://schemas.microsoft.com/office/drawing/2014/main" id="{DA62B4DF-E822-CC18-8457-1F606648D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291"/>
              <a:ext cx="1344" cy="1056"/>
              <a:chOff x="720" y="2208"/>
              <a:chExt cx="1344" cy="1056"/>
            </a:xfrm>
          </p:grpSpPr>
          <p:sp>
            <p:nvSpPr>
              <p:cNvPr id="28" name="Line 42">
                <a:extLst>
                  <a:ext uri="{FF2B5EF4-FFF2-40B4-BE49-F238E27FC236}">
                    <a16:creationId xmlns:a16="http://schemas.microsoft.com/office/drawing/2014/main" id="{4D06CB3D-C937-4196-A4EA-C50FACC048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88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9" name="Line 43">
                <a:extLst>
                  <a:ext uri="{FF2B5EF4-FFF2-40B4-BE49-F238E27FC236}">
                    <a16:creationId xmlns:a16="http://schemas.microsoft.com/office/drawing/2014/main" id="{F0D00F0E-83B3-CD07-6453-9B24BD13B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208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12" name="Oval 44">
              <a:extLst>
                <a:ext uri="{FF2B5EF4-FFF2-40B4-BE49-F238E27FC236}">
                  <a16:creationId xmlns:a16="http://schemas.microsoft.com/office/drawing/2014/main" id="{653FDFF7-50BD-5B5F-07F3-09EC82667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723"/>
              <a:ext cx="96" cy="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13" name="Group 45">
              <a:extLst>
                <a:ext uri="{FF2B5EF4-FFF2-40B4-BE49-F238E27FC236}">
                  <a16:creationId xmlns:a16="http://schemas.microsoft.com/office/drawing/2014/main" id="{00D411F8-FBB9-D82B-9021-F96261F731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1253"/>
              <a:ext cx="384" cy="518"/>
              <a:chOff x="1056" y="2170"/>
              <a:chExt cx="384" cy="518"/>
            </a:xfrm>
          </p:grpSpPr>
          <p:sp>
            <p:nvSpPr>
              <p:cNvPr id="26" name="Line 46">
                <a:extLst>
                  <a:ext uri="{FF2B5EF4-FFF2-40B4-BE49-F238E27FC236}">
                    <a16:creationId xmlns:a16="http://schemas.microsoft.com/office/drawing/2014/main" id="{9A2CB1F5-55EE-2AB0-3044-9122E83F7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256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Text Box 47">
                <a:extLst>
                  <a:ext uri="{FF2B5EF4-FFF2-40B4-BE49-F238E27FC236}">
                    <a16:creationId xmlns:a16="http://schemas.microsoft.com/office/drawing/2014/main" id="{D1CE55BA-A5ED-F1AF-49E4-77DEB55083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170"/>
                <a:ext cx="384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800" i="1" dirty="0">
                    <a:effectLst/>
                  </a:rPr>
                  <a:t>n</a:t>
                </a:r>
              </a:p>
            </p:txBody>
          </p:sp>
        </p:grpSp>
        <p:grpSp>
          <p:nvGrpSpPr>
            <p:cNvPr id="14" name="Group 48">
              <a:extLst>
                <a:ext uri="{FF2B5EF4-FFF2-40B4-BE49-F238E27FC236}">
                  <a16:creationId xmlns:a16="http://schemas.microsoft.com/office/drawing/2014/main" id="{A46CB52F-5513-C69B-0F51-2FD0E894F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" y="1586"/>
              <a:ext cx="795" cy="291"/>
              <a:chOff x="501" y="2503"/>
              <a:chExt cx="795" cy="291"/>
            </a:xfrm>
          </p:grpSpPr>
          <p:sp>
            <p:nvSpPr>
              <p:cNvPr id="24" name="Line 49">
                <a:extLst>
                  <a:ext uri="{FF2B5EF4-FFF2-40B4-BE49-F238E27FC236}">
                    <a16:creationId xmlns:a16="http://schemas.microsoft.com/office/drawing/2014/main" id="{B47C8321-06E9-8FD9-E31C-8B36A0224F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2" y="2688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5" name="Text Box 50">
                <a:extLst>
                  <a:ext uri="{FF2B5EF4-FFF2-40B4-BE49-F238E27FC236}">
                    <a16:creationId xmlns:a16="http://schemas.microsoft.com/office/drawing/2014/main" id="{AEDB8A27-C5FF-24CC-81DF-BFAF583F45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" y="2503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i="1" dirty="0" err="1">
                    <a:effectLst/>
                  </a:rPr>
                  <a:t>f</a:t>
                </a:r>
                <a:r>
                  <a:rPr kumimoji="0" lang="es-MX" altLang="es-CO" sz="2400" i="1" baseline="-25000" dirty="0" err="1">
                    <a:effectLst/>
                  </a:rPr>
                  <a:t>s</a:t>
                </a:r>
                <a:endParaRPr kumimoji="0" lang="es-MX" altLang="es-CO" sz="2400" i="1" dirty="0">
                  <a:effectLst/>
                </a:endParaRPr>
              </a:p>
            </p:txBody>
          </p:sp>
        </p:grpSp>
        <p:grpSp>
          <p:nvGrpSpPr>
            <p:cNvPr id="15" name="Group 51">
              <a:extLst>
                <a:ext uri="{FF2B5EF4-FFF2-40B4-BE49-F238E27FC236}">
                  <a16:creationId xmlns:a16="http://schemas.microsoft.com/office/drawing/2014/main" id="{5730B8F9-6E92-6929-C703-9E2293EE5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495"/>
              <a:ext cx="645" cy="346"/>
              <a:chOff x="1296" y="2412"/>
              <a:chExt cx="645" cy="346"/>
            </a:xfrm>
          </p:grpSpPr>
          <p:sp>
            <p:nvSpPr>
              <p:cNvPr id="22" name="Line 52">
                <a:extLst>
                  <a:ext uri="{FF2B5EF4-FFF2-40B4-BE49-F238E27FC236}">
                    <a16:creationId xmlns:a16="http://schemas.microsoft.com/office/drawing/2014/main" id="{A553B172-2099-E556-37C5-2317856977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88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3" name="Text Box 53">
                <a:extLst>
                  <a:ext uri="{FF2B5EF4-FFF2-40B4-BE49-F238E27FC236}">
                    <a16:creationId xmlns:a16="http://schemas.microsoft.com/office/drawing/2014/main" id="{7E4DE1D9-3224-40B8-4B49-9AAE16D3D4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5" y="2412"/>
                <a:ext cx="33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i="1">
                    <a:effectLst/>
                  </a:rPr>
                  <a:t>P</a:t>
                </a:r>
              </a:p>
            </p:txBody>
          </p:sp>
        </p:grpSp>
        <p:sp>
          <p:nvSpPr>
            <p:cNvPr id="16" name="Line 55">
              <a:extLst>
                <a:ext uri="{FF2B5EF4-FFF2-40B4-BE49-F238E27FC236}">
                  <a16:creationId xmlns:a16="http://schemas.microsoft.com/office/drawing/2014/main" id="{980346B1-C500-0A73-3FF6-32337903A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19"/>
              <a:ext cx="0" cy="43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56">
              <a:extLst>
                <a:ext uri="{FF2B5EF4-FFF2-40B4-BE49-F238E27FC236}">
                  <a16:creationId xmlns:a16="http://schemas.microsoft.com/office/drawing/2014/main" id="{D3689311-3072-789F-6A12-8E1120D67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274"/>
              <a:ext cx="7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effectLst/>
                </a:rPr>
                <a:t>250 N</a:t>
              </a:r>
            </a:p>
          </p:txBody>
        </p:sp>
        <p:grpSp>
          <p:nvGrpSpPr>
            <p:cNvPr id="18" name="Group 57">
              <a:extLst>
                <a:ext uri="{FF2B5EF4-FFF2-40B4-BE49-F238E27FC236}">
                  <a16:creationId xmlns:a16="http://schemas.microsoft.com/office/drawing/2014/main" id="{7F95FCAB-1758-37BB-4BBD-80CDD0D22D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867"/>
              <a:ext cx="624" cy="346"/>
              <a:chOff x="1392" y="2784"/>
              <a:chExt cx="624" cy="346"/>
            </a:xfrm>
          </p:grpSpPr>
          <p:sp>
            <p:nvSpPr>
              <p:cNvPr id="20" name="Line 58">
                <a:extLst>
                  <a:ext uri="{FF2B5EF4-FFF2-40B4-BE49-F238E27FC236}">
                    <a16:creationId xmlns:a16="http://schemas.microsoft.com/office/drawing/2014/main" id="{801948F7-B3B3-779E-B74A-148FD715E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1" name="Text Box 59">
                <a:extLst>
                  <a:ext uri="{FF2B5EF4-FFF2-40B4-BE49-F238E27FC236}">
                    <a16:creationId xmlns:a16="http://schemas.microsoft.com/office/drawing/2014/main" id="{5A9CFB98-EA5E-2A0D-F829-0196B2E278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784"/>
                <a:ext cx="33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i="1">
                    <a:effectLst/>
                  </a:rPr>
                  <a:t>+</a:t>
                </a:r>
              </a:p>
            </p:txBody>
          </p:sp>
        </p:grpSp>
        <p:sp>
          <p:nvSpPr>
            <p:cNvPr id="19" name="Text Box 65">
              <a:extLst>
                <a:ext uri="{FF2B5EF4-FFF2-40B4-BE49-F238E27FC236}">
                  <a16:creationId xmlns:a16="http://schemas.microsoft.com/office/drawing/2014/main" id="{525D86FC-DD52-E821-7CB7-C4CE31AC0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640"/>
              <a:ext cx="12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</a:rPr>
                <a:t>m</a:t>
              </a:r>
              <a:r>
                <a:rPr lang="es-MX" altLang="es-CO" sz="2400" i="1" baseline="-25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s-MX" altLang="es-CO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= 0.5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707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autoUpdateAnimBg="0"/>
      <p:bldP spid="4" grpId="0" autoUpdateAnimBg="0"/>
      <p:bldP spid="5" grpId="0" autoUpdateAnimBg="0"/>
      <p:bldP spid="6" grpId="0" autoUpdateAnimBg="0"/>
      <p:bldP spid="7" grpId="0" animBg="1" autoUpdateAnimBg="0"/>
      <p:bldP spid="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E29B8-6B8D-B817-5BBD-69DCF0CF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5308D7D-7D45-565B-D6B5-33C35D115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138" y="144517"/>
            <a:ext cx="11461531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 Si </a:t>
            </a:r>
            <a:r>
              <a:rPr lang="es-MX" altLang="es-CO" sz="2400" i="1" dirty="0" err="1">
                <a:latin typeface="Symbol" panose="05050102010706020507" pitchFamily="18" charset="2"/>
              </a:rPr>
              <a:t>m</a:t>
            </a:r>
            <a:r>
              <a:rPr lang="es-MX" altLang="es-CO" sz="2400" i="1" baseline="-25000" dirty="0" err="1"/>
              <a:t>k</a:t>
            </a:r>
            <a:r>
              <a:rPr lang="es-MX" altLang="es-CO" sz="2400" dirty="0"/>
              <a:t> = 0.3 y </a:t>
            </a:r>
            <a:r>
              <a:rPr lang="es-MX" altLang="es-CO" sz="2400" i="1" dirty="0">
                <a:latin typeface="Symbol" panose="05050102010706020507" pitchFamily="18" charset="2"/>
              </a:rPr>
              <a:t>m</a:t>
            </a:r>
            <a:r>
              <a:rPr lang="es-MX" altLang="es-CO" sz="2400" i="1" baseline="-25000" dirty="0"/>
              <a:t>s</a:t>
            </a:r>
            <a:r>
              <a:rPr lang="es-MX" altLang="es-CO" sz="2400" dirty="0"/>
              <a:t> = 0.5, ¿qué jalón horizontal </a:t>
            </a:r>
            <a:r>
              <a:rPr lang="es-MX" altLang="es-CO" sz="2400" i="1" dirty="0"/>
              <a:t>P</a:t>
            </a:r>
            <a:r>
              <a:rPr lang="es-MX" altLang="es-CO" sz="2400" dirty="0"/>
              <a:t> se requiere para mover con </a:t>
            </a:r>
            <a:r>
              <a:rPr lang="es-MX" altLang="es-CO" sz="2400" u="sng" dirty="0"/>
              <a:t>rapidez constante</a:t>
            </a:r>
            <a:r>
              <a:rPr lang="es-MX" altLang="es-CO" sz="2400" dirty="0"/>
              <a:t>? (Superar fricción cinética)</a:t>
            </a:r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76B10847-D551-9DE5-0392-DE6190D3B3FE}"/>
              </a:ext>
            </a:extLst>
          </p:cNvPr>
          <p:cNvGrpSpPr>
            <a:grpSpLocks/>
          </p:cNvGrpSpPr>
          <p:nvPr/>
        </p:nvGrpSpPr>
        <p:grpSpPr bwMode="auto">
          <a:xfrm>
            <a:off x="5444359" y="1590729"/>
            <a:ext cx="3695700" cy="1270000"/>
            <a:chOff x="2784" y="1151"/>
            <a:chExt cx="2328" cy="800"/>
          </a:xfrm>
        </p:grpSpPr>
        <p:sp>
          <p:nvSpPr>
            <p:cNvPr id="4" name="Text Box 26">
              <a:extLst>
                <a:ext uri="{FF2B5EF4-FFF2-40B4-BE49-F238E27FC236}">
                  <a16:creationId xmlns:a16="http://schemas.microsoft.com/office/drawing/2014/main" id="{050F08A7-AF05-B755-DB9A-1C7957439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151"/>
              <a:ext cx="17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i="1" dirty="0" err="1">
                  <a:latin typeface="Symbol" panose="05050102010706020507" pitchFamily="18" charset="2"/>
                </a:rPr>
                <a:t>S</a:t>
              </a:r>
              <a:r>
                <a:rPr kumimoji="0" lang="es-MX" altLang="es-CO" sz="2400" i="1" dirty="0" err="1"/>
                <a:t>F</a:t>
              </a:r>
              <a:r>
                <a:rPr kumimoji="0" lang="es-MX" altLang="es-CO" sz="2400" i="1" baseline="-25000" dirty="0" err="1"/>
                <a:t>y</a:t>
              </a:r>
              <a:r>
                <a:rPr kumimoji="0" lang="es-MX" altLang="es-CO" sz="2400" i="1" dirty="0"/>
                <a:t> = </a:t>
              </a:r>
              <a:r>
                <a:rPr kumimoji="0" lang="es-MX" altLang="es-CO" sz="2400" i="1" dirty="0" err="1"/>
                <a:t>m</a:t>
              </a:r>
              <a:r>
                <a:rPr kumimoji="0" lang="es-MX" altLang="es-CO" sz="2400" i="1" dirty="0" err="1">
                  <a:latin typeface="Times New Roman" panose="02020603050405020304" pitchFamily="18" charset="0"/>
                </a:rPr>
                <a:t>a</a:t>
              </a:r>
              <a:r>
                <a:rPr kumimoji="0" lang="es-MX" altLang="es-CO" sz="2400" i="1" baseline="-25000" dirty="0" err="1"/>
                <a:t>y</a:t>
              </a:r>
              <a:r>
                <a:rPr kumimoji="0" lang="es-MX" altLang="es-CO" sz="2400" i="1" dirty="0"/>
                <a:t> = 0</a:t>
              </a:r>
            </a:p>
          </p:txBody>
        </p:sp>
        <p:sp>
          <p:nvSpPr>
            <p:cNvPr id="5" name="Text Box 27">
              <a:extLst>
                <a:ext uri="{FF2B5EF4-FFF2-40B4-BE49-F238E27FC236}">
                  <a16:creationId xmlns:a16="http://schemas.microsoft.com/office/drawing/2014/main" id="{89401CF4-82FB-6329-2DB0-2D19F65E2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660"/>
              <a:ext cx="14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i="1" dirty="0"/>
                <a:t>n - W = 0</a:t>
              </a: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68B5C632-7E37-0DBD-E7CE-B8BFB15BE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" y="1641"/>
              <a:ext cx="11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i="1" dirty="0"/>
                <a:t>n = W</a:t>
              </a:r>
            </a:p>
          </p:txBody>
        </p:sp>
      </p:grpSp>
      <p:sp>
        <p:nvSpPr>
          <p:cNvPr id="7" name="Text Box 29">
            <a:extLst>
              <a:ext uri="{FF2B5EF4-FFF2-40B4-BE49-F238E27FC236}">
                <a16:creationId xmlns:a16="http://schemas.microsoft.com/office/drawing/2014/main" id="{3C46D604-C09B-E656-A172-5730D3E1E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6759" y="3069635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kumimoji="0" lang="es-MX" altLang="es-CO" sz="2400" i="1" dirty="0"/>
              <a:t>Ahora:  </a:t>
            </a:r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k</a:t>
            </a:r>
            <a:r>
              <a:rPr kumimoji="0" lang="es-MX" altLang="es-CO" sz="2400" i="1" dirty="0"/>
              <a:t> = 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m</a:t>
            </a:r>
            <a:r>
              <a:rPr kumimoji="0" lang="es-MX" altLang="es-CO" sz="2400" i="1" baseline="-25000" dirty="0" err="1"/>
              <a:t>k</a:t>
            </a:r>
            <a:r>
              <a:rPr kumimoji="0" lang="es-MX" altLang="es-CO" sz="2400" i="1" dirty="0" err="1"/>
              <a:t>n</a:t>
            </a:r>
            <a:r>
              <a:rPr kumimoji="0" lang="es-MX" altLang="es-CO" sz="2400" i="1" dirty="0"/>
              <a:t> = 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m</a:t>
            </a:r>
            <a:r>
              <a:rPr kumimoji="0" lang="es-MX" altLang="es-CO" sz="2400" i="1" baseline="-25000" dirty="0" err="1"/>
              <a:t>k</a:t>
            </a:r>
            <a:r>
              <a:rPr kumimoji="0" lang="es-MX" altLang="es-CO" sz="2400" i="1" dirty="0" err="1"/>
              <a:t>W</a:t>
            </a:r>
            <a:endParaRPr kumimoji="0" lang="es-MX" altLang="es-CO" sz="2400" i="1" baseline="-25000" dirty="0"/>
          </a:p>
        </p:txBody>
      </p:sp>
      <p:sp>
        <p:nvSpPr>
          <p:cNvPr id="8" name="Text Box 30">
            <a:extLst>
              <a:ext uri="{FF2B5EF4-FFF2-40B4-BE49-F238E27FC236}">
                <a16:creationId xmlns:a16="http://schemas.microsoft.com/office/drawing/2014/main" id="{017E0E5E-1FEC-308D-6498-0ACB7B57A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559" y="3922122"/>
            <a:ext cx="381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x</a:t>
            </a:r>
            <a:r>
              <a:rPr kumimoji="0" lang="es-MX" altLang="es-CO" sz="2400" i="1" dirty="0"/>
              <a:t> = </a:t>
            </a:r>
            <a:r>
              <a:rPr kumimoji="0" lang="es-MX" altLang="es-CO" sz="2400" dirty="0"/>
              <a:t>0;    </a:t>
            </a:r>
            <a:r>
              <a:rPr kumimoji="0" lang="es-MX" altLang="es-CO" sz="2400" i="1" dirty="0"/>
              <a:t>P - </a:t>
            </a:r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k</a:t>
            </a:r>
            <a:r>
              <a:rPr kumimoji="0" lang="es-MX" altLang="es-CO" sz="2400" i="1" dirty="0"/>
              <a:t> = </a:t>
            </a:r>
            <a:r>
              <a:rPr kumimoji="0" lang="es-MX" altLang="es-CO" sz="2400" dirty="0"/>
              <a:t>0 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C7F536BC-6ABB-1561-407C-4EB88B35D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612203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P = </a:t>
            </a:r>
            <a:r>
              <a:rPr kumimoji="0" lang="es-MX" altLang="es-CO" sz="2400" i="1" dirty="0" err="1"/>
              <a:t>f</a:t>
            </a:r>
            <a:r>
              <a:rPr kumimoji="0" lang="es-MX" altLang="es-CO" sz="2400" i="1" baseline="-25000" dirty="0" err="1"/>
              <a:t>k</a:t>
            </a:r>
            <a:r>
              <a:rPr kumimoji="0" lang="es-MX" altLang="es-CO" sz="2400" i="1" baseline="-25000" dirty="0"/>
              <a:t> </a:t>
            </a:r>
            <a:r>
              <a:rPr kumimoji="0" lang="es-MX" altLang="es-CO" sz="2400" i="1" dirty="0"/>
              <a:t>= 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m</a:t>
            </a:r>
            <a:r>
              <a:rPr kumimoji="0" lang="es-MX" altLang="es-CO" sz="2400" i="1" baseline="-25000" dirty="0" err="1"/>
              <a:t>k</a:t>
            </a:r>
            <a:r>
              <a:rPr kumimoji="0" lang="es-MX" altLang="es-CO" sz="2400" i="1" dirty="0" err="1"/>
              <a:t>W</a:t>
            </a:r>
            <a:endParaRPr kumimoji="0" lang="es-MX" altLang="es-CO" sz="2400" i="1" dirty="0"/>
          </a:p>
        </p:txBody>
      </p:sp>
      <p:sp>
        <p:nvSpPr>
          <p:cNvPr id="10" name="Text Box 32">
            <a:extLst>
              <a:ext uri="{FF2B5EF4-FFF2-40B4-BE49-F238E27FC236}">
                <a16:creationId xmlns:a16="http://schemas.microsoft.com/office/drawing/2014/main" id="{544B7EEF-4064-4B76-FE30-92BC75C32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159" y="5674722"/>
            <a:ext cx="449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P = </a:t>
            </a:r>
            <a:r>
              <a:rPr kumimoji="0" lang="es-MX" altLang="es-CO" sz="2400" dirty="0"/>
              <a:t>(0.3)(250 N)</a:t>
            </a:r>
            <a:endParaRPr kumimoji="0" lang="es-MX" altLang="es-CO" sz="2400" i="1" dirty="0"/>
          </a:p>
        </p:txBody>
      </p:sp>
      <p:sp>
        <p:nvSpPr>
          <p:cNvPr id="11" name="Text Box 33">
            <a:extLst>
              <a:ext uri="{FF2B5EF4-FFF2-40B4-BE49-F238E27FC236}">
                <a16:creationId xmlns:a16="http://schemas.microsoft.com/office/drawing/2014/main" id="{3CCDD66F-4399-F923-2CA2-EBCB3C161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359" y="5490056"/>
            <a:ext cx="2667000" cy="646331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137160" bIns="137160" anchor="ctr">
            <a:spAutoFit/>
          </a:bodyPr>
          <a:lstStyle/>
          <a:p>
            <a:pPr algn="ctr"/>
            <a:r>
              <a:rPr kumimoji="0" lang="es-MX" altLang="es-CO" sz="2400" i="1" dirty="0">
                <a:solidFill>
                  <a:srgbClr val="000000"/>
                </a:solidFill>
                <a:effectLst/>
              </a:rPr>
              <a:t>P = </a:t>
            </a:r>
            <a:r>
              <a:rPr kumimoji="0" lang="es-MX" altLang="es-CO" sz="2400" dirty="0">
                <a:solidFill>
                  <a:srgbClr val="000000"/>
                </a:solidFill>
                <a:effectLst/>
              </a:rPr>
              <a:t>75.0 N</a:t>
            </a:r>
          </a:p>
        </p:txBody>
      </p:sp>
      <p:grpSp>
        <p:nvGrpSpPr>
          <p:cNvPr id="12" name="Group 62">
            <a:extLst>
              <a:ext uri="{FF2B5EF4-FFF2-40B4-BE49-F238E27FC236}">
                <a16:creationId xmlns:a16="http://schemas.microsoft.com/office/drawing/2014/main" id="{1E7F31CA-ED52-F162-7C7B-2435C5A9A979}"/>
              </a:ext>
            </a:extLst>
          </p:cNvPr>
          <p:cNvGrpSpPr>
            <a:grpSpLocks/>
          </p:cNvGrpSpPr>
          <p:nvPr/>
        </p:nvGrpSpPr>
        <p:grpSpPr bwMode="auto">
          <a:xfrm>
            <a:off x="1786759" y="1516117"/>
            <a:ext cx="2971800" cy="3581400"/>
            <a:chOff x="480" y="1104"/>
            <a:chExt cx="1872" cy="2256"/>
          </a:xfrm>
        </p:grpSpPr>
        <p:grpSp>
          <p:nvGrpSpPr>
            <p:cNvPr id="13" name="Group 39">
              <a:extLst>
                <a:ext uri="{FF2B5EF4-FFF2-40B4-BE49-F238E27FC236}">
                  <a16:creationId xmlns:a16="http://schemas.microsoft.com/office/drawing/2014/main" id="{8960C807-E1CA-47E9-430E-135CBF285E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104"/>
              <a:ext cx="1872" cy="2256"/>
              <a:chOff x="288" y="1104"/>
              <a:chExt cx="1872" cy="2256"/>
            </a:xfrm>
          </p:grpSpPr>
          <p:sp>
            <p:nvSpPr>
              <p:cNvPr id="32" name="Rectangle 38">
                <a:extLst>
                  <a:ext uri="{FF2B5EF4-FFF2-40B4-BE49-F238E27FC236}">
                    <a16:creationId xmlns:a16="http://schemas.microsoft.com/office/drawing/2014/main" id="{42868C74-86BD-83A5-9AC2-D4AE94793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104"/>
                <a:ext cx="1872" cy="2256"/>
              </a:xfrm>
              <a:prstGeom prst="rect">
                <a:avLst/>
              </a:prstGeom>
              <a:solidFill>
                <a:schemeClr val="accent2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33" name="Group 3">
                <a:extLst>
                  <a:ext uri="{FF2B5EF4-FFF2-40B4-BE49-F238E27FC236}">
                    <a16:creationId xmlns:a16="http://schemas.microsoft.com/office/drawing/2014/main" id="{4109F45F-ED0E-86EB-1249-F0D9C28C7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440"/>
                <a:ext cx="1200" cy="288"/>
                <a:chOff x="576" y="1392"/>
                <a:chExt cx="1584" cy="432"/>
              </a:xfrm>
            </p:grpSpPr>
            <p:sp>
              <p:nvSpPr>
                <p:cNvPr id="34" name="Rectangle 4">
                  <a:extLst>
                    <a:ext uri="{FF2B5EF4-FFF2-40B4-BE49-F238E27FC236}">
                      <a16:creationId xmlns:a16="http://schemas.microsoft.com/office/drawing/2014/main" id="{7D4D3AFB-CA71-8DFE-5992-DDC9F2B0D4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632"/>
                  <a:ext cx="1584" cy="192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PerspectiveFront">
                    <a:rot lat="1500000" lon="1500000" rev="0"/>
                  </a:camera>
                  <a:lightRig rig="legacyFlat2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rgbClr val="FFFF00"/>
                  </a:extrusionClr>
                  <a:contourClr>
                    <a:srgbClr val="FFFF00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  <a:flatTx/>
                </a:bodyPr>
                <a:lstStyle/>
                <a:p>
                  <a:endParaRPr lang="es-CO"/>
                </a:p>
              </p:txBody>
            </p:sp>
            <p:sp>
              <p:nvSpPr>
                <p:cNvPr id="35" name="Rectangle 5">
                  <a:extLst>
                    <a:ext uri="{FF2B5EF4-FFF2-40B4-BE49-F238E27FC236}">
                      <a16:creationId xmlns:a16="http://schemas.microsoft.com/office/drawing/2014/main" id="{656A5BA5-51B7-86B2-7C79-C3F6FA823F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1392"/>
                  <a:ext cx="432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PerspectiveFront">
                    <a:rot lat="1500000" lon="1500000" rev="0"/>
                  </a:camera>
                  <a:lightRig rig="legacyFlat2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  <a:flatTx/>
                </a:bodyPr>
                <a:lstStyle/>
                <a:p>
                  <a:endParaRPr lang="es-CO"/>
                </a:p>
              </p:txBody>
            </p:sp>
            <p:sp>
              <p:nvSpPr>
                <p:cNvPr id="36" name="Line 6">
                  <a:extLst>
                    <a:ext uri="{FF2B5EF4-FFF2-40B4-BE49-F238E27FC236}">
                      <a16:creationId xmlns:a16="http://schemas.microsoft.com/office/drawing/2014/main" id="{2842AB20-D4B7-3DBF-33EB-0E33608B49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4" y="1440"/>
                  <a:ext cx="432" cy="9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grpSp>
          <p:nvGrpSpPr>
            <p:cNvPr id="14" name="Group 41">
              <a:extLst>
                <a:ext uri="{FF2B5EF4-FFF2-40B4-BE49-F238E27FC236}">
                  <a16:creationId xmlns:a16="http://schemas.microsoft.com/office/drawing/2014/main" id="{65FE80E0-DB5C-A095-E860-66A54A9989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" y="2293"/>
              <a:ext cx="828" cy="291"/>
              <a:chOff x="468" y="2533"/>
              <a:chExt cx="828" cy="291"/>
            </a:xfrm>
          </p:grpSpPr>
          <p:sp>
            <p:nvSpPr>
              <p:cNvPr id="30" name="Line 42">
                <a:extLst>
                  <a:ext uri="{FF2B5EF4-FFF2-40B4-BE49-F238E27FC236}">
                    <a16:creationId xmlns:a16="http://schemas.microsoft.com/office/drawing/2014/main" id="{BEA85FDD-C419-8A8A-8907-505C32EA0C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2" y="2688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1" name="Text Box 43">
                <a:extLst>
                  <a:ext uri="{FF2B5EF4-FFF2-40B4-BE49-F238E27FC236}">
                    <a16:creationId xmlns:a16="http://schemas.microsoft.com/office/drawing/2014/main" id="{9EC1627C-8C4B-65B8-1542-B4C81389B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" y="2533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sz="2400" i="1" dirty="0" err="1">
                    <a:effectLst/>
                  </a:rPr>
                  <a:t>f</a:t>
                </a:r>
                <a:r>
                  <a:rPr kumimoji="0" lang="es-MX" altLang="es-CO" sz="2400" i="1" baseline="-25000" dirty="0" err="1">
                    <a:effectLst/>
                  </a:rPr>
                  <a:t>k</a:t>
                </a:r>
                <a:endParaRPr kumimoji="0" lang="es-MX" altLang="es-CO" sz="2400" i="1" dirty="0">
                  <a:effectLst/>
                </a:endParaRPr>
              </a:p>
            </p:txBody>
          </p:sp>
        </p:grpSp>
        <p:grpSp>
          <p:nvGrpSpPr>
            <p:cNvPr id="15" name="Group 44">
              <a:extLst>
                <a:ext uri="{FF2B5EF4-FFF2-40B4-BE49-F238E27FC236}">
                  <a16:creationId xmlns:a16="http://schemas.microsoft.com/office/drawing/2014/main" id="{7B8B4C0C-30BD-A90A-868D-8ED2E60949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968"/>
              <a:ext cx="1344" cy="1056"/>
              <a:chOff x="720" y="2208"/>
              <a:chExt cx="1344" cy="1056"/>
            </a:xfrm>
          </p:grpSpPr>
          <p:sp>
            <p:nvSpPr>
              <p:cNvPr id="28" name="Line 45">
                <a:extLst>
                  <a:ext uri="{FF2B5EF4-FFF2-40B4-BE49-F238E27FC236}">
                    <a16:creationId xmlns:a16="http://schemas.microsoft.com/office/drawing/2014/main" id="{582D776B-9A68-65AB-887A-0587F5F77B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88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9" name="Line 46">
                <a:extLst>
                  <a:ext uri="{FF2B5EF4-FFF2-40B4-BE49-F238E27FC236}">
                    <a16:creationId xmlns:a16="http://schemas.microsoft.com/office/drawing/2014/main" id="{AAFD233F-5228-AEAC-F8EF-9A3414F64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208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16" name="Oval 47">
              <a:extLst>
                <a:ext uri="{FF2B5EF4-FFF2-40B4-BE49-F238E27FC236}">
                  <a16:creationId xmlns:a16="http://schemas.microsoft.com/office/drawing/2014/main" id="{1E751C7A-4F3B-9AF9-CB99-4A9E1E783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00"/>
              <a:ext cx="96" cy="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Line 49">
              <a:extLst>
                <a:ext uri="{FF2B5EF4-FFF2-40B4-BE49-F238E27FC236}">
                  <a16:creationId xmlns:a16="http://schemas.microsoft.com/office/drawing/2014/main" id="{49A9FFC9-7EED-9821-5243-347ACEAB43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2016"/>
              <a:ext cx="0" cy="43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6AAC1374-C2C9-F5F2-73FB-54A31D59E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832"/>
              <a:ext cx="3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800" i="1" dirty="0">
                  <a:effectLst/>
                </a:rPr>
                <a:t>n</a:t>
              </a:r>
            </a:p>
          </p:txBody>
        </p:sp>
        <p:grpSp>
          <p:nvGrpSpPr>
            <p:cNvPr id="19" name="Group 51">
              <a:extLst>
                <a:ext uri="{FF2B5EF4-FFF2-40B4-BE49-F238E27FC236}">
                  <a16:creationId xmlns:a16="http://schemas.microsoft.com/office/drawing/2014/main" id="{CBC6209B-AAEE-6E29-1803-8B70D75E27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162"/>
              <a:ext cx="600" cy="346"/>
              <a:chOff x="1296" y="2402"/>
              <a:chExt cx="600" cy="346"/>
            </a:xfrm>
          </p:grpSpPr>
          <p:sp>
            <p:nvSpPr>
              <p:cNvPr id="26" name="Line 52">
                <a:extLst>
                  <a:ext uri="{FF2B5EF4-FFF2-40B4-BE49-F238E27FC236}">
                    <a16:creationId xmlns:a16="http://schemas.microsoft.com/office/drawing/2014/main" id="{46E4AB7B-5B38-7E6E-3751-89B84E968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88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Text Box 53">
                <a:extLst>
                  <a:ext uri="{FF2B5EF4-FFF2-40B4-BE49-F238E27FC236}">
                    <a16:creationId xmlns:a16="http://schemas.microsoft.com/office/drawing/2014/main" id="{D94C7F52-9E74-0210-A92F-906625E100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0" y="2402"/>
                <a:ext cx="33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i="1">
                    <a:effectLst/>
                  </a:rPr>
                  <a:t>P</a:t>
                </a:r>
              </a:p>
            </p:txBody>
          </p:sp>
        </p:grpSp>
        <p:grpSp>
          <p:nvGrpSpPr>
            <p:cNvPr id="20" name="Group 54">
              <a:extLst>
                <a:ext uri="{FF2B5EF4-FFF2-40B4-BE49-F238E27FC236}">
                  <a16:creationId xmlns:a16="http://schemas.microsoft.com/office/drawing/2014/main" id="{00BD9770-1C92-8A61-575E-7EB22AC303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0" y="2496"/>
              <a:ext cx="528" cy="814"/>
              <a:chOff x="1168" y="2688"/>
              <a:chExt cx="528" cy="814"/>
            </a:xfrm>
          </p:grpSpPr>
          <p:sp>
            <p:nvSpPr>
              <p:cNvPr id="24" name="Line 55">
                <a:extLst>
                  <a:ext uri="{FF2B5EF4-FFF2-40B4-BE49-F238E27FC236}">
                    <a16:creationId xmlns:a16="http://schemas.microsoft.com/office/drawing/2014/main" id="{6AD8EFE4-6207-1DDD-A789-A5281B5AF2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88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5" name="Text Box 56">
                <a:extLst>
                  <a:ext uri="{FF2B5EF4-FFF2-40B4-BE49-F238E27FC236}">
                    <a16:creationId xmlns:a16="http://schemas.microsoft.com/office/drawing/2014/main" id="{2DCE104E-1D8C-A8E3-7CDF-20C88BC066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8" y="3156"/>
                <a:ext cx="52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i="1" dirty="0">
                    <a:effectLst/>
                  </a:rPr>
                  <a:t>mg</a:t>
                </a:r>
              </a:p>
            </p:txBody>
          </p:sp>
        </p:grpSp>
        <p:grpSp>
          <p:nvGrpSpPr>
            <p:cNvPr id="21" name="Group 57">
              <a:extLst>
                <a:ext uri="{FF2B5EF4-FFF2-40B4-BE49-F238E27FC236}">
                  <a16:creationId xmlns:a16="http://schemas.microsoft.com/office/drawing/2014/main" id="{CAB6453F-12D3-0FAA-943A-979F621609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2544"/>
              <a:ext cx="624" cy="346"/>
              <a:chOff x="1392" y="2784"/>
              <a:chExt cx="624" cy="346"/>
            </a:xfrm>
          </p:grpSpPr>
          <p:sp>
            <p:nvSpPr>
              <p:cNvPr id="22" name="Line 58">
                <a:extLst>
                  <a:ext uri="{FF2B5EF4-FFF2-40B4-BE49-F238E27FC236}">
                    <a16:creationId xmlns:a16="http://schemas.microsoft.com/office/drawing/2014/main" id="{A6CE93F6-DB98-EA9B-7428-D5E5FB750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3" name="Text Box 59">
                <a:extLst>
                  <a:ext uri="{FF2B5EF4-FFF2-40B4-BE49-F238E27FC236}">
                    <a16:creationId xmlns:a16="http://schemas.microsoft.com/office/drawing/2014/main" id="{B5663A97-13E3-C7E2-1406-F3F6D9130D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784"/>
                <a:ext cx="33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i="1">
                    <a:effectLst/>
                  </a:rPr>
                  <a:t>+</a:t>
                </a:r>
              </a:p>
            </p:txBody>
          </p:sp>
        </p:grpSp>
      </p:grpSp>
      <p:sp>
        <p:nvSpPr>
          <p:cNvPr id="37" name="Text Box 63">
            <a:extLst>
              <a:ext uri="{FF2B5EF4-FFF2-40B4-BE49-F238E27FC236}">
                <a16:creationId xmlns:a16="http://schemas.microsoft.com/office/drawing/2014/main" id="{92C32EB6-012D-E6FA-CE0B-8E51D4357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959" y="2582917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anose="05050102010706020507" pitchFamily="18" charset="2"/>
              </a:rPr>
              <a:t>m</a:t>
            </a:r>
            <a:r>
              <a:rPr lang="es-MX" altLang="es-CO" sz="2400" baseline="-250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es-MX" altLang="es-CO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0.3</a:t>
            </a:r>
          </a:p>
        </p:txBody>
      </p:sp>
    </p:spTree>
    <p:extLst>
      <p:ext uri="{BB962C8B-B14F-4D97-AF65-F5344CB8AC3E}">
        <p14:creationId xmlns:p14="http://schemas.microsoft.com/office/powerpoint/2010/main" val="215749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7" grpId="0" autoUpdateAnimBg="0"/>
      <p:bldP spid="8" grpId="0" build="p" autoUpdateAnimBg="0"/>
      <p:bldP spid="9" grpId="0" build="p" autoUpdateAnimBg="0"/>
      <p:bldP spid="10" grpId="0" build="p" autoUpdateAnimBg="0"/>
      <p:bldP spid="11" grpId="0" animBg="1" autoUpdateAnimBg="0"/>
      <p:bldP spid="3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249C6-1DC3-3487-97DD-B3BFD342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7ECA8D3-183E-1FA9-995C-3CC1AAD30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2973" y="77920"/>
            <a:ext cx="7315200" cy="748268"/>
          </a:xfrm>
        </p:spPr>
        <p:txBody>
          <a:bodyPr>
            <a:normAutofit/>
          </a:bodyPr>
          <a:lstStyle/>
          <a:p>
            <a:r>
              <a:rPr lang="es-MX" altLang="es-CO" sz="2800" dirty="0"/>
              <a:t>La fuerza normal y el peso</a:t>
            </a:r>
          </a:p>
        </p:txBody>
      </p:sp>
      <p:grpSp>
        <p:nvGrpSpPr>
          <p:cNvPr id="3" name="Group 65">
            <a:extLst>
              <a:ext uri="{FF2B5EF4-FFF2-40B4-BE49-F238E27FC236}">
                <a16:creationId xmlns:a16="http://schemas.microsoft.com/office/drawing/2014/main" id="{D120C6D2-3E86-5747-C5E0-5E5013B67C7F}"/>
              </a:ext>
            </a:extLst>
          </p:cNvPr>
          <p:cNvGrpSpPr>
            <a:grpSpLocks/>
          </p:cNvGrpSpPr>
          <p:nvPr/>
        </p:nvGrpSpPr>
        <p:grpSpPr bwMode="auto">
          <a:xfrm>
            <a:off x="2401771" y="919807"/>
            <a:ext cx="8001000" cy="5638800"/>
            <a:chOff x="432" y="576"/>
            <a:chExt cx="5040" cy="3552"/>
          </a:xfrm>
        </p:grpSpPr>
        <p:sp>
          <p:nvSpPr>
            <p:cNvPr id="4" name="Rectangle 33">
              <a:extLst>
                <a:ext uri="{FF2B5EF4-FFF2-40B4-BE49-F238E27FC236}">
                  <a16:creationId xmlns:a16="http://schemas.microsoft.com/office/drawing/2014/main" id="{7954FA4C-738D-16CF-6138-0DFA2653D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576"/>
              <a:ext cx="5040" cy="3552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Text Box 3">
              <a:extLst>
                <a:ext uri="{FF2B5EF4-FFF2-40B4-BE49-F238E27FC236}">
                  <a16:creationId xmlns:a16="http://schemas.microsoft.com/office/drawing/2014/main" id="{68DAB091-FE47-F15B-4912-E6558E13B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576"/>
              <a:ext cx="480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i="1" dirty="0">
                  <a:effectLst/>
                </a:rPr>
                <a:t>La fuerza normal NO siempre es igual al peso. Los siguientes son ejemplos:</a:t>
              </a:r>
            </a:p>
          </p:txBody>
        </p:sp>
      </p:grpSp>
      <p:grpSp>
        <p:nvGrpSpPr>
          <p:cNvPr id="6" name="Group 66">
            <a:extLst>
              <a:ext uri="{FF2B5EF4-FFF2-40B4-BE49-F238E27FC236}">
                <a16:creationId xmlns:a16="http://schemas.microsoft.com/office/drawing/2014/main" id="{0E49BC6E-6D4F-D4FF-7C28-021D7FB589BF}"/>
              </a:ext>
            </a:extLst>
          </p:cNvPr>
          <p:cNvGrpSpPr>
            <a:grpSpLocks/>
          </p:cNvGrpSpPr>
          <p:nvPr/>
        </p:nvGrpSpPr>
        <p:grpSpPr bwMode="auto">
          <a:xfrm>
            <a:off x="2969173" y="1998278"/>
            <a:ext cx="7467600" cy="1971675"/>
            <a:chOff x="624" y="1483"/>
            <a:chExt cx="4704" cy="1242"/>
          </a:xfrm>
        </p:grpSpPr>
        <p:grpSp>
          <p:nvGrpSpPr>
            <p:cNvPr id="7" name="Group 67">
              <a:extLst>
                <a:ext uri="{FF2B5EF4-FFF2-40B4-BE49-F238E27FC236}">
                  <a16:creationId xmlns:a16="http://schemas.microsoft.com/office/drawing/2014/main" id="{B6943CC4-4926-2C88-84C7-7A6F9F3B1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483"/>
              <a:ext cx="1536" cy="1242"/>
              <a:chOff x="720" y="1717"/>
              <a:chExt cx="1536" cy="1192"/>
            </a:xfrm>
          </p:grpSpPr>
          <p:sp>
            <p:nvSpPr>
              <p:cNvPr id="9" name="Rectangle 68">
                <a:extLst>
                  <a:ext uri="{FF2B5EF4-FFF2-40B4-BE49-F238E27FC236}">
                    <a16:creationId xmlns:a16="http://schemas.microsoft.com/office/drawing/2014/main" id="{98192DB2-D1B8-96D4-13F6-D6ECE398B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5" y="2492"/>
                <a:ext cx="1451" cy="169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10" name="Rectangle 69">
                <a:extLst>
                  <a:ext uri="{FF2B5EF4-FFF2-40B4-BE49-F238E27FC236}">
                    <a16:creationId xmlns:a16="http://schemas.microsoft.com/office/drawing/2014/main" id="{0788E818-3574-F243-3586-5678EC2E0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9" y="2281"/>
                <a:ext cx="342" cy="211"/>
              </a:xfrm>
              <a:prstGeom prst="rect">
                <a:avLst/>
              </a:prstGeom>
              <a:solidFill>
                <a:srgbClr val="66FFCC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66FFCC"/>
                </a:extrusionClr>
                <a:contourClr>
                  <a:srgbClr val="66FFCC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11" name="Line 70">
                <a:extLst>
                  <a:ext uri="{FF2B5EF4-FFF2-40B4-BE49-F238E27FC236}">
                    <a16:creationId xmlns:a16="http://schemas.microsoft.com/office/drawing/2014/main" id="{E6F04771-AB40-9121-D3EA-8A03CC367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1774"/>
                <a:ext cx="555" cy="465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Line 71">
                <a:extLst>
                  <a:ext uri="{FF2B5EF4-FFF2-40B4-BE49-F238E27FC236}">
                    <a16:creationId xmlns:a16="http://schemas.microsoft.com/office/drawing/2014/main" id="{CAE81A20-A567-5A14-7DB2-16917987D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1" y="2281"/>
                <a:ext cx="5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Text Box 72">
                <a:extLst>
                  <a:ext uri="{FF2B5EF4-FFF2-40B4-BE49-F238E27FC236}">
                    <a16:creationId xmlns:a16="http://schemas.microsoft.com/office/drawing/2014/main" id="{E2C6409C-66B0-BE9F-CD78-C41E92A03C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5" y="2054"/>
                <a:ext cx="470" cy="2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dirty="0">
                    <a:effectLst/>
                  </a:rPr>
                  <a:t>30</a:t>
                </a:r>
                <a:r>
                  <a:rPr kumimoji="0" lang="es-MX" altLang="es-CO" sz="2400" baseline="30000" dirty="0">
                    <a:effectLst/>
                  </a:rPr>
                  <a:t>0</a:t>
                </a:r>
                <a:endParaRPr kumimoji="0" lang="es-MX" altLang="es-CO" sz="2400" dirty="0">
                  <a:effectLst/>
                </a:endParaRPr>
              </a:p>
            </p:txBody>
          </p:sp>
          <p:sp>
            <p:nvSpPr>
              <p:cNvPr id="14" name="Text Box 73">
                <a:extLst>
                  <a:ext uri="{FF2B5EF4-FFF2-40B4-BE49-F238E27FC236}">
                    <a16:creationId xmlns:a16="http://schemas.microsoft.com/office/drawing/2014/main" id="{0A62452A-3488-40AB-FC69-B34ED60B11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6" y="1750"/>
                <a:ext cx="298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i="1" dirty="0">
                    <a:effectLst/>
                  </a:rPr>
                  <a:t>P</a:t>
                </a:r>
              </a:p>
            </p:txBody>
          </p:sp>
          <p:sp>
            <p:nvSpPr>
              <p:cNvPr id="15" name="Text Box 74">
                <a:extLst>
                  <a:ext uri="{FF2B5EF4-FFF2-40B4-BE49-F238E27FC236}">
                    <a16:creationId xmlns:a16="http://schemas.microsoft.com/office/drawing/2014/main" id="{6819D015-A1DC-388E-9616-2EE6F605CE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1717"/>
                <a:ext cx="98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endParaRPr kumimoji="0" lang="es-MX" altLang="es-CO" i="1">
                  <a:effectLst/>
                </a:endParaRPr>
              </a:p>
            </p:txBody>
          </p:sp>
          <p:sp>
            <p:nvSpPr>
              <p:cNvPr id="16" name="Text Box 75">
                <a:extLst>
                  <a:ext uri="{FF2B5EF4-FFF2-40B4-BE49-F238E27FC236}">
                    <a16:creationId xmlns:a16="http://schemas.microsoft.com/office/drawing/2014/main" id="{50ED3077-6E54-E730-425A-62862F9018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1" y="2245"/>
                <a:ext cx="555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000" i="1">
                    <a:effectLst/>
                  </a:rPr>
                  <a:t>m</a:t>
                </a:r>
                <a:endParaRPr kumimoji="0" lang="es-MX" altLang="es-CO" sz="2400" i="1">
                  <a:effectLst/>
                </a:endParaRPr>
              </a:p>
            </p:txBody>
          </p:sp>
          <p:sp>
            <p:nvSpPr>
              <p:cNvPr id="17" name="Line 76">
                <a:extLst>
                  <a:ext uri="{FF2B5EF4-FFF2-40B4-BE49-F238E27FC236}">
                    <a16:creationId xmlns:a16="http://schemas.microsoft.com/office/drawing/2014/main" id="{67B415AD-9220-4D2E-3139-211B60DA4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064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8" name="Line 77">
                <a:extLst>
                  <a:ext uri="{FF2B5EF4-FFF2-40B4-BE49-F238E27FC236}">
                    <a16:creationId xmlns:a16="http://schemas.microsoft.com/office/drawing/2014/main" id="{37A28EDA-8308-3F18-D0B8-387857C59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400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9" name="Text Box 78">
                <a:extLst>
                  <a:ext uri="{FF2B5EF4-FFF2-40B4-BE49-F238E27FC236}">
                    <a16:creationId xmlns:a16="http://schemas.microsoft.com/office/drawing/2014/main" id="{E2FBEA0A-291B-55AF-1800-43C426E9B3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4" y="1752"/>
                <a:ext cx="298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i="1">
                    <a:effectLst/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20" name="Text Box 79">
                <a:extLst>
                  <a:ext uri="{FF2B5EF4-FFF2-40B4-BE49-F238E27FC236}">
                    <a16:creationId xmlns:a16="http://schemas.microsoft.com/office/drawing/2014/main" id="{F1C4DA42-64DD-998A-B8D1-45A25C0B3A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3" y="2630"/>
                <a:ext cx="432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0" lang="es-MX" altLang="es-CO" sz="2400" i="1" dirty="0">
                    <a:effectLst/>
                  </a:rPr>
                  <a:t>W</a:t>
                </a:r>
              </a:p>
            </p:txBody>
          </p:sp>
        </p:grpSp>
        <p:sp>
          <p:nvSpPr>
            <p:cNvPr id="8" name="Text Box 80">
              <a:extLst>
                <a:ext uri="{FF2B5EF4-FFF2-40B4-BE49-F238E27FC236}">
                  <a16:creationId xmlns:a16="http://schemas.microsoft.com/office/drawing/2014/main" id="{268D5326-A07A-BE90-06D3-9EE3F1129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488"/>
              <a:ext cx="278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sz="2400" i="1" dirty="0"/>
                <a:t>Aquí la fuerza normal es menor que el peso debido al componente ascendente de P.</a:t>
              </a:r>
            </a:p>
          </p:txBody>
        </p:sp>
      </p:grpSp>
      <p:grpSp>
        <p:nvGrpSpPr>
          <p:cNvPr id="21" name="Group 81">
            <a:extLst>
              <a:ext uri="{FF2B5EF4-FFF2-40B4-BE49-F238E27FC236}">
                <a16:creationId xmlns:a16="http://schemas.microsoft.com/office/drawing/2014/main" id="{7291428E-67FA-47E2-9DF6-5F3BCF2B391A}"/>
              </a:ext>
            </a:extLst>
          </p:cNvPr>
          <p:cNvGrpSpPr>
            <a:grpSpLocks/>
          </p:cNvGrpSpPr>
          <p:nvPr/>
        </p:nvGrpSpPr>
        <p:grpSpPr bwMode="auto">
          <a:xfrm>
            <a:off x="3002511" y="3788979"/>
            <a:ext cx="7434263" cy="2317750"/>
            <a:chOff x="693" y="2496"/>
            <a:chExt cx="4683" cy="1460"/>
          </a:xfrm>
        </p:grpSpPr>
        <p:grpSp>
          <p:nvGrpSpPr>
            <p:cNvPr id="22" name="Group 82">
              <a:extLst>
                <a:ext uri="{FF2B5EF4-FFF2-40B4-BE49-F238E27FC236}">
                  <a16:creationId xmlns:a16="http://schemas.microsoft.com/office/drawing/2014/main" id="{790E4E21-CAAF-D1B8-56D8-69D221DC6C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" y="2547"/>
              <a:ext cx="1244" cy="1409"/>
              <a:chOff x="693" y="2547"/>
              <a:chExt cx="1244" cy="1409"/>
            </a:xfrm>
          </p:grpSpPr>
          <p:sp>
            <p:nvSpPr>
              <p:cNvPr id="25" name="AutoShape 83">
                <a:extLst>
                  <a:ext uri="{FF2B5EF4-FFF2-40B4-BE49-F238E27FC236}">
                    <a16:creationId xmlns:a16="http://schemas.microsoft.com/office/drawing/2014/main" id="{36808D1A-7126-2BAC-8562-3529F6619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912" y="2924"/>
                <a:ext cx="960" cy="1012"/>
              </a:xfrm>
              <a:prstGeom prst="rtTriangle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PerspectiveFront">
                  <a:rot lat="1500000" lon="20099999" rev="0"/>
                </a:camera>
                <a:lightRig rig="legacyFlat4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26" name="Rectangle 84">
                <a:extLst>
                  <a:ext uri="{FF2B5EF4-FFF2-40B4-BE49-F238E27FC236}">
                    <a16:creationId xmlns:a16="http://schemas.microsoft.com/office/drawing/2014/main" id="{AB40D1D9-4628-B271-2C0C-FA07AA2D1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518044">
                <a:off x="1215" y="3220"/>
                <a:ext cx="293" cy="176"/>
              </a:xfrm>
              <a:prstGeom prst="rect">
                <a:avLst/>
              </a:prstGeom>
              <a:solidFill>
                <a:srgbClr val="FFFF00"/>
              </a:solidFill>
              <a:ln w="9525">
                <a:miter lim="800000"/>
                <a:headEnd/>
                <a:tailEnd/>
              </a:ln>
              <a:effectLst/>
              <a:scene3d>
                <a:camera prst="legacyPerspectiveFront">
                  <a:rot lat="1500000" lon="20099999" rev="0"/>
                </a:camera>
                <a:lightRig rig="legacyFlat4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FFFF00"/>
                </a:extrusionClr>
                <a:contourClr>
                  <a:srgbClr val="FFFF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es-CO"/>
              </a:p>
            </p:txBody>
          </p:sp>
          <p:sp>
            <p:nvSpPr>
              <p:cNvPr id="27" name="Line 85">
                <a:extLst>
                  <a:ext uri="{FF2B5EF4-FFF2-40B4-BE49-F238E27FC236}">
                    <a16:creationId xmlns:a16="http://schemas.microsoft.com/office/drawing/2014/main" id="{A31AA0AD-43EA-5B48-156B-3BA78AF57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3" y="2880"/>
                <a:ext cx="209" cy="264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8" name="Text Box 86">
                <a:extLst>
                  <a:ext uri="{FF2B5EF4-FFF2-40B4-BE49-F238E27FC236}">
                    <a16:creationId xmlns:a16="http://schemas.microsoft.com/office/drawing/2014/main" id="{CADACA2C-63E9-BBFF-EF71-3C3D099226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1020137">
                <a:off x="1105" y="3668"/>
                <a:ext cx="54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dirty="0">
                    <a:effectLst/>
                    <a:sym typeface="Symbol" panose="05050102010706020507" pitchFamily="18" charset="2"/>
                  </a:rPr>
                  <a:t></a:t>
                </a:r>
                <a:endParaRPr kumimoji="0" lang="es-MX" altLang="es-CO" sz="2400" i="1" dirty="0">
                  <a:effectLst/>
                </a:endParaRPr>
              </a:p>
            </p:txBody>
          </p:sp>
          <p:sp>
            <p:nvSpPr>
              <p:cNvPr id="29" name="Line 87">
                <a:extLst>
                  <a:ext uri="{FF2B5EF4-FFF2-40B4-BE49-F238E27FC236}">
                    <a16:creationId xmlns:a16="http://schemas.microsoft.com/office/drawing/2014/main" id="{2B98B243-8114-E03F-F07B-DC7524093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99" y="2963"/>
                <a:ext cx="384" cy="288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0" name="Line 88">
                <a:extLst>
                  <a:ext uri="{FF2B5EF4-FFF2-40B4-BE49-F238E27FC236}">
                    <a16:creationId xmlns:a16="http://schemas.microsoft.com/office/drawing/2014/main" id="{3B62475D-9567-FC26-BD5F-D904A728F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312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1" name="Text Box 89">
                <a:extLst>
                  <a:ext uri="{FF2B5EF4-FFF2-40B4-BE49-F238E27FC236}">
                    <a16:creationId xmlns:a16="http://schemas.microsoft.com/office/drawing/2014/main" id="{4CAE4C29-056C-100B-7792-0F7AEAA435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9" y="2547"/>
                <a:ext cx="29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i="1" dirty="0">
                    <a:effectLst/>
                  </a:rPr>
                  <a:t>P</a:t>
                </a:r>
              </a:p>
            </p:txBody>
          </p:sp>
          <p:sp>
            <p:nvSpPr>
              <p:cNvPr id="32" name="Text Box 90">
                <a:extLst>
                  <a:ext uri="{FF2B5EF4-FFF2-40B4-BE49-F238E27FC236}">
                    <a16:creationId xmlns:a16="http://schemas.microsoft.com/office/drawing/2014/main" id="{21C75B02-D2F6-E003-856A-DED5123739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3" y="2836"/>
                <a:ext cx="29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i="1" dirty="0">
                    <a:effectLst/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33" name="Text Box 91">
                <a:extLst>
                  <a:ext uri="{FF2B5EF4-FFF2-40B4-BE49-F238E27FC236}">
                    <a16:creationId xmlns:a16="http://schemas.microsoft.com/office/drawing/2014/main" id="{1758F725-2460-1D2D-489F-A3B981E230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479"/>
                <a:ext cx="4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0" lang="es-MX" altLang="es-CO" sz="2400" i="1" dirty="0">
                    <a:effectLst/>
                  </a:rPr>
                  <a:t>W</a:t>
                </a:r>
              </a:p>
            </p:txBody>
          </p:sp>
        </p:grpSp>
        <p:sp>
          <p:nvSpPr>
            <p:cNvPr id="23" name="Text Box 92">
              <a:extLst>
                <a:ext uri="{FF2B5EF4-FFF2-40B4-BE49-F238E27FC236}">
                  <a16:creationId xmlns:a16="http://schemas.microsoft.com/office/drawing/2014/main" id="{2875E1BF-BEB6-7D4A-B0AC-F071C1103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688"/>
              <a:ext cx="288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0" lang="es-MX" altLang="es-CO" sz="2400" i="1" dirty="0">
                  <a:effectLst/>
                </a:rPr>
                <a:t>Aquí la fuerza normal es igual sólo al componente del peso perpendicular al plano.</a:t>
              </a:r>
            </a:p>
          </p:txBody>
        </p:sp>
        <p:sp>
          <p:nvSpPr>
            <p:cNvPr id="24" name="Rectangle 93">
              <a:extLst>
                <a:ext uri="{FF2B5EF4-FFF2-40B4-BE49-F238E27FC236}">
                  <a16:creationId xmlns:a16="http://schemas.microsoft.com/office/drawing/2014/main" id="{F068E59C-E51B-F3CD-1A39-FA73D5BAB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496"/>
              <a:ext cx="1344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02102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">
            <a:extLst>
              <a:ext uri="{FF2B5EF4-FFF2-40B4-BE49-F238E27FC236}">
                <a16:creationId xmlns:a16="http://schemas.microsoft.com/office/drawing/2014/main" id="{819C4E90-8B3E-99B5-AD24-BC5F70A3958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10357" y="199933"/>
            <a:ext cx="5976000" cy="2131560"/>
          </a:xfrm>
          <a:prstGeom prst="rect">
            <a:avLst/>
          </a:prstGeom>
          <a:ln>
            <a:noFill/>
          </a:ln>
        </p:spPr>
      </p:pic>
      <p:pic>
        <p:nvPicPr>
          <p:cNvPr id="5" name="Imagen 2">
            <a:extLst>
              <a:ext uri="{FF2B5EF4-FFF2-40B4-BE49-F238E27FC236}">
                <a16:creationId xmlns:a16="http://schemas.microsoft.com/office/drawing/2014/main" id="{8D259B2A-7359-F354-2F4C-2317F667FF5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88473" y="2493989"/>
            <a:ext cx="3289472" cy="3284312"/>
          </a:xfrm>
          <a:prstGeom prst="rect">
            <a:avLst/>
          </a:prstGeom>
          <a:ln>
            <a:noFill/>
          </a:ln>
        </p:spPr>
      </p:pic>
      <p:pic>
        <p:nvPicPr>
          <p:cNvPr id="6" name="Imagen 21">
            <a:extLst>
              <a:ext uri="{FF2B5EF4-FFF2-40B4-BE49-F238E27FC236}">
                <a16:creationId xmlns:a16="http://schemas.microsoft.com/office/drawing/2014/main" id="{24E93509-77D6-AD17-6996-A93200A7F24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806917" y="3051105"/>
            <a:ext cx="993240" cy="2170080"/>
          </a:xfrm>
          <a:prstGeom prst="rect">
            <a:avLst/>
          </a:prstGeom>
          <a:ln>
            <a:noFill/>
          </a:ln>
        </p:spPr>
      </p:pic>
      <p:pic>
        <p:nvPicPr>
          <p:cNvPr id="7" name="Imagen 28">
            <a:extLst>
              <a:ext uri="{FF2B5EF4-FFF2-40B4-BE49-F238E27FC236}">
                <a16:creationId xmlns:a16="http://schemas.microsoft.com/office/drawing/2014/main" id="{71168D9F-4C18-2248-AE56-3F6DAADFE484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400373" y="2493989"/>
            <a:ext cx="4114800" cy="3090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773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87444-C596-2A2F-3C89-BAC50113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23BAC8F-A7F1-887D-982D-DE4C8D693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1273" y="125249"/>
            <a:ext cx="530225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Definición de momento de torsión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BD63B14-291A-8AE6-AC84-CCA38F4A7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6192" y="1806838"/>
            <a:ext cx="9585435" cy="830997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dirty="0"/>
              <a:t>El momento de torsión se define como la tendencia a producir un cambio en el movimiento rotacional.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838AAFA-52A3-5E2F-A897-9C4EC130F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993" y="2923530"/>
            <a:ext cx="28940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Ejemplos: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F66DFAD4-5EF6-7324-D4A8-FD87A970C9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055455"/>
              </p:ext>
            </p:extLst>
          </p:nvPr>
        </p:nvGraphicFramePr>
        <p:xfrm>
          <a:off x="5939386" y="4047962"/>
          <a:ext cx="3076575" cy="149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4588560" imgH="2233080" progId="MS_ClipArt_Gallery.5">
                  <p:embed/>
                </p:oleObj>
              </mc:Choice>
              <mc:Fallback>
                <p:oleObj name="Clip" r:id="rId4" imgW="4588560" imgH="2233080" progId="MS_ClipArt_Gallery.5">
                  <p:embed/>
                  <p:pic>
                    <p:nvPicPr>
                      <p:cNvPr id="603141" name="Object 5">
                        <a:extLst>
                          <a:ext uri="{FF2B5EF4-FFF2-40B4-BE49-F238E27FC236}">
                            <a16:creationId xmlns:a16="http://schemas.microsoft.com/office/drawing/2014/main" id="{A513CAF8-5589-F471-9616-2CB3A1C122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9386" y="4047962"/>
                        <a:ext cx="3076575" cy="149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0">
            <a:extLst>
              <a:ext uri="{FF2B5EF4-FFF2-40B4-BE49-F238E27FC236}">
                <a16:creationId xmlns:a16="http://schemas.microsoft.com/office/drawing/2014/main" id="{DA4CC3F9-939E-ABF9-FD70-EDF15A98D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941578"/>
              </p:ext>
            </p:extLst>
          </p:nvPr>
        </p:nvGraphicFramePr>
        <p:xfrm>
          <a:off x="3505748" y="3789199"/>
          <a:ext cx="1512888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513080" imgH="1850400" progId="MS_ClipArt_Gallery.5">
                  <p:embed/>
                </p:oleObj>
              </mc:Choice>
              <mc:Fallback>
                <p:oleObj name="Clip" r:id="rId6" imgW="1513080" imgH="1850400" progId="MS_ClipArt_Gallery.5">
                  <p:embed/>
                  <p:pic>
                    <p:nvPicPr>
                      <p:cNvPr id="603156" name="Object 20">
                        <a:extLst>
                          <a:ext uri="{FF2B5EF4-FFF2-40B4-BE49-F238E27FC236}">
                            <a16:creationId xmlns:a16="http://schemas.microsoft.com/office/drawing/2014/main" id="{EFBFA8C3-82AB-3D6F-8BB7-B4264EB9DC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748" y="3789199"/>
                        <a:ext cx="1512888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907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nimBg="1" autoUpdateAnimBg="0"/>
      <p:bldP spid="4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DD7BF-DD3A-B334-EB73-89A78CD36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198E5B-2031-3319-9F9A-89AD1DDDE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2210" y="173585"/>
            <a:ext cx="75438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El momento de torsión se determina por tres factores: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1A40054-D23D-8F39-334C-4AFE570134E4}"/>
              </a:ext>
            </a:extLst>
          </p:cNvPr>
          <p:cNvSpPr txBox="1">
            <a:spLocks noChangeArrowheads="1"/>
          </p:cNvSpPr>
          <p:nvPr/>
        </p:nvSpPr>
        <p:spPr>
          <a:xfrm>
            <a:off x="3968970" y="1416598"/>
            <a:ext cx="4879427" cy="154305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altLang="es-CO" sz="2400" dirty="0"/>
              <a:t>La magnitud de la fuerza aplicada.</a:t>
            </a:r>
          </a:p>
          <a:p>
            <a:r>
              <a:rPr lang="es-MX" altLang="es-CO" sz="2400" dirty="0"/>
              <a:t>La dirección de la fuerza aplicada.</a:t>
            </a:r>
          </a:p>
          <a:p>
            <a:r>
              <a:rPr lang="es-MX" altLang="es-CO" sz="2400" dirty="0"/>
              <a:t>La ubicación de la fuerza aplicada.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1D34425-DCD1-E188-15CB-4F4C6996E01C}"/>
              </a:ext>
            </a:extLst>
          </p:cNvPr>
          <p:cNvGrpSpPr>
            <a:grpSpLocks/>
          </p:cNvGrpSpPr>
          <p:nvPr/>
        </p:nvGrpSpPr>
        <p:grpSpPr bwMode="auto">
          <a:xfrm>
            <a:off x="2104697" y="3654972"/>
            <a:ext cx="8229600" cy="2286000"/>
            <a:chOff x="384" y="2448"/>
            <a:chExt cx="5184" cy="1440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5696EC5-7386-8A77-D739-BF329FFB48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448"/>
              <a:ext cx="2544" cy="1440"/>
              <a:chOff x="2880" y="2448"/>
              <a:chExt cx="2544" cy="1440"/>
            </a:xfrm>
          </p:grpSpPr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75EDDC0C-9771-84D0-4A4E-060CE07F2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448"/>
                <a:ext cx="2544" cy="144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graphicFrame>
            <p:nvGraphicFramePr>
              <p:cNvPr id="10" name="Object 7">
                <a:extLst>
                  <a:ext uri="{FF2B5EF4-FFF2-40B4-BE49-F238E27FC236}">
                    <a16:creationId xmlns:a16="http://schemas.microsoft.com/office/drawing/2014/main" id="{C9CE0C86-16FF-BAC3-6F2F-521D61B971D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2" y="2880"/>
              <a:ext cx="1008" cy="8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495360" imgH="396360" progId="MS_ClipArt_Gallery.2">
                      <p:embed/>
                    </p:oleObj>
                  </mc:Choice>
                  <mc:Fallback>
                    <p:oleObj name="Clip" r:id="rId5" imgW="495360" imgH="396360" progId="MS_ClipArt_Gallery.2">
                      <p:embed/>
                      <p:pic>
                        <p:nvPicPr>
                          <p:cNvPr id="605191" name="Object 7">
                            <a:extLst>
                              <a:ext uri="{FF2B5EF4-FFF2-40B4-BE49-F238E27FC236}">
                                <a16:creationId xmlns:a16="http://schemas.microsoft.com/office/drawing/2014/main" id="{A3B27EE8-46CE-3197-0A6D-920CAB1EDD9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880"/>
                            <a:ext cx="1008" cy="8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AutoShape 8">
                <a:extLst>
                  <a:ext uri="{FF2B5EF4-FFF2-40B4-BE49-F238E27FC236}">
                    <a16:creationId xmlns:a16="http://schemas.microsoft.com/office/drawing/2014/main" id="{F0C78B2B-FE1A-0748-9AFE-00DC42794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504"/>
                <a:ext cx="96" cy="96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12" name="Group 9">
                <a:extLst>
                  <a:ext uri="{FF2B5EF4-FFF2-40B4-BE49-F238E27FC236}">
                    <a16:creationId xmlns:a16="http://schemas.microsoft.com/office/drawing/2014/main" id="{7CB26999-CC47-CAE8-6970-1348FF7A74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976"/>
                <a:ext cx="672" cy="432"/>
                <a:chOff x="4224" y="2976"/>
                <a:chExt cx="672" cy="432"/>
              </a:xfrm>
            </p:grpSpPr>
            <p:sp>
              <p:nvSpPr>
                <p:cNvPr id="17" name="Line 10">
                  <a:extLst>
                    <a:ext uri="{FF2B5EF4-FFF2-40B4-BE49-F238E27FC236}">
                      <a16:creationId xmlns:a16="http://schemas.microsoft.com/office/drawing/2014/main" id="{FC84839C-E032-25D5-5F17-F39E88A0EA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297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18" name="Text Box 11">
                  <a:extLst>
                    <a:ext uri="{FF2B5EF4-FFF2-40B4-BE49-F238E27FC236}">
                      <a16:creationId xmlns:a16="http://schemas.microsoft.com/office/drawing/2014/main" id="{50F04A25-85A3-7383-E769-32C04A4D8D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3120"/>
                  <a:ext cx="62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r>
                    <a:rPr kumimoji="0" lang="es-MX" altLang="es-CO" i="0">
                      <a:solidFill>
                        <a:srgbClr val="000000"/>
                      </a:solidFill>
                    </a:rPr>
                    <a:t>20 N</a:t>
                  </a:r>
                  <a:endParaRPr kumimoji="0" lang="es-MX" altLang="es-CO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3" name="Text Box 12">
                <a:extLst>
                  <a:ext uri="{FF2B5EF4-FFF2-40B4-BE49-F238E27FC236}">
                    <a16:creationId xmlns:a16="http://schemas.microsoft.com/office/drawing/2014/main" id="{85725CF5-F87B-CAE5-103C-BEB3C2D491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496"/>
                <a:ext cx="21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solidFill>
                      <a:srgbClr val="000000"/>
                    </a:solidFill>
                  </a:rPr>
                  <a:t>Magnitude of force</a:t>
                </a:r>
                <a:endParaRPr kumimoji="0" lang="es-MX" altLang="es-CO" sz="300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821FC8F-9806-341F-4A57-5FF3AEA51B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264"/>
                <a:ext cx="672" cy="432"/>
                <a:chOff x="4224" y="2976"/>
                <a:chExt cx="672" cy="432"/>
              </a:xfrm>
            </p:grpSpPr>
            <p:sp>
              <p:nvSpPr>
                <p:cNvPr id="15" name="Line 14">
                  <a:extLst>
                    <a:ext uri="{FF2B5EF4-FFF2-40B4-BE49-F238E27FC236}">
                      <a16:creationId xmlns:a16="http://schemas.microsoft.com/office/drawing/2014/main" id="{8C4DC2E7-E8FA-1728-F51D-4B45116473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297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16" name="Text Box 15">
                  <a:extLst>
                    <a:ext uri="{FF2B5EF4-FFF2-40B4-BE49-F238E27FC236}">
                      <a16:creationId xmlns:a16="http://schemas.microsoft.com/office/drawing/2014/main" id="{4E8EEF66-65A9-60E0-E371-1FCC8326ED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3120"/>
                  <a:ext cx="62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r>
                    <a:rPr kumimoji="0" lang="es-MX" altLang="es-CO" i="0">
                      <a:solidFill>
                        <a:srgbClr val="000000"/>
                      </a:solidFill>
                    </a:rPr>
                    <a:t>40 N</a:t>
                  </a:r>
                  <a:endParaRPr kumimoji="0" lang="es-MX" altLang="es-CO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6" name="Group 16">
              <a:extLst>
                <a:ext uri="{FF2B5EF4-FFF2-40B4-BE49-F238E27FC236}">
                  <a16:creationId xmlns:a16="http://schemas.microsoft.com/office/drawing/2014/main" id="{F2B0529F-7E20-B0FE-2498-A5079924BB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448"/>
              <a:ext cx="2544" cy="1440"/>
              <a:chOff x="384" y="2448"/>
              <a:chExt cx="2544" cy="1440"/>
            </a:xfrm>
          </p:grpSpPr>
          <p:sp>
            <p:nvSpPr>
              <p:cNvPr id="7" name="Rectangle 17">
                <a:extLst>
                  <a:ext uri="{FF2B5EF4-FFF2-40B4-BE49-F238E27FC236}">
                    <a16:creationId xmlns:a16="http://schemas.microsoft.com/office/drawing/2014/main" id="{0A029C34-9BDC-1332-A4DD-CA7FDD01D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448"/>
                <a:ext cx="2544" cy="144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8" name="Text Box 18">
                <a:extLst>
                  <a:ext uri="{FF2B5EF4-FFF2-40B4-BE49-F238E27FC236}">
                    <a16:creationId xmlns:a16="http://schemas.microsoft.com/office/drawing/2014/main" id="{ADB67998-7262-675A-8956-16B9C12B65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2544"/>
                <a:ext cx="2352" cy="1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sz="3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The </a:t>
                </a:r>
                <a:r>
                  <a:rPr kumimoji="0" lang="es-MX" altLang="es-CO" sz="3200" i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40-N</a:t>
                </a:r>
                <a:r>
                  <a:rPr kumimoji="0" lang="es-MX" altLang="es-CO" sz="3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force produces twice the torque as does  the </a:t>
                </a:r>
                <a:r>
                  <a:rPr kumimoji="0" lang="es-MX" altLang="es-CO" sz="3200" i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20-N</a:t>
                </a:r>
                <a:r>
                  <a:rPr kumimoji="0" lang="es-MX" altLang="es-CO" sz="3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force.</a:t>
                </a:r>
                <a:endParaRPr kumimoji="0" lang="es-MX" altLang="es-CO" sz="3000"/>
              </a:p>
            </p:txBody>
          </p:sp>
        </p:grp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DDD6C7D-B656-2B69-723C-F1E1112F68F6}"/>
              </a:ext>
            </a:extLst>
          </p:cNvPr>
          <p:cNvGrpSpPr>
            <a:grpSpLocks/>
          </p:cNvGrpSpPr>
          <p:nvPr/>
        </p:nvGrpSpPr>
        <p:grpSpPr bwMode="auto">
          <a:xfrm>
            <a:off x="2104697" y="3654972"/>
            <a:ext cx="8229600" cy="2286000"/>
            <a:chOff x="432" y="1344"/>
            <a:chExt cx="5184" cy="1440"/>
          </a:xfrm>
        </p:grpSpPr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006B9235-FF68-B31B-D456-1BDE7A83D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344"/>
              <a:ext cx="2544" cy="14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8FA3EBFB-205D-86D1-EBE7-982607EAE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0"/>
              <a:ext cx="2352" cy="1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Each of the </a:t>
              </a:r>
              <a:r>
                <a:rPr kumimoji="0" lang="es-MX" altLang="es-CO" sz="3200" i="0">
                  <a:solidFill>
                    <a:srgbClr val="000000"/>
                  </a:solidFill>
                  <a:latin typeface="Times New Roman" panose="02020603050405020304" pitchFamily="18" charset="0"/>
                </a:rPr>
                <a:t>20-N </a:t>
              </a:r>
              <a:r>
                <a:rPr kumimoji="0" lang="es-MX" altLang="es-CO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forces has a different torque due to the direction of force</a:t>
              </a:r>
              <a:r>
                <a:rPr kumimoji="0" lang="es-MX" altLang="es-CO" sz="3200" i="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kumimoji="0" lang="es-MX" altLang="es-CO" sz="3000"/>
            </a:p>
          </p:txBody>
        </p: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AABD4717-85B7-A08D-7C43-CC7E010AF9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1344"/>
              <a:ext cx="2544" cy="1440"/>
              <a:chOff x="3072" y="1344"/>
              <a:chExt cx="2544" cy="1440"/>
            </a:xfrm>
          </p:grpSpPr>
          <p:sp>
            <p:nvSpPr>
              <p:cNvPr id="23" name="Rectangle 23">
                <a:extLst>
                  <a:ext uri="{FF2B5EF4-FFF2-40B4-BE49-F238E27FC236}">
                    <a16:creationId xmlns:a16="http://schemas.microsoft.com/office/drawing/2014/main" id="{D0362C3E-AAEE-E3DB-304D-0B61139F7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344"/>
                <a:ext cx="2544" cy="144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4" name="Line 24">
                <a:extLst>
                  <a:ext uri="{FF2B5EF4-FFF2-40B4-BE49-F238E27FC236}">
                    <a16:creationId xmlns:a16="http://schemas.microsoft.com/office/drawing/2014/main" id="{4A7B0F6E-79D7-AB08-1320-5BA57AA478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016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graphicFrame>
            <p:nvGraphicFramePr>
              <p:cNvPr id="25" name="Object 25">
                <a:extLst>
                  <a:ext uri="{FF2B5EF4-FFF2-40B4-BE49-F238E27FC236}">
                    <a16:creationId xmlns:a16="http://schemas.microsoft.com/office/drawing/2014/main" id="{9752169A-7490-11C6-3595-0253CE51BB1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1872"/>
              <a:ext cx="1008" cy="8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495360" imgH="396360" progId="MS_ClipArt_Gallery.2">
                      <p:embed/>
                    </p:oleObj>
                  </mc:Choice>
                  <mc:Fallback>
                    <p:oleObj name="Clip" r:id="rId5" imgW="495360" imgH="396360" progId="MS_ClipArt_Gallery.2">
                      <p:embed/>
                      <p:pic>
                        <p:nvPicPr>
                          <p:cNvPr id="605209" name="Object 25">
                            <a:extLst>
                              <a:ext uri="{FF2B5EF4-FFF2-40B4-BE49-F238E27FC236}">
                                <a16:creationId xmlns:a16="http://schemas.microsoft.com/office/drawing/2014/main" id="{3ABE6223-8162-4F29-8A89-94899F1CA13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1872"/>
                            <a:ext cx="1008" cy="8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AutoShape 26">
                <a:extLst>
                  <a:ext uri="{FF2B5EF4-FFF2-40B4-BE49-F238E27FC236}">
                    <a16:creationId xmlns:a16="http://schemas.microsoft.com/office/drawing/2014/main" id="{FB723658-D1EF-B0F7-31FA-B0534B433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496"/>
                <a:ext cx="96" cy="96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Text Box 27">
                <a:extLst>
                  <a:ext uri="{FF2B5EF4-FFF2-40B4-BE49-F238E27FC236}">
                    <a16:creationId xmlns:a16="http://schemas.microsoft.com/office/drawing/2014/main" id="{9FFD75E1-282E-A72C-1B49-EE1B75EA21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2448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i="0">
                    <a:solidFill>
                      <a:srgbClr val="000000"/>
                    </a:solidFill>
                  </a:rPr>
                  <a:t>20 N</a:t>
                </a:r>
                <a:endParaRPr kumimoji="0" lang="es-MX" altLang="es-CO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Text Box 28">
                <a:extLst>
                  <a:ext uri="{FF2B5EF4-FFF2-40B4-BE49-F238E27FC236}">
                    <a16:creationId xmlns:a16="http://schemas.microsoft.com/office/drawing/2014/main" id="{FD544CEE-46D8-4E11-405D-2AEF0957C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1440"/>
                <a:ext cx="21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solidFill>
                      <a:srgbClr val="000000"/>
                    </a:solidFill>
                  </a:rPr>
                  <a:t>Direction of Force</a:t>
                </a:r>
                <a:endParaRPr kumimoji="0" lang="es-MX" altLang="es-CO" sz="3000"/>
              </a:p>
            </p:txBody>
          </p:sp>
          <p:sp>
            <p:nvSpPr>
              <p:cNvPr id="29" name="Line 29">
                <a:extLst>
                  <a:ext uri="{FF2B5EF4-FFF2-40B4-BE49-F238E27FC236}">
                    <a16:creationId xmlns:a16="http://schemas.microsoft.com/office/drawing/2014/main" id="{AFC35418-AFF8-FCC3-0408-DB92BEB7A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1920"/>
                <a:ext cx="336" cy="4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0" name="Line 30">
                <a:extLst>
                  <a:ext uri="{FF2B5EF4-FFF2-40B4-BE49-F238E27FC236}">
                    <a16:creationId xmlns:a16="http://schemas.microsoft.com/office/drawing/2014/main" id="{5A87BECB-7FC0-9007-E5B9-4C94FB845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36" y="1824"/>
                <a:ext cx="528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1" name="Text Box 31">
                <a:extLst>
                  <a:ext uri="{FF2B5EF4-FFF2-40B4-BE49-F238E27FC236}">
                    <a16:creationId xmlns:a16="http://schemas.microsoft.com/office/drawing/2014/main" id="{5ACDF1DF-9B9D-9808-B3A0-FE676D36B5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1776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i="0">
                    <a:solidFill>
                      <a:srgbClr val="000000"/>
                    </a:solidFill>
                  </a:rPr>
                  <a:t>20 N</a:t>
                </a:r>
                <a:endParaRPr kumimoji="0" lang="es-MX" altLang="es-CO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Text Box 32">
                <a:extLst>
                  <a:ext uri="{FF2B5EF4-FFF2-40B4-BE49-F238E27FC236}">
                    <a16:creationId xmlns:a16="http://schemas.microsoft.com/office/drawing/2014/main" id="{E50A0945-B88C-B8D0-CF70-2739855B3D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211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solidFill>
                      <a:srgbClr val="000000"/>
                    </a:solidFill>
                    <a:latin typeface="Symbol" panose="05050102010706020507" pitchFamily="18" charset="2"/>
                  </a:rPr>
                  <a:t>q</a:t>
                </a:r>
                <a:endParaRPr kumimoji="0" lang="es-MX" altLang="es-CO" sz="3000">
                  <a:latin typeface="Symbol" panose="05050102010706020507" pitchFamily="18" charset="2"/>
                </a:endParaRPr>
              </a:p>
            </p:txBody>
          </p:sp>
          <p:sp>
            <p:nvSpPr>
              <p:cNvPr id="33" name="Text Box 33">
                <a:extLst>
                  <a:ext uri="{FF2B5EF4-FFF2-40B4-BE49-F238E27FC236}">
                    <a16:creationId xmlns:a16="http://schemas.microsoft.com/office/drawing/2014/main" id="{CCFB5564-9CA4-32AE-AB7C-8975F0914D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82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>
                    <a:solidFill>
                      <a:srgbClr val="000000"/>
                    </a:solidFill>
                    <a:latin typeface="Symbol" panose="05050102010706020507" pitchFamily="18" charset="2"/>
                  </a:rPr>
                  <a:t>q</a:t>
                </a:r>
                <a:endParaRPr kumimoji="0" lang="es-MX" altLang="es-CO" sz="3000">
                  <a:latin typeface="Symbol" panose="05050102010706020507" pitchFamily="18" charset="2"/>
                </a:endParaRPr>
              </a:p>
            </p:txBody>
          </p:sp>
          <p:sp>
            <p:nvSpPr>
              <p:cNvPr id="34" name="Text Box 34">
                <a:extLst>
                  <a:ext uri="{FF2B5EF4-FFF2-40B4-BE49-F238E27FC236}">
                    <a16:creationId xmlns:a16="http://schemas.microsoft.com/office/drawing/2014/main" id="{30CBF2CB-4F71-4672-1F8E-AC542235F8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2064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i="0">
                    <a:solidFill>
                      <a:srgbClr val="000000"/>
                    </a:solidFill>
                  </a:rPr>
                  <a:t>20 N</a:t>
                </a:r>
                <a:endParaRPr kumimoji="0" lang="es-MX" altLang="es-CO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E561A4-65DF-5A33-A862-23D8C288A18B}"/>
              </a:ext>
            </a:extLst>
          </p:cNvPr>
          <p:cNvGrpSpPr>
            <a:grpSpLocks/>
          </p:cNvGrpSpPr>
          <p:nvPr/>
        </p:nvGrpSpPr>
        <p:grpSpPr bwMode="auto">
          <a:xfrm>
            <a:off x="2104697" y="3654972"/>
            <a:ext cx="8229600" cy="2286000"/>
            <a:chOff x="432" y="2880"/>
            <a:chExt cx="5184" cy="1440"/>
          </a:xfrm>
        </p:grpSpPr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8D0C8110-CCEA-B316-F253-24B96A3DF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880"/>
              <a:ext cx="2544" cy="14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aphicFrame>
          <p:nvGraphicFramePr>
            <p:cNvPr id="37" name="Object 37">
              <a:extLst>
                <a:ext uri="{FF2B5EF4-FFF2-40B4-BE49-F238E27FC236}">
                  <a16:creationId xmlns:a16="http://schemas.microsoft.com/office/drawing/2014/main" id="{B011F66A-ED3C-FAED-BC60-5C80A79E08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3264"/>
            <a:ext cx="1008" cy="8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7" imgW="495360" imgH="396360" progId="MS_ClipArt_Gallery.2">
                    <p:embed/>
                  </p:oleObj>
                </mc:Choice>
                <mc:Fallback>
                  <p:oleObj name="Clip" r:id="rId7" imgW="495360" imgH="396360" progId="MS_ClipArt_Gallery.2">
                    <p:embed/>
                    <p:pic>
                      <p:nvPicPr>
                        <p:cNvPr id="605221" name="Object 37">
                          <a:extLst>
                            <a:ext uri="{FF2B5EF4-FFF2-40B4-BE49-F238E27FC236}">
                              <a16:creationId xmlns:a16="http://schemas.microsoft.com/office/drawing/2014/main" id="{BF552D67-5730-7D50-DDFE-1F24B3C660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264"/>
                          <a:ext cx="1008" cy="8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AutoShape 38">
              <a:extLst>
                <a:ext uri="{FF2B5EF4-FFF2-40B4-BE49-F238E27FC236}">
                  <a16:creationId xmlns:a16="http://schemas.microsoft.com/office/drawing/2014/main" id="{5323F252-57B9-BC27-C3D5-8E7972C82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888"/>
              <a:ext cx="96" cy="96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8C7286DC-1F1D-2414-2C23-D08F7661D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55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0">
                  <a:solidFill>
                    <a:srgbClr val="000000"/>
                  </a:solidFill>
                </a:rPr>
                <a:t>20 N</a:t>
              </a:r>
              <a:endParaRPr kumimoji="0" lang="es-MX" altLang="es-CO">
                <a:solidFill>
                  <a:srgbClr val="000000"/>
                </a:solidFill>
              </a:endParaRPr>
            </a:p>
          </p:txBody>
        </p:sp>
        <p:sp>
          <p:nvSpPr>
            <p:cNvPr id="40" name="Text Box 40">
              <a:extLst>
                <a:ext uri="{FF2B5EF4-FFF2-40B4-BE49-F238E27FC236}">
                  <a16:creationId xmlns:a16="http://schemas.microsoft.com/office/drawing/2014/main" id="{2D213B88-9A18-F12E-DA24-8AA0F56D3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928"/>
              <a:ext cx="21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Ubicación de fuerza</a:t>
              </a:r>
              <a:endParaRPr kumimoji="0" lang="es-MX" altLang="es-CO" sz="2400" dirty="0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EDF14D31-55AA-062E-9800-A034C0936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880"/>
              <a:ext cx="2544" cy="14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41591CD8-0442-5F7F-50D5-71F992B54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069"/>
              <a:ext cx="2352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/>
              <a:r>
                <a:rPr kumimoji="0" lang="es-MX" altLang="es-CO" sz="2400" dirty="0">
                  <a:solidFill>
                    <a:srgbClr val="000000"/>
                  </a:solidFill>
                </a:rPr>
                <a:t>Las fuerzas más cercanas al extremo de la llave tienen mayores momentos de torsión.</a:t>
              </a:r>
              <a:endParaRPr kumimoji="0" lang="es-MX" altLang="es-CO" sz="2400" dirty="0"/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68F44E13-F35F-D922-C420-E00D43E73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408"/>
              <a:ext cx="192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287C75C2-4543-E25A-2E47-1C37D2074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744"/>
              <a:ext cx="192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5" name="Text Box 45">
              <a:extLst>
                <a:ext uri="{FF2B5EF4-FFF2-40B4-BE49-F238E27FC236}">
                  <a16:creationId xmlns:a16="http://schemas.microsoft.com/office/drawing/2014/main" id="{726D459D-4BEF-8F87-1C50-8CD4CDF1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984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0">
                  <a:solidFill>
                    <a:srgbClr val="000000"/>
                  </a:solidFill>
                </a:rPr>
                <a:t>20 N</a:t>
              </a:r>
              <a:endParaRPr kumimoji="0" lang="es-MX" altLang="es-CO">
                <a:solidFill>
                  <a:srgbClr val="000000"/>
                </a:solidFill>
              </a:endParaRPr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E6F78B30-B882-1F82-3AC0-F16D3C9EA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600"/>
              <a:ext cx="192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7" name="Text Box 47">
              <a:extLst>
                <a:ext uri="{FF2B5EF4-FFF2-40B4-BE49-F238E27FC236}">
                  <a16:creationId xmlns:a16="http://schemas.microsoft.com/office/drawing/2014/main" id="{8968F008-3C5C-6761-642B-1D0953BE1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744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0">
                  <a:solidFill>
                    <a:srgbClr val="000000"/>
                  </a:solidFill>
                </a:rPr>
                <a:t>20 N</a:t>
              </a:r>
              <a:endParaRPr kumimoji="0" lang="es-MX" altLang="es-CO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291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CC4B8-F857-191A-8858-4E985C78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0098658-C92A-4BCE-CEC6-87BE482C5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25662" y="161652"/>
            <a:ext cx="7940675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Unidades para el momento de torsión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709A8D4-257E-7341-FF28-3F04E9E6C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103" y="1487641"/>
            <a:ext cx="10641725" cy="830997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dirty="0"/>
              <a:t>El momento de torsión es proporcional a la magnitud de F y a la distancia r desde el eje. Por tanto, una fórmula tentativa puede ser: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C104F9F-166E-E7E5-0E01-7837A3C15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550" y="2983452"/>
            <a:ext cx="1752600" cy="553998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pPr algn="ctr"/>
            <a:r>
              <a:rPr kumimoji="0" lang="es-MX" altLang="es-CO" sz="2400">
                <a:solidFill>
                  <a:srgbClr val="000000"/>
                </a:solidFill>
                <a:latin typeface="Symbol" panose="05050102010706020507" pitchFamily="18" charset="2"/>
              </a:rPr>
              <a:t>t</a:t>
            </a:r>
            <a:r>
              <a:rPr kumimoji="0"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 = Fr</a:t>
            </a:r>
            <a:endParaRPr kumimoji="0" lang="es-MX" altLang="es-CO" sz="2400">
              <a:latin typeface="Symbol" panose="05050102010706020507" pitchFamily="18" charset="2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9B0698FB-ED7E-5766-0D9D-052C87752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7112" y="2897341"/>
            <a:ext cx="3352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0" lang="es-MX" altLang="es-CO" sz="2400" dirty="0"/>
              <a:t>Unidades:</a:t>
            </a:r>
          </a:p>
          <a:p>
            <a:pPr algn="ctr">
              <a:spcBef>
                <a:spcPct val="0"/>
              </a:spcBef>
            </a:pPr>
            <a:r>
              <a:rPr kumimoji="0" lang="es-MX" altLang="es-CO" sz="2400" i="0" dirty="0" err="1"/>
              <a:t>N</a:t>
            </a:r>
            <a:r>
              <a:rPr kumimoji="0" lang="es-MX" altLang="es-CO" sz="2400" i="0" dirty="0" err="1">
                <a:sym typeface="Symbol" panose="05050102010706020507" pitchFamily="18" charset="2"/>
              </a:rPr>
              <a:t></a:t>
            </a:r>
            <a:r>
              <a:rPr kumimoji="0" lang="es-MX" altLang="es-CO" sz="2400" i="0" dirty="0" err="1"/>
              <a:t>m</a:t>
            </a:r>
            <a:r>
              <a:rPr kumimoji="0" lang="es-MX" altLang="es-CO" sz="2400" i="0" dirty="0"/>
              <a:t> o </a:t>
            </a:r>
            <a:r>
              <a:rPr kumimoji="0" lang="es-MX" altLang="es-CO" sz="2400" i="0" dirty="0" err="1"/>
              <a:t>lb</a:t>
            </a:r>
            <a:r>
              <a:rPr kumimoji="0" lang="es-MX" altLang="es-CO" sz="2400" i="0" dirty="0" err="1">
                <a:sym typeface="Symbol" panose="05050102010706020507" pitchFamily="18" charset="2"/>
              </a:rPr>
              <a:t></a:t>
            </a:r>
            <a:r>
              <a:rPr kumimoji="0" lang="es-MX" altLang="es-CO" sz="2400" i="0" dirty="0" err="1"/>
              <a:t>ft</a:t>
            </a:r>
            <a:endParaRPr kumimoji="0" lang="es-MX" altLang="es-CO" sz="2400" dirty="0"/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E2F82EBA-3524-67E0-77AD-E39A4DB62B39}"/>
              </a:ext>
            </a:extLst>
          </p:cNvPr>
          <p:cNvGrpSpPr>
            <a:grpSpLocks/>
          </p:cNvGrpSpPr>
          <p:nvPr/>
        </p:nvGrpSpPr>
        <p:grpSpPr bwMode="auto">
          <a:xfrm>
            <a:off x="6091237" y="4046264"/>
            <a:ext cx="3581400" cy="2209800"/>
            <a:chOff x="3120" y="2634"/>
            <a:chExt cx="2256" cy="1392"/>
          </a:xfrm>
        </p:grpSpPr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61FFF487-A552-49B6-14CA-8FF729D92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634"/>
              <a:ext cx="2256" cy="1392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458248D8-A328-0706-297F-19F97894F5A4}"/>
                </a:ext>
              </a:extLst>
            </p:cNvPr>
            <p:cNvGrpSpPr>
              <a:grpSpLocks/>
            </p:cNvGrpSpPr>
            <p:nvPr/>
          </p:nvGrpSpPr>
          <p:grpSpPr bwMode="auto">
            <a:xfrm rot="-2909753">
              <a:off x="3694" y="2498"/>
              <a:ext cx="1011" cy="1296"/>
              <a:chOff x="1344" y="2787"/>
              <a:chExt cx="1011" cy="1296"/>
            </a:xfrm>
          </p:grpSpPr>
          <p:sp>
            <p:nvSpPr>
              <p:cNvPr id="15" name="Freeform 9">
                <a:extLst>
                  <a:ext uri="{FF2B5EF4-FFF2-40B4-BE49-F238E27FC236}">
                    <a16:creationId xmlns:a16="http://schemas.microsoft.com/office/drawing/2014/main" id="{E0317731-6430-D5CF-FE43-A006AE136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811"/>
                <a:ext cx="731" cy="564"/>
              </a:xfrm>
              <a:custGeom>
                <a:avLst/>
                <a:gdLst>
                  <a:gd name="T0" fmla="*/ 96 w 1462"/>
                  <a:gd name="T1" fmla="*/ 686 h 1127"/>
                  <a:gd name="T2" fmla="*/ 0 w 1462"/>
                  <a:gd name="T3" fmla="*/ 489 h 1127"/>
                  <a:gd name="T4" fmla="*/ 135 w 1462"/>
                  <a:gd name="T5" fmla="*/ 204 h 1127"/>
                  <a:gd name="T6" fmla="*/ 323 w 1462"/>
                  <a:gd name="T7" fmla="*/ 7 h 1127"/>
                  <a:gd name="T8" fmla="*/ 559 w 1462"/>
                  <a:gd name="T9" fmla="*/ 0 h 1127"/>
                  <a:gd name="T10" fmla="*/ 801 w 1462"/>
                  <a:gd name="T11" fmla="*/ 250 h 1127"/>
                  <a:gd name="T12" fmla="*/ 1462 w 1462"/>
                  <a:gd name="T13" fmla="*/ 1016 h 1127"/>
                  <a:gd name="T14" fmla="*/ 1360 w 1462"/>
                  <a:gd name="T15" fmla="*/ 1127 h 1127"/>
                  <a:gd name="T16" fmla="*/ 1163 w 1462"/>
                  <a:gd name="T17" fmla="*/ 1071 h 1127"/>
                  <a:gd name="T18" fmla="*/ 503 w 1462"/>
                  <a:gd name="T19" fmla="*/ 433 h 1127"/>
                  <a:gd name="T20" fmla="*/ 362 w 1462"/>
                  <a:gd name="T21" fmla="*/ 416 h 1127"/>
                  <a:gd name="T22" fmla="*/ 96 w 1462"/>
                  <a:gd name="T23" fmla="*/ 686 h 1127"/>
                  <a:gd name="T24" fmla="*/ 96 w 1462"/>
                  <a:gd name="T25" fmla="*/ 686 h 1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62" h="1127">
                    <a:moveTo>
                      <a:pt x="96" y="686"/>
                    </a:moveTo>
                    <a:lnTo>
                      <a:pt x="0" y="489"/>
                    </a:lnTo>
                    <a:lnTo>
                      <a:pt x="135" y="204"/>
                    </a:lnTo>
                    <a:lnTo>
                      <a:pt x="323" y="7"/>
                    </a:lnTo>
                    <a:lnTo>
                      <a:pt x="559" y="0"/>
                    </a:lnTo>
                    <a:lnTo>
                      <a:pt x="801" y="250"/>
                    </a:lnTo>
                    <a:lnTo>
                      <a:pt x="1462" y="1016"/>
                    </a:lnTo>
                    <a:lnTo>
                      <a:pt x="1360" y="1127"/>
                    </a:lnTo>
                    <a:lnTo>
                      <a:pt x="1163" y="1071"/>
                    </a:lnTo>
                    <a:lnTo>
                      <a:pt x="503" y="433"/>
                    </a:lnTo>
                    <a:lnTo>
                      <a:pt x="362" y="416"/>
                    </a:lnTo>
                    <a:lnTo>
                      <a:pt x="96" y="686"/>
                    </a:lnTo>
                    <a:lnTo>
                      <a:pt x="96" y="686"/>
                    </a:lnTo>
                    <a:close/>
                  </a:path>
                </a:pathLst>
              </a:custGeom>
              <a:solidFill>
                <a:srgbClr val="A3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7D27169C-39FE-8C8C-490B-930C3F5C5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981"/>
                <a:ext cx="782" cy="1087"/>
              </a:xfrm>
              <a:custGeom>
                <a:avLst/>
                <a:gdLst>
                  <a:gd name="T0" fmla="*/ 590 w 1565"/>
                  <a:gd name="T1" fmla="*/ 0 h 2176"/>
                  <a:gd name="T2" fmla="*/ 0 w 1565"/>
                  <a:gd name="T3" fmla="*/ 528 h 2176"/>
                  <a:gd name="T4" fmla="*/ 31 w 1565"/>
                  <a:gd name="T5" fmla="*/ 740 h 2176"/>
                  <a:gd name="T6" fmla="*/ 1359 w 1565"/>
                  <a:gd name="T7" fmla="*/ 2176 h 2176"/>
                  <a:gd name="T8" fmla="*/ 1565 w 1565"/>
                  <a:gd name="T9" fmla="*/ 2056 h 2176"/>
                  <a:gd name="T10" fmla="*/ 1556 w 1565"/>
                  <a:gd name="T11" fmla="*/ 1828 h 2176"/>
                  <a:gd name="T12" fmla="*/ 740 w 1565"/>
                  <a:gd name="T13" fmla="*/ 954 h 2176"/>
                  <a:gd name="T14" fmla="*/ 692 w 1565"/>
                  <a:gd name="T15" fmla="*/ 764 h 2176"/>
                  <a:gd name="T16" fmla="*/ 920 w 1565"/>
                  <a:gd name="T17" fmla="*/ 409 h 2176"/>
                  <a:gd name="T18" fmla="*/ 864 w 1565"/>
                  <a:gd name="T19" fmla="*/ 197 h 2176"/>
                  <a:gd name="T20" fmla="*/ 590 w 1565"/>
                  <a:gd name="T21" fmla="*/ 0 h 2176"/>
                  <a:gd name="T22" fmla="*/ 590 w 1565"/>
                  <a:gd name="T23" fmla="*/ 0 h 2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65" h="2176">
                    <a:moveTo>
                      <a:pt x="590" y="0"/>
                    </a:moveTo>
                    <a:lnTo>
                      <a:pt x="0" y="528"/>
                    </a:lnTo>
                    <a:lnTo>
                      <a:pt x="31" y="740"/>
                    </a:lnTo>
                    <a:lnTo>
                      <a:pt x="1359" y="2176"/>
                    </a:lnTo>
                    <a:lnTo>
                      <a:pt x="1565" y="2056"/>
                    </a:lnTo>
                    <a:lnTo>
                      <a:pt x="1556" y="1828"/>
                    </a:lnTo>
                    <a:lnTo>
                      <a:pt x="740" y="954"/>
                    </a:lnTo>
                    <a:lnTo>
                      <a:pt x="692" y="764"/>
                    </a:lnTo>
                    <a:lnTo>
                      <a:pt x="920" y="409"/>
                    </a:lnTo>
                    <a:lnTo>
                      <a:pt x="864" y="197"/>
                    </a:lnTo>
                    <a:lnTo>
                      <a:pt x="590" y="0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F2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7" name="Freeform 11">
                <a:extLst>
                  <a:ext uri="{FF2B5EF4-FFF2-40B4-BE49-F238E27FC236}">
                    <a16:creationId xmlns:a16="http://schemas.microsoft.com/office/drawing/2014/main" id="{8A2E4FE1-9A96-310D-42C6-C6C5D7828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787"/>
                <a:ext cx="439" cy="398"/>
              </a:xfrm>
              <a:custGeom>
                <a:avLst/>
                <a:gdLst>
                  <a:gd name="T0" fmla="*/ 877 w 877"/>
                  <a:gd name="T1" fmla="*/ 387 h 796"/>
                  <a:gd name="T2" fmla="*/ 801 w 877"/>
                  <a:gd name="T3" fmla="*/ 176 h 796"/>
                  <a:gd name="T4" fmla="*/ 675 w 877"/>
                  <a:gd name="T5" fmla="*/ 66 h 796"/>
                  <a:gd name="T6" fmla="*/ 498 w 877"/>
                  <a:gd name="T7" fmla="*/ 0 h 796"/>
                  <a:gd name="T8" fmla="*/ 323 w 877"/>
                  <a:gd name="T9" fmla="*/ 43 h 796"/>
                  <a:gd name="T10" fmla="*/ 189 w 877"/>
                  <a:gd name="T11" fmla="*/ 110 h 796"/>
                  <a:gd name="T12" fmla="*/ 43 w 877"/>
                  <a:gd name="T13" fmla="*/ 294 h 796"/>
                  <a:gd name="T14" fmla="*/ 0 w 877"/>
                  <a:gd name="T15" fmla="*/ 465 h 796"/>
                  <a:gd name="T16" fmla="*/ 0 w 877"/>
                  <a:gd name="T17" fmla="*/ 626 h 796"/>
                  <a:gd name="T18" fmla="*/ 124 w 877"/>
                  <a:gd name="T19" fmla="*/ 796 h 796"/>
                  <a:gd name="T20" fmla="*/ 432 w 877"/>
                  <a:gd name="T21" fmla="*/ 508 h 796"/>
                  <a:gd name="T22" fmla="*/ 616 w 877"/>
                  <a:gd name="T23" fmla="*/ 671 h 796"/>
                  <a:gd name="T24" fmla="*/ 719 w 877"/>
                  <a:gd name="T25" fmla="*/ 560 h 796"/>
                  <a:gd name="T26" fmla="*/ 645 w 877"/>
                  <a:gd name="T27" fmla="*/ 428 h 796"/>
                  <a:gd name="T28" fmla="*/ 521 w 877"/>
                  <a:gd name="T29" fmla="*/ 369 h 796"/>
                  <a:gd name="T30" fmla="*/ 425 w 877"/>
                  <a:gd name="T31" fmla="*/ 391 h 796"/>
                  <a:gd name="T32" fmla="*/ 264 w 877"/>
                  <a:gd name="T33" fmla="*/ 443 h 796"/>
                  <a:gd name="T34" fmla="*/ 197 w 877"/>
                  <a:gd name="T35" fmla="*/ 552 h 796"/>
                  <a:gd name="T36" fmla="*/ 138 w 877"/>
                  <a:gd name="T37" fmla="*/ 634 h 796"/>
                  <a:gd name="T38" fmla="*/ 109 w 877"/>
                  <a:gd name="T39" fmla="*/ 544 h 796"/>
                  <a:gd name="T40" fmla="*/ 109 w 877"/>
                  <a:gd name="T41" fmla="*/ 428 h 796"/>
                  <a:gd name="T42" fmla="*/ 197 w 877"/>
                  <a:gd name="T43" fmla="*/ 294 h 796"/>
                  <a:gd name="T44" fmla="*/ 368 w 877"/>
                  <a:gd name="T45" fmla="*/ 162 h 796"/>
                  <a:gd name="T46" fmla="*/ 514 w 877"/>
                  <a:gd name="T47" fmla="*/ 147 h 796"/>
                  <a:gd name="T48" fmla="*/ 624 w 877"/>
                  <a:gd name="T49" fmla="*/ 191 h 796"/>
                  <a:gd name="T50" fmla="*/ 877 w 877"/>
                  <a:gd name="T51" fmla="*/ 387 h 796"/>
                  <a:gd name="T52" fmla="*/ 877 w 877"/>
                  <a:gd name="T53" fmla="*/ 387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77" h="796">
                    <a:moveTo>
                      <a:pt x="877" y="387"/>
                    </a:moveTo>
                    <a:lnTo>
                      <a:pt x="801" y="176"/>
                    </a:lnTo>
                    <a:lnTo>
                      <a:pt x="675" y="66"/>
                    </a:lnTo>
                    <a:lnTo>
                      <a:pt x="498" y="0"/>
                    </a:lnTo>
                    <a:lnTo>
                      <a:pt x="323" y="43"/>
                    </a:lnTo>
                    <a:lnTo>
                      <a:pt x="189" y="110"/>
                    </a:lnTo>
                    <a:lnTo>
                      <a:pt x="43" y="294"/>
                    </a:lnTo>
                    <a:lnTo>
                      <a:pt x="0" y="465"/>
                    </a:lnTo>
                    <a:lnTo>
                      <a:pt x="0" y="626"/>
                    </a:lnTo>
                    <a:lnTo>
                      <a:pt x="124" y="796"/>
                    </a:lnTo>
                    <a:lnTo>
                      <a:pt x="432" y="508"/>
                    </a:lnTo>
                    <a:lnTo>
                      <a:pt x="616" y="671"/>
                    </a:lnTo>
                    <a:lnTo>
                      <a:pt x="719" y="560"/>
                    </a:lnTo>
                    <a:lnTo>
                      <a:pt x="645" y="428"/>
                    </a:lnTo>
                    <a:lnTo>
                      <a:pt x="521" y="369"/>
                    </a:lnTo>
                    <a:lnTo>
                      <a:pt x="425" y="391"/>
                    </a:lnTo>
                    <a:lnTo>
                      <a:pt x="264" y="443"/>
                    </a:lnTo>
                    <a:lnTo>
                      <a:pt x="197" y="552"/>
                    </a:lnTo>
                    <a:lnTo>
                      <a:pt x="138" y="634"/>
                    </a:lnTo>
                    <a:lnTo>
                      <a:pt x="109" y="544"/>
                    </a:lnTo>
                    <a:lnTo>
                      <a:pt x="109" y="428"/>
                    </a:lnTo>
                    <a:lnTo>
                      <a:pt x="197" y="294"/>
                    </a:lnTo>
                    <a:lnTo>
                      <a:pt x="368" y="162"/>
                    </a:lnTo>
                    <a:lnTo>
                      <a:pt x="514" y="147"/>
                    </a:lnTo>
                    <a:lnTo>
                      <a:pt x="624" y="191"/>
                    </a:lnTo>
                    <a:lnTo>
                      <a:pt x="877" y="387"/>
                    </a:lnTo>
                    <a:lnTo>
                      <a:pt x="877" y="3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AFE6BE81-F8BA-9B7E-4351-DA2727E39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976"/>
                <a:ext cx="827" cy="1107"/>
              </a:xfrm>
              <a:custGeom>
                <a:avLst/>
                <a:gdLst>
                  <a:gd name="T0" fmla="*/ 0 w 1653"/>
                  <a:gd name="T1" fmla="*/ 552 h 2213"/>
                  <a:gd name="T2" fmla="*/ 94 w 1653"/>
                  <a:gd name="T3" fmla="*/ 381 h 2213"/>
                  <a:gd name="T4" fmla="*/ 227 w 1653"/>
                  <a:gd name="T5" fmla="*/ 248 h 2213"/>
                  <a:gd name="T6" fmla="*/ 359 w 1653"/>
                  <a:gd name="T7" fmla="*/ 100 h 2213"/>
                  <a:gd name="T8" fmla="*/ 532 w 1653"/>
                  <a:gd name="T9" fmla="*/ 0 h 2213"/>
                  <a:gd name="T10" fmla="*/ 634 w 1653"/>
                  <a:gd name="T11" fmla="*/ 0 h 2213"/>
                  <a:gd name="T12" fmla="*/ 775 w 1653"/>
                  <a:gd name="T13" fmla="*/ 39 h 2213"/>
                  <a:gd name="T14" fmla="*/ 916 w 1653"/>
                  <a:gd name="T15" fmla="*/ 143 h 2213"/>
                  <a:gd name="T16" fmla="*/ 1001 w 1653"/>
                  <a:gd name="T17" fmla="*/ 293 h 2213"/>
                  <a:gd name="T18" fmla="*/ 984 w 1653"/>
                  <a:gd name="T19" fmla="*/ 448 h 2213"/>
                  <a:gd name="T20" fmla="*/ 898 w 1653"/>
                  <a:gd name="T21" fmla="*/ 545 h 2213"/>
                  <a:gd name="T22" fmla="*/ 808 w 1653"/>
                  <a:gd name="T23" fmla="*/ 677 h 2213"/>
                  <a:gd name="T24" fmla="*/ 756 w 1653"/>
                  <a:gd name="T25" fmla="*/ 788 h 2213"/>
                  <a:gd name="T26" fmla="*/ 778 w 1653"/>
                  <a:gd name="T27" fmla="*/ 905 h 2213"/>
                  <a:gd name="T28" fmla="*/ 898 w 1653"/>
                  <a:gd name="T29" fmla="*/ 1075 h 2213"/>
                  <a:gd name="T30" fmla="*/ 1323 w 1653"/>
                  <a:gd name="T31" fmla="*/ 1452 h 2213"/>
                  <a:gd name="T32" fmla="*/ 1574 w 1653"/>
                  <a:gd name="T33" fmla="*/ 1681 h 2213"/>
                  <a:gd name="T34" fmla="*/ 1653 w 1653"/>
                  <a:gd name="T35" fmla="*/ 1894 h 2213"/>
                  <a:gd name="T36" fmla="*/ 1646 w 1653"/>
                  <a:gd name="T37" fmla="*/ 2086 h 2213"/>
                  <a:gd name="T38" fmla="*/ 1522 w 1653"/>
                  <a:gd name="T39" fmla="*/ 2213 h 2213"/>
                  <a:gd name="T40" fmla="*/ 1381 w 1653"/>
                  <a:gd name="T41" fmla="*/ 2211 h 2213"/>
                  <a:gd name="T42" fmla="*/ 1294 w 1653"/>
                  <a:gd name="T43" fmla="*/ 2108 h 2213"/>
                  <a:gd name="T44" fmla="*/ 1388 w 1653"/>
                  <a:gd name="T45" fmla="*/ 2041 h 2213"/>
                  <a:gd name="T46" fmla="*/ 1485 w 1653"/>
                  <a:gd name="T47" fmla="*/ 2079 h 2213"/>
                  <a:gd name="T48" fmla="*/ 1522 w 1653"/>
                  <a:gd name="T49" fmla="*/ 1909 h 2213"/>
                  <a:gd name="T50" fmla="*/ 1361 w 1653"/>
                  <a:gd name="T51" fmla="*/ 1746 h 2213"/>
                  <a:gd name="T52" fmla="*/ 646 w 1653"/>
                  <a:gd name="T53" fmla="*/ 875 h 2213"/>
                  <a:gd name="T54" fmla="*/ 602 w 1653"/>
                  <a:gd name="T55" fmla="*/ 713 h 2213"/>
                  <a:gd name="T56" fmla="*/ 695 w 1653"/>
                  <a:gd name="T57" fmla="*/ 617 h 2213"/>
                  <a:gd name="T58" fmla="*/ 817 w 1653"/>
                  <a:gd name="T59" fmla="*/ 457 h 2213"/>
                  <a:gd name="T60" fmla="*/ 857 w 1653"/>
                  <a:gd name="T61" fmla="*/ 284 h 2213"/>
                  <a:gd name="T62" fmla="*/ 698 w 1653"/>
                  <a:gd name="T63" fmla="*/ 141 h 2213"/>
                  <a:gd name="T64" fmla="*/ 537 w 1653"/>
                  <a:gd name="T65" fmla="*/ 130 h 2213"/>
                  <a:gd name="T66" fmla="*/ 324 w 1653"/>
                  <a:gd name="T67" fmla="*/ 268 h 2213"/>
                  <a:gd name="T68" fmla="*/ 79 w 1653"/>
                  <a:gd name="T69" fmla="*/ 507 h 2213"/>
                  <a:gd name="T70" fmla="*/ 0 w 1653"/>
                  <a:gd name="T71" fmla="*/ 552 h 2213"/>
                  <a:gd name="T72" fmla="*/ 0 w 1653"/>
                  <a:gd name="T73" fmla="*/ 552 h 2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653" h="2213">
                    <a:moveTo>
                      <a:pt x="0" y="552"/>
                    </a:moveTo>
                    <a:lnTo>
                      <a:pt x="94" y="381"/>
                    </a:lnTo>
                    <a:lnTo>
                      <a:pt x="227" y="248"/>
                    </a:lnTo>
                    <a:lnTo>
                      <a:pt x="359" y="100"/>
                    </a:lnTo>
                    <a:lnTo>
                      <a:pt x="532" y="0"/>
                    </a:lnTo>
                    <a:lnTo>
                      <a:pt x="634" y="0"/>
                    </a:lnTo>
                    <a:lnTo>
                      <a:pt x="775" y="39"/>
                    </a:lnTo>
                    <a:lnTo>
                      <a:pt x="916" y="143"/>
                    </a:lnTo>
                    <a:lnTo>
                      <a:pt x="1001" y="293"/>
                    </a:lnTo>
                    <a:lnTo>
                      <a:pt x="984" y="448"/>
                    </a:lnTo>
                    <a:lnTo>
                      <a:pt x="898" y="545"/>
                    </a:lnTo>
                    <a:lnTo>
                      <a:pt x="808" y="677"/>
                    </a:lnTo>
                    <a:lnTo>
                      <a:pt x="756" y="788"/>
                    </a:lnTo>
                    <a:lnTo>
                      <a:pt x="778" y="905"/>
                    </a:lnTo>
                    <a:lnTo>
                      <a:pt x="898" y="1075"/>
                    </a:lnTo>
                    <a:lnTo>
                      <a:pt x="1323" y="1452"/>
                    </a:lnTo>
                    <a:lnTo>
                      <a:pt x="1574" y="1681"/>
                    </a:lnTo>
                    <a:lnTo>
                      <a:pt x="1653" y="1894"/>
                    </a:lnTo>
                    <a:lnTo>
                      <a:pt x="1646" y="2086"/>
                    </a:lnTo>
                    <a:lnTo>
                      <a:pt x="1522" y="2213"/>
                    </a:lnTo>
                    <a:lnTo>
                      <a:pt x="1381" y="2211"/>
                    </a:lnTo>
                    <a:lnTo>
                      <a:pt x="1294" y="2108"/>
                    </a:lnTo>
                    <a:lnTo>
                      <a:pt x="1388" y="2041"/>
                    </a:lnTo>
                    <a:lnTo>
                      <a:pt x="1485" y="2079"/>
                    </a:lnTo>
                    <a:lnTo>
                      <a:pt x="1522" y="1909"/>
                    </a:lnTo>
                    <a:lnTo>
                      <a:pt x="1361" y="1746"/>
                    </a:lnTo>
                    <a:lnTo>
                      <a:pt x="646" y="875"/>
                    </a:lnTo>
                    <a:lnTo>
                      <a:pt x="602" y="713"/>
                    </a:lnTo>
                    <a:lnTo>
                      <a:pt x="695" y="617"/>
                    </a:lnTo>
                    <a:lnTo>
                      <a:pt x="817" y="457"/>
                    </a:lnTo>
                    <a:lnTo>
                      <a:pt x="857" y="284"/>
                    </a:lnTo>
                    <a:lnTo>
                      <a:pt x="698" y="141"/>
                    </a:lnTo>
                    <a:lnTo>
                      <a:pt x="537" y="130"/>
                    </a:lnTo>
                    <a:lnTo>
                      <a:pt x="324" y="268"/>
                    </a:lnTo>
                    <a:lnTo>
                      <a:pt x="79" y="507"/>
                    </a:lnTo>
                    <a:lnTo>
                      <a:pt x="0" y="552"/>
                    </a:lnTo>
                    <a:lnTo>
                      <a:pt x="0" y="5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9" name="Freeform 13">
                <a:extLst>
                  <a:ext uri="{FF2B5EF4-FFF2-40B4-BE49-F238E27FC236}">
                    <a16:creationId xmlns:a16="http://schemas.microsoft.com/office/drawing/2014/main" id="{80842E05-026D-964F-ADC1-911548AE3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0" y="3185"/>
                <a:ext cx="218" cy="236"/>
              </a:xfrm>
              <a:custGeom>
                <a:avLst/>
                <a:gdLst>
                  <a:gd name="T0" fmla="*/ 236 w 436"/>
                  <a:gd name="T1" fmla="*/ 0 h 472"/>
                  <a:gd name="T2" fmla="*/ 421 w 436"/>
                  <a:gd name="T3" fmla="*/ 228 h 472"/>
                  <a:gd name="T4" fmla="*/ 436 w 436"/>
                  <a:gd name="T5" fmla="*/ 340 h 472"/>
                  <a:gd name="T6" fmla="*/ 413 w 436"/>
                  <a:gd name="T7" fmla="*/ 436 h 472"/>
                  <a:gd name="T8" fmla="*/ 288 w 436"/>
                  <a:gd name="T9" fmla="*/ 472 h 472"/>
                  <a:gd name="T10" fmla="*/ 171 w 436"/>
                  <a:gd name="T11" fmla="*/ 428 h 472"/>
                  <a:gd name="T12" fmla="*/ 0 w 436"/>
                  <a:gd name="T13" fmla="*/ 213 h 472"/>
                  <a:gd name="T14" fmla="*/ 82 w 436"/>
                  <a:gd name="T15" fmla="*/ 147 h 472"/>
                  <a:gd name="T16" fmla="*/ 250 w 436"/>
                  <a:gd name="T17" fmla="*/ 348 h 472"/>
                  <a:gd name="T18" fmla="*/ 318 w 436"/>
                  <a:gd name="T19" fmla="*/ 348 h 472"/>
                  <a:gd name="T20" fmla="*/ 332 w 436"/>
                  <a:gd name="T21" fmla="*/ 281 h 472"/>
                  <a:gd name="T22" fmla="*/ 186 w 436"/>
                  <a:gd name="T23" fmla="*/ 74 h 472"/>
                  <a:gd name="T24" fmla="*/ 236 w 436"/>
                  <a:gd name="T25" fmla="*/ 0 h 472"/>
                  <a:gd name="T26" fmla="*/ 236 w 436"/>
                  <a:gd name="T27" fmla="*/ 0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36" h="472">
                    <a:moveTo>
                      <a:pt x="236" y="0"/>
                    </a:moveTo>
                    <a:lnTo>
                      <a:pt x="421" y="228"/>
                    </a:lnTo>
                    <a:lnTo>
                      <a:pt x="436" y="340"/>
                    </a:lnTo>
                    <a:lnTo>
                      <a:pt x="413" y="436"/>
                    </a:lnTo>
                    <a:lnTo>
                      <a:pt x="288" y="472"/>
                    </a:lnTo>
                    <a:lnTo>
                      <a:pt x="171" y="428"/>
                    </a:lnTo>
                    <a:lnTo>
                      <a:pt x="0" y="213"/>
                    </a:lnTo>
                    <a:lnTo>
                      <a:pt x="82" y="147"/>
                    </a:lnTo>
                    <a:lnTo>
                      <a:pt x="250" y="348"/>
                    </a:lnTo>
                    <a:lnTo>
                      <a:pt x="318" y="348"/>
                    </a:lnTo>
                    <a:lnTo>
                      <a:pt x="332" y="281"/>
                    </a:lnTo>
                    <a:lnTo>
                      <a:pt x="186" y="74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0" name="Freeform 14">
                <a:extLst>
                  <a:ext uri="{FF2B5EF4-FFF2-40B4-BE49-F238E27FC236}">
                    <a16:creationId xmlns:a16="http://schemas.microsoft.com/office/drawing/2014/main" id="{02B5F8E9-A3FE-D3F0-3BF3-B6E282287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3292"/>
                <a:ext cx="608" cy="705"/>
              </a:xfrm>
              <a:custGeom>
                <a:avLst/>
                <a:gdLst>
                  <a:gd name="T0" fmla="*/ 0 w 1215"/>
                  <a:gd name="T1" fmla="*/ 0 h 1410"/>
                  <a:gd name="T2" fmla="*/ 52 w 1215"/>
                  <a:gd name="T3" fmla="*/ 259 h 1410"/>
                  <a:gd name="T4" fmla="*/ 250 w 1215"/>
                  <a:gd name="T5" fmla="*/ 444 h 1410"/>
                  <a:gd name="T6" fmla="*/ 1215 w 1215"/>
                  <a:gd name="T7" fmla="*/ 1410 h 1410"/>
                  <a:gd name="T8" fmla="*/ 1201 w 1215"/>
                  <a:gd name="T9" fmla="*/ 1313 h 1410"/>
                  <a:gd name="T10" fmla="*/ 235 w 1215"/>
                  <a:gd name="T11" fmla="*/ 223 h 1410"/>
                  <a:gd name="T12" fmla="*/ 0 w 1215"/>
                  <a:gd name="T13" fmla="*/ 0 h 1410"/>
                  <a:gd name="T14" fmla="*/ 0 w 1215"/>
                  <a:gd name="T15" fmla="*/ 0 h 1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5" h="1410">
                    <a:moveTo>
                      <a:pt x="0" y="0"/>
                    </a:moveTo>
                    <a:lnTo>
                      <a:pt x="52" y="259"/>
                    </a:lnTo>
                    <a:lnTo>
                      <a:pt x="250" y="444"/>
                    </a:lnTo>
                    <a:lnTo>
                      <a:pt x="1215" y="1410"/>
                    </a:lnTo>
                    <a:lnTo>
                      <a:pt x="1201" y="1313"/>
                    </a:lnTo>
                    <a:lnTo>
                      <a:pt x="235" y="22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1" name="Freeform 15">
                <a:extLst>
                  <a:ext uri="{FF2B5EF4-FFF2-40B4-BE49-F238E27FC236}">
                    <a16:creationId xmlns:a16="http://schemas.microsoft.com/office/drawing/2014/main" id="{1C5CCAD9-B265-0287-4206-8ACB0932B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3834"/>
                <a:ext cx="106" cy="136"/>
              </a:xfrm>
              <a:custGeom>
                <a:avLst/>
                <a:gdLst>
                  <a:gd name="T0" fmla="*/ 74 w 213"/>
                  <a:gd name="T1" fmla="*/ 0 h 273"/>
                  <a:gd name="T2" fmla="*/ 0 w 213"/>
                  <a:gd name="T3" fmla="*/ 60 h 273"/>
                  <a:gd name="T4" fmla="*/ 59 w 213"/>
                  <a:gd name="T5" fmla="*/ 171 h 273"/>
                  <a:gd name="T6" fmla="*/ 198 w 213"/>
                  <a:gd name="T7" fmla="*/ 273 h 273"/>
                  <a:gd name="T8" fmla="*/ 213 w 213"/>
                  <a:gd name="T9" fmla="*/ 208 h 273"/>
                  <a:gd name="T10" fmla="*/ 125 w 213"/>
                  <a:gd name="T11" fmla="*/ 111 h 273"/>
                  <a:gd name="T12" fmla="*/ 74 w 213"/>
                  <a:gd name="T13" fmla="*/ 0 h 273"/>
                  <a:gd name="T14" fmla="*/ 74 w 213"/>
                  <a:gd name="T15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273">
                    <a:moveTo>
                      <a:pt x="74" y="0"/>
                    </a:moveTo>
                    <a:lnTo>
                      <a:pt x="0" y="60"/>
                    </a:lnTo>
                    <a:lnTo>
                      <a:pt x="59" y="171"/>
                    </a:lnTo>
                    <a:lnTo>
                      <a:pt x="198" y="273"/>
                    </a:lnTo>
                    <a:lnTo>
                      <a:pt x="213" y="208"/>
                    </a:lnTo>
                    <a:lnTo>
                      <a:pt x="125" y="111"/>
                    </a:lnTo>
                    <a:lnTo>
                      <a:pt x="74" y="0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2" name="Freeform 16">
                <a:extLst>
                  <a:ext uri="{FF2B5EF4-FFF2-40B4-BE49-F238E27FC236}">
                    <a16:creationId xmlns:a16="http://schemas.microsoft.com/office/drawing/2014/main" id="{A3A88E91-2EC9-FE96-DC1B-E0651474F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3038"/>
                <a:ext cx="182" cy="237"/>
              </a:xfrm>
              <a:custGeom>
                <a:avLst/>
                <a:gdLst>
                  <a:gd name="T0" fmla="*/ 239 w 363"/>
                  <a:gd name="T1" fmla="*/ 19 h 474"/>
                  <a:gd name="T2" fmla="*/ 128 w 363"/>
                  <a:gd name="T3" fmla="*/ 88 h 474"/>
                  <a:gd name="T4" fmla="*/ 50 w 363"/>
                  <a:gd name="T5" fmla="*/ 188 h 474"/>
                  <a:gd name="T6" fmla="*/ 0 w 363"/>
                  <a:gd name="T7" fmla="*/ 274 h 474"/>
                  <a:gd name="T8" fmla="*/ 228 w 363"/>
                  <a:gd name="T9" fmla="*/ 474 h 474"/>
                  <a:gd name="T10" fmla="*/ 304 w 363"/>
                  <a:gd name="T11" fmla="*/ 392 h 474"/>
                  <a:gd name="T12" fmla="*/ 239 w 363"/>
                  <a:gd name="T13" fmla="*/ 381 h 474"/>
                  <a:gd name="T14" fmla="*/ 116 w 363"/>
                  <a:gd name="T15" fmla="*/ 259 h 474"/>
                  <a:gd name="T16" fmla="*/ 152 w 363"/>
                  <a:gd name="T17" fmla="*/ 150 h 474"/>
                  <a:gd name="T18" fmla="*/ 245 w 363"/>
                  <a:gd name="T19" fmla="*/ 78 h 474"/>
                  <a:gd name="T20" fmla="*/ 363 w 363"/>
                  <a:gd name="T21" fmla="*/ 30 h 474"/>
                  <a:gd name="T22" fmla="*/ 301 w 363"/>
                  <a:gd name="T23" fmla="*/ 0 h 474"/>
                  <a:gd name="T24" fmla="*/ 239 w 363"/>
                  <a:gd name="T25" fmla="*/ 19 h 474"/>
                  <a:gd name="T26" fmla="*/ 239 w 363"/>
                  <a:gd name="T27" fmla="*/ 1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3" h="474">
                    <a:moveTo>
                      <a:pt x="239" y="19"/>
                    </a:moveTo>
                    <a:lnTo>
                      <a:pt x="128" y="88"/>
                    </a:lnTo>
                    <a:lnTo>
                      <a:pt x="50" y="188"/>
                    </a:lnTo>
                    <a:lnTo>
                      <a:pt x="0" y="274"/>
                    </a:lnTo>
                    <a:lnTo>
                      <a:pt x="228" y="474"/>
                    </a:lnTo>
                    <a:lnTo>
                      <a:pt x="304" y="392"/>
                    </a:lnTo>
                    <a:lnTo>
                      <a:pt x="239" y="381"/>
                    </a:lnTo>
                    <a:lnTo>
                      <a:pt x="116" y="259"/>
                    </a:lnTo>
                    <a:lnTo>
                      <a:pt x="152" y="150"/>
                    </a:lnTo>
                    <a:lnTo>
                      <a:pt x="245" y="78"/>
                    </a:lnTo>
                    <a:lnTo>
                      <a:pt x="363" y="30"/>
                    </a:lnTo>
                    <a:lnTo>
                      <a:pt x="301" y="0"/>
                    </a:lnTo>
                    <a:lnTo>
                      <a:pt x="239" y="19"/>
                    </a:lnTo>
                    <a:lnTo>
                      <a:pt x="239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</p:grpSp>
        <p:sp>
          <p:nvSpPr>
            <p:cNvPr id="9" name="AutoShape 17">
              <a:extLst>
                <a:ext uri="{FF2B5EF4-FFF2-40B4-BE49-F238E27FC236}">
                  <a16:creationId xmlns:a16="http://schemas.microsoft.com/office/drawing/2014/main" id="{968A0F3E-93BA-977F-2E6D-2CD778426D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75453">
              <a:off x="3648" y="3120"/>
              <a:ext cx="192" cy="144"/>
            </a:xfrm>
            <a:prstGeom prst="hexagon">
              <a:avLst>
                <a:gd name="adj" fmla="val 33333"/>
                <a:gd name="vf" fmla="val 115470"/>
              </a:avLst>
            </a:pr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29FFA666-1592-73AB-8B19-07F3C0EF3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168"/>
              <a:ext cx="0" cy="57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19">
              <a:extLst>
                <a:ext uri="{FF2B5EF4-FFF2-40B4-BE49-F238E27FC236}">
                  <a16:creationId xmlns:a16="http://schemas.microsoft.com/office/drawing/2014/main" id="{17A5E324-57D4-601C-5671-F90A42DA6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216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Text Box 20">
              <a:extLst>
                <a:ext uri="{FF2B5EF4-FFF2-40B4-BE49-F238E27FC236}">
                  <a16:creationId xmlns:a16="http://schemas.microsoft.com/office/drawing/2014/main" id="{DFB684EC-6338-D0C4-E89B-79897D773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40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>
                  <a:solidFill>
                    <a:srgbClr val="000000"/>
                  </a:solidFill>
                </a:rPr>
                <a:t>6</a:t>
              </a:r>
              <a:r>
                <a:rPr kumimoji="0" lang="es-MX" altLang="es-CO" i="0">
                  <a:solidFill>
                    <a:srgbClr val="000000"/>
                  </a:solidFill>
                </a:rPr>
                <a:t> cm</a:t>
              </a:r>
              <a:endParaRPr kumimoji="0" lang="es-MX" altLang="es-CO" sz="3000"/>
            </a:p>
          </p:txBody>
        </p:sp>
        <p:sp>
          <p:nvSpPr>
            <p:cNvPr id="13" name="Line 21">
              <a:extLst>
                <a:ext uri="{FF2B5EF4-FFF2-40B4-BE49-F238E27FC236}">
                  <a16:creationId xmlns:a16="http://schemas.microsoft.com/office/drawing/2014/main" id="{EB42F071-C72A-D983-18A1-F72FDD01C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408"/>
              <a:ext cx="100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Text Box 22">
              <a:extLst>
                <a:ext uri="{FF2B5EF4-FFF2-40B4-BE49-F238E27FC236}">
                  <a16:creationId xmlns:a16="http://schemas.microsoft.com/office/drawing/2014/main" id="{EB232195-A01B-FB61-3BE2-C2880C21A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696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0">
                  <a:solidFill>
                    <a:srgbClr val="000000"/>
                  </a:solidFill>
                </a:rPr>
                <a:t>40 N</a:t>
              </a:r>
              <a:endParaRPr kumimoji="0" lang="es-MX" altLang="es-CO" sz="3000" i="0"/>
            </a:p>
          </p:txBody>
        </p:sp>
      </p:grpSp>
      <p:sp>
        <p:nvSpPr>
          <p:cNvPr id="23" name="Text Box 23">
            <a:extLst>
              <a:ext uri="{FF2B5EF4-FFF2-40B4-BE49-F238E27FC236}">
                <a16:creationId xmlns:a16="http://schemas.microsoft.com/office/drawing/2014/main" id="{93EB1238-6687-BDB5-0958-C2C0D7B5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4241953"/>
            <a:ext cx="37925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>
                <a:latin typeface="Symbol" panose="05050102010706020507" pitchFamily="18" charset="2"/>
              </a:rPr>
              <a:t>t</a:t>
            </a:r>
            <a:r>
              <a:rPr kumimoji="0" lang="es-MX" altLang="es-CO" sz="2400" dirty="0">
                <a:latin typeface="Times New Roman" panose="02020603050405020304" pitchFamily="18" charset="0"/>
              </a:rPr>
              <a:t> = </a:t>
            </a:r>
            <a:r>
              <a:rPr kumimoji="0" lang="es-MX" altLang="es-CO" sz="2400" i="0" dirty="0">
                <a:latin typeface="Times New Roman" panose="02020603050405020304" pitchFamily="18" charset="0"/>
              </a:rPr>
              <a:t>(40 N)(0.60 m)</a:t>
            </a:r>
          </a:p>
          <a:p>
            <a:pPr algn="l"/>
            <a:r>
              <a:rPr kumimoji="0" lang="es-MX" altLang="es-CO" sz="2400" i="0" dirty="0">
                <a:latin typeface="Times New Roman" panose="02020603050405020304" pitchFamily="18" charset="0"/>
              </a:rPr>
              <a:t>       = 24.0 </a:t>
            </a:r>
            <a:r>
              <a:rPr kumimoji="0" lang="es-MX" altLang="es-CO" sz="2400" i="0" dirty="0" err="1">
                <a:latin typeface="Times New Roman" panose="02020603050405020304" pitchFamily="18" charset="0"/>
              </a:rPr>
              <a:t>N</a:t>
            </a:r>
            <a:r>
              <a:rPr kumimoji="0" lang="es-MX" altLang="es-CO" sz="2400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kumimoji="0" lang="es-MX" altLang="es-CO" sz="2400" i="0" dirty="0" err="1">
                <a:latin typeface="Times New Roman" panose="02020603050405020304" pitchFamily="18" charset="0"/>
              </a:rPr>
              <a:t>m</a:t>
            </a:r>
            <a:r>
              <a:rPr kumimoji="0" lang="es-MX" altLang="es-CO" sz="2400" i="0" dirty="0">
                <a:latin typeface="Times New Roman" panose="02020603050405020304" pitchFamily="18" charset="0"/>
              </a:rPr>
              <a:t>, </a:t>
            </a:r>
            <a:r>
              <a:rPr kumimoji="0" lang="es-MX" altLang="es-CO" sz="2400" i="0" dirty="0" err="1">
                <a:latin typeface="Times New Roman" panose="02020603050405020304" pitchFamily="18" charset="0"/>
              </a:rPr>
              <a:t>cw</a:t>
            </a:r>
            <a:endParaRPr kumimoji="0" lang="es-MX" altLang="es-CO" sz="2400" dirty="0">
              <a:latin typeface="Symbol" panose="05050102010706020507" pitchFamily="18" charset="2"/>
            </a:endParaRP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A2223908-5D9E-E0C2-9B1A-21AD183B4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8" y="5274989"/>
            <a:ext cx="3073400" cy="461665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r>
              <a:rPr kumimoji="0" lang="es-MX" altLang="es-CO" sz="2400" dirty="0">
                <a:solidFill>
                  <a:srgbClr val="000000"/>
                </a:solidFill>
                <a:latin typeface="Symbol" panose="05050102010706020507" pitchFamily="18" charset="2"/>
              </a:rPr>
              <a:t>t</a:t>
            </a:r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kumimoji="0" lang="es-MX" altLang="es-CO" sz="2400" i="0" dirty="0">
                <a:solidFill>
                  <a:srgbClr val="000000"/>
                </a:solidFill>
                <a:latin typeface="Times New Roman" panose="02020603050405020304" pitchFamily="18" charset="0"/>
              </a:rPr>
              <a:t>24.0 </a:t>
            </a:r>
            <a:r>
              <a:rPr kumimoji="0" lang="es-MX" altLang="es-CO" sz="2400" i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0" lang="es-MX" altLang="es-CO" sz="2400" i="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kumimoji="0" lang="es-MX" altLang="es-CO" sz="2400" i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kumimoji="0" lang="es-MX" altLang="es-CO" sz="2400" i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0" lang="es-MX" altLang="es-CO" sz="2400" i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cw</a:t>
            </a:r>
            <a:endParaRPr kumimoji="0" lang="es-MX" altLang="es-CO" sz="2400" dirty="0">
              <a:solidFill>
                <a:srgbClr val="000000"/>
              </a:solidFill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8727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nimBg="1" autoUpdateAnimBg="0"/>
      <p:bldP spid="4" grpId="0" animBg="1" autoUpdateAnimBg="0"/>
      <p:bldP spid="5" grpId="0" autoUpdateAnimBg="0"/>
      <p:bldP spid="23" grpId="0" autoUpdateAnimBg="0"/>
      <p:bldP spid="24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EC4A6-0AD2-74D0-0474-1B7CE7A7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A06B197-EB18-4848-29FC-97BFF71BC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55790" y="40727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Dirección del momento de torsión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B42DAC1-744C-EB4B-FB00-57D270C36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3033" y="1715966"/>
            <a:ext cx="9333187" cy="830997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dirty="0"/>
              <a:t>El momento de torsión es una cantidad vectorial que tiene tanto dirección como magnitud.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A14B94E-2D10-B825-29C1-8B7AE124A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758" y="3288919"/>
            <a:ext cx="55149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dirty="0"/>
              <a:t>Girar el mango de un destornillador en sentido de las manecillas del reloj y luego en sentido contrario avanzará el tornillo primero hacia adentro y luego hacia afuera.</a:t>
            </a:r>
          </a:p>
        </p:txBody>
      </p:sp>
      <p:grpSp>
        <p:nvGrpSpPr>
          <p:cNvPr id="5" name="Group 29">
            <a:extLst>
              <a:ext uri="{FF2B5EF4-FFF2-40B4-BE49-F238E27FC236}">
                <a16:creationId xmlns:a16="http://schemas.microsoft.com/office/drawing/2014/main" id="{49B4F643-1DA3-6256-7AA8-2C4966EEFDF9}"/>
              </a:ext>
            </a:extLst>
          </p:cNvPr>
          <p:cNvGrpSpPr>
            <a:grpSpLocks/>
          </p:cNvGrpSpPr>
          <p:nvPr/>
        </p:nvGrpSpPr>
        <p:grpSpPr bwMode="auto">
          <a:xfrm>
            <a:off x="8398859" y="3055090"/>
            <a:ext cx="1833563" cy="2406650"/>
            <a:chOff x="4019" y="2298"/>
            <a:chExt cx="1155" cy="1516"/>
          </a:xfrm>
        </p:grpSpPr>
        <p:sp>
          <p:nvSpPr>
            <p:cNvPr id="6" name="Rectangle 28">
              <a:extLst>
                <a:ext uri="{FF2B5EF4-FFF2-40B4-BE49-F238E27FC236}">
                  <a16:creationId xmlns:a16="http://schemas.microsoft.com/office/drawing/2014/main" id="{0E4397D5-B105-3EF1-B07F-A3022A785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2298"/>
              <a:ext cx="1155" cy="151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90C54BF7-809F-BB6F-D98A-2F831BAA9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930"/>
              <a:ext cx="128" cy="256"/>
            </a:xfrm>
            <a:custGeom>
              <a:avLst/>
              <a:gdLst>
                <a:gd name="T0" fmla="*/ 217 w 255"/>
                <a:gd name="T1" fmla="*/ 512 h 512"/>
                <a:gd name="T2" fmla="*/ 231 w 255"/>
                <a:gd name="T3" fmla="*/ 509 h 512"/>
                <a:gd name="T4" fmla="*/ 244 w 255"/>
                <a:gd name="T5" fmla="*/ 501 h 512"/>
                <a:gd name="T6" fmla="*/ 252 w 255"/>
                <a:gd name="T7" fmla="*/ 488 h 512"/>
                <a:gd name="T8" fmla="*/ 255 w 255"/>
                <a:gd name="T9" fmla="*/ 472 h 512"/>
                <a:gd name="T10" fmla="*/ 255 w 255"/>
                <a:gd name="T11" fmla="*/ 39 h 512"/>
                <a:gd name="T12" fmla="*/ 252 w 255"/>
                <a:gd name="T13" fmla="*/ 24 h 512"/>
                <a:gd name="T14" fmla="*/ 244 w 255"/>
                <a:gd name="T15" fmla="*/ 12 h 512"/>
                <a:gd name="T16" fmla="*/ 231 w 255"/>
                <a:gd name="T17" fmla="*/ 4 h 512"/>
                <a:gd name="T18" fmla="*/ 217 w 255"/>
                <a:gd name="T19" fmla="*/ 0 h 512"/>
                <a:gd name="T20" fmla="*/ 40 w 255"/>
                <a:gd name="T21" fmla="*/ 0 h 512"/>
                <a:gd name="T22" fmla="*/ 24 w 255"/>
                <a:gd name="T23" fmla="*/ 4 h 512"/>
                <a:gd name="T24" fmla="*/ 11 w 255"/>
                <a:gd name="T25" fmla="*/ 12 h 512"/>
                <a:gd name="T26" fmla="*/ 3 w 255"/>
                <a:gd name="T27" fmla="*/ 24 h 512"/>
                <a:gd name="T28" fmla="*/ 0 w 255"/>
                <a:gd name="T29" fmla="*/ 39 h 512"/>
                <a:gd name="T30" fmla="*/ 0 w 255"/>
                <a:gd name="T31" fmla="*/ 472 h 512"/>
                <a:gd name="T32" fmla="*/ 3 w 255"/>
                <a:gd name="T33" fmla="*/ 488 h 512"/>
                <a:gd name="T34" fmla="*/ 11 w 255"/>
                <a:gd name="T35" fmla="*/ 501 h 512"/>
                <a:gd name="T36" fmla="*/ 24 w 255"/>
                <a:gd name="T37" fmla="*/ 509 h 512"/>
                <a:gd name="T38" fmla="*/ 40 w 255"/>
                <a:gd name="T39" fmla="*/ 512 h 512"/>
                <a:gd name="T40" fmla="*/ 217 w 255"/>
                <a:gd name="T41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5" h="512">
                  <a:moveTo>
                    <a:pt x="217" y="512"/>
                  </a:moveTo>
                  <a:lnTo>
                    <a:pt x="231" y="509"/>
                  </a:lnTo>
                  <a:lnTo>
                    <a:pt x="244" y="501"/>
                  </a:lnTo>
                  <a:lnTo>
                    <a:pt x="252" y="488"/>
                  </a:lnTo>
                  <a:lnTo>
                    <a:pt x="255" y="472"/>
                  </a:lnTo>
                  <a:lnTo>
                    <a:pt x="255" y="39"/>
                  </a:lnTo>
                  <a:lnTo>
                    <a:pt x="252" y="24"/>
                  </a:lnTo>
                  <a:lnTo>
                    <a:pt x="244" y="12"/>
                  </a:lnTo>
                  <a:lnTo>
                    <a:pt x="231" y="4"/>
                  </a:lnTo>
                  <a:lnTo>
                    <a:pt x="217" y="0"/>
                  </a:lnTo>
                  <a:lnTo>
                    <a:pt x="40" y="0"/>
                  </a:lnTo>
                  <a:lnTo>
                    <a:pt x="24" y="4"/>
                  </a:lnTo>
                  <a:lnTo>
                    <a:pt x="11" y="12"/>
                  </a:lnTo>
                  <a:lnTo>
                    <a:pt x="3" y="24"/>
                  </a:lnTo>
                  <a:lnTo>
                    <a:pt x="0" y="39"/>
                  </a:lnTo>
                  <a:lnTo>
                    <a:pt x="0" y="472"/>
                  </a:lnTo>
                  <a:lnTo>
                    <a:pt x="3" y="488"/>
                  </a:lnTo>
                  <a:lnTo>
                    <a:pt x="11" y="501"/>
                  </a:lnTo>
                  <a:lnTo>
                    <a:pt x="24" y="509"/>
                  </a:lnTo>
                  <a:lnTo>
                    <a:pt x="40" y="512"/>
                  </a:lnTo>
                  <a:lnTo>
                    <a:pt x="217" y="5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E301EEF2-A7E3-AA7B-5F8F-F88DDBA1C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2323"/>
              <a:ext cx="525" cy="813"/>
            </a:xfrm>
            <a:custGeom>
              <a:avLst/>
              <a:gdLst>
                <a:gd name="T0" fmla="*/ 845 w 1049"/>
                <a:gd name="T1" fmla="*/ 67 h 1625"/>
                <a:gd name="T2" fmla="*/ 888 w 1049"/>
                <a:gd name="T3" fmla="*/ 216 h 1625"/>
                <a:gd name="T4" fmla="*/ 909 w 1049"/>
                <a:gd name="T5" fmla="*/ 294 h 1625"/>
                <a:gd name="T6" fmla="*/ 948 w 1049"/>
                <a:gd name="T7" fmla="*/ 423 h 1625"/>
                <a:gd name="T8" fmla="*/ 976 w 1049"/>
                <a:gd name="T9" fmla="*/ 513 h 1625"/>
                <a:gd name="T10" fmla="*/ 1000 w 1049"/>
                <a:gd name="T11" fmla="*/ 578 h 1625"/>
                <a:gd name="T12" fmla="*/ 1025 w 1049"/>
                <a:gd name="T13" fmla="*/ 721 h 1625"/>
                <a:gd name="T14" fmla="*/ 1030 w 1049"/>
                <a:gd name="T15" fmla="*/ 880 h 1625"/>
                <a:gd name="T16" fmla="*/ 1044 w 1049"/>
                <a:gd name="T17" fmla="*/ 1013 h 1625"/>
                <a:gd name="T18" fmla="*/ 992 w 1049"/>
                <a:gd name="T19" fmla="*/ 1080 h 1625"/>
                <a:gd name="T20" fmla="*/ 952 w 1049"/>
                <a:gd name="T21" fmla="*/ 1141 h 1625"/>
                <a:gd name="T22" fmla="*/ 904 w 1049"/>
                <a:gd name="T23" fmla="*/ 1210 h 1625"/>
                <a:gd name="T24" fmla="*/ 870 w 1049"/>
                <a:gd name="T25" fmla="*/ 1289 h 1625"/>
                <a:gd name="T26" fmla="*/ 853 w 1049"/>
                <a:gd name="T27" fmla="*/ 1333 h 1625"/>
                <a:gd name="T28" fmla="*/ 846 w 1049"/>
                <a:gd name="T29" fmla="*/ 1358 h 1625"/>
                <a:gd name="T30" fmla="*/ 835 w 1049"/>
                <a:gd name="T31" fmla="*/ 1397 h 1625"/>
                <a:gd name="T32" fmla="*/ 797 w 1049"/>
                <a:gd name="T33" fmla="*/ 1464 h 1625"/>
                <a:gd name="T34" fmla="*/ 741 w 1049"/>
                <a:gd name="T35" fmla="*/ 1528 h 1625"/>
                <a:gd name="T36" fmla="*/ 672 w 1049"/>
                <a:gd name="T37" fmla="*/ 1587 h 1625"/>
                <a:gd name="T38" fmla="*/ 600 w 1049"/>
                <a:gd name="T39" fmla="*/ 1623 h 1625"/>
                <a:gd name="T40" fmla="*/ 535 w 1049"/>
                <a:gd name="T41" fmla="*/ 1513 h 1625"/>
                <a:gd name="T42" fmla="*/ 546 w 1049"/>
                <a:gd name="T43" fmla="*/ 1433 h 1625"/>
                <a:gd name="T44" fmla="*/ 580 w 1049"/>
                <a:gd name="T45" fmla="*/ 1358 h 1625"/>
                <a:gd name="T46" fmla="*/ 602 w 1049"/>
                <a:gd name="T47" fmla="*/ 1297 h 1625"/>
                <a:gd name="T48" fmla="*/ 576 w 1049"/>
                <a:gd name="T49" fmla="*/ 1272 h 1625"/>
                <a:gd name="T50" fmla="*/ 530 w 1049"/>
                <a:gd name="T51" fmla="*/ 1275 h 1625"/>
                <a:gd name="T52" fmla="*/ 484 w 1049"/>
                <a:gd name="T53" fmla="*/ 1258 h 1625"/>
                <a:gd name="T54" fmla="*/ 442 w 1049"/>
                <a:gd name="T55" fmla="*/ 1216 h 1625"/>
                <a:gd name="T56" fmla="*/ 418 w 1049"/>
                <a:gd name="T57" fmla="*/ 1173 h 1625"/>
                <a:gd name="T58" fmla="*/ 375 w 1049"/>
                <a:gd name="T59" fmla="*/ 1155 h 1625"/>
                <a:gd name="T60" fmla="*/ 334 w 1049"/>
                <a:gd name="T61" fmla="*/ 1122 h 1625"/>
                <a:gd name="T62" fmla="*/ 289 w 1049"/>
                <a:gd name="T63" fmla="*/ 1061 h 1625"/>
                <a:gd name="T64" fmla="*/ 284 w 1049"/>
                <a:gd name="T65" fmla="*/ 997 h 1625"/>
                <a:gd name="T66" fmla="*/ 273 w 1049"/>
                <a:gd name="T67" fmla="*/ 957 h 1625"/>
                <a:gd name="T68" fmla="*/ 235 w 1049"/>
                <a:gd name="T69" fmla="*/ 933 h 1625"/>
                <a:gd name="T70" fmla="*/ 204 w 1049"/>
                <a:gd name="T71" fmla="*/ 872 h 1625"/>
                <a:gd name="T72" fmla="*/ 212 w 1049"/>
                <a:gd name="T73" fmla="*/ 805 h 1625"/>
                <a:gd name="T74" fmla="*/ 248 w 1049"/>
                <a:gd name="T75" fmla="*/ 762 h 1625"/>
                <a:gd name="T76" fmla="*/ 275 w 1049"/>
                <a:gd name="T77" fmla="*/ 724 h 1625"/>
                <a:gd name="T78" fmla="*/ 204 w 1049"/>
                <a:gd name="T79" fmla="*/ 572 h 1625"/>
                <a:gd name="T80" fmla="*/ 184 w 1049"/>
                <a:gd name="T81" fmla="*/ 396 h 1625"/>
                <a:gd name="T82" fmla="*/ 198 w 1049"/>
                <a:gd name="T83" fmla="*/ 328 h 1625"/>
                <a:gd name="T84" fmla="*/ 227 w 1049"/>
                <a:gd name="T85" fmla="*/ 241 h 1625"/>
                <a:gd name="T86" fmla="*/ 193 w 1049"/>
                <a:gd name="T87" fmla="*/ 184 h 1625"/>
                <a:gd name="T88" fmla="*/ 166 w 1049"/>
                <a:gd name="T89" fmla="*/ 157 h 1625"/>
                <a:gd name="T90" fmla="*/ 120 w 1049"/>
                <a:gd name="T91" fmla="*/ 139 h 1625"/>
                <a:gd name="T92" fmla="*/ 72 w 1049"/>
                <a:gd name="T93" fmla="*/ 110 h 1625"/>
                <a:gd name="T94" fmla="*/ 38 w 1049"/>
                <a:gd name="T95" fmla="*/ 78 h 1625"/>
                <a:gd name="T96" fmla="*/ 10 w 1049"/>
                <a:gd name="T97" fmla="*/ 48 h 1625"/>
                <a:gd name="T98" fmla="*/ 3 w 1049"/>
                <a:gd name="T99" fmla="*/ 0 h 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49" h="1625">
                  <a:moveTo>
                    <a:pt x="841" y="0"/>
                  </a:moveTo>
                  <a:lnTo>
                    <a:pt x="838" y="22"/>
                  </a:lnTo>
                  <a:lnTo>
                    <a:pt x="840" y="45"/>
                  </a:lnTo>
                  <a:lnTo>
                    <a:pt x="845" y="67"/>
                  </a:lnTo>
                  <a:lnTo>
                    <a:pt x="856" y="85"/>
                  </a:lnTo>
                  <a:lnTo>
                    <a:pt x="867" y="126"/>
                  </a:lnTo>
                  <a:lnTo>
                    <a:pt x="878" y="171"/>
                  </a:lnTo>
                  <a:lnTo>
                    <a:pt x="888" y="216"/>
                  </a:lnTo>
                  <a:lnTo>
                    <a:pt x="894" y="262"/>
                  </a:lnTo>
                  <a:lnTo>
                    <a:pt x="899" y="273"/>
                  </a:lnTo>
                  <a:lnTo>
                    <a:pt x="904" y="283"/>
                  </a:lnTo>
                  <a:lnTo>
                    <a:pt x="909" y="294"/>
                  </a:lnTo>
                  <a:lnTo>
                    <a:pt x="913" y="305"/>
                  </a:lnTo>
                  <a:lnTo>
                    <a:pt x="928" y="344"/>
                  </a:lnTo>
                  <a:lnTo>
                    <a:pt x="939" y="383"/>
                  </a:lnTo>
                  <a:lnTo>
                    <a:pt x="948" y="423"/>
                  </a:lnTo>
                  <a:lnTo>
                    <a:pt x="958" y="463"/>
                  </a:lnTo>
                  <a:lnTo>
                    <a:pt x="964" y="479"/>
                  </a:lnTo>
                  <a:lnTo>
                    <a:pt x="971" y="495"/>
                  </a:lnTo>
                  <a:lnTo>
                    <a:pt x="976" y="513"/>
                  </a:lnTo>
                  <a:lnTo>
                    <a:pt x="982" y="529"/>
                  </a:lnTo>
                  <a:lnTo>
                    <a:pt x="987" y="546"/>
                  </a:lnTo>
                  <a:lnTo>
                    <a:pt x="993" y="562"/>
                  </a:lnTo>
                  <a:lnTo>
                    <a:pt x="1000" y="578"/>
                  </a:lnTo>
                  <a:lnTo>
                    <a:pt x="1008" y="593"/>
                  </a:lnTo>
                  <a:lnTo>
                    <a:pt x="1015" y="634"/>
                  </a:lnTo>
                  <a:lnTo>
                    <a:pt x="1022" y="676"/>
                  </a:lnTo>
                  <a:lnTo>
                    <a:pt x="1025" y="721"/>
                  </a:lnTo>
                  <a:lnTo>
                    <a:pt x="1025" y="765"/>
                  </a:lnTo>
                  <a:lnTo>
                    <a:pt x="1027" y="804"/>
                  </a:lnTo>
                  <a:lnTo>
                    <a:pt x="1027" y="842"/>
                  </a:lnTo>
                  <a:lnTo>
                    <a:pt x="1030" y="880"/>
                  </a:lnTo>
                  <a:lnTo>
                    <a:pt x="1038" y="916"/>
                  </a:lnTo>
                  <a:lnTo>
                    <a:pt x="1046" y="946"/>
                  </a:lnTo>
                  <a:lnTo>
                    <a:pt x="1049" y="979"/>
                  </a:lnTo>
                  <a:lnTo>
                    <a:pt x="1044" y="1013"/>
                  </a:lnTo>
                  <a:lnTo>
                    <a:pt x="1027" y="1039"/>
                  </a:lnTo>
                  <a:lnTo>
                    <a:pt x="1014" y="1051"/>
                  </a:lnTo>
                  <a:lnTo>
                    <a:pt x="1003" y="1066"/>
                  </a:lnTo>
                  <a:lnTo>
                    <a:pt x="992" y="1080"/>
                  </a:lnTo>
                  <a:lnTo>
                    <a:pt x="982" y="1096"/>
                  </a:lnTo>
                  <a:lnTo>
                    <a:pt x="971" y="1111"/>
                  </a:lnTo>
                  <a:lnTo>
                    <a:pt x="961" y="1127"/>
                  </a:lnTo>
                  <a:lnTo>
                    <a:pt x="952" y="1141"/>
                  </a:lnTo>
                  <a:lnTo>
                    <a:pt x="940" y="1155"/>
                  </a:lnTo>
                  <a:lnTo>
                    <a:pt x="926" y="1171"/>
                  </a:lnTo>
                  <a:lnTo>
                    <a:pt x="913" y="1190"/>
                  </a:lnTo>
                  <a:lnTo>
                    <a:pt x="904" y="1210"/>
                  </a:lnTo>
                  <a:lnTo>
                    <a:pt x="896" y="1229"/>
                  </a:lnTo>
                  <a:lnTo>
                    <a:pt x="888" y="1250"/>
                  </a:lnTo>
                  <a:lnTo>
                    <a:pt x="880" y="1270"/>
                  </a:lnTo>
                  <a:lnTo>
                    <a:pt x="870" y="1289"/>
                  </a:lnTo>
                  <a:lnTo>
                    <a:pt x="859" y="1309"/>
                  </a:lnTo>
                  <a:lnTo>
                    <a:pt x="857" y="1317"/>
                  </a:lnTo>
                  <a:lnTo>
                    <a:pt x="854" y="1325"/>
                  </a:lnTo>
                  <a:lnTo>
                    <a:pt x="853" y="1333"/>
                  </a:lnTo>
                  <a:lnTo>
                    <a:pt x="851" y="1341"/>
                  </a:lnTo>
                  <a:lnTo>
                    <a:pt x="849" y="1345"/>
                  </a:lnTo>
                  <a:lnTo>
                    <a:pt x="848" y="1352"/>
                  </a:lnTo>
                  <a:lnTo>
                    <a:pt x="846" y="1358"/>
                  </a:lnTo>
                  <a:lnTo>
                    <a:pt x="845" y="1365"/>
                  </a:lnTo>
                  <a:lnTo>
                    <a:pt x="841" y="1376"/>
                  </a:lnTo>
                  <a:lnTo>
                    <a:pt x="838" y="1385"/>
                  </a:lnTo>
                  <a:lnTo>
                    <a:pt x="835" y="1397"/>
                  </a:lnTo>
                  <a:lnTo>
                    <a:pt x="832" y="1409"/>
                  </a:lnTo>
                  <a:lnTo>
                    <a:pt x="819" y="1427"/>
                  </a:lnTo>
                  <a:lnTo>
                    <a:pt x="808" y="1444"/>
                  </a:lnTo>
                  <a:lnTo>
                    <a:pt x="797" y="1464"/>
                  </a:lnTo>
                  <a:lnTo>
                    <a:pt x="786" y="1483"/>
                  </a:lnTo>
                  <a:lnTo>
                    <a:pt x="773" y="1500"/>
                  </a:lnTo>
                  <a:lnTo>
                    <a:pt x="758" y="1515"/>
                  </a:lnTo>
                  <a:lnTo>
                    <a:pt x="741" y="1528"/>
                  </a:lnTo>
                  <a:lnTo>
                    <a:pt x="720" y="1537"/>
                  </a:lnTo>
                  <a:lnTo>
                    <a:pt x="704" y="1550"/>
                  </a:lnTo>
                  <a:lnTo>
                    <a:pt x="688" y="1568"/>
                  </a:lnTo>
                  <a:lnTo>
                    <a:pt x="672" y="1587"/>
                  </a:lnTo>
                  <a:lnTo>
                    <a:pt x="656" y="1603"/>
                  </a:lnTo>
                  <a:lnTo>
                    <a:pt x="639" y="1617"/>
                  </a:lnTo>
                  <a:lnTo>
                    <a:pt x="621" y="1625"/>
                  </a:lnTo>
                  <a:lnTo>
                    <a:pt x="600" y="1623"/>
                  </a:lnTo>
                  <a:lnTo>
                    <a:pt x="576" y="1612"/>
                  </a:lnTo>
                  <a:lnTo>
                    <a:pt x="552" y="1585"/>
                  </a:lnTo>
                  <a:lnTo>
                    <a:pt x="540" y="1552"/>
                  </a:lnTo>
                  <a:lnTo>
                    <a:pt x="535" y="1513"/>
                  </a:lnTo>
                  <a:lnTo>
                    <a:pt x="537" y="1473"/>
                  </a:lnTo>
                  <a:lnTo>
                    <a:pt x="538" y="1473"/>
                  </a:lnTo>
                  <a:lnTo>
                    <a:pt x="541" y="1452"/>
                  </a:lnTo>
                  <a:lnTo>
                    <a:pt x="546" y="1433"/>
                  </a:lnTo>
                  <a:lnTo>
                    <a:pt x="552" y="1413"/>
                  </a:lnTo>
                  <a:lnTo>
                    <a:pt x="560" y="1395"/>
                  </a:lnTo>
                  <a:lnTo>
                    <a:pt x="568" y="1376"/>
                  </a:lnTo>
                  <a:lnTo>
                    <a:pt x="580" y="1358"/>
                  </a:lnTo>
                  <a:lnTo>
                    <a:pt x="592" y="1342"/>
                  </a:lnTo>
                  <a:lnTo>
                    <a:pt x="605" y="1326"/>
                  </a:lnTo>
                  <a:lnTo>
                    <a:pt x="605" y="1312"/>
                  </a:lnTo>
                  <a:lnTo>
                    <a:pt x="602" y="1297"/>
                  </a:lnTo>
                  <a:lnTo>
                    <a:pt x="599" y="1285"/>
                  </a:lnTo>
                  <a:lnTo>
                    <a:pt x="597" y="1269"/>
                  </a:lnTo>
                  <a:lnTo>
                    <a:pt x="588" y="1270"/>
                  </a:lnTo>
                  <a:lnTo>
                    <a:pt x="576" y="1272"/>
                  </a:lnTo>
                  <a:lnTo>
                    <a:pt x="565" y="1274"/>
                  </a:lnTo>
                  <a:lnTo>
                    <a:pt x="554" y="1274"/>
                  </a:lnTo>
                  <a:lnTo>
                    <a:pt x="541" y="1275"/>
                  </a:lnTo>
                  <a:lnTo>
                    <a:pt x="530" y="1275"/>
                  </a:lnTo>
                  <a:lnTo>
                    <a:pt x="519" y="1272"/>
                  </a:lnTo>
                  <a:lnTo>
                    <a:pt x="509" y="1269"/>
                  </a:lnTo>
                  <a:lnTo>
                    <a:pt x="497" y="1264"/>
                  </a:lnTo>
                  <a:lnTo>
                    <a:pt x="484" y="1258"/>
                  </a:lnTo>
                  <a:lnTo>
                    <a:pt x="473" y="1248"/>
                  </a:lnTo>
                  <a:lnTo>
                    <a:pt x="461" y="1238"/>
                  </a:lnTo>
                  <a:lnTo>
                    <a:pt x="452" y="1227"/>
                  </a:lnTo>
                  <a:lnTo>
                    <a:pt x="442" y="1216"/>
                  </a:lnTo>
                  <a:lnTo>
                    <a:pt x="433" y="1205"/>
                  </a:lnTo>
                  <a:lnTo>
                    <a:pt x="425" y="1194"/>
                  </a:lnTo>
                  <a:lnTo>
                    <a:pt x="422" y="1182"/>
                  </a:lnTo>
                  <a:lnTo>
                    <a:pt x="418" y="1173"/>
                  </a:lnTo>
                  <a:lnTo>
                    <a:pt x="412" y="1165"/>
                  </a:lnTo>
                  <a:lnTo>
                    <a:pt x="402" y="1160"/>
                  </a:lnTo>
                  <a:lnTo>
                    <a:pt x="388" y="1160"/>
                  </a:lnTo>
                  <a:lnTo>
                    <a:pt x="375" y="1155"/>
                  </a:lnTo>
                  <a:lnTo>
                    <a:pt x="362" y="1149"/>
                  </a:lnTo>
                  <a:lnTo>
                    <a:pt x="353" y="1141"/>
                  </a:lnTo>
                  <a:lnTo>
                    <a:pt x="343" y="1133"/>
                  </a:lnTo>
                  <a:lnTo>
                    <a:pt x="334" y="1122"/>
                  </a:lnTo>
                  <a:lnTo>
                    <a:pt x="324" y="1112"/>
                  </a:lnTo>
                  <a:lnTo>
                    <a:pt x="315" y="1103"/>
                  </a:lnTo>
                  <a:lnTo>
                    <a:pt x="300" y="1082"/>
                  </a:lnTo>
                  <a:lnTo>
                    <a:pt x="289" y="1061"/>
                  </a:lnTo>
                  <a:lnTo>
                    <a:pt x="281" y="1037"/>
                  </a:lnTo>
                  <a:lnTo>
                    <a:pt x="283" y="1008"/>
                  </a:lnTo>
                  <a:lnTo>
                    <a:pt x="283" y="1008"/>
                  </a:lnTo>
                  <a:lnTo>
                    <a:pt x="284" y="997"/>
                  </a:lnTo>
                  <a:lnTo>
                    <a:pt x="284" y="984"/>
                  </a:lnTo>
                  <a:lnTo>
                    <a:pt x="284" y="973"/>
                  </a:lnTo>
                  <a:lnTo>
                    <a:pt x="281" y="964"/>
                  </a:lnTo>
                  <a:lnTo>
                    <a:pt x="273" y="957"/>
                  </a:lnTo>
                  <a:lnTo>
                    <a:pt x="265" y="952"/>
                  </a:lnTo>
                  <a:lnTo>
                    <a:pt x="257" y="949"/>
                  </a:lnTo>
                  <a:lnTo>
                    <a:pt x="248" y="946"/>
                  </a:lnTo>
                  <a:lnTo>
                    <a:pt x="235" y="933"/>
                  </a:lnTo>
                  <a:lnTo>
                    <a:pt x="225" y="920"/>
                  </a:lnTo>
                  <a:lnTo>
                    <a:pt x="216" y="904"/>
                  </a:lnTo>
                  <a:lnTo>
                    <a:pt x="209" y="888"/>
                  </a:lnTo>
                  <a:lnTo>
                    <a:pt x="204" y="872"/>
                  </a:lnTo>
                  <a:lnTo>
                    <a:pt x="201" y="855"/>
                  </a:lnTo>
                  <a:lnTo>
                    <a:pt x="203" y="837"/>
                  </a:lnTo>
                  <a:lnTo>
                    <a:pt x="208" y="818"/>
                  </a:lnTo>
                  <a:lnTo>
                    <a:pt x="212" y="805"/>
                  </a:lnTo>
                  <a:lnTo>
                    <a:pt x="219" y="794"/>
                  </a:lnTo>
                  <a:lnTo>
                    <a:pt x="227" y="783"/>
                  </a:lnTo>
                  <a:lnTo>
                    <a:pt x="236" y="772"/>
                  </a:lnTo>
                  <a:lnTo>
                    <a:pt x="248" y="762"/>
                  </a:lnTo>
                  <a:lnTo>
                    <a:pt x="257" y="753"/>
                  </a:lnTo>
                  <a:lnTo>
                    <a:pt x="267" y="743"/>
                  </a:lnTo>
                  <a:lnTo>
                    <a:pt x="275" y="732"/>
                  </a:lnTo>
                  <a:lnTo>
                    <a:pt x="275" y="724"/>
                  </a:lnTo>
                  <a:lnTo>
                    <a:pt x="254" y="689"/>
                  </a:lnTo>
                  <a:lnTo>
                    <a:pt x="235" y="650"/>
                  </a:lnTo>
                  <a:lnTo>
                    <a:pt x="219" y="612"/>
                  </a:lnTo>
                  <a:lnTo>
                    <a:pt x="204" y="572"/>
                  </a:lnTo>
                  <a:lnTo>
                    <a:pt x="193" y="530"/>
                  </a:lnTo>
                  <a:lnTo>
                    <a:pt x="187" y="487"/>
                  </a:lnTo>
                  <a:lnTo>
                    <a:pt x="184" y="443"/>
                  </a:lnTo>
                  <a:lnTo>
                    <a:pt x="184" y="396"/>
                  </a:lnTo>
                  <a:lnTo>
                    <a:pt x="185" y="396"/>
                  </a:lnTo>
                  <a:lnTo>
                    <a:pt x="188" y="372"/>
                  </a:lnTo>
                  <a:lnTo>
                    <a:pt x="193" y="350"/>
                  </a:lnTo>
                  <a:lnTo>
                    <a:pt x="198" y="328"/>
                  </a:lnTo>
                  <a:lnTo>
                    <a:pt x="204" y="305"/>
                  </a:lnTo>
                  <a:lnTo>
                    <a:pt x="212" y="284"/>
                  </a:lnTo>
                  <a:lnTo>
                    <a:pt x="219" y="264"/>
                  </a:lnTo>
                  <a:lnTo>
                    <a:pt x="227" y="241"/>
                  </a:lnTo>
                  <a:lnTo>
                    <a:pt x="233" y="220"/>
                  </a:lnTo>
                  <a:lnTo>
                    <a:pt x="217" y="211"/>
                  </a:lnTo>
                  <a:lnTo>
                    <a:pt x="203" y="198"/>
                  </a:lnTo>
                  <a:lnTo>
                    <a:pt x="193" y="184"/>
                  </a:lnTo>
                  <a:lnTo>
                    <a:pt x="187" y="165"/>
                  </a:lnTo>
                  <a:lnTo>
                    <a:pt x="180" y="161"/>
                  </a:lnTo>
                  <a:lnTo>
                    <a:pt x="174" y="160"/>
                  </a:lnTo>
                  <a:lnTo>
                    <a:pt x="166" y="157"/>
                  </a:lnTo>
                  <a:lnTo>
                    <a:pt x="160" y="153"/>
                  </a:lnTo>
                  <a:lnTo>
                    <a:pt x="145" y="150"/>
                  </a:lnTo>
                  <a:lnTo>
                    <a:pt x="133" y="145"/>
                  </a:lnTo>
                  <a:lnTo>
                    <a:pt x="120" y="139"/>
                  </a:lnTo>
                  <a:lnTo>
                    <a:pt x="107" y="134"/>
                  </a:lnTo>
                  <a:lnTo>
                    <a:pt x="94" y="126"/>
                  </a:lnTo>
                  <a:lnTo>
                    <a:pt x="83" y="118"/>
                  </a:lnTo>
                  <a:lnTo>
                    <a:pt x="72" y="110"/>
                  </a:lnTo>
                  <a:lnTo>
                    <a:pt x="61" y="101"/>
                  </a:lnTo>
                  <a:lnTo>
                    <a:pt x="53" y="94"/>
                  </a:lnTo>
                  <a:lnTo>
                    <a:pt x="45" y="86"/>
                  </a:lnTo>
                  <a:lnTo>
                    <a:pt x="38" y="78"/>
                  </a:lnTo>
                  <a:lnTo>
                    <a:pt x="32" y="69"/>
                  </a:lnTo>
                  <a:lnTo>
                    <a:pt x="26" y="61"/>
                  </a:lnTo>
                  <a:lnTo>
                    <a:pt x="18" y="54"/>
                  </a:lnTo>
                  <a:lnTo>
                    <a:pt x="10" y="48"/>
                  </a:lnTo>
                  <a:lnTo>
                    <a:pt x="0" y="43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3" y="0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5EC3E92E-30EC-59F2-DCC8-B36BEB038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2345"/>
              <a:ext cx="379" cy="572"/>
            </a:xfrm>
            <a:custGeom>
              <a:avLst/>
              <a:gdLst>
                <a:gd name="T0" fmla="*/ 574 w 757"/>
                <a:gd name="T1" fmla="*/ 81 h 1144"/>
                <a:gd name="T2" fmla="*/ 605 w 757"/>
                <a:gd name="T3" fmla="*/ 292 h 1144"/>
                <a:gd name="T4" fmla="*/ 654 w 757"/>
                <a:gd name="T5" fmla="*/ 382 h 1144"/>
                <a:gd name="T6" fmla="*/ 704 w 757"/>
                <a:gd name="T7" fmla="*/ 632 h 1144"/>
                <a:gd name="T8" fmla="*/ 733 w 757"/>
                <a:gd name="T9" fmla="*/ 775 h 1144"/>
                <a:gd name="T10" fmla="*/ 694 w 757"/>
                <a:gd name="T11" fmla="*/ 934 h 1144"/>
                <a:gd name="T12" fmla="*/ 757 w 757"/>
                <a:gd name="T13" fmla="*/ 957 h 1144"/>
                <a:gd name="T14" fmla="*/ 710 w 757"/>
                <a:gd name="T15" fmla="*/ 997 h 1144"/>
                <a:gd name="T16" fmla="*/ 622 w 757"/>
                <a:gd name="T17" fmla="*/ 1048 h 1144"/>
                <a:gd name="T18" fmla="*/ 557 w 757"/>
                <a:gd name="T19" fmla="*/ 1105 h 1144"/>
                <a:gd name="T20" fmla="*/ 468 w 757"/>
                <a:gd name="T21" fmla="*/ 1141 h 1144"/>
                <a:gd name="T22" fmla="*/ 421 w 757"/>
                <a:gd name="T23" fmla="*/ 1144 h 1144"/>
                <a:gd name="T24" fmla="*/ 389 w 757"/>
                <a:gd name="T25" fmla="*/ 1117 h 1144"/>
                <a:gd name="T26" fmla="*/ 447 w 757"/>
                <a:gd name="T27" fmla="*/ 1054 h 1144"/>
                <a:gd name="T28" fmla="*/ 565 w 757"/>
                <a:gd name="T29" fmla="*/ 963 h 1144"/>
                <a:gd name="T30" fmla="*/ 669 w 757"/>
                <a:gd name="T31" fmla="*/ 882 h 1144"/>
                <a:gd name="T32" fmla="*/ 656 w 757"/>
                <a:gd name="T33" fmla="*/ 760 h 1144"/>
                <a:gd name="T34" fmla="*/ 626 w 757"/>
                <a:gd name="T35" fmla="*/ 599 h 1144"/>
                <a:gd name="T36" fmla="*/ 582 w 757"/>
                <a:gd name="T37" fmla="*/ 369 h 1144"/>
                <a:gd name="T38" fmla="*/ 559 w 757"/>
                <a:gd name="T39" fmla="*/ 540 h 1144"/>
                <a:gd name="T40" fmla="*/ 582 w 757"/>
                <a:gd name="T41" fmla="*/ 682 h 1144"/>
                <a:gd name="T42" fmla="*/ 587 w 757"/>
                <a:gd name="T43" fmla="*/ 816 h 1144"/>
                <a:gd name="T44" fmla="*/ 527 w 757"/>
                <a:gd name="T45" fmla="*/ 864 h 1144"/>
                <a:gd name="T46" fmla="*/ 498 w 757"/>
                <a:gd name="T47" fmla="*/ 879 h 1144"/>
                <a:gd name="T48" fmla="*/ 574 w 757"/>
                <a:gd name="T49" fmla="*/ 869 h 1144"/>
                <a:gd name="T50" fmla="*/ 549 w 757"/>
                <a:gd name="T51" fmla="*/ 915 h 1144"/>
                <a:gd name="T52" fmla="*/ 437 w 757"/>
                <a:gd name="T53" fmla="*/ 970 h 1144"/>
                <a:gd name="T54" fmla="*/ 341 w 757"/>
                <a:gd name="T55" fmla="*/ 1029 h 1144"/>
                <a:gd name="T56" fmla="*/ 263 w 757"/>
                <a:gd name="T57" fmla="*/ 1005 h 1144"/>
                <a:gd name="T58" fmla="*/ 295 w 757"/>
                <a:gd name="T59" fmla="*/ 922 h 1144"/>
                <a:gd name="T60" fmla="*/ 335 w 757"/>
                <a:gd name="T61" fmla="*/ 867 h 1144"/>
                <a:gd name="T62" fmla="*/ 373 w 757"/>
                <a:gd name="T63" fmla="*/ 824 h 1144"/>
                <a:gd name="T64" fmla="*/ 421 w 757"/>
                <a:gd name="T65" fmla="*/ 786 h 1144"/>
                <a:gd name="T66" fmla="*/ 466 w 757"/>
                <a:gd name="T67" fmla="*/ 733 h 1144"/>
                <a:gd name="T68" fmla="*/ 447 w 757"/>
                <a:gd name="T69" fmla="*/ 615 h 1144"/>
                <a:gd name="T70" fmla="*/ 412 w 757"/>
                <a:gd name="T71" fmla="*/ 521 h 1144"/>
                <a:gd name="T72" fmla="*/ 424 w 757"/>
                <a:gd name="T73" fmla="*/ 624 h 1144"/>
                <a:gd name="T74" fmla="*/ 415 w 757"/>
                <a:gd name="T75" fmla="*/ 752 h 1144"/>
                <a:gd name="T76" fmla="*/ 254 w 757"/>
                <a:gd name="T77" fmla="*/ 864 h 1144"/>
                <a:gd name="T78" fmla="*/ 183 w 757"/>
                <a:gd name="T79" fmla="*/ 851 h 1144"/>
                <a:gd name="T80" fmla="*/ 209 w 757"/>
                <a:gd name="T81" fmla="*/ 770 h 1144"/>
                <a:gd name="T82" fmla="*/ 276 w 757"/>
                <a:gd name="T83" fmla="*/ 752 h 1144"/>
                <a:gd name="T84" fmla="*/ 330 w 757"/>
                <a:gd name="T85" fmla="*/ 736 h 1144"/>
                <a:gd name="T86" fmla="*/ 321 w 757"/>
                <a:gd name="T87" fmla="*/ 725 h 1144"/>
                <a:gd name="T88" fmla="*/ 311 w 757"/>
                <a:gd name="T89" fmla="*/ 701 h 1144"/>
                <a:gd name="T90" fmla="*/ 349 w 757"/>
                <a:gd name="T91" fmla="*/ 640 h 1144"/>
                <a:gd name="T92" fmla="*/ 297 w 757"/>
                <a:gd name="T93" fmla="*/ 663 h 1144"/>
                <a:gd name="T94" fmla="*/ 214 w 757"/>
                <a:gd name="T95" fmla="*/ 500 h 1144"/>
                <a:gd name="T96" fmla="*/ 234 w 757"/>
                <a:gd name="T97" fmla="*/ 313 h 1144"/>
                <a:gd name="T98" fmla="*/ 238 w 757"/>
                <a:gd name="T99" fmla="*/ 150 h 1144"/>
                <a:gd name="T100" fmla="*/ 255 w 757"/>
                <a:gd name="T101" fmla="*/ 78 h 1144"/>
                <a:gd name="T102" fmla="*/ 322 w 757"/>
                <a:gd name="T103" fmla="*/ 27 h 1144"/>
                <a:gd name="T104" fmla="*/ 325 w 757"/>
                <a:gd name="T105" fmla="*/ 9 h 1144"/>
                <a:gd name="T106" fmla="*/ 247 w 757"/>
                <a:gd name="T107" fmla="*/ 35 h 1144"/>
                <a:gd name="T108" fmla="*/ 143 w 757"/>
                <a:gd name="T109" fmla="*/ 81 h 1144"/>
                <a:gd name="T110" fmla="*/ 88 w 757"/>
                <a:gd name="T111" fmla="*/ 60 h 1144"/>
                <a:gd name="T112" fmla="*/ 9 w 757"/>
                <a:gd name="T113" fmla="*/ 8 h 1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57" h="1144">
                  <a:moveTo>
                    <a:pt x="551" y="0"/>
                  </a:moveTo>
                  <a:lnTo>
                    <a:pt x="559" y="16"/>
                  </a:lnTo>
                  <a:lnTo>
                    <a:pt x="563" y="32"/>
                  </a:lnTo>
                  <a:lnTo>
                    <a:pt x="567" y="49"/>
                  </a:lnTo>
                  <a:lnTo>
                    <a:pt x="570" y="67"/>
                  </a:lnTo>
                  <a:lnTo>
                    <a:pt x="573" y="73"/>
                  </a:lnTo>
                  <a:lnTo>
                    <a:pt x="574" y="81"/>
                  </a:lnTo>
                  <a:lnTo>
                    <a:pt x="576" y="89"/>
                  </a:lnTo>
                  <a:lnTo>
                    <a:pt x="578" y="97"/>
                  </a:lnTo>
                  <a:lnTo>
                    <a:pt x="587" y="140"/>
                  </a:lnTo>
                  <a:lnTo>
                    <a:pt x="595" y="185"/>
                  </a:lnTo>
                  <a:lnTo>
                    <a:pt x="600" y="230"/>
                  </a:lnTo>
                  <a:lnTo>
                    <a:pt x="602" y="278"/>
                  </a:lnTo>
                  <a:lnTo>
                    <a:pt x="605" y="292"/>
                  </a:lnTo>
                  <a:lnTo>
                    <a:pt x="610" y="306"/>
                  </a:lnTo>
                  <a:lnTo>
                    <a:pt x="614" y="321"/>
                  </a:lnTo>
                  <a:lnTo>
                    <a:pt x="619" y="334"/>
                  </a:lnTo>
                  <a:lnTo>
                    <a:pt x="626" y="348"/>
                  </a:lnTo>
                  <a:lnTo>
                    <a:pt x="634" y="361"/>
                  </a:lnTo>
                  <a:lnTo>
                    <a:pt x="643" y="372"/>
                  </a:lnTo>
                  <a:lnTo>
                    <a:pt x="654" y="382"/>
                  </a:lnTo>
                  <a:lnTo>
                    <a:pt x="658" y="425"/>
                  </a:lnTo>
                  <a:lnTo>
                    <a:pt x="665" y="468"/>
                  </a:lnTo>
                  <a:lnTo>
                    <a:pt x="677" y="508"/>
                  </a:lnTo>
                  <a:lnTo>
                    <a:pt x="688" y="549"/>
                  </a:lnTo>
                  <a:lnTo>
                    <a:pt x="696" y="575"/>
                  </a:lnTo>
                  <a:lnTo>
                    <a:pt x="701" y="604"/>
                  </a:lnTo>
                  <a:lnTo>
                    <a:pt x="704" y="632"/>
                  </a:lnTo>
                  <a:lnTo>
                    <a:pt x="707" y="663"/>
                  </a:lnTo>
                  <a:lnTo>
                    <a:pt x="710" y="669"/>
                  </a:lnTo>
                  <a:lnTo>
                    <a:pt x="712" y="677"/>
                  </a:lnTo>
                  <a:lnTo>
                    <a:pt x="713" y="684"/>
                  </a:lnTo>
                  <a:lnTo>
                    <a:pt x="713" y="692"/>
                  </a:lnTo>
                  <a:lnTo>
                    <a:pt x="721" y="733"/>
                  </a:lnTo>
                  <a:lnTo>
                    <a:pt x="733" y="775"/>
                  </a:lnTo>
                  <a:lnTo>
                    <a:pt x="739" y="816"/>
                  </a:lnTo>
                  <a:lnTo>
                    <a:pt x="736" y="861"/>
                  </a:lnTo>
                  <a:lnTo>
                    <a:pt x="729" y="877"/>
                  </a:lnTo>
                  <a:lnTo>
                    <a:pt x="721" y="891"/>
                  </a:lnTo>
                  <a:lnTo>
                    <a:pt x="713" y="906"/>
                  </a:lnTo>
                  <a:lnTo>
                    <a:pt x="704" y="920"/>
                  </a:lnTo>
                  <a:lnTo>
                    <a:pt x="694" y="934"/>
                  </a:lnTo>
                  <a:lnTo>
                    <a:pt x="685" y="949"/>
                  </a:lnTo>
                  <a:lnTo>
                    <a:pt x="675" y="963"/>
                  </a:lnTo>
                  <a:lnTo>
                    <a:pt x="667" y="978"/>
                  </a:lnTo>
                  <a:lnTo>
                    <a:pt x="667" y="982"/>
                  </a:lnTo>
                  <a:lnTo>
                    <a:pt x="672" y="982"/>
                  </a:lnTo>
                  <a:lnTo>
                    <a:pt x="755" y="915"/>
                  </a:lnTo>
                  <a:lnTo>
                    <a:pt x="757" y="957"/>
                  </a:lnTo>
                  <a:lnTo>
                    <a:pt x="753" y="960"/>
                  </a:lnTo>
                  <a:lnTo>
                    <a:pt x="753" y="965"/>
                  </a:lnTo>
                  <a:lnTo>
                    <a:pt x="752" y="968"/>
                  </a:lnTo>
                  <a:lnTo>
                    <a:pt x="750" y="973"/>
                  </a:lnTo>
                  <a:lnTo>
                    <a:pt x="736" y="979"/>
                  </a:lnTo>
                  <a:lnTo>
                    <a:pt x="723" y="987"/>
                  </a:lnTo>
                  <a:lnTo>
                    <a:pt x="710" y="997"/>
                  </a:lnTo>
                  <a:lnTo>
                    <a:pt x="697" y="1006"/>
                  </a:lnTo>
                  <a:lnTo>
                    <a:pt x="685" y="1016"/>
                  </a:lnTo>
                  <a:lnTo>
                    <a:pt x="672" y="1026"/>
                  </a:lnTo>
                  <a:lnTo>
                    <a:pt x="659" y="1032"/>
                  </a:lnTo>
                  <a:lnTo>
                    <a:pt x="643" y="1037"/>
                  </a:lnTo>
                  <a:lnTo>
                    <a:pt x="634" y="1043"/>
                  </a:lnTo>
                  <a:lnTo>
                    <a:pt x="622" y="1048"/>
                  </a:lnTo>
                  <a:lnTo>
                    <a:pt x="611" y="1053"/>
                  </a:lnTo>
                  <a:lnTo>
                    <a:pt x="600" y="1058"/>
                  </a:lnTo>
                  <a:lnTo>
                    <a:pt x="589" y="1064"/>
                  </a:lnTo>
                  <a:lnTo>
                    <a:pt x="579" y="1070"/>
                  </a:lnTo>
                  <a:lnTo>
                    <a:pt x="570" y="1080"/>
                  </a:lnTo>
                  <a:lnTo>
                    <a:pt x="563" y="1091"/>
                  </a:lnTo>
                  <a:lnTo>
                    <a:pt x="557" y="1105"/>
                  </a:lnTo>
                  <a:lnTo>
                    <a:pt x="547" y="1115"/>
                  </a:lnTo>
                  <a:lnTo>
                    <a:pt x="536" y="1123"/>
                  </a:lnTo>
                  <a:lnTo>
                    <a:pt x="523" y="1129"/>
                  </a:lnTo>
                  <a:lnTo>
                    <a:pt x="511" y="1134"/>
                  </a:lnTo>
                  <a:lnTo>
                    <a:pt x="496" y="1137"/>
                  </a:lnTo>
                  <a:lnTo>
                    <a:pt x="482" y="1139"/>
                  </a:lnTo>
                  <a:lnTo>
                    <a:pt x="468" y="1141"/>
                  </a:lnTo>
                  <a:lnTo>
                    <a:pt x="461" y="1142"/>
                  </a:lnTo>
                  <a:lnTo>
                    <a:pt x="455" y="1142"/>
                  </a:lnTo>
                  <a:lnTo>
                    <a:pt x="448" y="1144"/>
                  </a:lnTo>
                  <a:lnTo>
                    <a:pt x="442" y="1144"/>
                  </a:lnTo>
                  <a:lnTo>
                    <a:pt x="436" y="1144"/>
                  </a:lnTo>
                  <a:lnTo>
                    <a:pt x="428" y="1144"/>
                  </a:lnTo>
                  <a:lnTo>
                    <a:pt x="421" y="1144"/>
                  </a:lnTo>
                  <a:lnTo>
                    <a:pt x="415" y="1144"/>
                  </a:lnTo>
                  <a:lnTo>
                    <a:pt x="412" y="1141"/>
                  </a:lnTo>
                  <a:lnTo>
                    <a:pt x="408" y="1139"/>
                  </a:lnTo>
                  <a:lnTo>
                    <a:pt x="404" y="1139"/>
                  </a:lnTo>
                  <a:lnTo>
                    <a:pt x="400" y="1137"/>
                  </a:lnTo>
                  <a:lnTo>
                    <a:pt x="392" y="1128"/>
                  </a:lnTo>
                  <a:lnTo>
                    <a:pt x="389" y="1117"/>
                  </a:lnTo>
                  <a:lnTo>
                    <a:pt x="384" y="1105"/>
                  </a:lnTo>
                  <a:lnTo>
                    <a:pt x="381" y="1094"/>
                  </a:lnTo>
                  <a:lnTo>
                    <a:pt x="396" y="1089"/>
                  </a:lnTo>
                  <a:lnTo>
                    <a:pt x="410" y="1082"/>
                  </a:lnTo>
                  <a:lnTo>
                    <a:pt x="423" y="1074"/>
                  </a:lnTo>
                  <a:lnTo>
                    <a:pt x="436" y="1064"/>
                  </a:lnTo>
                  <a:lnTo>
                    <a:pt x="447" y="1054"/>
                  </a:lnTo>
                  <a:lnTo>
                    <a:pt x="460" y="1043"/>
                  </a:lnTo>
                  <a:lnTo>
                    <a:pt x="469" y="1030"/>
                  </a:lnTo>
                  <a:lnTo>
                    <a:pt x="479" y="1018"/>
                  </a:lnTo>
                  <a:lnTo>
                    <a:pt x="498" y="1000"/>
                  </a:lnTo>
                  <a:lnTo>
                    <a:pt x="520" y="986"/>
                  </a:lnTo>
                  <a:lnTo>
                    <a:pt x="543" y="974"/>
                  </a:lnTo>
                  <a:lnTo>
                    <a:pt x="565" y="963"/>
                  </a:lnTo>
                  <a:lnTo>
                    <a:pt x="589" y="952"/>
                  </a:lnTo>
                  <a:lnTo>
                    <a:pt x="611" y="941"/>
                  </a:lnTo>
                  <a:lnTo>
                    <a:pt x="632" y="928"/>
                  </a:lnTo>
                  <a:lnTo>
                    <a:pt x="653" y="912"/>
                  </a:lnTo>
                  <a:lnTo>
                    <a:pt x="659" y="903"/>
                  </a:lnTo>
                  <a:lnTo>
                    <a:pt x="664" y="893"/>
                  </a:lnTo>
                  <a:lnTo>
                    <a:pt x="669" y="882"/>
                  </a:lnTo>
                  <a:lnTo>
                    <a:pt x="670" y="871"/>
                  </a:lnTo>
                  <a:lnTo>
                    <a:pt x="672" y="871"/>
                  </a:lnTo>
                  <a:lnTo>
                    <a:pt x="677" y="845"/>
                  </a:lnTo>
                  <a:lnTo>
                    <a:pt x="673" y="821"/>
                  </a:lnTo>
                  <a:lnTo>
                    <a:pt x="665" y="800"/>
                  </a:lnTo>
                  <a:lnTo>
                    <a:pt x="658" y="778"/>
                  </a:lnTo>
                  <a:lnTo>
                    <a:pt x="656" y="760"/>
                  </a:lnTo>
                  <a:lnTo>
                    <a:pt x="658" y="760"/>
                  </a:lnTo>
                  <a:lnTo>
                    <a:pt x="661" y="740"/>
                  </a:lnTo>
                  <a:lnTo>
                    <a:pt x="658" y="722"/>
                  </a:lnTo>
                  <a:lnTo>
                    <a:pt x="651" y="704"/>
                  </a:lnTo>
                  <a:lnTo>
                    <a:pt x="646" y="685"/>
                  </a:lnTo>
                  <a:lnTo>
                    <a:pt x="637" y="642"/>
                  </a:lnTo>
                  <a:lnTo>
                    <a:pt x="626" y="599"/>
                  </a:lnTo>
                  <a:lnTo>
                    <a:pt x="616" y="556"/>
                  </a:lnTo>
                  <a:lnTo>
                    <a:pt x="605" y="514"/>
                  </a:lnTo>
                  <a:lnTo>
                    <a:pt x="597" y="487"/>
                  </a:lnTo>
                  <a:lnTo>
                    <a:pt x="592" y="458"/>
                  </a:lnTo>
                  <a:lnTo>
                    <a:pt x="589" y="430"/>
                  </a:lnTo>
                  <a:lnTo>
                    <a:pt x="586" y="399"/>
                  </a:lnTo>
                  <a:lnTo>
                    <a:pt x="582" y="369"/>
                  </a:lnTo>
                  <a:lnTo>
                    <a:pt x="576" y="342"/>
                  </a:lnTo>
                  <a:lnTo>
                    <a:pt x="567" y="314"/>
                  </a:lnTo>
                  <a:lnTo>
                    <a:pt x="551" y="291"/>
                  </a:lnTo>
                  <a:lnTo>
                    <a:pt x="552" y="354"/>
                  </a:lnTo>
                  <a:lnTo>
                    <a:pt x="551" y="417"/>
                  </a:lnTo>
                  <a:lnTo>
                    <a:pt x="551" y="479"/>
                  </a:lnTo>
                  <a:lnTo>
                    <a:pt x="559" y="540"/>
                  </a:lnTo>
                  <a:lnTo>
                    <a:pt x="563" y="569"/>
                  </a:lnTo>
                  <a:lnTo>
                    <a:pt x="568" y="597"/>
                  </a:lnTo>
                  <a:lnTo>
                    <a:pt x="573" y="628"/>
                  </a:lnTo>
                  <a:lnTo>
                    <a:pt x="576" y="656"/>
                  </a:lnTo>
                  <a:lnTo>
                    <a:pt x="579" y="664"/>
                  </a:lnTo>
                  <a:lnTo>
                    <a:pt x="581" y="674"/>
                  </a:lnTo>
                  <a:lnTo>
                    <a:pt x="582" y="682"/>
                  </a:lnTo>
                  <a:lnTo>
                    <a:pt x="587" y="690"/>
                  </a:lnTo>
                  <a:lnTo>
                    <a:pt x="592" y="711"/>
                  </a:lnTo>
                  <a:lnTo>
                    <a:pt x="595" y="735"/>
                  </a:lnTo>
                  <a:lnTo>
                    <a:pt x="595" y="757"/>
                  </a:lnTo>
                  <a:lnTo>
                    <a:pt x="592" y="781"/>
                  </a:lnTo>
                  <a:lnTo>
                    <a:pt x="595" y="802"/>
                  </a:lnTo>
                  <a:lnTo>
                    <a:pt x="587" y="816"/>
                  </a:lnTo>
                  <a:lnTo>
                    <a:pt x="573" y="829"/>
                  </a:lnTo>
                  <a:lnTo>
                    <a:pt x="563" y="843"/>
                  </a:lnTo>
                  <a:lnTo>
                    <a:pt x="555" y="848"/>
                  </a:lnTo>
                  <a:lnTo>
                    <a:pt x="549" y="851"/>
                  </a:lnTo>
                  <a:lnTo>
                    <a:pt x="541" y="856"/>
                  </a:lnTo>
                  <a:lnTo>
                    <a:pt x="535" y="861"/>
                  </a:lnTo>
                  <a:lnTo>
                    <a:pt x="527" y="864"/>
                  </a:lnTo>
                  <a:lnTo>
                    <a:pt x="520" y="867"/>
                  </a:lnTo>
                  <a:lnTo>
                    <a:pt x="512" y="871"/>
                  </a:lnTo>
                  <a:lnTo>
                    <a:pt x="504" y="872"/>
                  </a:lnTo>
                  <a:lnTo>
                    <a:pt x="503" y="874"/>
                  </a:lnTo>
                  <a:lnTo>
                    <a:pt x="501" y="875"/>
                  </a:lnTo>
                  <a:lnTo>
                    <a:pt x="498" y="877"/>
                  </a:lnTo>
                  <a:lnTo>
                    <a:pt x="498" y="879"/>
                  </a:lnTo>
                  <a:lnTo>
                    <a:pt x="511" y="880"/>
                  </a:lnTo>
                  <a:lnTo>
                    <a:pt x="522" y="880"/>
                  </a:lnTo>
                  <a:lnTo>
                    <a:pt x="533" y="879"/>
                  </a:lnTo>
                  <a:lnTo>
                    <a:pt x="543" y="877"/>
                  </a:lnTo>
                  <a:lnTo>
                    <a:pt x="554" y="874"/>
                  </a:lnTo>
                  <a:lnTo>
                    <a:pt x="563" y="871"/>
                  </a:lnTo>
                  <a:lnTo>
                    <a:pt x="574" y="869"/>
                  </a:lnTo>
                  <a:lnTo>
                    <a:pt x="586" y="867"/>
                  </a:lnTo>
                  <a:lnTo>
                    <a:pt x="584" y="879"/>
                  </a:lnTo>
                  <a:lnTo>
                    <a:pt x="581" y="888"/>
                  </a:lnTo>
                  <a:lnTo>
                    <a:pt x="574" y="896"/>
                  </a:lnTo>
                  <a:lnTo>
                    <a:pt x="567" y="903"/>
                  </a:lnTo>
                  <a:lnTo>
                    <a:pt x="559" y="909"/>
                  </a:lnTo>
                  <a:lnTo>
                    <a:pt x="549" y="915"/>
                  </a:lnTo>
                  <a:lnTo>
                    <a:pt x="539" y="920"/>
                  </a:lnTo>
                  <a:lnTo>
                    <a:pt x="531" y="925"/>
                  </a:lnTo>
                  <a:lnTo>
                    <a:pt x="512" y="934"/>
                  </a:lnTo>
                  <a:lnTo>
                    <a:pt x="493" y="942"/>
                  </a:lnTo>
                  <a:lnTo>
                    <a:pt x="475" y="950"/>
                  </a:lnTo>
                  <a:lnTo>
                    <a:pt x="456" y="960"/>
                  </a:lnTo>
                  <a:lnTo>
                    <a:pt x="437" y="970"/>
                  </a:lnTo>
                  <a:lnTo>
                    <a:pt x="420" y="981"/>
                  </a:lnTo>
                  <a:lnTo>
                    <a:pt x="402" y="992"/>
                  </a:lnTo>
                  <a:lnTo>
                    <a:pt x="384" y="1005"/>
                  </a:lnTo>
                  <a:lnTo>
                    <a:pt x="375" y="1011"/>
                  </a:lnTo>
                  <a:lnTo>
                    <a:pt x="364" y="1018"/>
                  </a:lnTo>
                  <a:lnTo>
                    <a:pt x="353" y="1024"/>
                  </a:lnTo>
                  <a:lnTo>
                    <a:pt x="341" y="1029"/>
                  </a:lnTo>
                  <a:lnTo>
                    <a:pt x="329" y="1032"/>
                  </a:lnTo>
                  <a:lnTo>
                    <a:pt x="317" y="1035"/>
                  </a:lnTo>
                  <a:lnTo>
                    <a:pt x="303" y="1035"/>
                  </a:lnTo>
                  <a:lnTo>
                    <a:pt x="289" y="1032"/>
                  </a:lnTo>
                  <a:lnTo>
                    <a:pt x="279" y="1024"/>
                  </a:lnTo>
                  <a:lnTo>
                    <a:pt x="270" y="1014"/>
                  </a:lnTo>
                  <a:lnTo>
                    <a:pt x="263" y="1005"/>
                  </a:lnTo>
                  <a:lnTo>
                    <a:pt x="258" y="992"/>
                  </a:lnTo>
                  <a:lnTo>
                    <a:pt x="266" y="976"/>
                  </a:lnTo>
                  <a:lnTo>
                    <a:pt x="278" y="963"/>
                  </a:lnTo>
                  <a:lnTo>
                    <a:pt x="287" y="949"/>
                  </a:lnTo>
                  <a:lnTo>
                    <a:pt x="292" y="931"/>
                  </a:lnTo>
                  <a:lnTo>
                    <a:pt x="293" y="927"/>
                  </a:lnTo>
                  <a:lnTo>
                    <a:pt x="295" y="922"/>
                  </a:lnTo>
                  <a:lnTo>
                    <a:pt x="297" y="917"/>
                  </a:lnTo>
                  <a:lnTo>
                    <a:pt x="298" y="912"/>
                  </a:lnTo>
                  <a:lnTo>
                    <a:pt x="309" y="904"/>
                  </a:lnTo>
                  <a:lnTo>
                    <a:pt x="317" y="896"/>
                  </a:lnTo>
                  <a:lnTo>
                    <a:pt x="324" y="885"/>
                  </a:lnTo>
                  <a:lnTo>
                    <a:pt x="330" y="875"/>
                  </a:lnTo>
                  <a:lnTo>
                    <a:pt x="335" y="867"/>
                  </a:lnTo>
                  <a:lnTo>
                    <a:pt x="338" y="859"/>
                  </a:lnTo>
                  <a:lnTo>
                    <a:pt x="343" y="851"/>
                  </a:lnTo>
                  <a:lnTo>
                    <a:pt x="351" y="845"/>
                  </a:lnTo>
                  <a:lnTo>
                    <a:pt x="356" y="839"/>
                  </a:lnTo>
                  <a:lnTo>
                    <a:pt x="362" y="834"/>
                  </a:lnTo>
                  <a:lnTo>
                    <a:pt x="367" y="829"/>
                  </a:lnTo>
                  <a:lnTo>
                    <a:pt x="373" y="824"/>
                  </a:lnTo>
                  <a:lnTo>
                    <a:pt x="380" y="821"/>
                  </a:lnTo>
                  <a:lnTo>
                    <a:pt x="386" y="818"/>
                  </a:lnTo>
                  <a:lnTo>
                    <a:pt x="392" y="815"/>
                  </a:lnTo>
                  <a:lnTo>
                    <a:pt x="399" y="810"/>
                  </a:lnTo>
                  <a:lnTo>
                    <a:pt x="407" y="802"/>
                  </a:lnTo>
                  <a:lnTo>
                    <a:pt x="415" y="794"/>
                  </a:lnTo>
                  <a:lnTo>
                    <a:pt x="421" y="786"/>
                  </a:lnTo>
                  <a:lnTo>
                    <a:pt x="429" y="776"/>
                  </a:lnTo>
                  <a:lnTo>
                    <a:pt x="436" y="768"/>
                  </a:lnTo>
                  <a:lnTo>
                    <a:pt x="440" y="759"/>
                  </a:lnTo>
                  <a:lnTo>
                    <a:pt x="447" y="749"/>
                  </a:lnTo>
                  <a:lnTo>
                    <a:pt x="453" y="740"/>
                  </a:lnTo>
                  <a:lnTo>
                    <a:pt x="460" y="736"/>
                  </a:lnTo>
                  <a:lnTo>
                    <a:pt x="466" y="733"/>
                  </a:lnTo>
                  <a:lnTo>
                    <a:pt x="471" y="728"/>
                  </a:lnTo>
                  <a:lnTo>
                    <a:pt x="474" y="720"/>
                  </a:lnTo>
                  <a:lnTo>
                    <a:pt x="472" y="696"/>
                  </a:lnTo>
                  <a:lnTo>
                    <a:pt x="468" y="676"/>
                  </a:lnTo>
                  <a:lnTo>
                    <a:pt x="463" y="655"/>
                  </a:lnTo>
                  <a:lnTo>
                    <a:pt x="455" y="634"/>
                  </a:lnTo>
                  <a:lnTo>
                    <a:pt x="447" y="615"/>
                  </a:lnTo>
                  <a:lnTo>
                    <a:pt x="439" y="596"/>
                  </a:lnTo>
                  <a:lnTo>
                    <a:pt x="429" y="577"/>
                  </a:lnTo>
                  <a:lnTo>
                    <a:pt x="421" y="557"/>
                  </a:lnTo>
                  <a:lnTo>
                    <a:pt x="418" y="548"/>
                  </a:lnTo>
                  <a:lnTo>
                    <a:pt x="415" y="538"/>
                  </a:lnTo>
                  <a:lnTo>
                    <a:pt x="413" y="530"/>
                  </a:lnTo>
                  <a:lnTo>
                    <a:pt x="412" y="521"/>
                  </a:lnTo>
                  <a:lnTo>
                    <a:pt x="407" y="517"/>
                  </a:lnTo>
                  <a:lnTo>
                    <a:pt x="405" y="527"/>
                  </a:lnTo>
                  <a:lnTo>
                    <a:pt x="405" y="535"/>
                  </a:lnTo>
                  <a:lnTo>
                    <a:pt x="408" y="545"/>
                  </a:lnTo>
                  <a:lnTo>
                    <a:pt x="412" y="553"/>
                  </a:lnTo>
                  <a:lnTo>
                    <a:pt x="418" y="588"/>
                  </a:lnTo>
                  <a:lnTo>
                    <a:pt x="424" y="624"/>
                  </a:lnTo>
                  <a:lnTo>
                    <a:pt x="428" y="661"/>
                  </a:lnTo>
                  <a:lnTo>
                    <a:pt x="429" y="700"/>
                  </a:lnTo>
                  <a:lnTo>
                    <a:pt x="428" y="700"/>
                  </a:lnTo>
                  <a:lnTo>
                    <a:pt x="426" y="714"/>
                  </a:lnTo>
                  <a:lnTo>
                    <a:pt x="423" y="727"/>
                  </a:lnTo>
                  <a:lnTo>
                    <a:pt x="420" y="740"/>
                  </a:lnTo>
                  <a:lnTo>
                    <a:pt x="415" y="752"/>
                  </a:lnTo>
                  <a:lnTo>
                    <a:pt x="392" y="771"/>
                  </a:lnTo>
                  <a:lnTo>
                    <a:pt x="372" y="791"/>
                  </a:lnTo>
                  <a:lnTo>
                    <a:pt x="349" y="808"/>
                  </a:lnTo>
                  <a:lnTo>
                    <a:pt x="327" y="824"/>
                  </a:lnTo>
                  <a:lnTo>
                    <a:pt x="303" y="840"/>
                  </a:lnTo>
                  <a:lnTo>
                    <a:pt x="279" y="853"/>
                  </a:lnTo>
                  <a:lnTo>
                    <a:pt x="254" y="864"/>
                  </a:lnTo>
                  <a:lnTo>
                    <a:pt x="228" y="874"/>
                  </a:lnTo>
                  <a:lnTo>
                    <a:pt x="223" y="877"/>
                  </a:lnTo>
                  <a:lnTo>
                    <a:pt x="218" y="880"/>
                  </a:lnTo>
                  <a:lnTo>
                    <a:pt x="212" y="882"/>
                  </a:lnTo>
                  <a:lnTo>
                    <a:pt x="206" y="882"/>
                  </a:lnTo>
                  <a:lnTo>
                    <a:pt x="193" y="867"/>
                  </a:lnTo>
                  <a:lnTo>
                    <a:pt x="183" y="851"/>
                  </a:lnTo>
                  <a:lnTo>
                    <a:pt x="179" y="834"/>
                  </a:lnTo>
                  <a:lnTo>
                    <a:pt x="180" y="813"/>
                  </a:lnTo>
                  <a:lnTo>
                    <a:pt x="182" y="813"/>
                  </a:lnTo>
                  <a:lnTo>
                    <a:pt x="183" y="797"/>
                  </a:lnTo>
                  <a:lnTo>
                    <a:pt x="188" y="786"/>
                  </a:lnTo>
                  <a:lnTo>
                    <a:pt x="198" y="776"/>
                  </a:lnTo>
                  <a:lnTo>
                    <a:pt x="209" y="770"/>
                  </a:lnTo>
                  <a:lnTo>
                    <a:pt x="222" y="764"/>
                  </a:lnTo>
                  <a:lnTo>
                    <a:pt x="234" y="757"/>
                  </a:lnTo>
                  <a:lnTo>
                    <a:pt x="246" y="751"/>
                  </a:lnTo>
                  <a:lnTo>
                    <a:pt x="255" y="741"/>
                  </a:lnTo>
                  <a:lnTo>
                    <a:pt x="262" y="744"/>
                  </a:lnTo>
                  <a:lnTo>
                    <a:pt x="268" y="748"/>
                  </a:lnTo>
                  <a:lnTo>
                    <a:pt x="276" y="752"/>
                  </a:lnTo>
                  <a:lnTo>
                    <a:pt x="282" y="756"/>
                  </a:lnTo>
                  <a:lnTo>
                    <a:pt x="290" y="759"/>
                  </a:lnTo>
                  <a:lnTo>
                    <a:pt x="297" y="760"/>
                  </a:lnTo>
                  <a:lnTo>
                    <a:pt x="305" y="757"/>
                  </a:lnTo>
                  <a:lnTo>
                    <a:pt x="313" y="752"/>
                  </a:lnTo>
                  <a:lnTo>
                    <a:pt x="322" y="746"/>
                  </a:lnTo>
                  <a:lnTo>
                    <a:pt x="330" y="736"/>
                  </a:lnTo>
                  <a:lnTo>
                    <a:pt x="340" y="727"/>
                  </a:lnTo>
                  <a:lnTo>
                    <a:pt x="348" y="717"/>
                  </a:lnTo>
                  <a:lnTo>
                    <a:pt x="343" y="719"/>
                  </a:lnTo>
                  <a:lnTo>
                    <a:pt x="338" y="720"/>
                  </a:lnTo>
                  <a:lnTo>
                    <a:pt x="333" y="722"/>
                  </a:lnTo>
                  <a:lnTo>
                    <a:pt x="327" y="724"/>
                  </a:lnTo>
                  <a:lnTo>
                    <a:pt x="321" y="725"/>
                  </a:lnTo>
                  <a:lnTo>
                    <a:pt x="314" y="727"/>
                  </a:lnTo>
                  <a:lnTo>
                    <a:pt x="306" y="725"/>
                  </a:lnTo>
                  <a:lnTo>
                    <a:pt x="298" y="725"/>
                  </a:lnTo>
                  <a:lnTo>
                    <a:pt x="279" y="714"/>
                  </a:lnTo>
                  <a:lnTo>
                    <a:pt x="290" y="711"/>
                  </a:lnTo>
                  <a:lnTo>
                    <a:pt x="301" y="708"/>
                  </a:lnTo>
                  <a:lnTo>
                    <a:pt x="311" y="701"/>
                  </a:lnTo>
                  <a:lnTo>
                    <a:pt x="319" y="695"/>
                  </a:lnTo>
                  <a:lnTo>
                    <a:pt x="327" y="687"/>
                  </a:lnTo>
                  <a:lnTo>
                    <a:pt x="335" y="677"/>
                  </a:lnTo>
                  <a:lnTo>
                    <a:pt x="340" y="668"/>
                  </a:lnTo>
                  <a:lnTo>
                    <a:pt x="345" y="656"/>
                  </a:lnTo>
                  <a:lnTo>
                    <a:pt x="348" y="648"/>
                  </a:lnTo>
                  <a:lnTo>
                    <a:pt x="349" y="640"/>
                  </a:lnTo>
                  <a:lnTo>
                    <a:pt x="349" y="634"/>
                  </a:lnTo>
                  <a:lnTo>
                    <a:pt x="351" y="628"/>
                  </a:lnTo>
                  <a:lnTo>
                    <a:pt x="341" y="636"/>
                  </a:lnTo>
                  <a:lnTo>
                    <a:pt x="330" y="644"/>
                  </a:lnTo>
                  <a:lnTo>
                    <a:pt x="321" y="652"/>
                  </a:lnTo>
                  <a:lnTo>
                    <a:pt x="309" y="658"/>
                  </a:lnTo>
                  <a:lnTo>
                    <a:pt x="297" y="663"/>
                  </a:lnTo>
                  <a:lnTo>
                    <a:pt x="285" y="666"/>
                  </a:lnTo>
                  <a:lnTo>
                    <a:pt x="273" y="669"/>
                  </a:lnTo>
                  <a:lnTo>
                    <a:pt x="258" y="669"/>
                  </a:lnTo>
                  <a:lnTo>
                    <a:pt x="242" y="629"/>
                  </a:lnTo>
                  <a:lnTo>
                    <a:pt x="230" y="589"/>
                  </a:lnTo>
                  <a:lnTo>
                    <a:pt x="220" y="546"/>
                  </a:lnTo>
                  <a:lnTo>
                    <a:pt x="214" y="500"/>
                  </a:lnTo>
                  <a:lnTo>
                    <a:pt x="214" y="457"/>
                  </a:lnTo>
                  <a:lnTo>
                    <a:pt x="214" y="457"/>
                  </a:lnTo>
                  <a:lnTo>
                    <a:pt x="220" y="396"/>
                  </a:lnTo>
                  <a:lnTo>
                    <a:pt x="220" y="396"/>
                  </a:lnTo>
                  <a:lnTo>
                    <a:pt x="225" y="367"/>
                  </a:lnTo>
                  <a:lnTo>
                    <a:pt x="230" y="340"/>
                  </a:lnTo>
                  <a:lnTo>
                    <a:pt x="234" y="313"/>
                  </a:lnTo>
                  <a:lnTo>
                    <a:pt x="239" y="286"/>
                  </a:lnTo>
                  <a:lnTo>
                    <a:pt x="250" y="262"/>
                  </a:lnTo>
                  <a:lnTo>
                    <a:pt x="257" y="236"/>
                  </a:lnTo>
                  <a:lnTo>
                    <a:pt x="258" y="209"/>
                  </a:lnTo>
                  <a:lnTo>
                    <a:pt x="255" y="180"/>
                  </a:lnTo>
                  <a:lnTo>
                    <a:pt x="247" y="164"/>
                  </a:lnTo>
                  <a:lnTo>
                    <a:pt x="238" y="150"/>
                  </a:lnTo>
                  <a:lnTo>
                    <a:pt x="231" y="132"/>
                  </a:lnTo>
                  <a:lnTo>
                    <a:pt x="226" y="115"/>
                  </a:lnTo>
                  <a:lnTo>
                    <a:pt x="230" y="107"/>
                  </a:lnTo>
                  <a:lnTo>
                    <a:pt x="234" y="99"/>
                  </a:lnTo>
                  <a:lnTo>
                    <a:pt x="241" y="92"/>
                  </a:lnTo>
                  <a:lnTo>
                    <a:pt x="247" y="88"/>
                  </a:lnTo>
                  <a:lnTo>
                    <a:pt x="255" y="78"/>
                  </a:lnTo>
                  <a:lnTo>
                    <a:pt x="263" y="68"/>
                  </a:lnTo>
                  <a:lnTo>
                    <a:pt x="271" y="59"/>
                  </a:lnTo>
                  <a:lnTo>
                    <a:pt x="279" y="49"/>
                  </a:lnTo>
                  <a:lnTo>
                    <a:pt x="289" y="41"/>
                  </a:lnTo>
                  <a:lnTo>
                    <a:pt x="298" y="35"/>
                  </a:lnTo>
                  <a:lnTo>
                    <a:pt x="309" y="30"/>
                  </a:lnTo>
                  <a:lnTo>
                    <a:pt x="322" y="27"/>
                  </a:lnTo>
                  <a:lnTo>
                    <a:pt x="332" y="24"/>
                  </a:lnTo>
                  <a:lnTo>
                    <a:pt x="340" y="19"/>
                  </a:lnTo>
                  <a:lnTo>
                    <a:pt x="346" y="14"/>
                  </a:lnTo>
                  <a:lnTo>
                    <a:pt x="351" y="6"/>
                  </a:lnTo>
                  <a:lnTo>
                    <a:pt x="343" y="8"/>
                  </a:lnTo>
                  <a:lnTo>
                    <a:pt x="333" y="8"/>
                  </a:lnTo>
                  <a:lnTo>
                    <a:pt x="325" y="9"/>
                  </a:lnTo>
                  <a:lnTo>
                    <a:pt x="316" y="11"/>
                  </a:lnTo>
                  <a:lnTo>
                    <a:pt x="306" y="12"/>
                  </a:lnTo>
                  <a:lnTo>
                    <a:pt x="297" y="14"/>
                  </a:lnTo>
                  <a:lnTo>
                    <a:pt x="289" y="17"/>
                  </a:lnTo>
                  <a:lnTo>
                    <a:pt x="281" y="20"/>
                  </a:lnTo>
                  <a:lnTo>
                    <a:pt x="263" y="27"/>
                  </a:lnTo>
                  <a:lnTo>
                    <a:pt x="247" y="35"/>
                  </a:lnTo>
                  <a:lnTo>
                    <a:pt x="231" y="43"/>
                  </a:lnTo>
                  <a:lnTo>
                    <a:pt x="215" y="51"/>
                  </a:lnTo>
                  <a:lnTo>
                    <a:pt x="199" y="60"/>
                  </a:lnTo>
                  <a:lnTo>
                    <a:pt x="183" y="68"/>
                  </a:lnTo>
                  <a:lnTo>
                    <a:pt x="167" y="76"/>
                  </a:lnTo>
                  <a:lnTo>
                    <a:pt x="151" y="84"/>
                  </a:lnTo>
                  <a:lnTo>
                    <a:pt x="143" y="81"/>
                  </a:lnTo>
                  <a:lnTo>
                    <a:pt x="135" y="78"/>
                  </a:lnTo>
                  <a:lnTo>
                    <a:pt x="127" y="75"/>
                  </a:lnTo>
                  <a:lnTo>
                    <a:pt x="121" y="70"/>
                  </a:lnTo>
                  <a:lnTo>
                    <a:pt x="113" y="67"/>
                  </a:lnTo>
                  <a:lnTo>
                    <a:pt x="105" y="64"/>
                  </a:lnTo>
                  <a:lnTo>
                    <a:pt x="97" y="62"/>
                  </a:lnTo>
                  <a:lnTo>
                    <a:pt x="88" y="60"/>
                  </a:lnTo>
                  <a:lnTo>
                    <a:pt x="76" y="54"/>
                  </a:lnTo>
                  <a:lnTo>
                    <a:pt x="64" y="48"/>
                  </a:lnTo>
                  <a:lnTo>
                    <a:pt x="52" y="41"/>
                  </a:lnTo>
                  <a:lnTo>
                    <a:pt x="41" y="33"/>
                  </a:lnTo>
                  <a:lnTo>
                    <a:pt x="32" y="25"/>
                  </a:lnTo>
                  <a:lnTo>
                    <a:pt x="20" y="17"/>
                  </a:lnTo>
                  <a:lnTo>
                    <a:pt x="9" y="8"/>
                  </a:lnTo>
                  <a:lnTo>
                    <a:pt x="0" y="0"/>
                  </a:lnTo>
                  <a:lnTo>
                    <a:pt x="5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F728AF4-E44E-A9F2-F360-A122CA85A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2349"/>
              <a:ext cx="39" cy="127"/>
            </a:xfrm>
            <a:custGeom>
              <a:avLst/>
              <a:gdLst>
                <a:gd name="T0" fmla="*/ 64 w 78"/>
                <a:gd name="T1" fmla="*/ 105 h 252"/>
                <a:gd name="T2" fmla="*/ 69 w 78"/>
                <a:gd name="T3" fmla="*/ 115 h 252"/>
                <a:gd name="T4" fmla="*/ 70 w 78"/>
                <a:gd name="T5" fmla="*/ 124 h 252"/>
                <a:gd name="T6" fmla="*/ 72 w 78"/>
                <a:gd name="T7" fmla="*/ 135 h 252"/>
                <a:gd name="T8" fmla="*/ 70 w 78"/>
                <a:gd name="T9" fmla="*/ 143 h 252"/>
                <a:gd name="T10" fmla="*/ 72 w 78"/>
                <a:gd name="T11" fmla="*/ 145 h 252"/>
                <a:gd name="T12" fmla="*/ 75 w 78"/>
                <a:gd name="T13" fmla="*/ 171 h 252"/>
                <a:gd name="T14" fmla="*/ 75 w 78"/>
                <a:gd name="T15" fmla="*/ 198 h 252"/>
                <a:gd name="T16" fmla="*/ 75 w 78"/>
                <a:gd name="T17" fmla="*/ 227 h 252"/>
                <a:gd name="T18" fmla="*/ 78 w 78"/>
                <a:gd name="T19" fmla="*/ 252 h 252"/>
                <a:gd name="T20" fmla="*/ 70 w 78"/>
                <a:gd name="T21" fmla="*/ 228 h 252"/>
                <a:gd name="T22" fmla="*/ 66 w 78"/>
                <a:gd name="T23" fmla="*/ 203 h 252"/>
                <a:gd name="T24" fmla="*/ 59 w 78"/>
                <a:gd name="T25" fmla="*/ 179 h 252"/>
                <a:gd name="T26" fmla="*/ 48 w 78"/>
                <a:gd name="T27" fmla="*/ 156 h 252"/>
                <a:gd name="T28" fmla="*/ 42 w 78"/>
                <a:gd name="T29" fmla="*/ 126 h 252"/>
                <a:gd name="T30" fmla="*/ 35 w 78"/>
                <a:gd name="T31" fmla="*/ 92 h 252"/>
                <a:gd name="T32" fmla="*/ 26 w 78"/>
                <a:gd name="T33" fmla="*/ 62 h 252"/>
                <a:gd name="T34" fmla="*/ 13 w 78"/>
                <a:gd name="T35" fmla="*/ 35 h 252"/>
                <a:gd name="T36" fmla="*/ 10 w 78"/>
                <a:gd name="T37" fmla="*/ 25 h 252"/>
                <a:gd name="T38" fmla="*/ 7 w 78"/>
                <a:gd name="T39" fmla="*/ 16 h 252"/>
                <a:gd name="T40" fmla="*/ 3 w 78"/>
                <a:gd name="T41" fmla="*/ 8 h 252"/>
                <a:gd name="T42" fmla="*/ 0 w 78"/>
                <a:gd name="T43" fmla="*/ 0 h 252"/>
                <a:gd name="T44" fmla="*/ 13 w 78"/>
                <a:gd name="T45" fmla="*/ 9 h 252"/>
                <a:gd name="T46" fmla="*/ 24 w 78"/>
                <a:gd name="T47" fmla="*/ 19 h 252"/>
                <a:gd name="T48" fmla="*/ 34 w 78"/>
                <a:gd name="T49" fmla="*/ 32 h 252"/>
                <a:gd name="T50" fmla="*/ 42 w 78"/>
                <a:gd name="T51" fmla="*/ 44 h 252"/>
                <a:gd name="T52" fmla="*/ 50 w 78"/>
                <a:gd name="T53" fmla="*/ 59 h 252"/>
                <a:gd name="T54" fmla="*/ 54 w 78"/>
                <a:gd name="T55" fmla="*/ 75 h 252"/>
                <a:gd name="T56" fmla="*/ 61 w 78"/>
                <a:gd name="T57" fmla="*/ 89 h 252"/>
                <a:gd name="T58" fmla="*/ 64 w 78"/>
                <a:gd name="T59" fmla="*/ 10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8" h="252">
                  <a:moveTo>
                    <a:pt x="64" y="105"/>
                  </a:moveTo>
                  <a:lnTo>
                    <a:pt x="69" y="115"/>
                  </a:lnTo>
                  <a:lnTo>
                    <a:pt x="70" y="124"/>
                  </a:lnTo>
                  <a:lnTo>
                    <a:pt x="72" y="135"/>
                  </a:lnTo>
                  <a:lnTo>
                    <a:pt x="70" y="143"/>
                  </a:lnTo>
                  <a:lnTo>
                    <a:pt x="72" y="145"/>
                  </a:lnTo>
                  <a:lnTo>
                    <a:pt x="75" y="171"/>
                  </a:lnTo>
                  <a:lnTo>
                    <a:pt x="75" y="198"/>
                  </a:lnTo>
                  <a:lnTo>
                    <a:pt x="75" y="227"/>
                  </a:lnTo>
                  <a:lnTo>
                    <a:pt x="78" y="252"/>
                  </a:lnTo>
                  <a:lnTo>
                    <a:pt x="70" y="228"/>
                  </a:lnTo>
                  <a:lnTo>
                    <a:pt x="66" y="203"/>
                  </a:lnTo>
                  <a:lnTo>
                    <a:pt x="59" y="179"/>
                  </a:lnTo>
                  <a:lnTo>
                    <a:pt x="48" y="156"/>
                  </a:lnTo>
                  <a:lnTo>
                    <a:pt x="42" y="126"/>
                  </a:lnTo>
                  <a:lnTo>
                    <a:pt x="35" y="92"/>
                  </a:lnTo>
                  <a:lnTo>
                    <a:pt x="26" y="62"/>
                  </a:lnTo>
                  <a:lnTo>
                    <a:pt x="13" y="35"/>
                  </a:lnTo>
                  <a:lnTo>
                    <a:pt x="10" y="25"/>
                  </a:lnTo>
                  <a:lnTo>
                    <a:pt x="7" y="16"/>
                  </a:lnTo>
                  <a:lnTo>
                    <a:pt x="3" y="8"/>
                  </a:lnTo>
                  <a:lnTo>
                    <a:pt x="0" y="0"/>
                  </a:lnTo>
                  <a:lnTo>
                    <a:pt x="13" y="9"/>
                  </a:lnTo>
                  <a:lnTo>
                    <a:pt x="24" y="19"/>
                  </a:lnTo>
                  <a:lnTo>
                    <a:pt x="34" y="32"/>
                  </a:lnTo>
                  <a:lnTo>
                    <a:pt x="42" y="44"/>
                  </a:lnTo>
                  <a:lnTo>
                    <a:pt x="50" y="59"/>
                  </a:lnTo>
                  <a:lnTo>
                    <a:pt x="54" y="75"/>
                  </a:lnTo>
                  <a:lnTo>
                    <a:pt x="61" y="89"/>
                  </a:lnTo>
                  <a:lnTo>
                    <a:pt x="64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58983630-4D1B-8171-62C0-578CD8317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400"/>
              <a:ext cx="1117" cy="1328"/>
            </a:xfrm>
            <a:custGeom>
              <a:avLst/>
              <a:gdLst>
                <a:gd name="T0" fmla="*/ 99 w 2235"/>
                <a:gd name="T1" fmla="*/ 109 h 2654"/>
                <a:gd name="T2" fmla="*/ 215 w 2235"/>
                <a:gd name="T3" fmla="*/ 344 h 2654"/>
                <a:gd name="T4" fmla="*/ 300 w 2235"/>
                <a:gd name="T5" fmla="*/ 596 h 2654"/>
                <a:gd name="T6" fmla="*/ 373 w 2235"/>
                <a:gd name="T7" fmla="*/ 797 h 2654"/>
                <a:gd name="T8" fmla="*/ 471 w 2235"/>
                <a:gd name="T9" fmla="*/ 952 h 2654"/>
                <a:gd name="T10" fmla="*/ 506 w 2235"/>
                <a:gd name="T11" fmla="*/ 1117 h 2654"/>
                <a:gd name="T12" fmla="*/ 541 w 2235"/>
                <a:gd name="T13" fmla="*/ 1325 h 2654"/>
                <a:gd name="T14" fmla="*/ 574 w 2235"/>
                <a:gd name="T15" fmla="*/ 1403 h 2654"/>
                <a:gd name="T16" fmla="*/ 708 w 2235"/>
                <a:gd name="T17" fmla="*/ 1644 h 2654"/>
                <a:gd name="T18" fmla="*/ 795 w 2235"/>
                <a:gd name="T19" fmla="*/ 1804 h 2654"/>
                <a:gd name="T20" fmla="*/ 839 w 2235"/>
                <a:gd name="T21" fmla="*/ 1823 h 2654"/>
                <a:gd name="T22" fmla="*/ 886 w 2235"/>
                <a:gd name="T23" fmla="*/ 1855 h 2654"/>
                <a:gd name="T24" fmla="*/ 929 w 2235"/>
                <a:gd name="T25" fmla="*/ 1900 h 2654"/>
                <a:gd name="T26" fmla="*/ 1042 w 2235"/>
                <a:gd name="T27" fmla="*/ 1903 h 2654"/>
                <a:gd name="T28" fmla="*/ 1186 w 2235"/>
                <a:gd name="T29" fmla="*/ 1933 h 2654"/>
                <a:gd name="T30" fmla="*/ 1290 w 2235"/>
                <a:gd name="T31" fmla="*/ 1988 h 2654"/>
                <a:gd name="T32" fmla="*/ 1422 w 2235"/>
                <a:gd name="T33" fmla="*/ 2017 h 2654"/>
                <a:gd name="T34" fmla="*/ 1529 w 2235"/>
                <a:gd name="T35" fmla="*/ 2020 h 2654"/>
                <a:gd name="T36" fmla="*/ 1623 w 2235"/>
                <a:gd name="T37" fmla="*/ 2044 h 2654"/>
                <a:gd name="T38" fmla="*/ 1722 w 2235"/>
                <a:gd name="T39" fmla="*/ 2041 h 2654"/>
                <a:gd name="T40" fmla="*/ 1824 w 2235"/>
                <a:gd name="T41" fmla="*/ 2050 h 2654"/>
                <a:gd name="T42" fmla="*/ 1893 w 2235"/>
                <a:gd name="T43" fmla="*/ 2088 h 2654"/>
                <a:gd name="T44" fmla="*/ 2038 w 2235"/>
                <a:gd name="T45" fmla="*/ 2199 h 2654"/>
                <a:gd name="T46" fmla="*/ 2104 w 2235"/>
                <a:gd name="T47" fmla="*/ 2235 h 2654"/>
                <a:gd name="T48" fmla="*/ 2078 w 2235"/>
                <a:gd name="T49" fmla="*/ 2287 h 2654"/>
                <a:gd name="T50" fmla="*/ 2165 w 2235"/>
                <a:gd name="T51" fmla="*/ 2309 h 2654"/>
                <a:gd name="T52" fmla="*/ 2220 w 2235"/>
                <a:gd name="T53" fmla="*/ 2317 h 2654"/>
                <a:gd name="T54" fmla="*/ 2228 w 2235"/>
                <a:gd name="T55" fmla="*/ 2365 h 2654"/>
                <a:gd name="T56" fmla="*/ 2182 w 2235"/>
                <a:gd name="T57" fmla="*/ 2392 h 2654"/>
                <a:gd name="T58" fmla="*/ 2222 w 2235"/>
                <a:gd name="T59" fmla="*/ 2446 h 2654"/>
                <a:gd name="T60" fmla="*/ 2181 w 2235"/>
                <a:gd name="T61" fmla="*/ 2507 h 2654"/>
                <a:gd name="T62" fmla="*/ 2115 w 2235"/>
                <a:gd name="T63" fmla="*/ 2518 h 2654"/>
                <a:gd name="T64" fmla="*/ 1981 w 2235"/>
                <a:gd name="T65" fmla="*/ 2568 h 2654"/>
                <a:gd name="T66" fmla="*/ 1824 w 2235"/>
                <a:gd name="T67" fmla="*/ 2515 h 2654"/>
                <a:gd name="T68" fmla="*/ 1741 w 2235"/>
                <a:gd name="T69" fmla="*/ 2437 h 2654"/>
                <a:gd name="T70" fmla="*/ 1689 w 2235"/>
                <a:gd name="T71" fmla="*/ 2419 h 2654"/>
                <a:gd name="T72" fmla="*/ 1650 w 2235"/>
                <a:gd name="T73" fmla="*/ 2410 h 2654"/>
                <a:gd name="T74" fmla="*/ 1551 w 2235"/>
                <a:gd name="T75" fmla="*/ 2359 h 2654"/>
                <a:gd name="T76" fmla="*/ 1481 w 2235"/>
                <a:gd name="T77" fmla="*/ 2346 h 2654"/>
                <a:gd name="T78" fmla="*/ 1411 w 2235"/>
                <a:gd name="T79" fmla="*/ 2339 h 2654"/>
                <a:gd name="T80" fmla="*/ 1304 w 2235"/>
                <a:gd name="T81" fmla="*/ 2312 h 2654"/>
                <a:gd name="T82" fmla="*/ 1261 w 2235"/>
                <a:gd name="T83" fmla="*/ 2336 h 2654"/>
                <a:gd name="T84" fmla="*/ 1194 w 2235"/>
                <a:gd name="T85" fmla="*/ 2351 h 2654"/>
                <a:gd name="T86" fmla="*/ 1157 w 2235"/>
                <a:gd name="T87" fmla="*/ 2403 h 2654"/>
                <a:gd name="T88" fmla="*/ 1210 w 2235"/>
                <a:gd name="T89" fmla="*/ 2485 h 2654"/>
                <a:gd name="T90" fmla="*/ 1223 w 2235"/>
                <a:gd name="T91" fmla="*/ 2549 h 2654"/>
                <a:gd name="T92" fmla="*/ 1160 w 2235"/>
                <a:gd name="T93" fmla="*/ 2630 h 2654"/>
                <a:gd name="T94" fmla="*/ 1034 w 2235"/>
                <a:gd name="T95" fmla="*/ 2648 h 2654"/>
                <a:gd name="T96" fmla="*/ 932 w 2235"/>
                <a:gd name="T97" fmla="*/ 2573 h 2654"/>
                <a:gd name="T98" fmla="*/ 843 w 2235"/>
                <a:gd name="T99" fmla="*/ 2518 h 2654"/>
                <a:gd name="T100" fmla="*/ 731 w 2235"/>
                <a:gd name="T101" fmla="*/ 2499 h 2654"/>
                <a:gd name="T102" fmla="*/ 648 w 2235"/>
                <a:gd name="T103" fmla="*/ 2482 h 2654"/>
                <a:gd name="T104" fmla="*/ 566 w 2235"/>
                <a:gd name="T105" fmla="*/ 2445 h 2654"/>
                <a:gd name="T106" fmla="*/ 487 w 2235"/>
                <a:gd name="T107" fmla="*/ 2421 h 2654"/>
                <a:gd name="T108" fmla="*/ 384 w 2235"/>
                <a:gd name="T109" fmla="*/ 2333 h 2654"/>
                <a:gd name="T110" fmla="*/ 349 w 2235"/>
                <a:gd name="T111" fmla="*/ 2186 h 2654"/>
                <a:gd name="T112" fmla="*/ 247 w 2235"/>
                <a:gd name="T113" fmla="*/ 2084 h 2654"/>
                <a:gd name="T114" fmla="*/ 138 w 2235"/>
                <a:gd name="T115" fmla="*/ 1884 h 2654"/>
                <a:gd name="T116" fmla="*/ 0 w 2235"/>
                <a:gd name="T117" fmla="*/ 46 h 2654"/>
                <a:gd name="T118" fmla="*/ 31 w 2235"/>
                <a:gd name="T11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35" h="2654">
                  <a:moveTo>
                    <a:pt x="31" y="0"/>
                  </a:moveTo>
                  <a:lnTo>
                    <a:pt x="41" y="13"/>
                  </a:lnTo>
                  <a:lnTo>
                    <a:pt x="52" y="29"/>
                  </a:lnTo>
                  <a:lnTo>
                    <a:pt x="65" y="51"/>
                  </a:lnTo>
                  <a:lnTo>
                    <a:pt x="81" y="78"/>
                  </a:lnTo>
                  <a:lnTo>
                    <a:pt x="99" y="109"/>
                  </a:lnTo>
                  <a:lnTo>
                    <a:pt x="116" y="142"/>
                  </a:lnTo>
                  <a:lnTo>
                    <a:pt x="135" y="177"/>
                  </a:lnTo>
                  <a:lnTo>
                    <a:pt x="156" y="217"/>
                  </a:lnTo>
                  <a:lnTo>
                    <a:pt x="175" y="257"/>
                  </a:lnTo>
                  <a:lnTo>
                    <a:pt x="196" y="300"/>
                  </a:lnTo>
                  <a:lnTo>
                    <a:pt x="215" y="344"/>
                  </a:lnTo>
                  <a:lnTo>
                    <a:pt x="233" y="387"/>
                  </a:lnTo>
                  <a:lnTo>
                    <a:pt x="250" y="430"/>
                  </a:lnTo>
                  <a:lnTo>
                    <a:pt x="266" y="473"/>
                  </a:lnTo>
                  <a:lnTo>
                    <a:pt x="281" y="516"/>
                  </a:lnTo>
                  <a:lnTo>
                    <a:pt x="292" y="556"/>
                  </a:lnTo>
                  <a:lnTo>
                    <a:pt x="300" y="596"/>
                  </a:lnTo>
                  <a:lnTo>
                    <a:pt x="309" y="636"/>
                  </a:lnTo>
                  <a:lnTo>
                    <a:pt x="319" y="676"/>
                  </a:lnTo>
                  <a:lnTo>
                    <a:pt x="324" y="717"/>
                  </a:lnTo>
                  <a:lnTo>
                    <a:pt x="336" y="746"/>
                  </a:lnTo>
                  <a:lnTo>
                    <a:pt x="354" y="772"/>
                  </a:lnTo>
                  <a:lnTo>
                    <a:pt x="373" y="797"/>
                  </a:lnTo>
                  <a:lnTo>
                    <a:pt x="394" y="821"/>
                  </a:lnTo>
                  <a:lnTo>
                    <a:pt x="413" y="845"/>
                  </a:lnTo>
                  <a:lnTo>
                    <a:pt x="432" y="871"/>
                  </a:lnTo>
                  <a:lnTo>
                    <a:pt x="448" y="898"/>
                  </a:lnTo>
                  <a:lnTo>
                    <a:pt x="459" y="927"/>
                  </a:lnTo>
                  <a:lnTo>
                    <a:pt x="471" y="952"/>
                  </a:lnTo>
                  <a:lnTo>
                    <a:pt x="480" y="978"/>
                  </a:lnTo>
                  <a:lnTo>
                    <a:pt x="488" y="1003"/>
                  </a:lnTo>
                  <a:lnTo>
                    <a:pt x="494" y="1032"/>
                  </a:lnTo>
                  <a:lnTo>
                    <a:pt x="499" y="1059"/>
                  </a:lnTo>
                  <a:lnTo>
                    <a:pt x="504" y="1088"/>
                  </a:lnTo>
                  <a:lnTo>
                    <a:pt x="506" y="1117"/>
                  </a:lnTo>
                  <a:lnTo>
                    <a:pt x="507" y="1147"/>
                  </a:lnTo>
                  <a:lnTo>
                    <a:pt x="510" y="1190"/>
                  </a:lnTo>
                  <a:lnTo>
                    <a:pt x="514" y="1234"/>
                  </a:lnTo>
                  <a:lnTo>
                    <a:pt x="520" y="1275"/>
                  </a:lnTo>
                  <a:lnTo>
                    <a:pt x="533" y="1313"/>
                  </a:lnTo>
                  <a:lnTo>
                    <a:pt x="541" y="1325"/>
                  </a:lnTo>
                  <a:lnTo>
                    <a:pt x="547" y="1337"/>
                  </a:lnTo>
                  <a:lnTo>
                    <a:pt x="554" y="1350"/>
                  </a:lnTo>
                  <a:lnTo>
                    <a:pt x="558" y="1365"/>
                  </a:lnTo>
                  <a:lnTo>
                    <a:pt x="563" y="1377"/>
                  </a:lnTo>
                  <a:lnTo>
                    <a:pt x="570" y="1390"/>
                  </a:lnTo>
                  <a:lnTo>
                    <a:pt x="574" y="1403"/>
                  </a:lnTo>
                  <a:lnTo>
                    <a:pt x="581" y="1416"/>
                  </a:lnTo>
                  <a:lnTo>
                    <a:pt x="605" y="1464"/>
                  </a:lnTo>
                  <a:lnTo>
                    <a:pt x="630" y="1508"/>
                  </a:lnTo>
                  <a:lnTo>
                    <a:pt x="656" y="1555"/>
                  </a:lnTo>
                  <a:lnTo>
                    <a:pt x="683" y="1600"/>
                  </a:lnTo>
                  <a:lnTo>
                    <a:pt x="708" y="1644"/>
                  </a:lnTo>
                  <a:lnTo>
                    <a:pt x="734" y="1691"/>
                  </a:lnTo>
                  <a:lnTo>
                    <a:pt x="760" y="1737"/>
                  </a:lnTo>
                  <a:lnTo>
                    <a:pt x="782" y="1785"/>
                  </a:lnTo>
                  <a:lnTo>
                    <a:pt x="785" y="1791"/>
                  </a:lnTo>
                  <a:lnTo>
                    <a:pt x="790" y="1798"/>
                  </a:lnTo>
                  <a:lnTo>
                    <a:pt x="795" y="1804"/>
                  </a:lnTo>
                  <a:lnTo>
                    <a:pt x="801" y="1809"/>
                  </a:lnTo>
                  <a:lnTo>
                    <a:pt x="806" y="1814"/>
                  </a:lnTo>
                  <a:lnTo>
                    <a:pt x="814" y="1818"/>
                  </a:lnTo>
                  <a:lnTo>
                    <a:pt x="822" y="1820"/>
                  </a:lnTo>
                  <a:lnTo>
                    <a:pt x="830" y="1822"/>
                  </a:lnTo>
                  <a:lnTo>
                    <a:pt x="839" y="1823"/>
                  </a:lnTo>
                  <a:lnTo>
                    <a:pt x="847" y="1826"/>
                  </a:lnTo>
                  <a:lnTo>
                    <a:pt x="855" y="1831"/>
                  </a:lnTo>
                  <a:lnTo>
                    <a:pt x="863" y="1836"/>
                  </a:lnTo>
                  <a:lnTo>
                    <a:pt x="871" y="1841"/>
                  </a:lnTo>
                  <a:lnTo>
                    <a:pt x="878" y="1847"/>
                  </a:lnTo>
                  <a:lnTo>
                    <a:pt x="886" y="1855"/>
                  </a:lnTo>
                  <a:lnTo>
                    <a:pt x="892" y="1862"/>
                  </a:lnTo>
                  <a:lnTo>
                    <a:pt x="900" y="1868"/>
                  </a:lnTo>
                  <a:lnTo>
                    <a:pt x="906" y="1876"/>
                  </a:lnTo>
                  <a:lnTo>
                    <a:pt x="913" y="1886"/>
                  </a:lnTo>
                  <a:lnTo>
                    <a:pt x="921" y="1894"/>
                  </a:lnTo>
                  <a:lnTo>
                    <a:pt x="929" y="1900"/>
                  </a:lnTo>
                  <a:lnTo>
                    <a:pt x="937" y="1905"/>
                  </a:lnTo>
                  <a:lnTo>
                    <a:pt x="948" y="1908"/>
                  </a:lnTo>
                  <a:lnTo>
                    <a:pt x="961" y="1906"/>
                  </a:lnTo>
                  <a:lnTo>
                    <a:pt x="988" y="1905"/>
                  </a:lnTo>
                  <a:lnTo>
                    <a:pt x="1015" y="1903"/>
                  </a:lnTo>
                  <a:lnTo>
                    <a:pt x="1042" y="1903"/>
                  </a:lnTo>
                  <a:lnTo>
                    <a:pt x="1069" y="1903"/>
                  </a:lnTo>
                  <a:lnTo>
                    <a:pt x="1096" y="1905"/>
                  </a:lnTo>
                  <a:lnTo>
                    <a:pt x="1122" y="1908"/>
                  </a:lnTo>
                  <a:lnTo>
                    <a:pt x="1146" y="1914"/>
                  </a:lnTo>
                  <a:lnTo>
                    <a:pt x="1168" y="1925"/>
                  </a:lnTo>
                  <a:lnTo>
                    <a:pt x="1186" y="1933"/>
                  </a:lnTo>
                  <a:lnTo>
                    <a:pt x="1203" y="1943"/>
                  </a:lnTo>
                  <a:lnTo>
                    <a:pt x="1221" y="1951"/>
                  </a:lnTo>
                  <a:lnTo>
                    <a:pt x="1239" y="1961"/>
                  </a:lnTo>
                  <a:lnTo>
                    <a:pt x="1254" y="1970"/>
                  </a:lnTo>
                  <a:lnTo>
                    <a:pt x="1272" y="1978"/>
                  </a:lnTo>
                  <a:lnTo>
                    <a:pt x="1290" y="1988"/>
                  </a:lnTo>
                  <a:lnTo>
                    <a:pt x="1307" y="1996"/>
                  </a:lnTo>
                  <a:lnTo>
                    <a:pt x="1309" y="1897"/>
                  </a:lnTo>
                  <a:lnTo>
                    <a:pt x="1387" y="1897"/>
                  </a:lnTo>
                  <a:lnTo>
                    <a:pt x="1387" y="2021"/>
                  </a:lnTo>
                  <a:lnTo>
                    <a:pt x="1405" y="2020"/>
                  </a:lnTo>
                  <a:lnTo>
                    <a:pt x="1422" y="2017"/>
                  </a:lnTo>
                  <a:lnTo>
                    <a:pt x="1441" y="2013"/>
                  </a:lnTo>
                  <a:lnTo>
                    <a:pt x="1459" y="2010"/>
                  </a:lnTo>
                  <a:lnTo>
                    <a:pt x="1478" y="2009"/>
                  </a:lnTo>
                  <a:lnTo>
                    <a:pt x="1496" y="2009"/>
                  </a:lnTo>
                  <a:lnTo>
                    <a:pt x="1513" y="2012"/>
                  </a:lnTo>
                  <a:lnTo>
                    <a:pt x="1529" y="2020"/>
                  </a:lnTo>
                  <a:lnTo>
                    <a:pt x="1543" y="2026"/>
                  </a:lnTo>
                  <a:lnTo>
                    <a:pt x="1558" y="2033"/>
                  </a:lnTo>
                  <a:lnTo>
                    <a:pt x="1574" y="2037"/>
                  </a:lnTo>
                  <a:lnTo>
                    <a:pt x="1590" y="2041"/>
                  </a:lnTo>
                  <a:lnTo>
                    <a:pt x="1607" y="2042"/>
                  </a:lnTo>
                  <a:lnTo>
                    <a:pt x="1623" y="2044"/>
                  </a:lnTo>
                  <a:lnTo>
                    <a:pt x="1641" y="2044"/>
                  </a:lnTo>
                  <a:lnTo>
                    <a:pt x="1658" y="2044"/>
                  </a:lnTo>
                  <a:lnTo>
                    <a:pt x="1674" y="2042"/>
                  </a:lnTo>
                  <a:lnTo>
                    <a:pt x="1690" y="2041"/>
                  </a:lnTo>
                  <a:lnTo>
                    <a:pt x="1706" y="2041"/>
                  </a:lnTo>
                  <a:lnTo>
                    <a:pt x="1722" y="2041"/>
                  </a:lnTo>
                  <a:lnTo>
                    <a:pt x="1740" y="2041"/>
                  </a:lnTo>
                  <a:lnTo>
                    <a:pt x="1756" y="2041"/>
                  </a:lnTo>
                  <a:lnTo>
                    <a:pt x="1773" y="2042"/>
                  </a:lnTo>
                  <a:lnTo>
                    <a:pt x="1789" y="2044"/>
                  </a:lnTo>
                  <a:lnTo>
                    <a:pt x="1789" y="2044"/>
                  </a:lnTo>
                  <a:lnTo>
                    <a:pt x="1824" y="2050"/>
                  </a:lnTo>
                  <a:lnTo>
                    <a:pt x="1828" y="2052"/>
                  </a:lnTo>
                  <a:lnTo>
                    <a:pt x="1832" y="2053"/>
                  </a:lnTo>
                  <a:lnTo>
                    <a:pt x="1837" y="2055"/>
                  </a:lnTo>
                  <a:lnTo>
                    <a:pt x="1842" y="2057"/>
                  </a:lnTo>
                  <a:lnTo>
                    <a:pt x="1869" y="2069"/>
                  </a:lnTo>
                  <a:lnTo>
                    <a:pt x="1893" y="2088"/>
                  </a:lnTo>
                  <a:lnTo>
                    <a:pt x="1915" y="2109"/>
                  </a:lnTo>
                  <a:lnTo>
                    <a:pt x="1938" y="2132"/>
                  </a:lnTo>
                  <a:lnTo>
                    <a:pt x="1960" y="2152"/>
                  </a:lnTo>
                  <a:lnTo>
                    <a:pt x="1983" y="2173"/>
                  </a:lnTo>
                  <a:lnTo>
                    <a:pt x="2010" y="2189"/>
                  </a:lnTo>
                  <a:lnTo>
                    <a:pt x="2038" y="2199"/>
                  </a:lnTo>
                  <a:lnTo>
                    <a:pt x="2048" y="2204"/>
                  </a:lnTo>
                  <a:lnTo>
                    <a:pt x="2061" y="2210"/>
                  </a:lnTo>
                  <a:lnTo>
                    <a:pt x="2072" y="2215"/>
                  </a:lnTo>
                  <a:lnTo>
                    <a:pt x="2085" y="2220"/>
                  </a:lnTo>
                  <a:lnTo>
                    <a:pt x="2094" y="2228"/>
                  </a:lnTo>
                  <a:lnTo>
                    <a:pt x="2104" y="2235"/>
                  </a:lnTo>
                  <a:lnTo>
                    <a:pt x="2109" y="2247"/>
                  </a:lnTo>
                  <a:lnTo>
                    <a:pt x="2109" y="2259"/>
                  </a:lnTo>
                  <a:lnTo>
                    <a:pt x="2102" y="2266"/>
                  </a:lnTo>
                  <a:lnTo>
                    <a:pt x="2094" y="2274"/>
                  </a:lnTo>
                  <a:lnTo>
                    <a:pt x="2088" y="2280"/>
                  </a:lnTo>
                  <a:lnTo>
                    <a:pt x="2078" y="2287"/>
                  </a:lnTo>
                  <a:lnTo>
                    <a:pt x="2093" y="2290"/>
                  </a:lnTo>
                  <a:lnTo>
                    <a:pt x="2107" y="2293"/>
                  </a:lnTo>
                  <a:lnTo>
                    <a:pt x="2121" y="2298"/>
                  </a:lnTo>
                  <a:lnTo>
                    <a:pt x="2136" y="2303"/>
                  </a:lnTo>
                  <a:lnTo>
                    <a:pt x="2150" y="2306"/>
                  </a:lnTo>
                  <a:lnTo>
                    <a:pt x="2165" y="2309"/>
                  </a:lnTo>
                  <a:lnTo>
                    <a:pt x="2181" y="2311"/>
                  </a:lnTo>
                  <a:lnTo>
                    <a:pt x="2196" y="2311"/>
                  </a:lnTo>
                  <a:lnTo>
                    <a:pt x="2201" y="2312"/>
                  </a:lnTo>
                  <a:lnTo>
                    <a:pt x="2208" y="2314"/>
                  </a:lnTo>
                  <a:lnTo>
                    <a:pt x="2214" y="2314"/>
                  </a:lnTo>
                  <a:lnTo>
                    <a:pt x="2220" y="2317"/>
                  </a:lnTo>
                  <a:lnTo>
                    <a:pt x="2225" y="2323"/>
                  </a:lnTo>
                  <a:lnTo>
                    <a:pt x="2232" y="2330"/>
                  </a:lnTo>
                  <a:lnTo>
                    <a:pt x="2235" y="2338"/>
                  </a:lnTo>
                  <a:lnTo>
                    <a:pt x="2235" y="2347"/>
                  </a:lnTo>
                  <a:lnTo>
                    <a:pt x="2233" y="2357"/>
                  </a:lnTo>
                  <a:lnTo>
                    <a:pt x="2228" y="2365"/>
                  </a:lnTo>
                  <a:lnTo>
                    <a:pt x="2224" y="2373"/>
                  </a:lnTo>
                  <a:lnTo>
                    <a:pt x="2216" y="2378"/>
                  </a:lnTo>
                  <a:lnTo>
                    <a:pt x="2208" y="2383"/>
                  </a:lnTo>
                  <a:lnTo>
                    <a:pt x="2200" y="2386"/>
                  </a:lnTo>
                  <a:lnTo>
                    <a:pt x="2190" y="2389"/>
                  </a:lnTo>
                  <a:lnTo>
                    <a:pt x="2182" y="2392"/>
                  </a:lnTo>
                  <a:lnTo>
                    <a:pt x="2187" y="2400"/>
                  </a:lnTo>
                  <a:lnTo>
                    <a:pt x="2193" y="2406"/>
                  </a:lnTo>
                  <a:lnTo>
                    <a:pt x="2201" y="2413"/>
                  </a:lnTo>
                  <a:lnTo>
                    <a:pt x="2206" y="2421"/>
                  </a:lnTo>
                  <a:lnTo>
                    <a:pt x="2214" y="2434"/>
                  </a:lnTo>
                  <a:lnTo>
                    <a:pt x="2222" y="2446"/>
                  </a:lnTo>
                  <a:lnTo>
                    <a:pt x="2225" y="2461"/>
                  </a:lnTo>
                  <a:lnTo>
                    <a:pt x="2225" y="2477"/>
                  </a:lnTo>
                  <a:lnTo>
                    <a:pt x="2217" y="2488"/>
                  </a:lnTo>
                  <a:lnTo>
                    <a:pt x="2206" y="2496"/>
                  </a:lnTo>
                  <a:lnTo>
                    <a:pt x="2193" y="2502"/>
                  </a:lnTo>
                  <a:lnTo>
                    <a:pt x="2181" y="2507"/>
                  </a:lnTo>
                  <a:lnTo>
                    <a:pt x="2169" y="2509"/>
                  </a:lnTo>
                  <a:lnTo>
                    <a:pt x="2158" y="2510"/>
                  </a:lnTo>
                  <a:lnTo>
                    <a:pt x="2147" y="2510"/>
                  </a:lnTo>
                  <a:lnTo>
                    <a:pt x="2136" y="2512"/>
                  </a:lnTo>
                  <a:lnTo>
                    <a:pt x="2125" y="2515"/>
                  </a:lnTo>
                  <a:lnTo>
                    <a:pt x="2115" y="2518"/>
                  </a:lnTo>
                  <a:lnTo>
                    <a:pt x="2107" y="2526"/>
                  </a:lnTo>
                  <a:lnTo>
                    <a:pt x="2101" y="2536"/>
                  </a:lnTo>
                  <a:lnTo>
                    <a:pt x="2075" y="2552"/>
                  </a:lnTo>
                  <a:lnTo>
                    <a:pt x="2045" y="2563"/>
                  </a:lnTo>
                  <a:lnTo>
                    <a:pt x="2013" y="2568"/>
                  </a:lnTo>
                  <a:lnTo>
                    <a:pt x="1981" y="2568"/>
                  </a:lnTo>
                  <a:lnTo>
                    <a:pt x="1947" y="2565"/>
                  </a:lnTo>
                  <a:lnTo>
                    <a:pt x="1914" y="2557"/>
                  </a:lnTo>
                  <a:lnTo>
                    <a:pt x="1884" y="2547"/>
                  </a:lnTo>
                  <a:lnTo>
                    <a:pt x="1856" y="2534"/>
                  </a:lnTo>
                  <a:lnTo>
                    <a:pt x="1840" y="2526"/>
                  </a:lnTo>
                  <a:lnTo>
                    <a:pt x="1824" y="2515"/>
                  </a:lnTo>
                  <a:lnTo>
                    <a:pt x="1809" y="2506"/>
                  </a:lnTo>
                  <a:lnTo>
                    <a:pt x="1794" y="2493"/>
                  </a:lnTo>
                  <a:lnTo>
                    <a:pt x="1780" y="2480"/>
                  </a:lnTo>
                  <a:lnTo>
                    <a:pt x="1767" y="2466"/>
                  </a:lnTo>
                  <a:lnTo>
                    <a:pt x="1754" y="2451"/>
                  </a:lnTo>
                  <a:lnTo>
                    <a:pt x="1741" y="2437"/>
                  </a:lnTo>
                  <a:lnTo>
                    <a:pt x="1733" y="2430"/>
                  </a:lnTo>
                  <a:lnTo>
                    <a:pt x="1725" y="2427"/>
                  </a:lnTo>
                  <a:lnTo>
                    <a:pt x="1717" y="2424"/>
                  </a:lnTo>
                  <a:lnTo>
                    <a:pt x="1708" y="2422"/>
                  </a:lnTo>
                  <a:lnTo>
                    <a:pt x="1698" y="2421"/>
                  </a:lnTo>
                  <a:lnTo>
                    <a:pt x="1689" y="2419"/>
                  </a:lnTo>
                  <a:lnTo>
                    <a:pt x="1678" y="2418"/>
                  </a:lnTo>
                  <a:lnTo>
                    <a:pt x="1668" y="2416"/>
                  </a:lnTo>
                  <a:lnTo>
                    <a:pt x="1665" y="2414"/>
                  </a:lnTo>
                  <a:lnTo>
                    <a:pt x="1660" y="2413"/>
                  </a:lnTo>
                  <a:lnTo>
                    <a:pt x="1655" y="2410"/>
                  </a:lnTo>
                  <a:lnTo>
                    <a:pt x="1650" y="2410"/>
                  </a:lnTo>
                  <a:lnTo>
                    <a:pt x="1633" y="2405"/>
                  </a:lnTo>
                  <a:lnTo>
                    <a:pt x="1615" y="2397"/>
                  </a:lnTo>
                  <a:lnTo>
                    <a:pt x="1599" y="2389"/>
                  </a:lnTo>
                  <a:lnTo>
                    <a:pt x="1583" y="2379"/>
                  </a:lnTo>
                  <a:lnTo>
                    <a:pt x="1567" y="2370"/>
                  </a:lnTo>
                  <a:lnTo>
                    <a:pt x="1551" y="2359"/>
                  </a:lnTo>
                  <a:lnTo>
                    <a:pt x="1537" y="2349"/>
                  </a:lnTo>
                  <a:lnTo>
                    <a:pt x="1521" y="2338"/>
                  </a:lnTo>
                  <a:lnTo>
                    <a:pt x="1510" y="2338"/>
                  </a:lnTo>
                  <a:lnTo>
                    <a:pt x="1499" y="2339"/>
                  </a:lnTo>
                  <a:lnTo>
                    <a:pt x="1489" y="2343"/>
                  </a:lnTo>
                  <a:lnTo>
                    <a:pt x="1481" y="2346"/>
                  </a:lnTo>
                  <a:lnTo>
                    <a:pt x="1468" y="2347"/>
                  </a:lnTo>
                  <a:lnTo>
                    <a:pt x="1456" y="2347"/>
                  </a:lnTo>
                  <a:lnTo>
                    <a:pt x="1444" y="2346"/>
                  </a:lnTo>
                  <a:lnTo>
                    <a:pt x="1433" y="2344"/>
                  </a:lnTo>
                  <a:lnTo>
                    <a:pt x="1421" y="2343"/>
                  </a:lnTo>
                  <a:lnTo>
                    <a:pt x="1411" y="2339"/>
                  </a:lnTo>
                  <a:lnTo>
                    <a:pt x="1400" y="2336"/>
                  </a:lnTo>
                  <a:lnTo>
                    <a:pt x="1389" y="2333"/>
                  </a:lnTo>
                  <a:lnTo>
                    <a:pt x="1387" y="2419"/>
                  </a:lnTo>
                  <a:lnTo>
                    <a:pt x="1310" y="2419"/>
                  </a:lnTo>
                  <a:lnTo>
                    <a:pt x="1309" y="2312"/>
                  </a:lnTo>
                  <a:lnTo>
                    <a:pt x="1304" y="2312"/>
                  </a:lnTo>
                  <a:lnTo>
                    <a:pt x="1301" y="2315"/>
                  </a:lnTo>
                  <a:lnTo>
                    <a:pt x="1298" y="2319"/>
                  </a:lnTo>
                  <a:lnTo>
                    <a:pt x="1293" y="2320"/>
                  </a:lnTo>
                  <a:lnTo>
                    <a:pt x="1282" y="2325"/>
                  </a:lnTo>
                  <a:lnTo>
                    <a:pt x="1272" y="2331"/>
                  </a:lnTo>
                  <a:lnTo>
                    <a:pt x="1261" y="2336"/>
                  </a:lnTo>
                  <a:lnTo>
                    <a:pt x="1251" y="2341"/>
                  </a:lnTo>
                  <a:lnTo>
                    <a:pt x="1240" y="2346"/>
                  </a:lnTo>
                  <a:lnTo>
                    <a:pt x="1229" y="2349"/>
                  </a:lnTo>
                  <a:lnTo>
                    <a:pt x="1216" y="2349"/>
                  </a:lnTo>
                  <a:lnTo>
                    <a:pt x="1202" y="2349"/>
                  </a:lnTo>
                  <a:lnTo>
                    <a:pt x="1194" y="2351"/>
                  </a:lnTo>
                  <a:lnTo>
                    <a:pt x="1184" y="2352"/>
                  </a:lnTo>
                  <a:lnTo>
                    <a:pt x="1176" y="2355"/>
                  </a:lnTo>
                  <a:lnTo>
                    <a:pt x="1171" y="2362"/>
                  </a:lnTo>
                  <a:lnTo>
                    <a:pt x="1170" y="2378"/>
                  </a:lnTo>
                  <a:lnTo>
                    <a:pt x="1165" y="2390"/>
                  </a:lnTo>
                  <a:lnTo>
                    <a:pt x="1157" y="2403"/>
                  </a:lnTo>
                  <a:lnTo>
                    <a:pt x="1151" y="2416"/>
                  </a:lnTo>
                  <a:lnTo>
                    <a:pt x="1163" y="2429"/>
                  </a:lnTo>
                  <a:lnTo>
                    <a:pt x="1176" y="2443"/>
                  </a:lnTo>
                  <a:lnTo>
                    <a:pt x="1187" y="2456"/>
                  </a:lnTo>
                  <a:lnTo>
                    <a:pt x="1200" y="2470"/>
                  </a:lnTo>
                  <a:lnTo>
                    <a:pt x="1210" y="2485"/>
                  </a:lnTo>
                  <a:lnTo>
                    <a:pt x="1218" y="2501"/>
                  </a:lnTo>
                  <a:lnTo>
                    <a:pt x="1224" y="2518"/>
                  </a:lnTo>
                  <a:lnTo>
                    <a:pt x="1226" y="2538"/>
                  </a:lnTo>
                  <a:lnTo>
                    <a:pt x="1224" y="2541"/>
                  </a:lnTo>
                  <a:lnTo>
                    <a:pt x="1223" y="2545"/>
                  </a:lnTo>
                  <a:lnTo>
                    <a:pt x="1223" y="2549"/>
                  </a:lnTo>
                  <a:lnTo>
                    <a:pt x="1219" y="2553"/>
                  </a:lnTo>
                  <a:lnTo>
                    <a:pt x="1213" y="2571"/>
                  </a:lnTo>
                  <a:lnTo>
                    <a:pt x="1203" y="2589"/>
                  </a:lnTo>
                  <a:lnTo>
                    <a:pt x="1191" y="2605"/>
                  </a:lnTo>
                  <a:lnTo>
                    <a:pt x="1176" y="2619"/>
                  </a:lnTo>
                  <a:lnTo>
                    <a:pt x="1160" y="2630"/>
                  </a:lnTo>
                  <a:lnTo>
                    <a:pt x="1143" y="2641"/>
                  </a:lnTo>
                  <a:lnTo>
                    <a:pt x="1125" y="2648"/>
                  </a:lnTo>
                  <a:lnTo>
                    <a:pt x="1106" y="2653"/>
                  </a:lnTo>
                  <a:lnTo>
                    <a:pt x="1080" y="2654"/>
                  </a:lnTo>
                  <a:lnTo>
                    <a:pt x="1056" y="2653"/>
                  </a:lnTo>
                  <a:lnTo>
                    <a:pt x="1034" y="2648"/>
                  </a:lnTo>
                  <a:lnTo>
                    <a:pt x="1013" y="2640"/>
                  </a:lnTo>
                  <a:lnTo>
                    <a:pt x="994" y="2630"/>
                  </a:lnTo>
                  <a:lnTo>
                    <a:pt x="977" y="2617"/>
                  </a:lnTo>
                  <a:lnTo>
                    <a:pt x="959" y="2601"/>
                  </a:lnTo>
                  <a:lnTo>
                    <a:pt x="945" y="2585"/>
                  </a:lnTo>
                  <a:lnTo>
                    <a:pt x="932" y="2573"/>
                  </a:lnTo>
                  <a:lnTo>
                    <a:pt x="919" y="2561"/>
                  </a:lnTo>
                  <a:lnTo>
                    <a:pt x="905" y="2550"/>
                  </a:lnTo>
                  <a:lnTo>
                    <a:pt x="890" y="2541"/>
                  </a:lnTo>
                  <a:lnTo>
                    <a:pt x="874" y="2533"/>
                  </a:lnTo>
                  <a:lnTo>
                    <a:pt x="860" y="2525"/>
                  </a:lnTo>
                  <a:lnTo>
                    <a:pt x="843" y="2518"/>
                  </a:lnTo>
                  <a:lnTo>
                    <a:pt x="827" y="2514"/>
                  </a:lnTo>
                  <a:lnTo>
                    <a:pt x="827" y="2514"/>
                  </a:lnTo>
                  <a:lnTo>
                    <a:pt x="791" y="2507"/>
                  </a:lnTo>
                  <a:lnTo>
                    <a:pt x="791" y="2507"/>
                  </a:lnTo>
                  <a:lnTo>
                    <a:pt x="731" y="2501"/>
                  </a:lnTo>
                  <a:lnTo>
                    <a:pt x="731" y="2499"/>
                  </a:lnTo>
                  <a:lnTo>
                    <a:pt x="686" y="2494"/>
                  </a:lnTo>
                  <a:lnTo>
                    <a:pt x="681" y="2491"/>
                  </a:lnTo>
                  <a:lnTo>
                    <a:pt x="673" y="2490"/>
                  </a:lnTo>
                  <a:lnTo>
                    <a:pt x="667" y="2490"/>
                  </a:lnTo>
                  <a:lnTo>
                    <a:pt x="661" y="2488"/>
                  </a:lnTo>
                  <a:lnTo>
                    <a:pt x="648" y="2482"/>
                  </a:lnTo>
                  <a:lnTo>
                    <a:pt x="633" y="2474"/>
                  </a:lnTo>
                  <a:lnTo>
                    <a:pt x="621" y="2467"/>
                  </a:lnTo>
                  <a:lnTo>
                    <a:pt x="608" y="2461"/>
                  </a:lnTo>
                  <a:lnTo>
                    <a:pt x="595" y="2454"/>
                  </a:lnTo>
                  <a:lnTo>
                    <a:pt x="581" y="2450"/>
                  </a:lnTo>
                  <a:lnTo>
                    <a:pt x="566" y="2445"/>
                  </a:lnTo>
                  <a:lnTo>
                    <a:pt x="552" y="2442"/>
                  </a:lnTo>
                  <a:lnTo>
                    <a:pt x="541" y="2438"/>
                  </a:lnTo>
                  <a:lnTo>
                    <a:pt x="530" y="2434"/>
                  </a:lnTo>
                  <a:lnTo>
                    <a:pt x="518" y="2430"/>
                  </a:lnTo>
                  <a:lnTo>
                    <a:pt x="507" y="2429"/>
                  </a:lnTo>
                  <a:lnTo>
                    <a:pt x="487" y="2421"/>
                  </a:lnTo>
                  <a:lnTo>
                    <a:pt x="466" y="2411"/>
                  </a:lnTo>
                  <a:lnTo>
                    <a:pt x="445" y="2400"/>
                  </a:lnTo>
                  <a:lnTo>
                    <a:pt x="426" y="2387"/>
                  </a:lnTo>
                  <a:lnTo>
                    <a:pt x="410" y="2371"/>
                  </a:lnTo>
                  <a:lnTo>
                    <a:pt x="395" y="2354"/>
                  </a:lnTo>
                  <a:lnTo>
                    <a:pt x="384" y="2333"/>
                  </a:lnTo>
                  <a:lnTo>
                    <a:pt x="378" y="2311"/>
                  </a:lnTo>
                  <a:lnTo>
                    <a:pt x="372" y="2287"/>
                  </a:lnTo>
                  <a:lnTo>
                    <a:pt x="365" y="2261"/>
                  </a:lnTo>
                  <a:lnTo>
                    <a:pt x="362" y="2235"/>
                  </a:lnTo>
                  <a:lnTo>
                    <a:pt x="362" y="2208"/>
                  </a:lnTo>
                  <a:lnTo>
                    <a:pt x="349" y="2186"/>
                  </a:lnTo>
                  <a:lnTo>
                    <a:pt x="335" y="2168"/>
                  </a:lnTo>
                  <a:lnTo>
                    <a:pt x="317" y="2151"/>
                  </a:lnTo>
                  <a:lnTo>
                    <a:pt x="298" y="2135"/>
                  </a:lnTo>
                  <a:lnTo>
                    <a:pt x="279" y="2119"/>
                  </a:lnTo>
                  <a:lnTo>
                    <a:pt x="261" y="2103"/>
                  </a:lnTo>
                  <a:lnTo>
                    <a:pt x="247" y="2084"/>
                  </a:lnTo>
                  <a:lnTo>
                    <a:pt x="234" y="2061"/>
                  </a:lnTo>
                  <a:lnTo>
                    <a:pt x="215" y="2026"/>
                  </a:lnTo>
                  <a:lnTo>
                    <a:pt x="196" y="1991"/>
                  </a:lnTo>
                  <a:lnTo>
                    <a:pt x="177" y="1954"/>
                  </a:lnTo>
                  <a:lnTo>
                    <a:pt x="158" y="1919"/>
                  </a:lnTo>
                  <a:lnTo>
                    <a:pt x="138" y="1884"/>
                  </a:lnTo>
                  <a:lnTo>
                    <a:pt x="119" y="1849"/>
                  </a:lnTo>
                  <a:lnTo>
                    <a:pt x="97" y="1814"/>
                  </a:lnTo>
                  <a:lnTo>
                    <a:pt x="75" y="1780"/>
                  </a:lnTo>
                  <a:lnTo>
                    <a:pt x="71" y="1767"/>
                  </a:lnTo>
                  <a:lnTo>
                    <a:pt x="0" y="1766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" y="13"/>
                  </a:lnTo>
                  <a:lnTo>
                    <a:pt x="11" y="10"/>
                  </a:lnTo>
                  <a:lnTo>
                    <a:pt x="17" y="5"/>
                  </a:lnTo>
                  <a:lnTo>
                    <a:pt x="22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B2BA0ECF-C627-5827-95A8-D8BA8F7F3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2468"/>
              <a:ext cx="27" cy="149"/>
            </a:xfrm>
            <a:custGeom>
              <a:avLst/>
              <a:gdLst>
                <a:gd name="T0" fmla="*/ 42 w 54"/>
                <a:gd name="T1" fmla="*/ 104 h 297"/>
                <a:gd name="T2" fmla="*/ 40 w 54"/>
                <a:gd name="T3" fmla="*/ 121 h 297"/>
                <a:gd name="T4" fmla="*/ 38 w 54"/>
                <a:gd name="T5" fmla="*/ 137 h 297"/>
                <a:gd name="T6" fmla="*/ 38 w 54"/>
                <a:gd name="T7" fmla="*/ 155 h 297"/>
                <a:gd name="T8" fmla="*/ 37 w 54"/>
                <a:gd name="T9" fmla="*/ 172 h 297"/>
                <a:gd name="T10" fmla="*/ 34 w 54"/>
                <a:gd name="T11" fmla="*/ 174 h 297"/>
                <a:gd name="T12" fmla="*/ 34 w 54"/>
                <a:gd name="T13" fmla="*/ 177 h 297"/>
                <a:gd name="T14" fmla="*/ 34 w 54"/>
                <a:gd name="T15" fmla="*/ 180 h 297"/>
                <a:gd name="T16" fmla="*/ 30 w 54"/>
                <a:gd name="T17" fmla="*/ 182 h 297"/>
                <a:gd name="T18" fmla="*/ 30 w 54"/>
                <a:gd name="T19" fmla="*/ 211 h 297"/>
                <a:gd name="T20" fmla="*/ 32 w 54"/>
                <a:gd name="T21" fmla="*/ 241 h 297"/>
                <a:gd name="T22" fmla="*/ 35 w 54"/>
                <a:gd name="T23" fmla="*/ 270 h 297"/>
                <a:gd name="T24" fmla="*/ 43 w 54"/>
                <a:gd name="T25" fmla="*/ 295 h 297"/>
                <a:gd name="T26" fmla="*/ 43 w 54"/>
                <a:gd name="T27" fmla="*/ 297 h 297"/>
                <a:gd name="T28" fmla="*/ 24 w 54"/>
                <a:gd name="T29" fmla="*/ 257 h 297"/>
                <a:gd name="T30" fmla="*/ 13 w 54"/>
                <a:gd name="T31" fmla="*/ 212 h 297"/>
                <a:gd name="T32" fmla="*/ 5 w 54"/>
                <a:gd name="T33" fmla="*/ 164 h 297"/>
                <a:gd name="T34" fmla="*/ 0 w 54"/>
                <a:gd name="T35" fmla="*/ 116 h 297"/>
                <a:gd name="T36" fmla="*/ 5 w 54"/>
                <a:gd name="T37" fmla="*/ 91 h 297"/>
                <a:gd name="T38" fmla="*/ 13 w 54"/>
                <a:gd name="T39" fmla="*/ 68 h 297"/>
                <a:gd name="T40" fmla="*/ 24 w 54"/>
                <a:gd name="T41" fmla="*/ 46 h 297"/>
                <a:gd name="T42" fmla="*/ 37 w 54"/>
                <a:gd name="T43" fmla="*/ 25 h 297"/>
                <a:gd name="T44" fmla="*/ 53 w 54"/>
                <a:gd name="T45" fmla="*/ 0 h 297"/>
                <a:gd name="T46" fmla="*/ 54 w 54"/>
                <a:gd name="T47" fmla="*/ 27 h 297"/>
                <a:gd name="T48" fmla="*/ 51 w 54"/>
                <a:gd name="T49" fmla="*/ 53 h 297"/>
                <a:gd name="T50" fmla="*/ 46 w 54"/>
                <a:gd name="T51" fmla="*/ 78 h 297"/>
                <a:gd name="T52" fmla="*/ 42 w 54"/>
                <a:gd name="T53" fmla="*/ 104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297">
                  <a:moveTo>
                    <a:pt x="42" y="104"/>
                  </a:moveTo>
                  <a:lnTo>
                    <a:pt x="40" y="121"/>
                  </a:lnTo>
                  <a:lnTo>
                    <a:pt x="38" y="137"/>
                  </a:lnTo>
                  <a:lnTo>
                    <a:pt x="38" y="155"/>
                  </a:lnTo>
                  <a:lnTo>
                    <a:pt x="37" y="172"/>
                  </a:lnTo>
                  <a:lnTo>
                    <a:pt x="34" y="174"/>
                  </a:lnTo>
                  <a:lnTo>
                    <a:pt x="34" y="177"/>
                  </a:lnTo>
                  <a:lnTo>
                    <a:pt x="34" y="180"/>
                  </a:lnTo>
                  <a:lnTo>
                    <a:pt x="30" y="182"/>
                  </a:lnTo>
                  <a:lnTo>
                    <a:pt x="30" y="211"/>
                  </a:lnTo>
                  <a:lnTo>
                    <a:pt x="32" y="241"/>
                  </a:lnTo>
                  <a:lnTo>
                    <a:pt x="35" y="270"/>
                  </a:lnTo>
                  <a:lnTo>
                    <a:pt x="43" y="295"/>
                  </a:lnTo>
                  <a:lnTo>
                    <a:pt x="43" y="297"/>
                  </a:lnTo>
                  <a:lnTo>
                    <a:pt x="24" y="257"/>
                  </a:lnTo>
                  <a:lnTo>
                    <a:pt x="13" y="212"/>
                  </a:lnTo>
                  <a:lnTo>
                    <a:pt x="5" y="164"/>
                  </a:lnTo>
                  <a:lnTo>
                    <a:pt x="0" y="116"/>
                  </a:lnTo>
                  <a:lnTo>
                    <a:pt x="5" y="91"/>
                  </a:lnTo>
                  <a:lnTo>
                    <a:pt x="13" y="68"/>
                  </a:lnTo>
                  <a:lnTo>
                    <a:pt x="24" y="46"/>
                  </a:lnTo>
                  <a:lnTo>
                    <a:pt x="37" y="25"/>
                  </a:lnTo>
                  <a:lnTo>
                    <a:pt x="53" y="0"/>
                  </a:lnTo>
                  <a:lnTo>
                    <a:pt x="54" y="27"/>
                  </a:lnTo>
                  <a:lnTo>
                    <a:pt x="51" y="53"/>
                  </a:lnTo>
                  <a:lnTo>
                    <a:pt x="46" y="78"/>
                  </a:lnTo>
                  <a:lnTo>
                    <a:pt x="42" y="1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9444A342-1160-BBBB-7D11-D428FCEDC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9" y="2556"/>
              <a:ext cx="63" cy="238"/>
            </a:xfrm>
            <a:custGeom>
              <a:avLst/>
              <a:gdLst>
                <a:gd name="T0" fmla="*/ 48 w 124"/>
                <a:gd name="T1" fmla="*/ 238 h 476"/>
                <a:gd name="T2" fmla="*/ 52 w 124"/>
                <a:gd name="T3" fmla="*/ 255 h 476"/>
                <a:gd name="T4" fmla="*/ 57 w 124"/>
                <a:gd name="T5" fmla="*/ 273 h 476"/>
                <a:gd name="T6" fmla="*/ 64 w 124"/>
                <a:gd name="T7" fmla="*/ 290 h 476"/>
                <a:gd name="T8" fmla="*/ 70 w 124"/>
                <a:gd name="T9" fmla="*/ 308 h 476"/>
                <a:gd name="T10" fmla="*/ 76 w 124"/>
                <a:gd name="T11" fmla="*/ 329 h 476"/>
                <a:gd name="T12" fmla="*/ 86 w 124"/>
                <a:gd name="T13" fmla="*/ 348 h 476"/>
                <a:gd name="T14" fmla="*/ 96 w 124"/>
                <a:gd name="T15" fmla="*/ 367 h 476"/>
                <a:gd name="T16" fmla="*/ 105 w 124"/>
                <a:gd name="T17" fmla="*/ 386 h 476"/>
                <a:gd name="T18" fmla="*/ 113 w 124"/>
                <a:gd name="T19" fmla="*/ 407 h 476"/>
                <a:gd name="T20" fmla="*/ 121 w 124"/>
                <a:gd name="T21" fmla="*/ 428 h 476"/>
                <a:gd name="T22" fmla="*/ 124 w 124"/>
                <a:gd name="T23" fmla="*/ 450 h 476"/>
                <a:gd name="T24" fmla="*/ 124 w 124"/>
                <a:gd name="T25" fmla="*/ 474 h 476"/>
                <a:gd name="T26" fmla="*/ 113 w 124"/>
                <a:gd name="T27" fmla="*/ 476 h 476"/>
                <a:gd name="T28" fmla="*/ 100 w 124"/>
                <a:gd name="T29" fmla="*/ 476 h 476"/>
                <a:gd name="T30" fmla="*/ 89 w 124"/>
                <a:gd name="T31" fmla="*/ 473 h 476"/>
                <a:gd name="T32" fmla="*/ 80 w 124"/>
                <a:gd name="T33" fmla="*/ 466 h 476"/>
                <a:gd name="T34" fmla="*/ 76 w 124"/>
                <a:gd name="T35" fmla="*/ 452 h 476"/>
                <a:gd name="T36" fmla="*/ 68 w 124"/>
                <a:gd name="T37" fmla="*/ 441 h 476"/>
                <a:gd name="T38" fmla="*/ 59 w 124"/>
                <a:gd name="T39" fmla="*/ 429 h 476"/>
                <a:gd name="T40" fmla="*/ 54 w 124"/>
                <a:gd name="T41" fmla="*/ 417 h 476"/>
                <a:gd name="T42" fmla="*/ 56 w 124"/>
                <a:gd name="T43" fmla="*/ 388 h 476"/>
                <a:gd name="T44" fmla="*/ 57 w 124"/>
                <a:gd name="T45" fmla="*/ 388 h 476"/>
                <a:gd name="T46" fmla="*/ 59 w 124"/>
                <a:gd name="T47" fmla="*/ 362 h 476"/>
                <a:gd name="T48" fmla="*/ 54 w 124"/>
                <a:gd name="T49" fmla="*/ 342 h 476"/>
                <a:gd name="T50" fmla="*/ 46 w 124"/>
                <a:gd name="T51" fmla="*/ 319 h 476"/>
                <a:gd name="T52" fmla="*/ 46 w 124"/>
                <a:gd name="T53" fmla="*/ 295 h 476"/>
                <a:gd name="T54" fmla="*/ 36 w 124"/>
                <a:gd name="T55" fmla="*/ 276 h 476"/>
                <a:gd name="T56" fmla="*/ 33 w 124"/>
                <a:gd name="T57" fmla="*/ 252 h 476"/>
                <a:gd name="T58" fmla="*/ 33 w 124"/>
                <a:gd name="T59" fmla="*/ 228 h 476"/>
                <a:gd name="T60" fmla="*/ 25 w 124"/>
                <a:gd name="T61" fmla="*/ 206 h 476"/>
                <a:gd name="T62" fmla="*/ 19 w 124"/>
                <a:gd name="T63" fmla="*/ 180 h 476"/>
                <a:gd name="T64" fmla="*/ 12 w 124"/>
                <a:gd name="T65" fmla="*/ 155 h 476"/>
                <a:gd name="T66" fmla="*/ 8 w 124"/>
                <a:gd name="T67" fmla="*/ 127 h 476"/>
                <a:gd name="T68" fmla="*/ 5 w 124"/>
                <a:gd name="T69" fmla="*/ 100 h 476"/>
                <a:gd name="T70" fmla="*/ 3 w 124"/>
                <a:gd name="T71" fmla="*/ 76 h 476"/>
                <a:gd name="T72" fmla="*/ 1 w 124"/>
                <a:gd name="T73" fmla="*/ 49 h 476"/>
                <a:gd name="T74" fmla="*/ 0 w 124"/>
                <a:gd name="T75" fmla="*/ 24 h 476"/>
                <a:gd name="T76" fmla="*/ 1 w 124"/>
                <a:gd name="T77" fmla="*/ 0 h 476"/>
                <a:gd name="T78" fmla="*/ 20 w 124"/>
                <a:gd name="T79" fmla="*/ 55 h 476"/>
                <a:gd name="T80" fmla="*/ 32 w 124"/>
                <a:gd name="T81" fmla="*/ 115 h 476"/>
                <a:gd name="T82" fmla="*/ 40 w 124"/>
                <a:gd name="T83" fmla="*/ 175 h 476"/>
                <a:gd name="T84" fmla="*/ 48 w 124"/>
                <a:gd name="T85" fmla="*/ 23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4" h="476">
                  <a:moveTo>
                    <a:pt x="48" y="238"/>
                  </a:moveTo>
                  <a:lnTo>
                    <a:pt x="52" y="255"/>
                  </a:lnTo>
                  <a:lnTo>
                    <a:pt x="57" y="273"/>
                  </a:lnTo>
                  <a:lnTo>
                    <a:pt x="64" y="290"/>
                  </a:lnTo>
                  <a:lnTo>
                    <a:pt x="70" y="308"/>
                  </a:lnTo>
                  <a:lnTo>
                    <a:pt x="76" y="329"/>
                  </a:lnTo>
                  <a:lnTo>
                    <a:pt x="86" y="348"/>
                  </a:lnTo>
                  <a:lnTo>
                    <a:pt x="96" y="367"/>
                  </a:lnTo>
                  <a:lnTo>
                    <a:pt x="105" y="386"/>
                  </a:lnTo>
                  <a:lnTo>
                    <a:pt x="113" y="407"/>
                  </a:lnTo>
                  <a:lnTo>
                    <a:pt x="121" y="428"/>
                  </a:lnTo>
                  <a:lnTo>
                    <a:pt x="124" y="450"/>
                  </a:lnTo>
                  <a:lnTo>
                    <a:pt x="124" y="474"/>
                  </a:lnTo>
                  <a:lnTo>
                    <a:pt x="113" y="476"/>
                  </a:lnTo>
                  <a:lnTo>
                    <a:pt x="100" y="476"/>
                  </a:lnTo>
                  <a:lnTo>
                    <a:pt x="89" y="473"/>
                  </a:lnTo>
                  <a:lnTo>
                    <a:pt x="80" y="466"/>
                  </a:lnTo>
                  <a:lnTo>
                    <a:pt x="76" y="452"/>
                  </a:lnTo>
                  <a:lnTo>
                    <a:pt x="68" y="441"/>
                  </a:lnTo>
                  <a:lnTo>
                    <a:pt x="59" y="429"/>
                  </a:lnTo>
                  <a:lnTo>
                    <a:pt x="54" y="417"/>
                  </a:lnTo>
                  <a:lnTo>
                    <a:pt x="56" y="388"/>
                  </a:lnTo>
                  <a:lnTo>
                    <a:pt x="57" y="388"/>
                  </a:lnTo>
                  <a:lnTo>
                    <a:pt x="59" y="362"/>
                  </a:lnTo>
                  <a:lnTo>
                    <a:pt x="54" y="342"/>
                  </a:lnTo>
                  <a:lnTo>
                    <a:pt x="46" y="319"/>
                  </a:lnTo>
                  <a:lnTo>
                    <a:pt x="46" y="295"/>
                  </a:lnTo>
                  <a:lnTo>
                    <a:pt x="36" y="276"/>
                  </a:lnTo>
                  <a:lnTo>
                    <a:pt x="33" y="252"/>
                  </a:lnTo>
                  <a:lnTo>
                    <a:pt x="33" y="228"/>
                  </a:lnTo>
                  <a:lnTo>
                    <a:pt x="25" y="206"/>
                  </a:lnTo>
                  <a:lnTo>
                    <a:pt x="19" y="180"/>
                  </a:lnTo>
                  <a:lnTo>
                    <a:pt x="12" y="155"/>
                  </a:lnTo>
                  <a:lnTo>
                    <a:pt x="8" y="127"/>
                  </a:lnTo>
                  <a:lnTo>
                    <a:pt x="5" y="100"/>
                  </a:lnTo>
                  <a:lnTo>
                    <a:pt x="3" y="76"/>
                  </a:lnTo>
                  <a:lnTo>
                    <a:pt x="1" y="49"/>
                  </a:lnTo>
                  <a:lnTo>
                    <a:pt x="0" y="24"/>
                  </a:lnTo>
                  <a:lnTo>
                    <a:pt x="1" y="0"/>
                  </a:lnTo>
                  <a:lnTo>
                    <a:pt x="20" y="55"/>
                  </a:lnTo>
                  <a:lnTo>
                    <a:pt x="32" y="115"/>
                  </a:lnTo>
                  <a:lnTo>
                    <a:pt x="40" y="175"/>
                  </a:lnTo>
                  <a:lnTo>
                    <a:pt x="48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EC88AE4E-657F-E2EE-6361-5E82F3988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2539"/>
              <a:ext cx="623" cy="1154"/>
            </a:xfrm>
            <a:custGeom>
              <a:avLst/>
              <a:gdLst>
                <a:gd name="T0" fmla="*/ 220 w 1245"/>
                <a:gd name="T1" fmla="*/ 604 h 2307"/>
                <a:gd name="T2" fmla="*/ 271 w 1245"/>
                <a:gd name="T3" fmla="*/ 781 h 2307"/>
                <a:gd name="T4" fmla="*/ 56 w 1245"/>
                <a:gd name="T5" fmla="*/ 622 h 2307"/>
                <a:gd name="T6" fmla="*/ 123 w 1245"/>
                <a:gd name="T7" fmla="*/ 729 h 2307"/>
                <a:gd name="T8" fmla="*/ 227 w 1245"/>
                <a:gd name="T9" fmla="*/ 809 h 2307"/>
                <a:gd name="T10" fmla="*/ 311 w 1245"/>
                <a:gd name="T11" fmla="*/ 879 h 2307"/>
                <a:gd name="T12" fmla="*/ 357 w 1245"/>
                <a:gd name="T13" fmla="*/ 973 h 2307"/>
                <a:gd name="T14" fmla="*/ 278 w 1245"/>
                <a:gd name="T15" fmla="*/ 919 h 2307"/>
                <a:gd name="T16" fmla="*/ 393 w 1245"/>
                <a:gd name="T17" fmla="*/ 1194 h 2307"/>
                <a:gd name="T18" fmla="*/ 546 w 1245"/>
                <a:gd name="T19" fmla="*/ 1414 h 2307"/>
                <a:gd name="T20" fmla="*/ 627 w 1245"/>
                <a:gd name="T21" fmla="*/ 1609 h 2307"/>
                <a:gd name="T22" fmla="*/ 670 w 1245"/>
                <a:gd name="T23" fmla="*/ 1609 h 2307"/>
                <a:gd name="T24" fmla="*/ 736 w 1245"/>
                <a:gd name="T25" fmla="*/ 1651 h 2307"/>
                <a:gd name="T26" fmla="*/ 690 w 1245"/>
                <a:gd name="T27" fmla="*/ 1694 h 2307"/>
                <a:gd name="T28" fmla="*/ 771 w 1245"/>
                <a:gd name="T29" fmla="*/ 1684 h 2307"/>
                <a:gd name="T30" fmla="*/ 856 w 1245"/>
                <a:gd name="T31" fmla="*/ 1719 h 2307"/>
                <a:gd name="T32" fmla="*/ 1100 w 1245"/>
                <a:gd name="T33" fmla="*/ 1796 h 2307"/>
                <a:gd name="T34" fmla="*/ 1242 w 1245"/>
                <a:gd name="T35" fmla="*/ 2015 h 2307"/>
                <a:gd name="T36" fmla="*/ 1188 w 1245"/>
                <a:gd name="T37" fmla="*/ 1988 h 2307"/>
                <a:gd name="T38" fmla="*/ 1031 w 1245"/>
                <a:gd name="T39" fmla="*/ 1973 h 2307"/>
                <a:gd name="T40" fmla="*/ 894 w 1245"/>
                <a:gd name="T41" fmla="*/ 1975 h 2307"/>
                <a:gd name="T42" fmla="*/ 841 w 1245"/>
                <a:gd name="T43" fmla="*/ 1957 h 2307"/>
                <a:gd name="T44" fmla="*/ 935 w 1245"/>
                <a:gd name="T45" fmla="*/ 1934 h 2307"/>
                <a:gd name="T46" fmla="*/ 1049 w 1245"/>
                <a:gd name="T47" fmla="*/ 1924 h 2307"/>
                <a:gd name="T48" fmla="*/ 867 w 1245"/>
                <a:gd name="T49" fmla="*/ 1900 h 2307"/>
                <a:gd name="T50" fmla="*/ 713 w 1245"/>
                <a:gd name="T51" fmla="*/ 1903 h 2307"/>
                <a:gd name="T52" fmla="*/ 551 w 1245"/>
                <a:gd name="T53" fmla="*/ 1852 h 2307"/>
                <a:gd name="T54" fmla="*/ 624 w 1245"/>
                <a:gd name="T55" fmla="*/ 1906 h 2307"/>
                <a:gd name="T56" fmla="*/ 586 w 1245"/>
                <a:gd name="T57" fmla="*/ 1993 h 2307"/>
                <a:gd name="T58" fmla="*/ 595 w 1245"/>
                <a:gd name="T59" fmla="*/ 2026 h 2307"/>
                <a:gd name="T60" fmla="*/ 721 w 1245"/>
                <a:gd name="T61" fmla="*/ 1959 h 2307"/>
                <a:gd name="T62" fmla="*/ 864 w 1245"/>
                <a:gd name="T63" fmla="*/ 2065 h 2307"/>
                <a:gd name="T64" fmla="*/ 822 w 1245"/>
                <a:gd name="T65" fmla="*/ 2112 h 2307"/>
                <a:gd name="T66" fmla="*/ 900 w 1245"/>
                <a:gd name="T67" fmla="*/ 2098 h 2307"/>
                <a:gd name="T68" fmla="*/ 1095 w 1245"/>
                <a:gd name="T69" fmla="*/ 2215 h 2307"/>
                <a:gd name="T70" fmla="*/ 1057 w 1245"/>
                <a:gd name="T71" fmla="*/ 2301 h 2307"/>
                <a:gd name="T72" fmla="*/ 1007 w 1245"/>
                <a:gd name="T73" fmla="*/ 2296 h 2307"/>
                <a:gd name="T74" fmla="*/ 974 w 1245"/>
                <a:gd name="T75" fmla="*/ 2250 h 2307"/>
                <a:gd name="T76" fmla="*/ 1050 w 1245"/>
                <a:gd name="T77" fmla="*/ 2240 h 2307"/>
                <a:gd name="T78" fmla="*/ 1101 w 1245"/>
                <a:gd name="T79" fmla="*/ 2252 h 2307"/>
                <a:gd name="T80" fmla="*/ 956 w 1245"/>
                <a:gd name="T81" fmla="*/ 2208 h 2307"/>
                <a:gd name="T82" fmla="*/ 859 w 1245"/>
                <a:gd name="T83" fmla="*/ 2228 h 2307"/>
                <a:gd name="T84" fmla="*/ 782 w 1245"/>
                <a:gd name="T85" fmla="*/ 2173 h 2307"/>
                <a:gd name="T86" fmla="*/ 693 w 1245"/>
                <a:gd name="T87" fmla="*/ 2109 h 2307"/>
                <a:gd name="T88" fmla="*/ 554 w 1245"/>
                <a:gd name="T89" fmla="*/ 2063 h 2307"/>
                <a:gd name="T90" fmla="*/ 412 w 1245"/>
                <a:gd name="T91" fmla="*/ 2021 h 2307"/>
                <a:gd name="T92" fmla="*/ 375 w 1245"/>
                <a:gd name="T93" fmla="*/ 1950 h 2307"/>
                <a:gd name="T94" fmla="*/ 343 w 1245"/>
                <a:gd name="T95" fmla="*/ 1731 h 2307"/>
                <a:gd name="T96" fmla="*/ 233 w 1245"/>
                <a:gd name="T97" fmla="*/ 1593 h 2307"/>
                <a:gd name="T98" fmla="*/ 258 w 1245"/>
                <a:gd name="T99" fmla="*/ 1742 h 2307"/>
                <a:gd name="T100" fmla="*/ 214 w 1245"/>
                <a:gd name="T101" fmla="*/ 1703 h 2307"/>
                <a:gd name="T102" fmla="*/ 126 w 1245"/>
                <a:gd name="T103" fmla="*/ 1513 h 2307"/>
                <a:gd name="T104" fmla="*/ 60 w 1245"/>
                <a:gd name="T105" fmla="*/ 1405 h 2307"/>
                <a:gd name="T106" fmla="*/ 11 w 1245"/>
                <a:gd name="T107" fmla="*/ 1157 h 2307"/>
                <a:gd name="T108" fmla="*/ 97 w 1245"/>
                <a:gd name="T109" fmla="*/ 1323 h 2307"/>
                <a:gd name="T110" fmla="*/ 196 w 1245"/>
                <a:gd name="T111" fmla="*/ 1488 h 2307"/>
                <a:gd name="T112" fmla="*/ 324 w 1245"/>
                <a:gd name="T113" fmla="*/ 1641 h 2307"/>
                <a:gd name="T114" fmla="*/ 279 w 1245"/>
                <a:gd name="T115" fmla="*/ 1580 h 2307"/>
                <a:gd name="T116" fmla="*/ 190 w 1245"/>
                <a:gd name="T117" fmla="*/ 1342 h 2307"/>
                <a:gd name="T118" fmla="*/ 32 w 1245"/>
                <a:gd name="T119" fmla="*/ 1163 h 2307"/>
                <a:gd name="T120" fmla="*/ 27 w 1245"/>
                <a:gd name="T121" fmla="*/ 83 h 2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45" h="2307">
                  <a:moveTo>
                    <a:pt x="105" y="380"/>
                  </a:moveTo>
                  <a:lnTo>
                    <a:pt x="105" y="415"/>
                  </a:lnTo>
                  <a:lnTo>
                    <a:pt x="112" y="449"/>
                  </a:lnTo>
                  <a:lnTo>
                    <a:pt x="123" y="478"/>
                  </a:lnTo>
                  <a:lnTo>
                    <a:pt x="139" y="505"/>
                  </a:lnTo>
                  <a:lnTo>
                    <a:pt x="156" y="531"/>
                  </a:lnTo>
                  <a:lnTo>
                    <a:pt x="177" y="556"/>
                  </a:lnTo>
                  <a:lnTo>
                    <a:pt x="199" y="580"/>
                  </a:lnTo>
                  <a:lnTo>
                    <a:pt x="220" y="604"/>
                  </a:lnTo>
                  <a:lnTo>
                    <a:pt x="231" y="620"/>
                  </a:lnTo>
                  <a:lnTo>
                    <a:pt x="241" y="636"/>
                  </a:lnTo>
                  <a:lnTo>
                    <a:pt x="249" y="654"/>
                  </a:lnTo>
                  <a:lnTo>
                    <a:pt x="255" y="673"/>
                  </a:lnTo>
                  <a:lnTo>
                    <a:pt x="260" y="692"/>
                  </a:lnTo>
                  <a:lnTo>
                    <a:pt x="263" y="711"/>
                  </a:lnTo>
                  <a:lnTo>
                    <a:pt x="266" y="732"/>
                  </a:lnTo>
                  <a:lnTo>
                    <a:pt x="270" y="753"/>
                  </a:lnTo>
                  <a:lnTo>
                    <a:pt x="271" y="781"/>
                  </a:lnTo>
                  <a:lnTo>
                    <a:pt x="244" y="767"/>
                  </a:lnTo>
                  <a:lnTo>
                    <a:pt x="219" y="751"/>
                  </a:lnTo>
                  <a:lnTo>
                    <a:pt x="191" y="735"/>
                  </a:lnTo>
                  <a:lnTo>
                    <a:pt x="166" y="717"/>
                  </a:lnTo>
                  <a:lnTo>
                    <a:pt x="140" y="700"/>
                  </a:lnTo>
                  <a:lnTo>
                    <a:pt x="116" y="681"/>
                  </a:lnTo>
                  <a:lnTo>
                    <a:pt x="94" y="658"/>
                  </a:lnTo>
                  <a:lnTo>
                    <a:pt x="72" y="634"/>
                  </a:lnTo>
                  <a:lnTo>
                    <a:pt x="56" y="622"/>
                  </a:lnTo>
                  <a:lnTo>
                    <a:pt x="52" y="626"/>
                  </a:lnTo>
                  <a:lnTo>
                    <a:pt x="52" y="631"/>
                  </a:lnTo>
                  <a:lnTo>
                    <a:pt x="56" y="636"/>
                  </a:lnTo>
                  <a:lnTo>
                    <a:pt x="59" y="641"/>
                  </a:lnTo>
                  <a:lnTo>
                    <a:pt x="70" y="658"/>
                  </a:lnTo>
                  <a:lnTo>
                    <a:pt x="81" y="678"/>
                  </a:lnTo>
                  <a:lnTo>
                    <a:pt x="94" y="695"/>
                  </a:lnTo>
                  <a:lnTo>
                    <a:pt x="108" y="711"/>
                  </a:lnTo>
                  <a:lnTo>
                    <a:pt x="123" y="729"/>
                  </a:lnTo>
                  <a:lnTo>
                    <a:pt x="139" y="743"/>
                  </a:lnTo>
                  <a:lnTo>
                    <a:pt x="156" y="757"/>
                  </a:lnTo>
                  <a:lnTo>
                    <a:pt x="174" y="769"/>
                  </a:lnTo>
                  <a:lnTo>
                    <a:pt x="183" y="773"/>
                  </a:lnTo>
                  <a:lnTo>
                    <a:pt x="193" y="780"/>
                  </a:lnTo>
                  <a:lnTo>
                    <a:pt x="201" y="786"/>
                  </a:lnTo>
                  <a:lnTo>
                    <a:pt x="211" y="793"/>
                  </a:lnTo>
                  <a:lnTo>
                    <a:pt x="219" y="801"/>
                  </a:lnTo>
                  <a:lnTo>
                    <a:pt x="227" y="809"/>
                  </a:lnTo>
                  <a:lnTo>
                    <a:pt x="236" y="817"/>
                  </a:lnTo>
                  <a:lnTo>
                    <a:pt x="244" y="823"/>
                  </a:lnTo>
                  <a:lnTo>
                    <a:pt x="255" y="828"/>
                  </a:lnTo>
                  <a:lnTo>
                    <a:pt x="265" y="833"/>
                  </a:lnTo>
                  <a:lnTo>
                    <a:pt x="274" y="839"/>
                  </a:lnTo>
                  <a:lnTo>
                    <a:pt x="286" y="845"/>
                  </a:lnTo>
                  <a:lnTo>
                    <a:pt x="295" y="855"/>
                  </a:lnTo>
                  <a:lnTo>
                    <a:pt x="305" y="866"/>
                  </a:lnTo>
                  <a:lnTo>
                    <a:pt x="311" y="879"/>
                  </a:lnTo>
                  <a:lnTo>
                    <a:pt x="318" y="892"/>
                  </a:lnTo>
                  <a:lnTo>
                    <a:pt x="324" y="904"/>
                  </a:lnTo>
                  <a:lnTo>
                    <a:pt x="332" y="916"/>
                  </a:lnTo>
                  <a:lnTo>
                    <a:pt x="340" y="928"/>
                  </a:lnTo>
                  <a:lnTo>
                    <a:pt x="351" y="938"/>
                  </a:lnTo>
                  <a:lnTo>
                    <a:pt x="353" y="948"/>
                  </a:lnTo>
                  <a:lnTo>
                    <a:pt x="356" y="956"/>
                  </a:lnTo>
                  <a:lnTo>
                    <a:pt x="357" y="964"/>
                  </a:lnTo>
                  <a:lnTo>
                    <a:pt x="357" y="973"/>
                  </a:lnTo>
                  <a:lnTo>
                    <a:pt x="345" y="964"/>
                  </a:lnTo>
                  <a:lnTo>
                    <a:pt x="333" y="952"/>
                  </a:lnTo>
                  <a:lnTo>
                    <a:pt x="322" y="941"/>
                  </a:lnTo>
                  <a:lnTo>
                    <a:pt x="311" y="930"/>
                  </a:lnTo>
                  <a:lnTo>
                    <a:pt x="298" y="919"/>
                  </a:lnTo>
                  <a:lnTo>
                    <a:pt x="287" y="908"/>
                  </a:lnTo>
                  <a:lnTo>
                    <a:pt x="274" y="900"/>
                  </a:lnTo>
                  <a:lnTo>
                    <a:pt x="260" y="892"/>
                  </a:lnTo>
                  <a:lnTo>
                    <a:pt x="278" y="919"/>
                  </a:lnTo>
                  <a:lnTo>
                    <a:pt x="292" y="949"/>
                  </a:lnTo>
                  <a:lnTo>
                    <a:pt x="302" y="981"/>
                  </a:lnTo>
                  <a:lnTo>
                    <a:pt x="311" y="1015"/>
                  </a:lnTo>
                  <a:lnTo>
                    <a:pt x="321" y="1048"/>
                  </a:lnTo>
                  <a:lnTo>
                    <a:pt x="330" y="1080"/>
                  </a:lnTo>
                  <a:lnTo>
                    <a:pt x="345" y="1112"/>
                  </a:lnTo>
                  <a:lnTo>
                    <a:pt x="361" y="1141"/>
                  </a:lnTo>
                  <a:lnTo>
                    <a:pt x="377" y="1167"/>
                  </a:lnTo>
                  <a:lnTo>
                    <a:pt x="393" y="1194"/>
                  </a:lnTo>
                  <a:lnTo>
                    <a:pt x="410" y="1219"/>
                  </a:lnTo>
                  <a:lnTo>
                    <a:pt x="428" y="1245"/>
                  </a:lnTo>
                  <a:lnTo>
                    <a:pt x="445" y="1270"/>
                  </a:lnTo>
                  <a:lnTo>
                    <a:pt x="464" y="1294"/>
                  </a:lnTo>
                  <a:lnTo>
                    <a:pt x="485" y="1318"/>
                  </a:lnTo>
                  <a:lnTo>
                    <a:pt x="506" y="1342"/>
                  </a:lnTo>
                  <a:lnTo>
                    <a:pt x="520" y="1366"/>
                  </a:lnTo>
                  <a:lnTo>
                    <a:pt x="533" y="1390"/>
                  </a:lnTo>
                  <a:lnTo>
                    <a:pt x="546" y="1414"/>
                  </a:lnTo>
                  <a:lnTo>
                    <a:pt x="560" y="1438"/>
                  </a:lnTo>
                  <a:lnTo>
                    <a:pt x="573" y="1462"/>
                  </a:lnTo>
                  <a:lnTo>
                    <a:pt x="587" y="1484"/>
                  </a:lnTo>
                  <a:lnTo>
                    <a:pt x="602" y="1507"/>
                  </a:lnTo>
                  <a:lnTo>
                    <a:pt x="618" y="1529"/>
                  </a:lnTo>
                  <a:lnTo>
                    <a:pt x="626" y="1547"/>
                  </a:lnTo>
                  <a:lnTo>
                    <a:pt x="632" y="1568"/>
                  </a:lnTo>
                  <a:lnTo>
                    <a:pt x="634" y="1590"/>
                  </a:lnTo>
                  <a:lnTo>
                    <a:pt x="627" y="1609"/>
                  </a:lnTo>
                  <a:lnTo>
                    <a:pt x="622" y="1616"/>
                  </a:lnTo>
                  <a:lnTo>
                    <a:pt x="616" y="1622"/>
                  </a:lnTo>
                  <a:lnTo>
                    <a:pt x="613" y="1628"/>
                  </a:lnTo>
                  <a:lnTo>
                    <a:pt x="611" y="1636"/>
                  </a:lnTo>
                  <a:lnTo>
                    <a:pt x="624" y="1632"/>
                  </a:lnTo>
                  <a:lnTo>
                    <a:pt x="637" y="1627"/>
                  </a:lnTo>
                  <a:lnTo>
                    <a:pt x="648" y="1620"/>
                  </a:lnTo>
                  <a:lnTo>
                    <a:pt x="659" y="1614"/>
                  </a:lnTo>
                  <a:lnTo>
                    <a:pt x="670" y="1609"/>
                  </a:lnTo>
                  <a:lnTo>
                    <a:pt x="683" y="1604"/>
                  </a:lnTo>
                  <a:lnTo>
                    <a:pt x="696" y="1604"/>
                  </a:lnTo>
                  <a:lnTo>
                    <a:pt x="712" y="1606"/>
                  </a:lnTo>
                  <a:lnTo>
                    <a:pt x="721" y="1616"/>
                  </a:lnTo>
                  <a:lnTo>
                    <a:pt x="733" y="1624"/>
                  </a:lnTo>
                  <a:lnTo>
                    <a:pt x="742" y="1633"/>
                  </a:lnTo>
                  <a:lnTo>
                    <a:pt x="752" y="1643"/>
                  </a:lnTo>
                  <a:lnTo>
                    <a:pt x="744" y="1646"/>
                  </a:lnTo>
                  <a:lnTo>
                    <a:pt x="736" y="1651"/>
                  </a:lnTo>
                  <a:lnTo>
                    <a:pt x="728" y="1655"/>
                  </a:lnTo>
                  <a:lnTo>
                    <a:pt x="720" y="1662"/>
                  </a:lnTo>
                  <a:lnTo>
                    <a:pt x="712" y="1667"/>
                  </a:lnTo>
                  <a:lnTo>
                    <a:pt x="706" y="1673"/>
                  </a:lnTo>
                  <a:lnTo>
                    <a:pt x="698" y="1679"/>
                  </a:lnTo>
                  <a:lnTo>
                    <a:pt x="691" y="1686"/>
                  </a:lnTo>
                  <a:lnTo>
                    <a:pt x="691" y="1689"/>
                  </a:lnTo>
                  <a:lnTo>
                    <a:pt x="690" y="1691"/>
                  </a:lnTo>
                  <a:lnTo>
                    <a:pt x="690" y="1694"/>
                  </a:lnTo>
                  <a:lnTo>
                    <a:pt x="691" y="1695"/>
                  </a:lnTo>
                  <a:lnTo>
                    <a:pt x="701" y="1694"/>
                  </a:lnTo>
                  <a:lnTo>
                    <a:pt x="710" y="1691"/>
                  </a:lnTo>
                  <a:lnTo>
                    <a:pt x="720" y="1689"/>
                  </a:lnTo>
                  <a:lnTo>
                    <a:pt x="729" y="1687"/>
                  </a:lnTo>
                  <a:lnTo>
                    <a:pt x="739" y="1687"/>
                  </a:lnTo>
                  <a:lnTo>
                    <a:pt x="750" y="1686"/>
                  </a:lnTo>
                  <a:lnTo>
                    <a:pt x="760" y="1684"/>
                  </a:lnTo>
                  <a:lnTo>
                    <a:pt x="771" y="1684"/>
                  </a:lnTo>
                  <a:lnTo>
                    <a:pt x="779" y="1686"/>
                  </a:lnTo>
                  <a:lnTo>
                    <a:pt x="787" y="1687"/>
                  </a:lnTo>
                  <a:lnTo>
                    <a:pt x="793" y="1691"/>
                  </a:lnTo>
                  <a:lnTo>
                    <a:pt x="801" y="1694"/>
                  </a:lnTo>
                  <a:lnTo>
                    <a:pt x="808" y="1697"/>
                  </a:lnTo>
                  <a:lnTo>
                    <a:pt x="816" y="1700"/>
                  </a:lnTo>
                  <a:lnTo>
                    <a:pt x="822" y="1703"/>
                  </a:lnTo>
                  <a:lnTo>
                    <a:pt x="830" y="1707"/>
                  </a:lnTo>
                  <a:lnTo>
                    <a:pt x="856" y="1719"/>
                  </a:lnTo>
                  <a:lnTo>
                    <a:pt x="883" y="1734"/>
                  </a:lnTo>
                  <a:lnTo>
                    <a:pt x="908" y="1747"/>
                  </a:lnTo>
                  <a:lnTo>
                    <a:pt x="935" y="1759"/>
                  </a:lnTo>
                  <a:lnTo>
                    <a:pt x="963" y="1771"/>
                  </a:lnTo>
                  <a:lnTo>
                    <a:pt x="991" y="1780"/>
                  </a:lnTo>
                  <a:lnTo>
                    <a:pt x="1022" y="1788"/>
                  </a:lnTo>
                  <a:lnTo>
                    <a:pt x="1052" y="1793"/>
                  </a:lnTo>
                  <a:lnTo>
                    <a:pt x="1076" y="1796"/>
                  </a:lnTo>
                  <a:lnTo>
                    <a:pt x="1100" y="1796"/>
                  </a:lnTo>
                  <a:lnTo>
                    <a:pt x="1125" y="1796"/>
                  </a:lnTo>
                  <a:lnTo>
                    <a:pt x="1149" y="1795"/>
                  </a:lnTo>
                  <a:lnTo>
                    <a:pt x="1173" y="1795"/>
                  </a:lnTo>
                  <a:lnTo>
                    <a:pt x="1197" y="1793"/>
                  </a:lnTo>
                  <a:lnTo>
                    <a:pt x="1221" y="1793"/>
                  </a:lnTo>
                  <a:lnTo>
                    <a:pt x="1245" y="1795"/>
                  </a:lnTo>
                  <a:lnTo>
                    <a:pt x="1245" y="2026"/>
                  </a:lnTo>
                  <a:lnTo>
                    <a:pt x="1245" y="2021"/>
                  </a:lnTo>
                  <a:lnTo>
                    <a:pt x="1242" y="2015"/>
                  </a:lnTo>
                  <a:lnTo>
                    <a:pt x="1240" y="2010"/>
                  </a:lnTo>
                  <a:lnTo>
                    <a:pt x="1239" y="2005"/>
                  </a:lnTo>
                  <a:lnTo>
                    <a:pt x="1231" y="2002"/>
                  </a:lnTo>
                  <a:lnTo>
                    <a:pt x="1224" y="1997"/>
                  </a:lnTo>
                  <a:lnTo>
                    <a:pt x="1216" y="1996"/>
                  </a:lnTo>
                  <a:lnTo>
                    <a:pt x="1208" y="1994"/>
                  </a:lnTo>
                  <a:lnTo>
                    <a:pt x="1208" y="1993"/>
                  </a:lnTo>
                  <a:lnTo>
                    <a:pt x="1199" y="1991"/>
                  </a:lnTo>
                  <a:lnTo>
                    <a:pt x="1188" y="1988"/>
                  </a:lnTo>
                  <a:lnTo>
                    <a:pt x="1178" y="1986"/>
                  </a:lnTo>
                  <a:lnTo>
                    <a:pt x="1169" y="1985"/>
                  </a:lnTo>
                  <a:lnTo>
                    <a:pt x="1159" y="1985"/>
                  </a:lnTo>
                  <a:lnTo>
                    <a:pt x="1148" y="1983"/>
                  </a:lnTo>
                  <a:lnTo>
                    <a:pt x="1138" y="1981"/>
                  </a:lnTo>
                  <a:lnTo>
                    <a:pt x="1127" y="1981"/>
                  </a:lnTo>
                  <a:lnTo>
                    <a:pt x="1127" y="1980"/>
                  </a:lnTo>
                  <a:lnTo>
                    <a:pt x="1031" y="1975"/>
                  </a:lnTo>
                  <a:lnTo>
                    <a:pt x="1031" y="1973"/>
                  </a:lnTo>
                  <a:lnTo>
                    <a:pt x="1018" y="1972"/>
                  </a:lnTo>
                  <a:lnTo>
                    <a:pt x="1006" y="1970"/>
                  </a:lnTo>
                  <a:lnTo>
                    <a:pt x="993" y="1972"/>
                  </a:lnTo>
                  <a:lnTo>
                    <a:pt x="982" y="1973"/>
                  </a:lnTo>
                  <a:lnTo>
                    <a:pt x="969" y="1975"/>
                  </a:lnTo>
                  <a:lnTo>
                    <a:pt x="956" y="1977"/>
                  </a:lnTo>
                  <a:lnTo>
                    <a:pt x="943" y="1977"/>
                  </a:lnTo>
                  <a:lnTo>
                    <a:pt x="931" y="1977"/>
                  </a:lnTo>
                  <a:lnTo>
                    <a:pt x="894" y="1975"/>
                  </a:lnTo>
                  <a:lnTo>
                    <a:pt x="894" y="1973"/>
                  </a:lnTo>
                  <a:lnTo>
                    <a:pt x="886" y="1972"/>
                  </a:lnTo>
                  <a:lnTo>
                    <a:pt x="880" y="1970"/>
                  </a:lnTo>
                  <a:lnTo>
                    <a:pt x="872" y="1969"/>
                  </a:lnTo>
                  <a:lnTo>
                    <a:pt x="865" y="1967"/>
                  </a:lnTo>
                  <a:lnTo>
                    <a:pt x="859" y="1964"/>
                  </a:lnTo>
                  <a:lnTo>
                    <a:pt x="854" y="1962"/>
                  </a:lnTo>
                  <a:lnTo>
                    <a:pt x="848" y="1959"/>
                  </a:lnTo>
                  <a:lnTo>
                    <a:pt x="841" y="1957"/>
                  </a:lnTo>
                  <a:lnTo>
                    <a:pt x="849" y="1953"/>
                  </a:lnTo>
                  <a:lnTo>
                    <a:pt x="859" y="1948"/>
                  </a:lnTo>
                  <a:lnTo>
                    <a:pt x="868" y="1943"/>
                  </a:lnTo>
                  <a:lnTo>
                    <a:pt x="880" y="1940"/>
                  </a:lnTo>
                  <a:lnTo>
                    <a:pt x="889" y="1937"/>
                  </a:lnTo>
                  <a:lnTo>
                    <a:pt x="900" y="1935"/>
                  </a:lnTo>
                  <a:lnTo>
                    <a:pt x="910" y="1934"/>
                  </a:lnTo>
                  <a:lnTo>
                    <a:pt x="921" y="1932"/>
                  </a:lnTo>
                  <a:lnTo>
                    <a:pt x="935" y="1934"/>
                  </a:lnTo>
                  <a:lnTo>
                    <a:pt x="950" y="1932"/>
                  </a:lnTo>
                  <a:lnTo>
                    <a:pt x="963" y="1932"/>
                  </a:lnTo>
                  <a:lnTo>
                    <a:pt x="977" y="1930"/>
                  </a:lnTo>
                  <a:lnTo>
                    <a:pt x="990" y="1927"/>
                  </a:lnTo>
                  <a:lnTo>
                    <a:pt x="1002" y="1926"/>
                  </a:lnTo>
                  <a:lnTo>
                    <a:pt x="1017" y="1924"/>
                  </a:lnTo>
                  <a:lnTo>
                    <a:pt x="1031" y="1924"/>
                  </a:lnTo>
                  <a:lnTo>
                    <a:pt x="1041" y="1924"/>
                  </a:lnTo>
                  <a:lnTo>
                    <a:pt x="1049" y="1924"/>
                  </a:lnTo>
                  <a:lnTo>
                    <a:pt x="1057" y="1922"/>
                  </a:lnTo>
                  <a:lnTo>
                    <a:pt x="1062" y="1918"/>
                  </a:lnTo>
                  <a:lnTo>
                    <a:pt x="1014" y="1916"/>
                  </a:lnTo>
                  <a:lnTo>
                    <a:pt x="1014" y="1914"/>
                  </a:lnTo>
                  <a:lnTo>
                    <a:pt x="888" y="1903"/>
                  </a:lnTo>
                  <a:lnTo>
                    <a:pt x="888" y="1902"/>
                  </a:lnTo>
                  <a:lnTo>
                    <a:pt x="881" y="1900"/>
                  </a:lnTo>
                  <a:lnTo>
                    <a:pt x="875" y="1900"/>
                  </a:lnTo>
                  <a:lnTo>
                    <a:pt x="867" y="1900"/>
                  </a:lnTo>
                  <a:lnTo>
                    <a:pt x="860" y="1902"/>
                  </a:lnTo>
                  <a:lnTo>
                    <a:pt x="843" y="1905"/>
                  </a:lnTo>
                  <a:lnTo>
                    <a:pt x="824" y="1908"/>
                  </a:lnTo>
                  <a:lnTo>
                    <a:pt x="804" y="1913"/>
                  </a:lnTo>
                  <a:lnTo>
                    <a:pt x="785" y="1916"/>
                  </a:lnTo>
                  <a:lnTo>
                    <a:pt x="768" y="1918"/>
                  </a:lnTo>
                  <a:lnTo>
                    <a:pt x="749" y="1918"/>
                  </a:lnTo>
                  <a:lnTo>
                    <a:pt x="731" y="1913"/>
                  </a:lnTo>
                  <a:lnTo>
                    <a:pt x="713" y="1903"/>
                  </a:lnTo>
                  <a:lnTo>
                    <a:pt x="696" y="1889"/>
                  </a:lnTo>
                  <a:lnTo>
                    <a:pt x="677" y="1878"/>
                  </a:lnTo>
                  <a:lnTo>
                    <a:pt x="658" y="1868"/>
                  </a:lnTo>
                  <a:lnTo>
                    <a:pt x="637" y="1860"/>
                  </a:lnTo>
                  <a:lnTo>
                    <a:pt x="614" y="1854"/>
                  </a:lnTo>
                  <a:lnTo>
                    <a:pt x="592" y="1850"/>
                  </a:lnTo>
                  <a:lnTo>
                    <a:pt x="570" y="1846"/>
                  </a:lnTo>
                  <a:lnTo>
                    <a:pt x="546" y="1844"/>
                  </a:lnTo>
                  <a:lnTo>
                    <a:pt x="551" y="1852"/>
                  </a:lnTo>
                  <a:lnTo>
                    <a:pt x="557" y="1857"/>
                  </a:lnTo>
                  <a:lnTo>
                    <a:pt x="565" y="1863"/>
                  </a:lnTo>
                  <a:lnTo>
                    <a:pt x="573" y="1868"/>
                  </a:lnTo>
                  <a:lnTo>
                    <a:pt x="581" y="1873"/>
                  </a:lnTo>
                  <a:lnTo>
                    <a:pt x="589" y="1878"/>
                  </a:lnTo>
                  <a:lnTo>
                    <a:pt x="597" y="1882"/>
                  </a:lnTo>
                  <a:lnTo>
                    <a:pt x="605" y="1889"/>
                  </a:lnTo>
                  <a:lnTo>
                    <a:pt x="614" y="1898"/>
                  </a:lnTo>
                  <a:lnTo>
                    <a:pt x="624" y="1906"/>
                  </a:lnTo>
                  <a:lnTo>
                    <a:pt x="632" y="1918"/>
                  </a:lnTo>
                  <a:lnTo>
                    <a:pt x="635" y="1929"/>
                  </a:lnTo>
                  <a:lnTo>
                    <a:pt x="626" y="1937"/>
                  </a:lnTo>
                  <a:lnTo>
                    <a:pt x="618" y="1945"/>
                  </a:lnTo>
                  <a:lnTo>
                    <a:pt x="610" y="1954"/>
                  </a:lnTo>
                  <a:lnTo>
                    <a:pt x="603" y="1964"/>
                  </a:lnTo>
                  <a:lnTo>
                    <a:pt x="597" y="1973"/>
                  </a:lnTo>
                  <a:lnTo>
                    <a:pt x="591" y="1983"/>
                  </a:lnTo>
                  <a:lnTo>
                    <a:pt x="586" y="1993"/>
                  </a:lnTo>
                  <a:lnTo>
                    <a:pt x="583" y="2004"/>
                  </a:lnTo>
                  <a:lnTo>
                    <a:pt x="579" y="2015"/>
                  </a:lnTo>
                  <a:lnTo>
                    <a:pt x="578" y="2026"/>
                  </a:lnTo>
                  <a:lnTo>
                    <a:pt x="578" y="2037"/>
                  </a:lnTo>
                  <a:lnTo>
                    <a:pt x="581" y="2049"/>
                  </a:lnTo>
                  <a:lnTo>
                    <a:pt x="586" y="2044"/>
                  </a:lnTo>
                  <a:lnTo>
                    <a:pt x="589" y="2039"/>
                  </a:lnTo>
                  <a:lnTo>
                    <a:pt x="592" y="2033"/>
                  </a:lnTo>
                  <a:lnTo>
                    <a:pt x="595" y="2026"/>
                  </a:lnTo>
                  <a:lnTo>
                    <a:pt x="605" y="2013"/>
                  </a:lnTo>
                  <a:lnTo>
                    <a:pt x="616" y="2002"/>
                  </a:lnTo>
                  <a:lnTo>
                    <a:pt x="629" y="1993"/>
                  </a:lnTo>
                  <a:lnTo>
                    <a:pt x="642" y="1983"/>
                  </a:lnTo>
                  <a:lnTo>
                    <a:pt x="654" y="1975"/>
                  </a:lnTo>
                  <a:lnTo>
                    <a:pt x="669" y="1969"/>
                  </a:lnTo>
                  <a:lnTo>
                    <a:pt x="683" y="1962"/>
                  </a:lnTo>
                  <a:lnTo>
                    <a:pt x="698" y="1957"/>
                  </a:lnTo>
                  <a:lnTo>
                    <a:pt x="721" y="1959"/>
                  </a:lnTo>
                  <a:lnTo>
                    <a:pt x="744" y="1967"/>
                  </a:lnTo>
                  <a:lnTo>
                    <a:pt x="765" y="1978"/>
                  </a:lnTo>
                  <a:lnTo>
                    <a:pt x="782" y="1991"/>
                  </a:lnTo>
                  <a:lnTo>
                    <a:pt x="800" y="2007"/>
                  </a:lnTo>
                  <a:lnTo>
                    <a:pt x="817" y="2023"/>
                  </a:lnTo>
                  <a:lnTo>
                    <a:pt x="833" y="2039"/>
                  </a:lnTo>
                  <a:lnTo>
                    <a:pt x="851" y="2055"/>
                  </a:lnTo>
                  <a:lnTo>
                    <a:pt x="857" y="2060"/>
                  </a:lnTo>
                  <a:lnTo>
                    <a:pt x="864" y="2065"/>
                  </a:lnTo>
                  <a:lnTo>
                    <a:pt x="870" y="2069"/>
                  </a:lnTo>
                  <a:lnTo>
                    <a:pt x="878" y="2071"/>
                  </a:lnTo>
                  <a:lnTo>
                    <a:pt x="878" y="2074"/>
                  </a:lnTo>
                  <a:lnTo>
                    <a:pt x="868" y="2079"/>
                  </a:lnTo>
                  <a:lnTo>
                    <a:pt x="857" y="2084"/>
                  </a:lnTo>
                  <a:lnTo>
                    <a:pt x="848" y="2090"/>
                  </a:lnTo>
                  <a:lnTo>
                    <a:pt x="838" y="2097"/>
                  </a:lnTo>
                  <a:lnTo>
                    <a:pt x="830" y="2105"/>
                  </a:lnTo>
                  <a:lnTo>
                    <a:pt x="822" y="2112"/>
                  </a:lnTo>
                  <a:lnTo>
                    <a:pt x="814" y="2122"/>
                  </a:lnTo>
                  <a:lnTo>
                    <a:pt x="808" y="2132"/>
                  </a:lnTo>
                  <a:lnTo>
                    <a:pt x="809" y="2133"/>
                  </a:lnTo>
                  <a:lnTo>
                    <a:pt x="824" y="2127"/>
                  </a:lnTo>
                  <a:lnTo>
                    <a:pt x="838" y="2119"/>
                  </a:lnTo>
                  <a:lnTo>
                    <a:pt x="852" y="2112"/>
                  </a:lnTo>
                  <a:lnTo>
                    <a:pt x="868" y="2106"/>
                  </a:lnTo>
                  <a:lnTo>
                    <a:pt x="884" y="2101"/>
                  </a:lnTo>
                  <a:lnTo>
                    <a:pt x="900" y="2098"/>
                  </a:lnTo>
                  <a:lnTo>
                    <a:pt x="918" y="2097"/>
                  </a:lnTo>
                  <a:lnTo>
                    <a:pt x="935" y="2098"/>
                  </a:lnTo>
                  <a:lnTo>
                    <a:pt x="963" y="2106"/>
                  </a:lnTo>
                  <a:lnTo>
                    <a:pt x="988" y="2117"/>
                  </a:lnTo>
                  <a:lnTo>
                    <a:pt x="1014" y="2132"/>
                  </a:lnTo>
                  <a:lnTo>
                    <a:pt x="1038" y="2149"/>
                  </a:lnTo>
                  <a:lnTo>
                    <a:pt x="1060" y="2168"/>
                  </a:lnTo>
                  <a:lnTo>
                    <a:pt x="1079" y="2191"/>
                  </a:lnTo>
                  <a:lnTo>
                    <a:pt x="1095" y="2215"/>
                  </a:lnTo>
                  <a:lnTo>
                    <a:pt x="1106" y="2240"/>
                  </a:lnTo>
                  <a:lnTo>
                    <a:pt x="1106" y="2256"/>
                  </a:lnTo>
                  <a:lnTo>
                    <a:pt x="1101" y="2269"/>
                  </a:lnTo>
                  <a:lnTo>
                    <a:pt x="1092" y="2280"/>
                  </a:lnTo>
                  <a:lnTo>
                    <a:pt x="1079" y="2290"/>
                  </a:lnTo>
                  <a:lnTo>
                    <a:pt x="1073" y="2291"/>
                  </a:lnTo>
                  <a:lnTo>
                    <a:pt x="1068" y="2295"/>
                  </a:lnTo>
                  <a:lnTo>
                    <a:pt x="1062" y="2298"/>
                  </a:lnTo>
                  <a:lnTo>
                    <a:pt x="1057" y="2301"/>
                  </a:lnTo>
                  <a:lnTo>
                    <a:pt x="1050" y="2304"/>
                  </a:lnTo>
                  <a:lnTo>
                    <a:pt x="1044" y="2306"/>
                  </a:lnTo>
                  <a:lnTo>
                    <a:pt x="1038" y="2307"/>
                  </a:lnTo>
                  <a:lnTo>
                    <a:pt x="1031" y="2307"/>
                  </a:lnTo>
                  <a:lnTo>
                    <a:pt x="1028" y="2304"/>
                  </a:lnTo>
                  <a:lnTo>
                    <a:pt x="1023" y="2303"/>
                  </a:lnTo>
                  <a:lnTo>
                    <a:pt x="1018" y="2301"/>
                  </a:lnTo>
                  <a:lnTo>
                    <a:pt x="1014" y="2299"/>
                  </a:lnTo>
                  <a:lnTo>
                    <a:pt x="1007" y="2296"/>
                  </a:lnTo>
                  <a:lnTo>
                    <a:pt x="1001" y="2291"/>
                  </a:lnTo>
                  <a:lnTo>
                    <a:pt x="996" y="2288"/>
                  </a:lnTo>
                  <a:lnTo>
                    <a:pt x="990" y="2285"/>
                  </a:lnTo>
                  <a:lnTo>
                    <a:pt x="983" y="2280"/>
                  </a:lnTo>
                  <a:lnTo>
                    <a:pt x="977" y="2277"/>
                  </a:lnTo>
                  <a:lnTo>
                    <a:pt x="971" y="2274"/>
                  </a:lnTo>
                  <a:lnTo>
                    <a:pt x="964" y="2271"/>
                  </a:lnTo>
                  <a:lnTo>
                    <a:pt x="967" y="2260"/>
                  </a:lnTo>
                  <a:lnTo>
                    <a:pt x="974" y="2250"/>
                  </a:lnTo>
                  <a:lnTo>
                    <a:pt x="983" y="2244"/>
                  </a:lnTo>
                  <a:lnTo>
                    <a:pt x="993" y="2239"/>
                  </a:lnTo>
                  <a:lnTo>
                    <a:pt x="1002" y="2237"/>
                  </a:lnTo>
                  <a:lnTo>
                    <a:pt x="1010" y="2236"/>
                  </a:lnTo>
                  <a:lnTo>
                    <a:pt x="1018" y="2237"/>
                  </a:lnTo>
                  <a:lnTo>
                    <a:pt x="1026" y="2237"/>
                  </a:lnTo>
                  <a:lnTo>
                    <a:pt x="1034" y="2239"/>
                  </a:lnTo>
                  <a:lnTo>
                    <a:pt x="1042" y="2240"/>
                  </a:lnTo>
                  <a:lnTo>
                    <a:pt x="1050" y="2240"/>
                  </a:lnTo>
                  <a:lnTo>
                    <a:pt x="1060" y="2242"/>
                  </a:lnTo>
                  <a:lnTo>
                    <a:pt x="1065" y="2244"/>
                  </a:lnTo>
                  <a:lnTo>
                    <a:pt x="1071" y="2245"/>
                  </a:lnTo>
                  <a:lnTo>
                    <a:pt x="1078" y="2247"/>
                  </a:lnTo>
                  <a:lnTo>
                    <a:pt x="1084" y="2248"/>
                  </a:lnTo>
                  <a:lnTo>
                    <a:pt x="1087" y="2250"/>
                  </a:lnTo>
                  <a:lnTo>
                    <a:pt x="1092" y="2250"/>
                  </a:lnTo>
                  <a:lnTo>
                    <a:pt x="1097" y="2250"/>
                  </a:lnTo>
                  <a:lnTo>
                    <a:pt x="1101" y="2252"/>
                  </a:lnTo>
                  <a:lnTo>
                    <a:pt x="1101" y="2248"/>
                  </a:lnTo>
                  <a:lnTo>
                    <a:pt x="1086" y="2239"/>
                  </a:lnTo>
                  <a:lnTo>
                    <a:pt x="1068" y="2228"/>
                  </a:lnTo>
                  <a:lnTo>
                    <a:pt x="1052" y="2218"/>
                  </a:lnTo>
                  <a:lnTo>
                    <a:pt x="1034" y="2208"/>
                  </a:lnTo>
                  <a:lnTo>
                    <a:pt x="1015" y="2202"/>
                  </a:lnTo>
                  <a:lnTo>
                    <a:pt x="998" y="2199"/>
                  </a:lnTo>
                  <a:lnTo>
                    <a:pt x="977" y="2202"/>
                  </a:lnTo>
                  <a:lnTo>
                    <a:pt x="956" y="2208"/>
                  </a:lnTo>
                  <a:lnTo>
                    <a:pt x="942" y="2216"/>
                  </a:lnTo>
                  <a:lnTo>
                    <a:pt x="931" y="2228"/>
                  </a:lnTo>
                  <a:lnTo>
                    <a:pt x="923" y="2242"/>
                  </a:lnTo>
                  <a:lnTo>
                    <a:pt x="915" y="2256"/>
                  </a:lnTo>
                  <a:lnTo>
                    <a:pt x="903" y="2252"/>
                  </a:lnTo>
                  <a:lnTo>
                    <a:pt x="892" y="2247"/>
                  </a:lnTo>
                  <a:lnTo>
                    <a:pt x="881" y="2240"/>
                  </a:lnTo>
                  <a:lnTo>
                    <a:pt x="870" y="2234"/>
                  </a:lnTo>
                  <a:lnTo>
                    <a:pt x="859" y="2228"/>
                  </a:lnTo>
                  <a:lnTo>
                    <a:pt x="848" y="2221"/>
                  </a:lnTo>
                  <a:lnTo>
                    <a:pt x="836" y="2216"/>
                  </a:lnTo>
                  <a:lnTo>
                    <a:pt x="825" y="2212"/>
                  </a:lnTo>
                  <a:lnTo>
                    <a:pt x="817" y="2208"/>
                  </a:lnTo>
                  <a:lnTo>
                    <a:pt x="808" y="2205"/>
                  </a:lnTo>
                  <a:lnTo>
                    <a:pt x="800" y="2204"/>
                  </a:lnTo>
                  <a:lnTo>
                    <a:pt x="792" y="2199"/>
                  </a:lnTo>
                  <a:lnTo>
                    <a:pt x="787" y="2186"/>
                  </a:lnTo>
                  <a:lnTo>
                    <a:pt x="782" y="2173"/>
                  </a:lnTo>
                  <a:lnTo>
                    <a:pt x="777" y="2160"/>
                  </a:lnTo>
                  <a:lnTo>
                    <a:pt x="771" y="2148"/>
                  </a:lnTo>
                  <a:lnTo>
                    <a:pt x="763" y="2136"/>
                  </a:lnTo>
                  <a:lnTo>
                    <a:pt x="755" y="2125"/>
                  </a:lnTo>
                  <a:lnTo>
                    <a:pt x="745" y="2116"/>
                  </a:lnTo>
                  <a:lnTo>
                    <a:pt x="733" y="2109"/>
                  </a:lnTo>
                  <a:lnTo>
                    <a:pt x="720" y="2108"/>
                  </a:lnTo>
                  <a:lnTo>
                    <a:pt x="706" y="2109"/>
                  </a:lnTo>
                  <a:lnTo>
                    <a:pt x="693" y="2109"/>
                  </a:lnTo>
                  <a:lnTo>
                    <a:pt x="682" y="2111"/>
                  </a:lnTo>
                  <a:lnTo>
                    <a:pt x="669" y="2112"/>
                  </a:lnTo>
                  <a:lnTo>
                    <a:pt x="656" y="2111"/>
                  </a:lnTo>
                  <a:lnTo>
                    <a:pt x="645" y="2109"/>
                  </a:lnTo>
                  <a:lnTo>
                    <a:pt x="634" y="2105"/>
                  </a:lnTo>
                  <a:lnTo>
                    <a:pt x="613" y="2095"/>
                  </a:lnTo>
                  <a:lnTo>
                    <a:pt x="594" y="2084"/>
                  </a:lnTo>
                  <a:lnTo>
                    <a:pt x="573" y="2073"/>
                  </a:lnTo>
                  <a:lnTo>
                    <a:pt x="554" y="2063"/>
                  </a:lnTo>
                  <a:lnTo>
                    <a:pt x="533" y="2053"/>
                  </a:lnTo>
                  <a:lnTo>
                    <a:pt x="512" y="2045"/>
                  </a:lnTo>
                  <a:lnTo>
                    <a:pt x="488" y="2041"/>
                  </a:lnTo>
                  <a:lnTo>
                    <a:pt x="464" y="2039"/>
                  </a:lnTo>
                  <a:lnTo>
                    <a:pt x="464" y="2039"/>
                  </a:lnTo>
                  <a:lnTo>
                    <a:pt x="450" y="2036"/>
                  </a:lnTo>
                  <a:lnTo>
                    <a:pt x="437" y="2033"/>
                  </a:lnTo>
                  <a:lnTo>
                    <a:pt x="425" y="2028"/>
                  </a:lnTo>
                  <a:lnTo>
                    <a:pt x="412" y="2021"/>
                  </a:lnTo>
                  <a:lnTo>
                    <a:pt x="401" y="2013"/>
                  </a:lnTo>
                  <a:lnTo>
                    <a:pt x="391" y="2004"/>
                  </a:lnTo>
                  <a:lnTo>
                    <a:pt x="383" y="1994"/>
                  </a:lnTo>
                  <a:lnTo>
                    <a:pt x="377" y="1981"/>
                  </a:lnTo>
                  <a:lnTo>
                    <a:pt x="375" y="1975"/>
                  </a:lnTo>
                  <a:lnTo>
                    <a:pt x="373" y="1965"/>
                  </a:lnTo>
                  <a:lnTo>
                    <a:pt x="373" y="1957"/>
                  </a:lnTo>
                  <a:lnTo>
                    <a:pt x="373" y="1950"/>
                  </a:lnTo>
                  <a:lnTo>
                    <a:pt x="375" y="1950"/>
                  </a:lnTo>
                  <a:lnTo>
                    <a:pt x="386" y="1910"/>
                  </a:lnTo>
                  <a:lnTo>
                    <a:pt x="397" y="1868"/>
                  </a:lnTo>
                  <a:lnTo>
                    <a:pt x="401" y="1826"/>
                  </a:lnTo>
                  <a:lnTo>
                    <a:pt x="389" y="1785"/>
                  </a:lnTo>
                  <a:lnTo>
                    <a:pt x="381" y="1774"/>
                  </a:lnTo>
                  <a:lnTo>
                    <a:pt x="372" y="1763"/>
                  </a:lnTo>
                  <a:lnTo>
                    <a:pt x="362" y="1751"/>
                  </a:lnTo>
                  <a:lnTo>
                    <a:pt x="353" y="1742"/>
                  </a:lnTo>
                  <a:lnTo>
                    <a:pt x="343" y="1731"/>
                  </a:lnTo>
                  <a:lnTo>
                    <a:pt x="333" y="1719"/>
                  </a:lnTo>
                  <a:lnTo>
                    <a:pt x="324" y="1710"/>
                  </a:lnTo>
                  <a:lnTo>
                    <a:pt x="314" y="1699"/>
                  </a:lnTo>
                  <a:lnTo>
                    <a:pt x="302" y="1681"/>
                  </a:lnTo>
                  <a:lnTo>
                    <a:pt x="287" y="1663"/>
                  </a:lnTo>
                  <a:lnTo>
                    <a:pt x="274" y="1646"/>
                  </a:lnTo>
                  <a:lnTo>
                    <a:pt x="260" y="1628"/>
                  </a:lnTo>
                  <a:lnTo>
                    <a:pt x="247" y="1611"/>
                  </a:lnTo>
                  <a:lnTo>
                    <a:pt x="233" y="1593"/>
                  </a:lnTo>
                  <a:lnTo>
                    <a:pt x="219" y="1576"/>
                  </a:lnTo>
                  <a:lnTo>
                    <a:pt x="204" y="1558"/>
                  </a:lnTo>
                  <a:lnTo>
                    <a:pt x="203" y="1560"/>
                  </a:lnTo>
                  <a:lnTo>
                    <a:pt x="217" y="1587"/>
                  </a:lnTo>
                  <a:lnTo>
                    <a:pt x="228" y="1616"/>
                  </a:lnTo>
                  <a:lnTo>
                    <a:pt x="239" y="1646"/>
                  </a:lnTo>
                  <a:lnTo>
                    <a:pt x="247" y="1678"/>
                  </a:lnTo>
                  <a:lnTo>
                    <a:pt x="254" y="1710"/>
                  </a:lnTo>
                  <a:lnTo>
                    <a:pt x="258" y="1742"/>
                  </a:lnTo>
                  <a:lnTo>
                    <a:pt x="263" y="1774"/>
                  </a:lnTo>
                  <a:lnTo>
                    <a:pt x="266" y="1807"/>
                  </a:lnTo>
                  <a:lnTo>
                    <a:pt x="262" y="1802"/>
                  </a:lnTo>
                  <a:lnTo>
                    <a:pt x="258" y="1796"/>
                  </a:lnTo>
                  <a:lnTo>
                    <a:pt x="255" y="1790"/>
                  </a:lnTo>
                  <a:lnTo>
                    <a:pt x="252" y="1783"/>
                  </a:lnTo>
                  <a:lnTo>
                    <a:pt x="238" y="1758"/>
                  </a:lnTo>
                  <a:lnTo>
                    <a:pt x="225" y="1731"/>
                  </a:lnTo>
                  <a:lnTo>
                    <a:pt x="214" y="1703"/>
                  </a:lnTo>
                  <a:lnTo>
                    <a:pt x="201" y="1676"/>
                  </a:lnTo>
                  <a:lnTo>
                    <a:pt x="190" y="1649"/>
                  </a:lnTo>
                  <a:lnTo>
                    <a:pt x="179" y="1622"/>
                  </a:lnTo>
                  <a:lnTo>
                    <a:pt x="166" y="1595"/>
                  </a:lnTo>
                  <a:lnTo>
                    <a:pt x="153" y="1568"/>
                  </a:lnTo>
                  <a:lnTo>
                    <a:pt x="147" y="1553"/>
                  </a:lnTo>
                  <a:lnTo>
                    <a:pt x="140" y="1540"/>
                  </a:lnTo>
                  <a:lnTo>
                    <a:pt x="132" y="1526"/>
                  </a:lnTo>
                  <a:lnTo>
                    <a:pt x="126" y="1513"/>
                  </a:lnTo>
                  <a:lnTo>
                    <a:pt x="118" y="1499"/>
                  </a:lnTo>
                  <a:lnTo>
                    <a:pt x="110" y="1486"/>
                  </a:lnTo>
                  <a:lnTo>
                    <a:pt x="100" y="1473"/>
                  </a:lnTo>
                  <a:lnTo>
                    <a:pt x="92" y="1461"/>
                  </a:lnTo>
                  <a:lnTo>
                    <a:pt x="89" y="1448"/>
                  </a:lnTo>
                  <a:lnTo>
                    <a:pt x="83" y="1437"/>
                  </a:lnTo>
                  <a:lnTo>
                    <a:pt x="75" y="1427"/>
                  </a:lnTo>
                  <a:lnTo>
                    <a:pt x="68" y="1416"/>
                  </a:lnTo>
                  <a:lnTo>
                    <a:pt x="60" y="1405"/>
                  </a:lnTo>
                  <a:lnTo>
                    <a:pt x="52" y="1395"/>
                  </a:lnTo>
                  <a:lnTo>
                    <a:pt x="45" y="1384"/>
                  </a:lnTo>
                  <a:lnTo>
                    <a:pt x="37" y="1373"/>
                  </a:lnTo>
                  <a:lnTo>
                    <a:pt x="27" y="1361"/>
                  </a:lnTo>
                  <a:lnTo>
                    <a:pt x="19" y="1352"/>
                  </a:lnTo>
                  <a:lnTo>
                    <a:pt x="9" y="1341"/>
                  </a:lnTo>
                  <a:lnTo>
                    <a:pt x="0" y="1331"/>
                  </a:lnTo>
                  <a:lnTo>
                    <a:pt x="3" y="1144"/>
                  </a:lnTo>
                  <a:lnTo>
                    <a:pt x="11" y="1157"/>
                  </a:lnTo>
                  <a:lnTo>
                    <a:pt x="21" y="1168"/>
                  </a:lnTo>
                  <a:lnTo>
                    <a:pt x="29" y="1181"/>
                  </a:lnTo>
                  <a:lnTo>
                    <a:pt x="37" y="1194"/>
                  </a:lnTo>
                  <a:lnTo>
                    <a:pt x="45" y="1216"/>
                  </a:lnTo>
                  <a:lnTo>
                    <a:pt x="54" y="1240"/>
                  </a:lnTo>
                  <a:lnTo>
                    <a:pt x="64" y="1261"/>
                  </a:lnTo>
                  <a:lnTo>
                    <a:pt x="73" y="1283"/>
                  </a:lnTo>
                  <a:lnTo>
                    <a:pt x="84" y="1304"/>
                  </a:lnTo>
                  <a:lnTo>
                    <a:pt x="97" y="1323"/>
                  </a:lnTo>
                  <a:lnTo>
                    <a:pt x="112" y="1342"/>
                  </a:lnTo>
                  <a:lnTo>
                    <a:pt x="129" y="1360"/>
                  </a:lnTo>
                  <a:lnTo>
                    <a:pt x="142" y="1376"/>
                  </a:lnTo>
                  <a:lnTo>
                    <a:pt x="155" y="1393"/>
                  </a:lnTo>
                  <a:lnTo>
                    <a:pt x="166" y="1411"/>
                  </a:lnTo>
                  <a:lnTo>
                    <a:pt x="175" y="1429"/>
                  </a:lnTo>
                  <a:lnTo>
                    <a:pt x="183" y="1448"/>
                  </a:lnTo>
                  <a:lnTo>
                    <a:pt x="190" y="1467"/>
                  </a:lnTo>
                  <a:lnTo>
                    <a:pt x="196" y="1488"/>
                  </a:lnTo>
                  <a:lnTo>
                    <a:pt x="203" y="1508"/>
                  </a:lnTo>
                  <a:lnTo>
                    <a:pt x="214" y="1526"/>
                  </a:lnTo>
                  <a:lnTo>
                    <a:pt x="228" y="1544"/>
                  </a:lnTo>
                  <a:lnTo>
                    <a:pt x="242" y="1561"/>
                  </a:lnTo>
                  <a:lnTo>
                    <a:pt x="258" y="1577"/>
                  </a:lnTo>
                  <a:lnTo>
                    <a:pt x="274" y="1593"/>
                  </a:lnTo>
                  <a:lnTo>
                    <a:pt x="292" y="1609"/>
                  </a:lnTo>
                  <a:lnTo>
                    <a:pt x="308" y="1625"/>
                  </a:lnTo>
                  <a:lnTo>
                    <a:pt x="324" y="1641"/>
                  </a:lnTo>
                  <a:lnTo>
                    <a:pt x="324" y="1641"/>
                  </a:lnTo>
                  <a:lnTo>
                    <a:pt x="326" y="1641"/>
                  </a:lnTo>
                  <a:lnTo>
                    <a:pt x="326" y="1643"/>
                  </a:lnTo>
                  <a:lnTo>
                    <a:pt x="326" y="1643"/>
                  </a:lnTo>
                  <a:lnTo>
                    <a:pt x="321" y="1632"/>
                  </a:lnTo>
                  <a:lnTo>
                    <a:pt x="314" y="1620"/>
                  </a:lnTo>
                  <a:lnTo>
                    <a:pt x="305" y="1611"/>
                  </a:lnTo>
                  <a:lnTo>
                    <a:pt x="297" y="1600"/>
                  </a:lnTo>
                  <a:lnTo>
                    <a:pt x="279" y="1580"/>
                  </a:lnTo>
                  <a:lnTo>
                    <a:pt x="268" y="1556"/>
                  </a:lnTo>
                  <a:lnTo>
                    <a:pt x="260" y="1531"/>
                  </a:lnTo>
                  <a:lnTo>
                    <a:pt x="250" y="1505"/>
                  </a:lnTo>
                  <a:lnTo>
                    <a:pt x="239" y="1483"/>
                  </a:lnTo>
                  <a:lnTo>
                    <a:pt x="233" y="1457"/>
                  </a:lnTo>
                  <a:lnTo>
                    <a:pt x="227" y="1430"/>
                  </a:lnTo>
                  <a:lnTo>
                    <a:pt x="219" y="1405"/>
                  </a:lnTo>
                  <a:lnTo>
                    <a:pt x="206" y="1373"/>
                  </a:lnTo>
                  <a:lnTo>
                    <a:pt x="190" y="1342"/>
                  </a:lnTo>
                  <a:lnTo>
                    <a:pt x="171" y="1314"/>
                  </a:lnTo>
                  <a:lnTo>
                    <a:pt x="150" y="1286"/>
                  </a:lnTo>
                  <a:lnTo>
                    <a:pt x="126" y="1259"/>
                  </a:lnTo>
                  <a:lnTo>
                    <a:pt x="102" y="1234"/>
                  </a:lnTo>
                  <a:lnTo>
                    <a:pt x="78" y="1208"/>
                  </a:lnTo>
                  <a:lnTo>
                    <a:pt x="54" y="1182"/>
                  </a:lnTo>
                  <a:lnTo>
                    <a:pt x="46" y="1176"/>
                  </a:lnTo>
                  <a:lnTo>
                    <a:pt x="40" y="1170"/>
                  </a:lnTo>
                  <a:lnTo>
                    <a:pt x="32" y="1163"/>
                  </a:lnTo>
                  <a:lnTo>
                    <a:pt x="25" y="1159"/>
                  </a:lnTo>
                  <a:lnTo>
                    <a:pt x="19" y="1152"/>
                  </a:lnTo>
                  <a:lnTo>
                    <a:pt x="13" y="1146"/>
                  </a:lnTo>
                  <a:lnTo>
                    <a:pt x="6" y="1139"/>
                  </a:lnTo>
                  <a:lnTo>
                    <a:pt x="0" y="1135"/>
                  </a:lnTo>
                  <a:lnTo>
                    <a:pt x="0" y="1083"/>
                  </a:lnTo>
                  <a:lnTo>
                    <a:pt x="1" y="0"/>
                  </a:lnTo>
                  <a:lnTo>
                    <a:pt x="13" y="38"/>
                  </a:lnTo>
                  <a:lnTo>
                    <a:pt x="27" y="83"/>
                  </a:lnTo>
                  <a:lnTo>
                    <a:pt x="46" y="133"/>
                  </a:lnTo>
                  <a:lnTo>
                    <a:pt x="64" y="184"/>
                  </a:lnTo>
                  <a:lnTo>
                    <a:pt x="81" y="235"/>
                  </a:lnTo>
                  <a:lnTo>
                    <a:pt x="96" y="288"/>
                  </a:lnTo>
                  <a:lnTo>
                    <a:pt x="104" y="336"/>
                  </a:lnTo>
                  <a:lnTo>
                    <a:pt x="105" y="3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8FA1CBFD-CE87-59DC-6E32-4B3396CC3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853"/>
              <a:ext cx="148" cy="214"/>
            </a:xfrm>
            <a:custGeom>
              <a:avLst/>
              <a:gdLst>
                <a:gd name="T0" fmla="*/ 278 w 296"/>
                <a:gd name="T1" fmla="*/ 53 h 427"/>
                <a:gd name="T2" fmla="*/ 259 w 296"/>
                <a:gd name="T3" fmla="*/ 102 h 427"/>
                <a:gd name="T4" fmla="*/ 248 w 296"/>
                <a:gd name="T5" fmla="*/ 155 h 427"/>
                <a:gd name="T6" fmla="*/ 227 w 296"/>
                <a:gd name="T7" fmla="*/ 205 h 427"/>
                <a:gd name="T8" fmla="*/ 194 w 296"/>
                <a:gd name="T9" fmla="*/ 252 h 427"/>
                <a:gd name="T10" fmla="*/ 173 w 296"/>
                <a:gd name="T11" fmla="*/ 313 h 427"/>
                <a:gd name="T12" fmla="*/ 163 w 296"/>
                <a:gd name="T13" fmla="*/ 356 h 427"/>
                <a:gd name="T14" fmla="*/ 149 w 296"/>
                <a:gd name="T15" fmla="*/ 371 h 427"/>
                <a:gd name="T16" fmla="*/ 128 w 296"/>
                <a:gd name="T17" fmla="*/ 379 h 427"/>
                <a:gd name="T18" fmla="*/ 107 w 296"/>
                <a:gd name="T19" fmla="*/ 385 h 427"/>
                <a:gd name="T20" fmla="*/ 87 w 296"/>
                <a:gd name="T21" fmla="*/ 391 h 427"/>
                <a:gd name="T22" fmla="*/ 66 w 296"/>
                <a:gd name="T23" fmla="*/ 396 h 427"/>
                <a:gd name="T24" fmla="*/ 48 w 296"/>
                <a:gd name="T25" fmla="*/ 403 h 427"/>
                <a:gd name="T26" fmla="*/ 34 w 296"/>
                <a:gd name="T27" fmla="*/ 409 h 427"/>
                <a:gd name="T28" fmla="*/ 18 w 296"/>
                <a:gd name="T29" fmla="*/ 415 h 427"/>
                <a:gd name="T30" fmla="*/ 5 w 296"/>
                <a:gd name="T31" fmla="*/ 422 h 427"/>
                <a:gd name="T32" fmla="*/ 5 w 296"/>
                <a:gd name="T33" fmla="*/ 406 h 427"/>
                <a:gd name="T34" fmla="*/ 21 w 296"/>
                <a:gd name="T35" fmla="*/ 368 h 427"/>
                <a:gd name="T36" fmla="*/ 40 w 296"/>
                <a:gd name="T37" fmla="*/ 331 h 427"/>
                <a:gd name="T38" fmla="*/ 63 w 296"/>
                <a:gd name="T39" fmla="*/ 296 h 427"/>
                <a:gd name="T40" fmla="*/ 79 w 296"/>
                <a:gd name="T41" fmla="*/ 268 h 427"/>
                <a:gd name="T42" fmla="*/ 82 w 296"/>
                <a:gd name="T43" fmla="*/ 244 h 427"/>
                <a:gd name="T44" fmla="*/ 91 w 296"/>
                <a:gd name="T45" fmla="*/ 216 h 427"/>
                <a:gd name="T46" fmla="*/ 109 w 296"/>
                <a:gd name="T47" fmla="*/ 184 h 427"/>
                <a:gd name="T48" fmla="*/ 130 w 296"/>
                <a:gd name="T49" fmla="*/ 163 h 427"/>
                <a:gd name="T50" fmla="*/ 139 w 296"/>
                <a:gd name="T51" fmla="*/ 144 h 427"/>
                <a:gd name="T52" fmla="*/ 143 w 296"/>
                <a:gd name="T53" fmla="*/ 133 h 427"/>
                <a:gd name="T54" fmla="*/ 147 w 296"/>
                <a:gd name="T55" fmla="*/ 107 h 427"/>
                <a:gd name="T56" fmla="*/ 147 w 296"/>
                <a:gd name="T57" fmla="*/ 80 h 427"/>
                <a:gd name="T58" fmla="*/ 181 w 296"/>
                <a:gd name="T59" fmla="*/ 58 h 427"/>
                <a:gd name="T60" fmla="*/ 214 w 296"/>
                <a:gd name="T61" fmla="*/ 38 h 427"/>
                <a:gd name="T62" fmla="*/ 248 w 296"/>
                <a:gd name="T63" fmla="*/ 19 h 427"/>
                <a:gd name="T64" fmla="*/ 281 w 296"/>
                <a:gd name="T65" fmla="*/ 0 h 427"/>
                <a:gd name="T66" fmla="*/ 289 w 296"/>
                <a:gd name="T67" fmla="*/ 16 h 427"/>
                <a:gd name="T68" fmla="*/ 296 w 296"/>
                <a:gd name="T69" fmla="*/ 32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6" h="427">
                  <a:moveTo>
                    <a:pt x="296" y="32"/>
                  </a:moveTo>
                  <a:lnTo>
                    <a:pt x="278" y="53"/>
                  </a:lnTo>
                  <a:lnTo>
                    <a:pt x="267" y="77"/>
                  </a:lnTo>
                  <a:lnTo>
                    <a:pt x="259" y="102"/>
                  </a:lnTo>
                  <a:lnTo>
                    <a:pt x="253" y="128"/>
                  </a:lnTo>
                  <a:lnTo>
                    <a:pt x="248" y="155"/>
                  </a:lnTo>
                  <a:lnTo>
                    <a:pt x="238" y="181"/>
                  </a:lnTo>
                  <a:lnTo>
                    <a:pt x="227" y="205"/>
                  </a:lnTo>
                  <a:lnTo>
                    <a:pt x="210" y="225"/>
                  </a:lnTo>
                  <a:lnTo>
                    <a:pt x="194" y="252"/>
                  </a:lnTo>
                  <a:lnTo>
                    <a:pt x="182" y="283"/>
                  </a:lnTo>
                  <a:lnTo>
                    <a:pt x="173" y="313"/>
                  </a:lnTo>
                  <a:lnTo>
                    <a:pt x="168" y="345"/>
                  </a:lnTo>
                  <a:lnTo>
                    <a:pt x="163" y="356"/>
                  </a:lnTo>
                  <a:lnTo>
                    <a:pt x="157" y="364"/>
                  </a:lnTo>
                  <a:lnTo>
                    <a:pt x="149" y="371"/>
                  </a:lnTo>
                  <a:lnTo>
                    <a:pt x="139" y="374"/>
                  </a:lnTo>
                  <a:lnTo>
                    <a:pt x="128" y="379"/>
                  </a:lnTo>
                  <a:lnTo>
                    <a:pt x="119" y="382"/>
                  </a:lnTo>
                  <a:lnTo>
                    <a:pt x="107" y="385"/>
                  </a:lnTo>
                  <a:lnTo>
                    <a:pt x="98" y="390"/>
                  </a:lnTo>
                  <a:lnTo>
                    <a:pt x="87" y="391"/>
                  </a:lnTo>
                  <a:lnTo>
                    <a:pt x="75" y="395"/>
                  </a:lnTo>
                  <a:lnTo>
                    <a:pt x="66" y="396"/>
                  </a:lnTo>
                  <a:lnTo>
                    <a:pt x="55" y="399"/>
                  </a:lnTo>
                  <a:lnTo>
                    <a:pt x="48" y="403"/>
                  </a:lnTo>
                  <a:lnTo>
                    <a:pt x="40" y="406"/>
                  </a:lnTo>
                  <a:lnTo>
                    <a:pt x="34" y="409"/>
                  </a:lnTo>
                  <a:lnTo>
                    <a:pt x="26" y="412"/>
                  </a:lnTo>
                  <a:lnTo>
                    <a:pt x="18" y="415"/>
                  </a:lnTo>
                  <a:lnTo>
                    <a:pt x="12" y="419"/>
                  </a:lnTo>
                  <a:lnTo>
                    <a:pt x="5" y="422"/>
                  </a:lnTo>
                  <a:lnTo>
                    <a:pt x="0" y="427"/>
                  </a:lnTo>
                  <a:lnTo>
                    <a:pt x="5" y="406"/>
                  </a:lnTo>
                  <a:lnTo>
                    <a:pt x="13" y="387"/>
                  </a:lnTo>
                  <a:lnTo>
                    <a:pt x="21" y="368"/>
                  </a:lnTo>
                  <a:lnTo>
                    <a:pt x="31" y="348"/>
                  </a:lnTo>
                  <a:lnTo>
                    <a:pt x="40" y="331"/>
                  </a:lnTo>
                  <a:lnTo>
                    <a:pt x="52" y="313"/>
                  </a:lnTo>
                  <a:lnTo>
                    <a:pt x="63" y="296"/>
                  </a:lnTo>
                  <a:lnTo>
                    <a:pt x="74" y="280"/>
                  </a:lnTo>
                  <a:lnTo>
                    <a:pt x="79" y="268"/>
                  </a:lnTo>
                  <a:lnTo>
                    <a:pt x="80" y="256"/>
                  </a:lnTo>
                  <a:lnTo>
                    <a:pt x="82" y="244"/>
                  </a:lnTo>
                  <a:lnTo>
                    <a:pt x="87" y="233"/>
                  </a:lnTo>
                  <a:lnTo>
                    <a:pt x="91" y="216"/>
                  </a:lnTo>
                  <a:lnTo>
                    <a:pt x="101" y="200"/>
                  </a:lnTo>
                  <a:lnTo>
                    <a:pt x="109" y="184"/>
                  </a:lnTo>
                  <a:lnTo>
                    <a:pt x="119" y="169"/>
                  </a:lnTo>
                  <a:lnTo>
                    <a:pt x="130" y="163"/>
                  </a:lnTo>
                  <a:lnTo>
                    <a:pt x="136" y="155"/>
                  </a:lnTo>
                  <a:lnTo>
                    <a:pt x="139" y="144"/>
                  </a:lnTo>
                  <a:lnTo>
                    <a:pt x="141" y="133"/>
                  </a:lnTo>
                  <a:lnTo>
                    <a:pt x="143" y="133"/>
                  </a:lnTo>
                  <a:lnTo>
                    <a:pt x="146" y="120"/>
                  </a:lnTo>
                  <a:lnTo>
                    <a:pt x="147" y="107"/>
                  </a:lnTo>
                  <a:lnTo>
                    <a:pt x="149" y="94"/>
                  </a:lnTo>
                  <a:lnTo>
                    <a:pt x="147" y="80"/>
                  </a:lnTo>
                  <a:lnTo>
                    <a:pt x="163" y="69"/>
                  </a:lnTo>
                  <a:lnTo>
                    <a:pt x="181" y="58"/>
                  </a:lnTo>
                  <a:lnTo>
                    <a:pt x="197" y="48"/>
                  </a:lnTo>
                  <a:lnTo>
                    <a:pt x="214" y="38"/>
                  </a:lnTo>
                  <a:lnTo>
                    <a:pt x="230" y="29"/>
                  </a:lnTo>
                  <a:lnTo>
                    <a:pt x="248" y="19"/>
                  </a:lnTo>
                  <a:lnTo>
                    <a:pt x="264" y="10"/>
                  </a:lnTo>
                  <a:lnTo>
                    <a:pt x="281" y="0"/>
                  </a:lnTo>
                  <a:lnTo>
                    <a:pt x="286" y="8"/>
                  </a:lnTo>
                  <a:lnTo>
                    <a:pt x="289" y="16"/>
                  </a:lnTo>
                  <a:lnTo>
                    <a:pt x="293" y="26"/>
                  </a:lnTo>
                  <a:lnTo>
                    <a:pt x="296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039074C4-1064-744A-431B-7B1C0E484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3063"/>
              <a:ext cx="43" cy="55"/>
            </a:xfrm>
            <a:custGeom>
              <a:avLst/>
              <a:gdLst>
                <a:gd name="T0" fmla="*/ 80 w 86"/>
                <a:gd name="T1" fmla="*/ 8 h 110"/>
                <a:gd name="T2" fmla="*/ 85 w 86"/>
                <a:gd name="T3" fmla="*/ 14 h 110"/>
                <a:gd name="T4" fmla="*/ 86 w 86"/>
                <a:gd name="T5" fmla="*/ 22 h 110"/>
                <a:gd name="T6" fmla="*/ 86 w 86"/>
                <a:gd name="T7" fmla="*/ 30 h 110"/>
                <a:gd name="T8" fmla="*/ 85 w 86"/>
                <a:gd name="T9" fmla="*/ 38 h 110"/>
                <a:gd name="T10" fmla="*/ 78 w 86"/>
                <a:gd name="T11" fmla="*/ 51 h 110"/>
                <a:gd name="T12" fmla="*/ 65 w 86"/>
                <a:gd name="T13" fmla="*/ 60 h 110"/>
                <a:gd name="T14" fmla="*/ 54 w 86"/>
                <a:gd name="T15" fmla="*/ 70 h 110"/>
                <a:gd name="T16" fmla="*/ 45 w 86"/>
                <a:gd name="T17" fmla="*/ 83 h 110"/>
                <a:gd name="T18" fmla="*/ 22 w 86"/>
                <a:gd name="T19" fmla="*/ 110 h 110"/>
                <a:gd name="T20" fmla="*/ 14 w 86"/>
                <a:gd name="T21" fmla="*/ 107 h 110"/>
                <a:gd name="T22" fmla="*/ 10 w 86"/>
                <a:gd name="T23" fmla="*/ 100 h 110"/>
                <a:gd name="T24" fmla="*/ 5 w 86"/>
                <a:gd name="T25" fmla="*/ 94 h 110"/>
                <a:gd name="T26" fmla="*/ 2 w 86"/>
                <a:gd name="T27" fmla="*/ 88 h 110"/>
                <a:gd name="T28" fmla="*/ 0 w 86"/>
                <a:gd name="T29" fmla="*/ 73 h 110"/>
                <a:gd name="T30" fmla="*/ 2 w 86"/>
                <a:gd name="T31" fmla="*/ 60 h 110"/>
                <a:gd name="T32" fmla="*/ 5 w 86"/>
                <a:gd name="T33" fmla="*/ 49 h 110"/>
                <a:gd name="T34" fmla="*/ 11 w 86"/>
                <a:gd name="T35" fmla="*/ 40 h 110"/>
                <a:gd name="T36" fmla="*/ 18 w 86"/>
                <a:gd name="T37" fmla="*/ 30 h 110"/>
                <a:gd name="T38" fmla="*/ 26 w 86"/>
                <a:gd name="T39" fmla="*/ 22 h 110"/>
                <a:gd name="T40" fmla="*/ 34 w 86"/>
                <a:gd name="T41" fmla="*/ 14 h 110"/>
                <a:gd name="T42" fmla="*/ 43 w 86"/>
                <a:gd name="T43" fmla="*/ 6 h 110"/>
                <a:gd name="T44" fmla="*/ 46 w 86"/>
                <a:gd name="T45" fmla="*/ 4 h 110"/>
                <a:gd name="T46" fmla="*/ 50 w 86"/>
                <a:gd name="T47" fmla="*/ 4 h 110"/>
                <a:gd name="T48" fmla="*/ 53 w 86"/>
                <a:gd name="T49" fmla="*/ 3 h 110"/>
                <a:gd name="T50" fmla="*/ 54 w 86"/>
                <a:gd name="T51" fmla="*/ 0 h 110"/>
                <a:gd name="T52" fmla="*/ 62 w 86"/>
                <a:gd name="T53" fmla="*/ 0 h 110"/>
                <a:gd name="T54" fmla="*/ 69 w 86"/>
                <a:gd name="T55" fmla="*/ 1 h 110"/>
                <a:gd name="T56" fmla="*/ 75 w 86"/>
                <a:gd name="T57" fmla="*/ 4 h 110"/>
                <a:gd name="T58" fmla="*/ 80 w 86"/>
                <a:gd name="T59" fmla="*/ 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6" h="110">
                  <a:moveTo>
                    <a:pt x="80" y="8"/>
                  </a:moveTo>
                  <a:lnTo>
                    <a:pt x="85" y="14"/>
                  </a:lnTo>
                  <a:lnTo>
                    <a:pt x="86" y="22"/>
                  </a:lnTo>
                  <a:lnTo>
                    <a:pt x="86" y="30"/>
                  </a:lnTo>
                  <a:lnTo>
                    <a:pt x="85" y="38"/>
                  </a:lnTo>
                  <a:lnTo>
                    <a:pt x="78" y="51"/>
                  </a:lnTo>
                  <a:lnTo>
                    <a:pt x="65" y="60"/>
                  </a:lnTo>
                  <a:lnTo>
                    <a:pt x="54" y="70"/>
                  </a:lnTo>
                  <a:lnTo>
                    <a:pt x="45" y="83"/>
                  </a:lnTo>
                  <a:lnTo>
                    <a:pt x="22" y="110"/>
                  </a:lnTo>
                  <a:lnTo>
                    <a:pt x="14" y="107"/>
                  </a:lnTo>
                  <a:lnTo>
                    <a:pt x="10" y="100"/>
                  </a:lnTo>
                  <a:lnTo>
                    <a:pt x="5" y="94"/>
                  </a:lnTo>
                  <a:lnTo>
                    <a:pt x="2" y="88"/>
                  </a:lnTo>
                  <a:lnTo>
                    <a:pt x="0" y="73"/>
                  </a:lnTo>
                  <a:lnTo>
                    <a:pt x="2" y="60"/>
                  </a:lnTo>
                  <a:lnTo>
                    <a:pt x="5" y="49"/>
                  </a:lnTo>
                  <a:lnTo>
                    <a:pt x="11" y="40"/>
                  </a:lnTo>
                  <a:lnTo>
                    <a:pt x="18" y="30"/>
                  </a:lnTo>
                  <a:lnTo>
                    <a:pt x="26" y="22"/>
                  </a:lnTo>
                  <a:lnTo>
                    <a:pt x="34" y="14"/>
                  </a:lnTo>
                  <a:lnTo>
                    <a:pt x="43" y="6"/>
                  </a:lnTo>
                  <a:lnTo>
                    <a:pt x="46" y="4"/>
                  </a:lnTo>
                  <a:lnTo>
                    <a:pt x="50" y="4"/>
                  </a:lnTo>
                  <a:lnTo>
                    <a:pt x="53" y="3"/>
                  </a:lnTo>
                  <a:lnTo>
                    <a:pt x="54" y="0"/>
                  </a:lnTo>
                  <a:lnTo>
                    <a:pt x="62" y="0"/>
                  </a:lnTo>
                  <a:lnTo>
                    <a:pt x="69" y="1"/>
                  </a:lnTo>
                  <a:lnTo>
                    <a:pt x="75" y="4"/>
                  </a:lnTo>
                  <a:lnTo>
                    <a:pt x="8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70194B2F-B742-E662-CAE2-E86820BA1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3386"/>
              <a:ext cx="135" cy="28"/>
            </a:xfrm>
            <a:custGeom>
              <a:avLst/>
              <a:gdLst>
                <a:gd name="T0" fmla="*/ 121 w 270"/>
                <a:gd name="T1" fmla="*/ 2 h 56"/>
                <a:gd name="T2" fmla="*/ 142 w 270"/>
                <a:gd name="T3" fmla="*/ 5 h 56"/>
                <a:gd name="T4" fmla="*/ 163 w 270"/>
                <a:gd name="T5" fmla="*/ 10 h 56"/>
                <a:gd name="T6" fmla="*/ 182 w 270"/>
                <a:gd name="T7" fmla="*/ 16 h 56"/>
                <a:gd name="T8" fmla="*/ 199 w 270"/>
                <a:gd name="T9" fmla="*/ 23 h 56"/>
                <a:gd name="T10" fmla="*/ 217 w 270"/>
                <a:gd name="T11" fmla="*/ 31 h 56"/>
                <a:gd name="T12" fmla="*/ 235 w 270"/>
                <a:gd name="T13" fmla="*/ 39 h 56"/>
                <a:gd name="T14" fmla="*/ 252 w 270"/>
                <a:gd name="T15" fmla="*/ 48 h 56"/>
                <a:gd name="T16" fmla="*/ 270 w 270"/>
                <a:gd name="T17" fmla="*/ 56 h 56"/>
                <a:gd name="T18" fmla="*/ 254 w 270"/>
                <a:gd name="T19" fmla="*/ 53 h 56"/>
                <a:gd name="T20" fmla="*/ 238 w 270"/>
                <a:gd name="T21" fmla="*/ 50 h 56"/>
                <a:gd name="T22" fmla="*/ 220 w 270"/>
                <a:gd name="T23" fmla="*/ 47 h 56"/>
                <a:gd name="T24" fmla="*/ 204 w 270"/>
                <a:gd name="T25" fmla="*/ 43 h 56"/>
                <a:gd name="T26" fmla="*/ 188 w 270"/>
                <a:gd name="T27" fmla="*/ 42 h 56"/>
                <a:gd name="T28" fmla="*/ 171 w 270"/>
                <a:gd name="T29" fmla="*/ 39 h 56"/>
                <a:gd name="T30" fmla="*/ 153 w 270"/>
                <a:gd name="T31" fmla="*/ 37 h 56"/>
                <a:gd name="T32" fmla="*/ 136 w 270"/>
                <a:gd name="T33" fmla="*/ 35 h 56"/>
                <a:gd name="T34" fmla="*/ 136 w 270"/>
                <a:gd name="T35" fmla="*/ 34 h 56"/>
                <a:gd name="T36" fmla="*/ 99 w 270"/>
                <a:gd name="T37" fmla="*/ 29 h 56"/>
                <a:gd name="T38" fmla="*/ 94 w 270"/>
                <a:gd name="T39" fmla="*/ 26 h 56"/>
                <a:gd name="T40" fmla="*/ 88 w 270"/>
                <a:gd name="T41" fmla="*/ 24 h 56"/>
                <a:gd name="T42" fmla="*/ 81 w 270"/>
                <a:gd name="T43" fmla="*/ 23 h 56"/>
                <a:gd name="T44" fmla="*/ 75 w 270"/>
                <a:gd name="T45" fmla="*/ 23 h 56"/>
                <a:gd name="T46" fmla="*/ 65 w 270"/>
                <a:gd name="T47" fmla="*/ 19 h 56"/>
                <a:gd name="T48" fmla="*/ 57 w 270"/>
                <a:gd name="T49" fmla="*/ 18 h 56"/>
                <a:gd name="T50" fmla="*/ 48 w 270"/>
                <a:gd name="T51" fmla="*/ 15 h 56"/>
                <a:gd name="T52" fmla="*/ 38 w 270"/>
                <a:gd name="T53" fmla="*/ 11 h 56"/>
                <a:gd name="T54" fmla="*/ 29 w 270"/>
                <a:gd name="T55" fmla="*/ 8 h 56"/>
                <a:gd name="T56" fmla="*/ 19 w 270"/>
                <a:gd name="T57" fmla="*/ 5 h 56"/>
                <a:gd name="T58" fmla="*/ 9 w 270"/>
                <a:gd name="T59" fmla="*/ 2 h 56"/>
                <a:gd name="T60" fmla="*/ 0 w 270"/>
                <a:gd name="T61" fmla="*/ 0 h 56"/>
                <a:gd name="T62" fmla="*/ 121 w 270"/>
                <a:gd name="T63" fmla="*/ 0 h 56"/>
                <a:gd name="T64" fmla="*/ 121 w 270"/>
                <a:gd name="T65" fmla="*/ 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0" h="56">
                  <a:moveTo>
                    <a:pt x="121" y="2"/>
                  </a:moveTo>
                  <a:lnTo>
                    <a:pt x="142" y="5"/>
                  </a:lnTo>
                  <a:lnTo>
                    <a:pt x="163" y="10"/>
                  </a:lnTo>
                  <a:lnTo>
                    <a:pt x="182" y="16"/>
                  </a:lnTo>
                  <a:lnTo>
                    <a:pt x="199" y="23"/>
                  </a:lnTo>
                  <a:lnTo>
                    <a:pt x="217" y="31"/>
                  </a:lnTo>
                  <a:lnTo>
                    <a:pt x="235" y="39"/>
                  </a:lnTo>
                  <a:lnTo>
                    <a:pt x="252" y="48"/>
                  </a:lnTo>
                  <a:lnTo>
                    <a:pt x="270" y="56"/>
                  </a:lnTo>
                  <a:lnTo>
                    <a:pt x="254" y="53"/>
                  </a:lnTo>
                  <a:lnTo>
                    <a:pt x="238" y="50"/>
                  </a:lnTo>
                  <a:lnTo>
                    <a:pt x="220" y="47"/>
                  </a:lnTo>
                  <a:lnTo>
                    <a:pt x="204" y="43"/>
                  </a:lnTo>
                  <a:lnTo>
                    <a:pt x="188" y="42"/>
                  </a:lnTo>
                  <a:lnTo>
                    <a:pt x="171" y="39"/>
                  </a:lnTo>
                  <a:lnTo>
                    <a:pt x="153" y="37"/>
                  </a:lnTo>
                  <a:lnTo>
                    <a:pt x="136" y="35"/>
                  </a:lnTo>
                  <a:lnTo>
                    <a:pt x="136" y="34"/>
                  </a:lnTo>
                  <a:lnTo>
                    <a:pt x="99" y="29"/>
                  </a:lnTo>
                  <a:lnTo>
                    <a:pt x="94" y="26"/>
                  </a:lnTo>
                  <a:lnTo>
                    <a:pt x="88" y="24"/>
                  </a:lnTo>
                  <a:lnTo>
                    <a:pt x="81" y="23"/>
                  </a:lnTo>
                  <a:lnTo>
                    <a:pt x="75" y="23"/>
                  </a:lnTo>
                  <a:lnTo>
                    <a:pt x="65" y="19"/>
                  </a:lnTo>
                  <a:lnTo>
                    <a:pt x="57" y="18"/>
                  </a:lnTo>
                  <a:lnTo>
                    <a:pt x="48" y="15"/>
                  </a:lnTo>
                  <a:lnTo>
                    <a:pt x="38" y="11"/>
                  </a:lnTo>
                  <a:lnTo>
                    <a:pt x="29" y="8"/>
                  </a:lnTo>
                  <a:lnTo>
                    <a:pt x="19" y="5"/>
                  </a:lnTo>
                  <a:lnTo>
                    <a:pt x="9" y="2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8556DA3C-5FC7-FD04-7F8C-C31D1A7B5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3404"/>
              <a:ext cx="273" cy="62"/>
            </a:xfrm>
            <a:custGeom>
              <a:avLst/>
              <a:gdLst>
                <a:gd name="T0" fmla="*/ 37 w 546"/>
                <a:gd name="T1" fmla="*/ 6 h 125"/>
                <a:gd name="T2" fmla="*/ 52 w 546"/>
                <a:gd name="T3" fmla="*/ 8 h 125"/>
                <a:gd name="T4" fmla="*/ 68 w 546"/>
                <a:gd name="T5" fmla="*/ 13 h 125"/>
                <a:gd name="T6" fmla="*/ 87 w 546"/>
                <a:gd name="T7" fmla="*/ 16 h 125"/>
                <a:gd name="T8" fmla="*/ 98 w 546"/>
                <a:gd name="T9" fmla="*/ 18 h 125"/>
                <a:gd name="T10" fmla="*/ 139 w 546"/>
                <a:gd name="T11" fmla="*/ 24 h 125"/>
                <a:gd name="T12" fmla="*/ 179 w 546"/>
                <a:gd name="T13" fmla="*/ 32 h 125"/>
                <a:gd name="T14" fmla="*/ 190 w 546"/>
                <a:gd name="T15" fmla="*/ 35 h 125"/>
                <a:gd name="T16" fmla="*/ 211 w 546"/>
                <a:gd name="T17" fmla="*/ 42 h 125"/>
                <a:gd name="T18" fmla="*/ 242 w 546"/>
                <a:gd name="T19" fmla="*/ 51 h 125"/>
                <a:gd name="T20" fmla="*/ 273 w 546"/>
                <a:gd name="T21" fmla="*/ 59 h 125"/>
                <a:gd name="T22" fmla="*/ 305 w 546"/>
                <a:gd name="T23" fmla="*/ 67 h 125"/>
                <a:gd name="T24" fmla="*/ 323 w 546"/>
                <a:gd name="T25" fmla="*/ 70 h 125"/>
                <a:gd name="T26" fmla="*/ 358 w 546"/>
                <a:gd name="T27" fmla="*/ 77 h 125"/>
                <a:gd name="T28" fmla="*/ 408 w 546"/>
                <a:gd name="T29" fmla="*/ 85 h 125"/>
                <a:gd name="T30" fmla="*/ 455 w 546"/>
                <a:gd name="T31" fmla="*/ 96 h 125"/>
                <a:gd name="T32" fmla="*/ 502 w 546"/>
                <a:gd name="T33" fmla="*/ 109 h 125"/>
                <a:gd name="T34" fmla="*/ 546 w 546"/>
                <a:gd name="T35" fmla="*/ 125 h 125"/>
                <a:gd name="T36" fmla="*/ 531 w 546"/>
                <a:gd name="T37" fmla="*/ 123 h 125"/>
                <a:gd name="T38" fmla="*/ 516 w 546"/>
                <a:gd name="T39" fmla="*/ 120 h 125"/>
                <a:gd name="T40" fmla="*/ 503 w 546"/>
                <a:gd name="T41" fmla="*/ 118 h 125"/>
                <a:gd name="T42" fmla="*/ 489 w 546"/>
                <a:gd name="T43" fmla="*/ 115 h 125"/>
                <a:gd name="T44" fmla="*/ 444 w 546"/>
                <a:gd name="T45" fmla="*/ 110 h 125"/>
                <a:gd name="T46" fmla="*/ 403 w 546"/>
                <a:gd name="T47" fmla="*/ 115 h 125"/>
                <a:gd name="T48" fmla="*/ 360 w 546"/>
                <a:gd name="T49" fmla="*/ 121 h 125"/>
                <a:gd name="T50" fmla="*/ 315 w 546"/>
                <a:gd name="T51" fmla="*/ 121 h 125"/>
                <a:gd name="T52" fmla="*/ 285 w 546"/>
                <a:gd name="T53" fmla="*/ 113 h 125"/>
                <a:gd name="T54" fmla="*/ 224 w 546"/>
                <a:gd name="T55" fmla="*/ 89 h 125"/>
                <a:gd name="T56" fmla="*/ 168 w 546"/>
                <a:gd name="T57" fmla="*/ 62 h 125"/>
                <a:gd name="T58" fmla="*/ 109 w 546"/>
                <a:gd name="T59" fmla="*/ 35 h 125"/>
                <a:gd name="T60" fmla="*/ 75 w 546"/>
                <a:gd name="T61" fmla="*/ 22 h 125"/>
                <a:gd name="T62" fmla="*/ 66 w 546"/>
                <a:gd name="T63" fmla="*/ 19 h 125"/>
                <a:gd name="T64" fmla="*/ 53 w 546"/>
                <a:gd name="T65" fmla="*/ 16 h 125"/>
                <a:gd name="T66" fmla="*/ 37 w 546"/>
                <a:gd name="T67" fmla="*/ 13 h 125"/>
                <a:gd name="T68" fmla="*/ 23 w 546"/>
                <a:gd name="T69" fmla="*/ 8 h 125"/>
                <a:gd name="T70" fmla="*/ 8 w 546"/>
                <a:gd name="T71" fmla="*/ 3 h 125"/>
                <a:gd name="T72" fmla="*/ 32 w 546"/>
                <a:gd name="T73" fmla="*/ 3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6" h="125">
                  <a:moveTo>
                    <a:pt x="32" y="3"/>
                  </a:moveTo>
                  <a:lnTo>
                    <a:pt x="37" y="6"/>
                  </a:lnTo>
                  <a:lnTo>
                    <a:pt x="45" y="8"/>
                  </a:lnTo>
                  <a:lnTo>
                    <a:pt x="52" y="8"/>
                  </a:lnTo>
                  <a:lnTo>
                    <a:pt x="58" y="10"/>
                  </a:lnTo>
                  <a:lnTo>
                    <a:pt x="68" y="13"/>
                  </a:lnTo>
                  <a:lnTo>
                    <a:pt x="77" y="14"/>
                  </a:lnTo>
                  <a:lnTo>
                    <a:pt x="87" y="16"/>
                  </a:lnTo>
                  <a:lnTo>
                    <a:pt x="98" y="16"/>
                  </a:lnTo>
                  <a:lnTo>
                    <a:pt x="98" y="18"/>
                  </a:lnTo>
                  <a:lnTo>
                    <a:pt x="139" y="22"/>
                  </a:lnTo>
                  <a:lnTo>
                    <a:pt x="139" y="24"/>
                  </a:lnTo>
                  <a:lnTo>
                    <a:pt x="174" y="30"/>
                  </a:lnTo>
                  <a:lnTo>
                    <a:pt x="179" y="32"/>
                  </a:lnTo>
                  <a:lnTo>
                    <a:pt x="184" y="34"/>
                  </a:lnTo>
                  <a:lnTo>
                    <a:pt x="190" y="35"/>
                  </a:lnTo>
                  <a:lnTo>
                    <a:pt x="195" y="37"/>
                  </a:lnTo>
                  <a:lnTo>
                    <a:pt x="211" y="42"/>
                  </a:lnTo>
                  <a:lnTo>
                    <a:pt x="226" y="46"/>
                  </a:lnTo>
                  <a:lnTo>
                    <a:pt x="242" y="51"/>
                  </a:lnTo>
                  <a:lnTo>
                    <a:pt x="258" y="54"/>
                  </a:lnTo>
                  <a:lnTo>
                    <a:pt x="273" y="59"/>
                  </a:lnTo>
                  <a:lnTo>
                    <a:pt x="289" y="64"/>
                  </a:lnTo>
                  <a:lnTo>
                    <a:pt x="305" y="67"/>
                  </a:lnTo>
                  <a:lnTo>
                    <a:pt x="323" y="69"/>
                  </a:lnTo>
                  <a:lnTo>
                    <a:pt x="323" y="70"/>
                  </a:lnTo>
                  <a:lnTo>
                    <a:pt x="358" y="75"/>
                  </a:lnTo>
                  <a:lnTo>
                    <a:pt x="358" y="77"/>
                  </a:lnTo>
                  <a:lnTo>
                    <a:pt x="384" y="80"/>
                  </a:lnTo>
                  <a:lnTo>
                    <a:pt x="408" y="85"/>
                  </a:lnTo>
                  <a:lnTo>
                    <a:pt x="432" y="89"/>
                  </a:lnTo>
                  <a:lnTo>
                    <a:pt x="455" y="96"/>
                  </a:lnTo>
                  <a:lnTo>
                    <a:pt x="479" y="101"/>
                  </a:lnTo>
                  <a:lnTo>
                    <a:pt x="502" y="109"/>
                  </a:lnTo>
                  <a:lnTo>
                    <a:pt x="524" y="117"/>
                  </a:lnTo>
                  <a:lnTo>
                    <a:pt x="546" y="125"/>
                  </a:lnTo>
                  <a:lnTo>
                    <a:pt x="539" y="125"/>
                  </a:lnTo>
                  <a:lnTo>
                    <a:pt x="531" y="123"/>
                  </a:lnTo>
                  <a:lnTo>
                    <a:pt x="524" y="121"/>
                  </a:lnTo>
                  <a:lnTo>
                    <a:pt x="516" y="120"/>
                  </a:lnTo>
                  <a:lnTo>
                    <a:pt x="510" y="120"/>
                  </a:lnTo>
                  <a:lnTo>
                    <a:pt x="503" y="118"/>
                  </a:lnTo>
                  <a:lnTo>
                    <a:pt x="495" y="117"/>
                  </a:lnTo>
                  <a:lnTo>
                    <a:pt x="489" y="115"/>
                  </a:lnTo>
                  <a:lnTo>
                    <a:pt x="467" y="112"/>
                  </a:lnTo>
                  <a:lnTo>
                    <a:pt x="444" y="110"/>
                  </a:lnTo>
                  <a:lnTo>
                    <a:pt x="424" y="112"/>
                  </a:lnTo>
                  <a:lnTo>
                    <a:pt x="403" y="115"/>
                  </a:lnTo>
                  <a:lnTo>
                    <a:pt x="382" y="118"/>
                  </a:lnTo>
                  <a:lnTo>
                    <a:pt x="360" y="121"/>
                  </a:lnTo>
                  <a:lnTo>
                    <a:pt x="337" y="123"/>
                  </a:lnTo>
                  <a:lnTo>
                    <a:pt x="315" y="121"/>
                  </a:lnTo>
                  <a:lnTo>
                    <a:pt x="315" y="121"/>
                  </a:lnTo>
                  <a:lnTo>
                    <a:pt x="285" y="113"/>
                  </a:lnTo>
                  <a:lnTo>
                    <a:pt x="254" y="102"/>
                  </a:lnTo>
                  <a:lnTo>
                    <a:pt x="224" y="89"/>
                  </a:lnTo>
                  <a:lnTo>
                    <a:pt x="195" y="75"/>
                  </a:lnTo>
                  <a:lnTo>
                    <a:pt x="168" y="62"/>
                  </a:lnTo>
                  <a:lnTo>
                    <a:pt x="139" y="48"/>
                  </a:lnTo>
                  <a:lnTo>
                    <a:pt x="109" y="35"/>
                  </a:lnTo>
                  <a:lnTo>
                    <a:pt x="80" y="24"/>
                  </a:lnTo>
                  <a:lnTo>
                    <a:pt x="75" y="22"/>
                  </a:lnTo>
                  <a:lnTo>
                    <a:pt x="71" y="21"/>
                  </a:lnTo>
                  <a:lnTo>
                    <a:pt x="66" y="19"/>
                  </a:lnTo>
                  <a:lnTo>
                    <a:pt x="61" y="18"/>
                  </a:lnTo>
                  <a:lnTo>
                    <a:pt x="53" y="16"/>
                  </a:lnTo>
                  <a:lnTo>
                    <a:pt x="45" y="14"/>
                  </a:lnTo>
                  <a:lnTo>
                    <a:pt x="37" y="13"/>
                  </a:lnTo>
                  <a:lnTo>
                    <a:pt x="31" y="10"/>
                  </a:lnTo>
                  <a:lnTo>
                    <a:pt x="23" y="8"/>
                  </a:lnTo>
                  <a:lnTo>
                    <a:pt x="15" y="5"/>
                  </a:lnTo>
                  <a:lnTo>
                    <a:pt x="8" y="3"/>
                  </a:lnTo>
                  <a:lnTo>
                    <a:pt x="0" y="0"/>
                  </a:lnTo>
                  <a:lnTo>
                    <a:pt x="32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4359CCA9-CDA0-250F-B33E-3A366C5D6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3434"/>
              <a:ext cx="331" cy="217"/>
            </a:xfrm>
            <a:custGeom>
              <a:avLst/>
              <a:gdLst>
                <a:gd name="T0" fmla="*/ 266 w 661"/>
                <a:gd name="T1" fmla="*/ 113 h 433"/>
                <a:gd name="T2" fmla="*/ 301 w 661"/>
                <a:gd name="T3" fmla="*/ 134 h 433"/>
                <a:gd name="T4" fmla="*/ 362 w 661"/>
                <a:gd name="T5" fmla="*/ 183 h 433"/>
                <a:gd name="T6" fmla="*/ 423 w 661"/>
                <a:gd name="T7" fmla="*/ 233 h 433"/>
                <a:gd name="T8" fmla="*/ 487 w 661"/>
                <a:gd name="T9" fmla="*/ 268 h 433"/>
                <a:gd name="T10" fmla="*/ 533 w 661"/>
                <a:gd name="T11" fmla="*/ 321 h 433"/>
                <a:gd name="T12" fmla="*/ 587 w 661"/>
                <a:gd name="T13" fmla="*/ 364 h 433"/>
                <a:gd name="T14" fmla="*/ 614 w 661"/>
                <a:gd name="T15" fmla="*/ 377 h 433"/>
                <a:gd name="T16" fmla="*/ 643 w 661"/>
                <a:gd name="T17" fmla="*/ 388 h 433"/>
                <a:gd name="T18" fmla="*/ 657 w 661"/>
                <a:gd name="T19" fmla="*/ 401 h 433"/>
                <a:gd name="T20" fmla="*/ 643 w 661"/>
                <a:gd name="T21" fmla="*/ 414 h 433"/>
                <a:gd name="T22" fmla="*/ 598 w 661"/>
                <a:gd name="T23" fmla="*/ 410 h 433"/>
                <a:gd name="T24" fmla="*/ 579 w 661"/>
                <a:gd name="T25" fmla="*/ 402 h 433"/>
                <a:gd name="T26" fmla="*/ 547 w 661"/>
                <a:gd name="T27" fmla="*/ 388 h 433"/>
                <a:gd name="T28" fmla="*/ 546 w 661"/>
                <a:gd name="T29" fmla="*/ 385 h 433"/>
                <a:gd name="T30" fmla="*/ 541 w 661"/>
                <a:gd name="T31" fmla="*/ 385 h 433"/>
                <a:gd name="T32" fmla="*/ 598 w 661"/>
                <a:gd name="T33" fmla="*/ 433 h 433"/>
                <a:gd name="T34" fmla="*/ 531 w 661"/>
                <a:gd name="T35" fmla="*/ 430 h 433"/>
                <a:gd name="T36" fmla="*/ 506 w 661"/>
                <a:gd name="T37" fmla="*/ 418 h 433"/>
                <a:gd name="T38" fmla="*/ 455 w 661"/>
                <a:gd name="T39" fmla="*/ 394 h 433"/>
                <a:gd name="T40" fmla="*/ 405 w 661"/>
                <a:gd name="T41" fmla="*/ 366 h 433"/>
                <a:gd name="T42" fmla="*/ 354 w 661"/>
                <a:gd name="T43" fmla="*/ 315 h 433"/>
                <a:gd name="T44" fmla="*/ 287 w 661"/>
                <a:gd name="T45" fmla="*/ 273 h 433"/>
                <a:gd name="T46" fmla="*/ 214 w 661"/>
                <a:gd name="T47" fmla="*/ 243 h 433"/>
                <a:gd name="T48" fmla="*/ 178 w 661"/>
                <a:gd name="T49" fmla="*/ 230 h 433"/>
                <a:gd name="T50" fmla="*/ 143 w 661"/>
                <a:gd name="T51" fmla="*/ 217 h 433"/>
                <a:gd name="T52" fmla="*/ 113 w 661"/>
                <a:gd name="T53" fmla="*/ 198 h 433"/>
                <a:gd name="T54" fmla="*/ 89 w 661"/>
                <a:gd name="T55" fmla="*/ 174 h 433"/>
                <a:gd name="T56" fmla="*/ 63 w 661"/>
                <a:gd name="T57" fmla="*/ 153 h 433"/>
                <a:gd name="T58" fmla="*/ 63 w 661"/>
                <a:gd name="T59" fmla="*/ 172 h 433"/>
                <a:gd name="T60" fmla="*/ 71 w 661"/>
                <a:gd name="T61" fmla="*/ 196 h 433"/>
                <a:gd name="T62" fmla="*/ 47 w 661"/>
                <a:gd name="T63" fmla="*/ 199 h 433"/>
                <a:gd name="T64" fmla="*/ 22 w 661"/>
                <a:gd name="T65" fmla="*/ 203 h 433"/>
                <a:gd name="T66" fmla="*/ 0 w 661"/>
                <a:gd name="T67" fmla="*/ 38 h 433"/>
                <a:gd name="T68" fmla="*/ 22 w 661"/>
                <a:gd name="T69" fmla="*/ 46 h 433"/>
                <a:gd name="T70" fmla="*/ 57 w 661"/>
                <a:gd name="T71" fmla="*/ 59 h 433"/>
                <a:gd name="T72" fmla="*/ 99 w 661"/>
                <a:gd name="T73" fmla="*/ 78 h 433"/>
                <a:gd name="T74" fmla="*/ 140 w 661"/>
                <a:gd name="T75" fmla="*/ 92 h 433"/>
                <a:gd name="T76" fmla="*/ 159 w 661"/>
                <a:gd name="T77" fmla="*/ 99 h 433"/>
                <a:gd name="T78" fmla="*/ 175 w 661"/>
                <a:gd name="T79" fmla="*/ 102 h 433"/>
                <a:gd name="T80" fmla="*/ 198 w 661"/>
                <a:gd name="T81" fmla="*/ 104 h 433"/>
                <a:gd name="T82" fmla="*/ 154 w 661"/>
                <a:gd name="T83" fmla="*/ 78 h 433"/>
                <a:gd name="T84" fmla="*/ 118 w 661"/>
                <a:gd name="T85" fmla="*/ 43 h 433"/>
                <a:gd name="T86" fmla="*/ 78 w 661"/>
                <a:gd name="T87" fmla="*/ 27 h 433"/>
                <a:gd name="T88" fmla="*/ 54 w 661"/>
                <a:gd name="T89" fmla="*/ 17 h 433"/>
                <a:gd name="T90" fmla="*/ 73 w 661"/>
                <a:gd name="T91" fmla="*/ 6 h 433"/>
                <a:gd name="T92" fmla="*/ 111 w 661"/>
                <a:gd name="T93" fmla="*/ 0 h 433"/>
                <a:gd name="T94" fmla="*/ 150 w 661"/>
                <a:gd name="T95" fmla="*/ 14 h 433"/>
                <a:gd name="T96" fmla="*/ 185 w 661"/>
                <a:gd name="T97" fmla="*/ 35 h 433"/>
                <a:gd name="T98" fmla="*/ 212 w 661"/>
                <a:gd name="T99" fmla="*/ 59 h 433"/>
                <a:gd name="T100" fmla="*/ 241 w 661"/>
                <a:gd name="T101" fmla="*/ 81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1" h="433">
                  <a:moveTo>
                    <a:pt x="258" y="99"/>
                  </a:moveTo>
                  <a:lnTo>
                    <a:pt x="261" y="105"/>
                  </a:lnTo>
                  <a:lnTo>
                    <a:pt x="266" y="113"/>
                  </a:lnTo>
                  <a:lnTo>
                    <a:pt x="273" y="118"/>
                  </a:lnTo>
                  <a:lnTo>
                    <a:pt x="279" y="123"/>
                  </a:lnTo>
                  <a:lnTo>
                    <a:pt x="301" y="134"/>
                  </a:lnTo>
                  <a:lnTo>
                    <a:pt x="324" y="148"/>
                  </a:lnTo>
                  <a:lnTo>
                    <a:pt x="343" y="164"/>
                  </a:lnTo>
                  <a:lnTo>
                    <a:pt x="362" y="183"/>
                  </a:lnTo>
                  <a:lnTo>
                    <a:pt x="381" y="201"/>
                  </a:lnTo>
                  <a:lnTo>
                    <a:pt x="402" y="219"/>
                  </a:lnTo>
                  <a:lnTo>
                    <a:pt x="423" y="233"/>
                  </a:lnTo>
                  <a:lnTo>
                    <a:pt x="447" y="243"/>
                  </a:lnTo>
                  <a:lnTo>
                    <a:pt x="467" y="254"/>
                  </a:lnTo>
                  <a:lnTo>
                    <a:pt x="487" y="268"/>
                  </a:lnTo>
                  <a:lnTo>
                    <a:pt x="503" y="284"/>
                  </a:lnTo>
                  <a:lnTo>
                    <a:pt x="517" y="302"/>
                  </a:lnTo>
                  <a:lnTo>
                    <a:pt x="533" y="321"/>
                  </a:lnTo>
                  <a:lnTo>
                    <a:pt x="549" y="337"/>
                  </a:lnTo>
                  <a:lnTo>
                    <a:pt x="566" y="353"/>
                  </a:lnTo>
                  <a:lnTo>
                    <a:pt x="587" y="364"/>
                  </a:lnTo>
                  <a:lnTo>
                    <a:pt x="595" y="369"/>
                  </a:lnTo>
                  <a:lnTo>
                    <a:pt x="605" y="374"/>
                  </a:lnTo>
                  <a:lnTo>
                    <a:pt x="614" y="377"/>
                  </a:lnTo>
                  <a:lnTo>
                    <a:pt x="624" y="380"/>
                  </a:lnTo>
                  <a:lnTo>
                    <a:pt x="633" y="385"/>
                  </a:lnTo>
                  <a:lnTo>
                    <a:pt x="643" y="388"/>
                  </a:lnTo>
                  <a:lnTo>
                    <a:pt x="653" y="391"/>
                  </a:lnTo>
                  <a:lnTo>
                    <a:pt x="661" y="396"/>
                  </a:lnTo>
                  <a:lnTo>
                    <a:pt x="657" y="401"/>
                  </a:lnTo>
                  <a:lnTo>
                    <a:pt x="654" y="406"/>
                  </a:lnTo>
                  <a:lnTo>
                    <a:pt x="648" y="410"/>
                  </a:lnTo>
                  <a:lnTo>
                    <a:pt x="643" y="414"/>
                  </a:lnTo>
                  <a:lnTo>
                    <a:pt x="606" y="414"/>
                  </a:lnTo>
                  <a:lnTo>
                    <a:pt x="603" y="410"/>
                  </a:lnTo>
                  <a:lnTo>
                    <a:pt x="598" y="410"/>
                  </a:lnTo>
                  <a:lnTo>
                    <a:pt x="595" y="409"/>
                  </a:lnTo>
                  <a:lnTo>
                    <a:pt x="590" y="407"/>
                  </a:lnTo>
                  <a:lnTo>
                    <a:pt x="579" y="402"/>
                  </a:lnTo>
                  <a:lnTo>
                    <a:pt x="570" y="396"/>
                  </a:lnTo>
                  <a:lnTo>
                    <a:pt x="560" y="391"/>
                  </a:lnTo>
                  <a:lnTo>
                    <a:pt x="547" y="388"/>
                  </a:lnTo>
                  <a:lnTo>
                    <a:pt x="547" y="386"/>
                  </a:lnTo>
                  <a:lnTo>
                    <a:pt x="546" y="385"/>
                  </a:lnTo>
                  <a:lnTo>
                    <a:pt x="546" y="385"/>
                  </a:lnTo>
                  <a:lnTo>
                    <a:pt x="544" y="385"/>
                  </a:lnTo>
                  <a:lnTo>
                    <a:pt x="542" y="385"/>
                  </a:lnTo>
                  <a:lnTo>
                    <a:pt x="541" y="385"/>
                  </a:lnTo>
                  <a:lnTo>
                    <a:pt x="539" y="385"/>
                  </a:lnTo>
                  <a:lnTo>
                    <a:pt x="538" y="386"/>
                  </a:lnTo>
                  <a:lnTo>
                    <a:pt x="598" y="433"/>
                  </a:lnTo>
                  <a:lnTo>
                    <a:pt x="541" y="433"/>
                  </a:lnTo>
                  <a:lnTo>
                    <a:pt x="536" y="431"/>
                  </a:lnTo>
                  <a:lnTo>
                    <a:pt x="531" y="430"/>
                  </a:lnTo>
                  <a:lnTo>
                    <a:pt x="526" y="430"/>
                  </a:lnTo>
                  <a:lnTo>
                    <a:pt x="522" y="426"/>
                  </a:lnTo>
                  <a:lnTo>
                    <a:pt x="506" y="418"/>
                  </a:lnTo>
                  <a:lnTo>
                    <a:pt x="488" y="410"/>
                  </a:lnTo>
                  <a:lnTo>
                    <a:pt x="472" y="402"/>
                  </a:lnTo>
                  <a:lnTo>
                    <a:pt x="455" y="394"/>
                  </a:lnTo>
                  <a:lnTo>
                    <a:pt x="437" y="385"/>
                  </a:lnTo>
                  <a:lnTo>
                    <a:pt x="421" y="375"/>
                  </a:lnTo>
                  <a:lnTo>
                    <a:pt x="405" y="366"/>
                  </a:lnTo>
                  <a:lnTo>
                    <a:pt x="391" y="354"/>
                  </a:lnTo>
                  <a:lnTo>
                    <a:pt x="373" y="332"/>
                  </a:lnTo>
                  <a:lnTo>
                    <a:pt x="354" y="315"/>
                  </a:lnTo>
                  <a:lnTo>
                    <a:pt x="332" y="299"/>
                  </a:lnTo>
                  <a:lnTo>
                    <a:pt x="309" y="284"/>
                  </a:lnTo>
                  <a:lnTo>
                    <a:pt x="287" y="273"/>
                  </a:lnTo>
                  <a:lnTo>
                    <a:pt x="263" y="262"/>
                  </a:lnTo>
                  <a:lnTo>
                    <a:pt x="237" y="252"/>
                  </a:lnTo>
                  <a:lnTo>
                    <a:pt x="214" y="243"/>
                  </a:lnTo>
                  <a:lnTo>
                    <a:pt x="202" y="238"/>
                  </a:lnTo>
                  <a:lnTo>
                    <a:pt x="190" y="235"/>
                  </a:lnTo>
                  <a:lnTo>
                    <a:pt x="178" y="230"/>
                  </a:lnTo>
                  <a:lnTo>
                    <a:pt x="167" y="227"/>
                  </a:lnTo>
                  <a:lnTo>
                    <a:pt x="154" y="222"/>
                  </a:lnTo>
                  <a:lnTo>
                    <a:pt x="143" y="217"/>
                  </a:lnTo>
                  <a:lnTo>
                    <a:pt x="132" y="212"/>
                  </a:lnTo>
                  <a:lnTo>
                    <a:pt x="121" y="206"/>
                  </a:lnTo>
                  <a:lnTo>
                    <a:pt x="113" y="198"/>
                  </a:lnTo>
                  <a:lnTo>
                    <a:pt x="105" y="190"/>
                  </a:lnTo>
                  <a:lnTo>
                    <a:pt x="97" y="182"/>
                  </a:lnTo>
                  <a:lnTo>
                    <a:pt x="89" y="174"/>
                  </a:lnTo>
                  <a:lnTo>
                    <a:pt x="81" y="166"/>
                  </a:lnTo>
                  <a:lnTo>
                    <a:pt x="73" y="160"/>
                  </a:lnTo>
                  <a:lnTo>
                    <a:pt x="63" y="153"/>
                  </a:lnTo>
                  <a:lnTo>
                    <a:pt x="55" y="147"/>
                  </a:lnTo>
                  <a:lnTo>
                    <a:pt x="57" y="160"/>
                  </a:lnTo>
                  <a:lnTo>
                    <a:pt x="63" y="172"/>
                  </a:lnTo>
                  <a:lnTo>
                    <a:pt x="71" y="183"/>
                  </a:lnTo>
                  <a:lnTo>
                    <a:pt x="79" y="195"/>
                  </a:lnTo>
                  <a:lnTo>
                    <a:pt x="71" y="196"/>
                  </a:lnTo>
                  <a:lnTo>
                    <a:pt x="63" y="198"/>
                  </a:lnTo>
                  <a:lnTo>
                    <a:pt x="55" y="199"/>
                  </a:lnTo>
                  <a:lnTo>
                    <a:pt x="47" y="199"/>
                  </a:lnTo>
                  <a:lnTo>
                    <a:pt x="38" y="201"/>
                  </a:lnTo>
                  <a:lnTo>
                    <a:pt x="30" y="203"/>
                  </a:lnTo>
                  <a:lnTo>
                    <a:pt x="22" y="203"/>
                  </a:lnTo>
                  <a:lnTo>
                    <a:pt x="14" y="204"/>
                  </a:lnTo>
                  <a:lnTo>
                    <a:pt x="0" y="199"/>
                  </a:lnTo>
                  <a:lnTo>
                    <a:pt x="0" y="38"/>
                  </a:lnTo>
                  <a:lnTo>
                    <a:pt x="8" y="40"/>
                  </a:lnTo>
                  <a:lnTo>
                    <a:pt x="14" y="43"/>
                  </a:lnTo>
                  <a:lnTo>
                    <a:pt x="22" y="46"/>
                  </a:lnTo>
                  <a:lnTo>
                    <a:pt x="30" y="48"/>
                  </a:lnTo>
                  <a:lnTo>
                    <a:pt x="44" y="52"/>
                  </a:lnTo>
                  <a:lnTo>
                    <a:pt x="57" y="59"/>
                  </a:lnTo>
                  <a:lnTo>
                    <a:pt x="71" y="65"/>
                  </a:lnTo>
                  <a:lnTo>
                    <a:pt x="84" y="72"/>
                  </a:lnTo>
                  <a:lnTo>
                    <a:pt x="99" y="78"/>
                  </a:lnTo>
                  <a:lnTo>
                    <a:pt x="111" y="83"/>
                  </a:lnTo>
                  <a:lnTo>
                    <a:pt x="126" y="88"/>
                  </a:lnTo>
                  <a:lnTo>
                    <a:pt x="140" y="92"/>
                  </a:lnTo>
                  <a:lnTo>
                    <a:pt x="146" y="96"/>
                  </a:lnTo>
                  <a:lnTo>
                    <a:pt x="153" y="97"/>
                  </a:lnTo>
                  <a:lnTo>
                    <a:pt x="159" y="99"/>
                  </a:lnTo>
                  <a:lnTo>
                    <a:pt x="167" y="99"/>
                  </a:lnTo>
                  <a:lnTo>
                    <a:pt x="167" y="100"/>
                  </a:lnTo>
                  <a:lnTo>
                    <a:pt x="175" y="102"/>
                  </a:lnTo>
                  <a:lnTo>
                    <a:pt x="183" y="104"/>
                  </a:lnTo>
                  <a:lnTo>
                    <a:pt x="190" y="105"/>
                  </a:lnTo>
                  <a:lnTo>
                    <a:pt x="198" y="104"/>
                  </a:lnTo>
                  <a:lnTo>
                    <a:pt x="182" y="97"/>
                  </a:lnTo>
                  <a:lnTo>
                    <a:pt x="167" y="89"/>
                  </a:lnTo>
                  <a:lnTo>
                    <a:pt x="154" y="78"/>
                  </a:lnTo>
                  <a:lnTo>
                    <a:pt x="142" y="65"/>
                  </a:lnTo>
                  <a:lnTo>
                    <a:pt x="131" y="52"/>
                  </a:lnTo>
                  <a:lnTo>
                    <a:pt x="118" y="43"/>
                  </a:lnTo>
                  <a:lnTo>
                    <a:pt x="102" y="35"/>
                  </a:lnTo>
                  <a:lnTo>
                    <a:pt x="86" y="30"/>
                  </a:lnTo>
                  <a:lnTo>
                    <a:pt x="78" y="27"/>
                  </a:lnTo>
                  <a:lnTo>
                    <a:pt x="70" y="24"/>
                  </a:lnTo>
                  <a:lnTo>
                    <a:pt x="62" y="22"/>
                  </a:lnTo>
                  <a:lnTo>
                    <a:pt x="54" y="17"/>
                  </a:lnTo>
                  <a:lnTo>
                    <a:pt x="59" y="12"/>
                  </a:lnTo>
                  <a:lnTo>
                    <a:pt x="67" y="8"/>
                  </a:lnTo>
                  <a:lnTo>
                    <a:pt x="73" y="6"/>
                  </a:lnTo>
                  <a:lnTo>
                    <a:pt x="83" y="5"/>
                  </a:lnTo>
                  <a:lnTo>
                    <a:pt x="97" y="0"/>
                  </a:lnTo>
                  <a:lnTo>
                    <a:pt x="111" y="0"/>
                  </a:lnTo>
                  <a:lnTo>
                    <a:pt x="124" y="3"/>
                  </a:lnTo>
                  <a:lnTo>
                    <a:pt x="137" y="8"/>
                  </a:lnTo>
                  <a:lnTo>
                    <a:pt x="150" y="14"/>
                  </a:lnTo>
                  <a:lnTo>
                    <a:pt x="161" y="20"/>
                  </a:lnTo>
                  <a:lnTo>
                    <a:pt x="174" y="28"/>
                  </a:lnTo>
                  <a:lnTo>
                    <a:pt x="185" y="35"/>
                  </a:lnTo>
                  <a:lnTo>
                    <a:pt x="194" y="43"/>
                  </a:lnTo>
                  <a:lnTo>
                    <a:pt x="204" y="51"/>
                  </a:lnTo>
                  <a:lnTo>
                    <a:pt x="212" y="59"/>
                  </a:lnTo>
                  <a:lnTo>
                    <a:pt x="222" y="67"/>
                  </a:lnTo>
                  <a:lnTo>
                    <a:pt x="231" y="73"/>
                  </a:lnTo>
                  <a:lnTo>
                    <a:pt x="241" y="81"/>
                  </a:lnTo>
                  <a:lnTo>
                    <a:pt x="250" y="91"/>
                  </a:lnTo>
                  <a:lnTo>
                    <a:pt x="258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0FFA608E-DCC8-E152-E7B2-FFF2D1D9E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3450"/>
              <a:ext cx="259" cy="168"/>
            </a:xfrm>
            <a:custGeom>
              <a:avLst/>
              <a:gdLst>
                <a:gd name="T0" fmla="*/ 177 w 519"/>
                <a:gd name="T1" fmla="*/ 8 h 335"/>
                <a:gd name="T2" fmla="*/ 185 w 519"/>
                <a:gd name="T3" fmla="*/ 11 h 335"/>
                <a:gd name="T4" fmla="*/ 197 w 519"/>
                <a:gd name="T5" fmla="*/ 16 h 335"/>
                <a:gd name="T6" fmla="*/ 249 w 519"/>
                <a:gd name="T7" fmla="*/ 38 h 335"/>
                <a:gd name="T8" fmla="*/ 292 w 519"/>
                <a:gd name="T9" fmla="*/ 76 h 335"/>
                <a:gd name="T10" fmla="*/ 331 w 519"/>
                <a:gd name="T11" fmla="*/ 123 h 335"/>
                <a:gd name="T12" fmla="*/ 369 w 519"/>
                <a:gd name="T13" fmla="*/ 166 h 335"/>
                <a:gd name="T14" fmla="*/ 380 w 519"/>
                <a:gd name="T15" fmla="*/ 185 h 335"/>
                <a:gd name="T16" fmla="*/ 393 w 519"/>
                <a:gd name="T17" fmla="*/ 204 h 335"/>
                <a:gd name="T18" fmla="*/ 406 w 519"/>
                <a:gd name="T19" fmla="*/ 222 h 335"/>
                <a:gd name="T20" fmla="*/ 419 w 519"/>
                <a:gd name="T21" fmla="*/ 239 h 335"/>
                <a:gd name="T22" fmla="*/ 444 w 519"/>
                <a:gd name="T23" fmla="*/ 259 h 335"/>
                <a:gd name="T24" fmla="*/ 468 w 519"/>
                <a:gd name="T25" fmla="*/ 278 h 335"/>
                <a:gd name="T26" fmla="*/ 494 w 519"/>
                <a:gd name="T27" fmla="*/ 297 h 335"/>
                <a:gd name="T28" fmla="*/ 519 w 519"/>
                <a:gd name="T29" fmla="*/ 314 h 335"/>
                <a:gd name="T30" fmla="*/ 516 w 519"/>
                <a:gd name="T31" fmla="*/ 327 h 335"/>
                <a:gd name="T32" fmla="*/ 506 w 519"/>
                <a:gd name="T33" fmla="*/ 335 h 335"/>
                <a:gd name="T34" fmla="*/ 476 w 519"/>
                <a:gd name="T35" fmla="*/ 335 h 335"/>
                <a:gd name="T36" fmla="*/ 443 w 519"/>
                <a:gd name="T37" fmla="*/ 326 h 335"/>
                <a:gd name="T38" fmla="*/ 414 w 519"/>
                <a:gd name="T39" fmla="*/ 308 h 335"/>
                <a:gd name="T40" fmla="*/ 388 w 519"/>
                <a:gd name="T41" fmla="*/ 284 h 335"/>
                <a:gd name="T42" fmla="*/ 364 w 519"/>
                <a:gd name="T43" fmla="*/ 260 h 335"/>
                <a:gd name="T44" fmla="*/ 374 w 519"/>
                <a:gd name="T45" fmla="*/ 255 h 335"/>
                <a:gd name="T46" fmla="*/ 379 w 519"/>
                <a:gd name="T47" fmla="*/ 247 h 335"/>
                <a:gd name="T48" fmla="*/ 323 w 519"/>
                <a:gd name="T49" fmla="*/ 231 h 335"/>
                <a:gd name="T50" fmla="*/ 275 w 519"/>
                <a:gd name="T51" fmla="*/ 198 h 335"/>
                <a:gd name="T52" fmla="*/ 235 w 519"/>
                <a:gd name="T53" fmla="*/ 156 h 335"/>
                <a:gd name="T54" fmla="*/ 200 w 519"/>
                <a:gd name="T55" fmla="*/ 110 h 335"/>
                <a:gd name="T56" fmla="*/ 171 w 519"/>
                <a:gd name="T57" fmla="*/ 94 h 335"/>
                <a:gd name="T58" fmla="*/ 138 w 519"/>
                <a:gd name="T59" fmla="*/ 84 h 335"/>
                <a:gd name="T60" fmla="*/ 101 w 519"/>
                <a:gd name="T61" fmla="*/ 80 h 335"/>
                <a:gd name="T62" fmla="*/ 66 w 519"/>
                <a:gd name="T63" fmla="*/ 76 h 335"/>
                <a:gd name="T64" fmla="*/ 48 w 519"/>
                <a:gd name="T65" fmla="*/ 57 h 335"/>
                <a:gd name="T66" fmla="*/ 31 w 519"/>
                <a:gd name="T67" fmla="*/ 40 h 335"/>
                <a:gd name="T68" fmla="*/ 15 w 519"/>
                <a:gd name="T69" fmla="*/ 20 h 335"/>
                <a:gd name="T70" fmla="*/ 0 w 519"/>
                <a:gd name="T71" fmla="*/ 0 h 335"/>
                <a:gd name="T72" fmla="*/ 117 w 519"/>
                <a:gd name="T73" fmla="*/ 3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19" h="335">
                  <a:moveTo>
                    <a:pt x="117" y="3"/>
                  </a:moveTo>
                  <a:lnTo>
                    <a:pt x="177" y="8"/>
                  </a:lnTo>
                  <a:lnTo>
                    <a:pt x="181" y="11"/>
                  </a:lnTo>
                  <a:lnTo>
                    <a:pt x="185" y="11"/>
                  </a:lnTo>
                  <a:lnTo>
                    <a:pt x="192" y="12"/>
                  </a:lnTo>
                  <a:lnTo>
                    <a:pt x="197" y="16"/>
                  </a:lnTo>
                  <a:lnTo>
                    <a:pt x="225" y="24"/>
                  </a:lnTo>
                  <a:lnTo>
                    <a:pt x="249" y="38"/>
                  </a:lnTo>
                  <a:lnTo>
                    <a:pt x="272" y="56"/>
                  </a:lnTo>
                  <a:lnTo>
                    <a:pt x="292" y="76"/>
                  </a:lnTo>
                  <a:lnTo>
                    <a:pt x="313" y="99"/>
                  </a:lnTo>
                  <a:lnTo>
                    <a:pt x="331" y="123"/>
                  </a:lnTo>
                  <a:lnTo>
                    <a:pt x="350" y="145"/>
                  </a:lnTo>
                  <a:lnTo>
                    <a:pt x="369" y="166"/>
                  </a:lnTo>
                  <a:lnTo>
                    <a:pt x="374" y="175"/>
                  </a:lnTo>
                  <a:lnTo>
                    <a:pt x="380" y="185"/>
                  </a:lnTo>
                  <a:lnTo>
                    <a:pt x="387" y="195"/>
                  </a:lnTo>
                  <a:lnTo>
                    <a:pt x="393" y="204"/>
                  </a:lnTo>
                  <a:lnTo>
                    <a:pt x="399" y="214"/>
                  </a:lnTo>
                  <a:lnTo>
                    <a:pt x="406" y="222"/>
                  </a:lnTo>
                  <a:lnTo>
                    <a:pt x="412" y="231"/>
                  </a:lnTo>
                  <a:lnTo>
                    <a:pt x="419" y="239"/>
                  </a:lnTo>
                  <a:lnTo>
                    <a:pt x="431" y="249"/>
                  </a:lnTo>
                  <a:lnTo>
                    <a:pt x="444" y="259"/>
                  </a:lnTo>
                  <a:lnTo>
                    <a:pt x="457" y="268"/>
                  </a:lnTo>
                  <a:lnTo>
                    <a:pt x="468" y="278"/>
                  </a:lnTo>
                  <a:lnTo>
                    <a:pt x="481" y="287"/>
                  </a:lnTo>
                  <a:lnTo>
                    <a:pt x="494" y="297"/>
                  </a:lnTo>
                  <a:lnTo>
                    <a:pt x="506" y="306"/>
                  </a:lnTo>
                  <a:lnTo>
                    <a:pt x="519" y="314"/>
                  </a:lnTo>
                  <a:lnTo>
                    <a:pt x="518" y="321"/>
                  </a:lnTo>
                  <a:lnTo>
                    <a:pt x="516" y="327"/>
                  </a:lnTo>
                  <a:lnTo>
                    <a:pt x="513" y="334"/>
                  </a:lnTo>
                  <a:lnTo>
                    <a:pt x="506" y="335"/>
                  </a:lnTo>
                  <a:lnTo>
                    <a:pt x="476" y="335"/>
                  </a:lnTo>
                  <a:lnTo>
                    <a:pt x="476" y="335"/>
                  </a:lnTo>
                  <a:lnTo>
                    <a:pt x="458" y="332"/>
                  </a:lnTo>
                  <a:lnTo>
                    <a:pt x="443" y="326"/>
                  </a:lnTo>
                  <a:lnTo>
                    <a:pt x="428" y="318"/>
                  </a:lnTo>
                  <a:lnTo>
                    <a:pt x="414" y="308"/>
                  </a:lnTo>
                  <a:lnTo>
                    <a:pt x="401" y="297"/>
                  </a:lnTo>
                  <a:lnTo>
                    <a:pt x="388" y="284"/>
                  </a:lnTo>
                  <a:lnTo>
                    <a:pt x="377" y="273"/>
                  </a:lnTo>
                  <a:lnTo>
                    <a:pt x="364" y="260"/>
                  </a:lnTo>
                  <a:lnTo>
                    <a:pt x="367" y="257"/>
                  </a:lnTo>
                  <a:lnTo>
                    <a:pt x="374" y="255"/>
                  </a:lnTo>
                  <a:lnTo>
                    <a:pt x="379" y="254"/>
                  </a:lnTo>
                  <a:lnTo>
                    <a:pt x="379" y="247"/>
                  </a:lnTo>
                  <a:lnTo>
                    <a:pt x="350" y="241"/>
                  </a:lnTo>
                  <a:lnTo>
                    <a:pt x="323" y="231"/>
                  </a:lnTo>
                  <a:lnTo>
                    <a:pt x="299" y="217"/>
                  </a:lnTo>
                  <a:lnTo>
                    <a:pt x="275" y="198"/>
                  </a:lnTo>
                  <a:lnTo>
                    <a:pt x="254" y="179"/>
                  </a:lnTo>
                  <a:lnTo>
                    <a:pt x="235" y="156"/>
                  </a:lnTo>
                  <a:lnTo>
                    <a:pt x="217" y="132"/>
                  </a:lnTo>
                  <a:lnTo>
                    <a:pt x="200" y="110"/>
                  </a:lnTo>
                  <a:lnTo>
                    <a:pt x="185" y="100"/>
                  </a:lnTo>
                  <a:lnTo>
                    <a:pt x="171" y="94"/>
                  </a:lnTo>
                  <a:lnTo>
                    <a:pt x="154" y="89"/>
                  </a:lnTo>
                  <a:lnTo>
                    <a:pt x="138" y="84"/>
                  </a:lnTo>
                  <a:lnTo>
                    <a:pt x="120" y="81"/>
                  </a:lnTo>
                  <a:lnTo>
                    <a:pt x="101" y="80"/>
                  </a:lnTo>
                  <a:lnTo>
                    <a:pt x="83" y="78"/>
                  </a:lnTo>
                  <a:lnTo>
                    <a:pt x="66" y="76"/>
                  </a:lnTo>
                  <a:lnTo>
                    <a:pt x="56" y="67"/>
                  </a:lnTo>
                  <a:lnTo>
                    <a:pt x="48" y="57"/>
                  </a:lnTo>
                  <a:lnTo>
                    <a:pt x="40" y="49"/>
                  </a:lnTo>
                  <a:lnTo>
                    <a:pt x="31" y="40"/>
                  </a:lnTo>
                  <a:lnTo>
                    <a:pt x="23" y="30"/>
                  </a:lnTo>
                  <a:lnTo>
                    <a:pt x="15" y="20"/>
                  </a:lnTo>
                  <a:lnTo>
                    <a:pt x="8" y="11"/>
                  </a:lnTo>
                  <a:lnTo>
                    <a:pt x="0" y="0"/>
                  </a:lnTo>
                  <a:lnTo>
                    <a:pt x="117" y="1"/>
                  </a:lnTo>
                  <a:lnTo>
                    <a:pt x="117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BAE62272-4EB7-37D7-CB74-E08B3F8A8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" y="3467"/>
              <a:ext cx="4" cy="2"/>
            </a:xfrm>
            <a:custGeom>
              <a:avLst/>
              <a:gdLst>
                <a:gd name="T0" fmla="*/ 6 w 6"/>
                <a:gd name="T1" fmla="*/ 3 h 3"/>
                <a:gd name="T2" fmla="*/ 0 w 6"/>
                <a:gd name="T3" fmla="*/ 0 h 3"/>
                <a:gd name="T4" fmla="*/ 6 w 6"/>
                <a:gd name="T5" fmla="*/ 2 h 3"/>
                <a:gd name="T6" fmla="*/ 6 w 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3">
                  <a:moveTo>
                    <a:pt x="6" y="3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AD14B77C-F71A-C8EC-6378-4C3E02F71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3545"/>
              <a:ext cx="63" cy="16"/>
            </a:xfrm>
            <a:custGeom>
              <a:avLst/>
              <a:gdLst>
                <a:gd name="T0" fmla="*/ 128 w 128"/>
                <a:gd name="T1" fmla="*/ 0 h 30"/>
                <a:gd name="T2" fmla="*/ 117 w 128"/>
                <a:gd name="T3" fmla="*/ 6 h 30"/>
                <a:gd name="T4" fmla="*/ 104 w 128"/>
                <a:gd name="T5" fmla="*/ 13 h 30"/>
                <a:gd name="T6" fmla="*/ 93 w 128"/>
                <a:gd name="T7" fmla="*/ 17 h 30"/>
                <a:gd name="T8" fmla="*/ 80 w 128"/>
                <a:gd name="T9" fmla="*/ 22 h 30"/>
                <a:gd name="T10" fmla="*/ 67 w 128"/>
                <a:gd name="T11" fmla="*/ 27 h 30"/>
                <a:gd name="T12" fmla="*/ 53 w 128"/>
                <a:gd name="T13" fmla="*/ 29 h 30"/>
                <a:gd name="T14" fmla="*/ 38 w 128"/>
                <a:gd name="T15" fmla="*/ 30 h 30"/>
                <a:gd name="T16" fmla="*/ 24 w 128"/>
                <a:gd name="T17" fmla="*/ 29 h 30"/>
                <a:gd name="T18" fmla="*/ 18 w 128"/>
                <a:gd name="T19" fmla="*/ 25 h 30"/>
                <a:gd name="T20" fmla="*/ 13 w 128"/>
                <a:gd name="T21" fmla="*/ 21 h 30"/>
                <a:gd name="T22" fmla="*/ 7 w 128"/>
                <a:gd name="T23" fmla="*/ 17 h 30"/>
                <a:gd name="T24" fmla="*/ 0 w 128"/>
                <a:gd name="T25" fmla="*/ 14 h 30"/>
                <a:gd name="T26" fmla="*/ 15 w 128"/>
                <a:gd name="T27" fmla="*/ 13 h 30"/>
                <a:gd name="T28" fmla="*/ 27 w 128"/>
                <a:gd name="T29" fmla="*/ 11 h 30"/>
                <a:gd name="T30" fmla="*/ 40 w 128"/>
                <a:gd name="T31" fmla="*/ 9 h 30"/>
                <a:gd name="T32" fmla="*/ 54 w 128"/>
                <a:gd name="T33" fmla="*/ 8 h 30"/>
                <a:gd name="T34" fmla="*/ 67 w 128"/>
                <a:gd name="T35" fmla="*/ 6 h 30"/>
                <a:gd name="T36" fmla="*/ 80 w 128"/>
                <a:gd name="T37" fmla="*/ 5 h 30"/>
                <a:gd name="T38" fmla="*/ 94 w 128"/>
                <a:gd name="T39" fmla="*/ 3 h 30"/>
                <a:gd name="T40" fmla="*/ 109 w 128"/>
                <a:gd name="T41" fmla="*/ 1 h 30"/>
                <a:gd name="T42" fmla="*/ 109 w 128"/>
                <a:gd name="T43" fmla="*/ 0 h 30"/>
                <a:gd name="T44" fmla="*/ 128 w 128"/>
                <a:gd name="T4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" h="30">
                  <a:moveTo>
                    <a:pt x="128" y="0"/>
                  </a:moveTo>
                  <a:lnTo>
                    <a:pt x="117" y="6"/>
                  </a:lnTo>
                  <a:lnTo>
                    <a:pt x="104" y="13"/>
                  </a:lnTo>
                  <a:lnTo>
                    <a:pt x="93" y="17"/>
                  </a:lnTo>
                  <a:lnTo>
                    <a:pt x="80" y="22"/>
                  </a:lnTo>
                  <a:lnTo>
                    <a:pt x="67" y="27"/>
                  </a:lnTo>
                  <a:lnTo>
                    <a:pt x="53" y="29"/>
                  </a:lnTo>
                  <a:lnTo>
                    <a:pt x="38" y="30"/>
                  </a:lnTo>
                  <a:lnTo>
                    <a:pt x="24" y="29"/>
                  </a:lnTo>
                  <a:lnTo>
                    <a:pt x="18" y="25"/>
                  </a:lnTo>
                  <a:lnTo>
                    <a:pt x="13" y="21"/>
                  </a:lnTo>
                  <a:lnTo>
                    <a:pt x="7" y="17"/>
                  </a:lnTo>
                  <a:lnTo>
                    <a:pt x="0" y="14"/>
                  </a:lnTo>
                  <a:lnTo>
                    <a:pt x="15" y="13"/>
                  </a:lnTo>
                  <a:lnTo>
                    <a:pt x="27" y="11"/>
                  </a:lnTo>
                  <a:lnTo>
                    <a:pt x="40" y="9"/>
                  </a:lnTo>
                  <a:lnTo>
                    <a:pt x="54" y="8"/>
                  </a:lnTo>
                  <a:lnTo>
                    <a:pt x="67" y="6"/>
                  </a:lnTo>
                  <a:lnTo>
                    <a:pt x="80" y="5"/>
                  </a:lnTo>
                  <a:lnTo>
                    <a:pt x="94" y="3"/>
                  </a:lnTo>
                  <a:lnTo>
                    <a:pt x="109" y="1"/>
                  </a:lnTo>
                  <a:lnTo>
                    <a:pt x="109" y="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E8ACD6F2-7D07-AEFD-6292-B8FA3A5B8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3163"/>
              <a:ext cx="44" cy="443"/>
            </a:xfrm>
            <a:custGeom>
              <a:avLst/>
              <a:gdLst>
                <a:gd name="T0" fmla="*/ 88 w 88"/>
                <a:gd name="T1" fmla="*/ 885 h 885"/>
                <a:gd name="T2" fmla="*/ 88 w 88"/>
                <a:gd name="T3" fmla="*/ 5 h 885"/>
                <a:gd name="T4" fmla="*/ 0 w 88"/>
                <a:gd name="T5" fmla="*/ 0 h 885"/>
                <a:gd name="T6" fmla="*/ 0 w 88"/>
                <a:gd name="T7" fmla="*/ 880 h 885"/>
                <a:gd name="T8" fmla="*/ 88 w 88"/>
                <a:gd name="T9" fmla="*/ 885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85">
                  <a:moveTo>
                    <a:pt x="88" y="885"/>
                  </a:moveTo>
                  <a:lnTo>
                    <a:pt x="88" y="5"/>
                  </a:lnTo>
                  <a:lnTo>
                    <a:pt x="0" y="0"/>
                  </a:lnTo>
                  <a:lnTo>
                    <a:pt x="0" y="880"/>
                  </a:lnTo>
                  <a:lnTo>
                    <a:pt x="88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0B23B090-EB4C-F6AC-65BD-A1F9B7BB2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582"/>
              <a:ext cx="60" cy="101"/>
            </a:xfrm>
            <a:custGeom>
              <a:avLst/>
              <a:gdLst>
                <a:gd name="T0" fmla="*/ 28 w 120"/>
                <a:gd name="T1" fmla="*/ 5 h 202"/>
                <a:gd name="T2" fmla="*/ 0 w 120"/>
                <a:gd name="T3" fmla="*/ 66 h 202"/>
                <a:gd name="T4" fmla="*/ 28 w 120"/>
                <a:gd name="T5" fmla="*/ 195 h 202"/>
                <a:gd name="T6" fmla="*/ 88 w 120"/>
                <a:gd name="T7" fmla="*/ 202 h 202"/>
                <a:gd name="T8" fmla="*/ 120 w 120"/>
                <a:gd name="T9" fmla="*/ 66 h 202"/>
                <a:gd name="T10" fmla="*/ 82 w 120"/>
                <a:gd name="T11" fmla="*/ 0 h 202"/>
                <a:gd name="T12" fmla="*/ 28 w 120"/>
                <a:gd name="T13" fmla="*/ 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202">
                  <a:moveTo>
                    <a:pt x="28" y="5"/>
                  </a:moveTo>
                  <a:lnTo>
                    <a:pt x="0" y="66"/>
                  </a:lnTo>
                  <a:lnTo>
                    <a:pt x="28" y="195"/>
                  </a:lnTo>
                  <a:lnTo>
                    <a:pt x="88" y="202"/>
                  </a:lnTo>
                  <a:lnTo>
                    <a:pt x="120" y="66"/>
                  </a:lnTo>
                  <a:lnTo>
                    <a:pt x="82" y="0"/>
                  </a:lnTo>
                  <a:lnTo>
                    <a:pt x="28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4509B54D-851F-F0C2-9395-50FFD8312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5" y="3671"/>
              <a:ext cx="92" cy="23"/>
            </a:xfrm>
            <a:custGeom>
              <a:avLst/>
              <a:gdLst>
                <a:gd name="T0" fmla="*/ 93 w 184"/>
                <a:gd name="T1" fmla="*/ 46 h 46"/>
                <a:gd name="T2" fmla="*/ 112 w 184"/>
                <a:gd name="T3" fmla="*/ 46 h 46"/>
                <a:gd name="T4" fmla="*/ 128 w 184"/>
                <a:gd name="T5" fmla="*/ 44 h 46"/>
                <a:gd name="T6" fmla="*/ 144 w 184"/>
                <a:gd name="T7" fmla="*/ 43 h 46"/>
                <a:gd name="T8" fmla="*/ 159 w 184"/>
                <a:gd name="T9" fmla="*/ 40 h 46"/>
                <a:gd name="T10" fmla="*/ 168 w 184"/>
                <a:gd name="T11" fmla="*/ 36 h 46"/>
                <a:gd name="T12" fmla="*/ 178 w 184"/>
                <a:gd name="T13" fmla="*/ 33 h 46"/>
                <a:gd name="T14" fmla="*/ 182 w 184"/>
                <a:gd name="T15" fmla="*/ 28 h 46"/>
                <a:gd name="T16" fmla="*/ 184 w 184"/>
                <a:gd name="T17" fmla="*/ 24 h 46"/>
                <a:gd name="T18" fmla="*/ 182 w 184"/>
                <a:gd name="T19" fmla="*/ 19 h 46"/>
                <a:gd name="T20" fmla="*/ 178 w 184"/>
                <a:gd name="T21" fmla="*/ 14 h 46"/>
                <a:gd name="T22" fmla="*/ 168 w 184"/>
                <a:gd name="T23" fmla="*/ 11 h 46"/>
                <a:gd name="T24" fmla="*/ 159 w 184"/>
                <a:gd name="T25" fmla="*/ 6 h 46"/>
                <a:gd name="T26" fmla="*/ 144 w 184"/>
                <a:gd name="T27" fmla="*/ 4 h 46"/>
                <a:gd name="T28" fmla="*/ 128 w 184"/>
                <a:gd name="T29" fmla="*/ 1 h 46"/>
                <a:gd name="T30" fmla="*/ 112 w 184"/>
                <a:gd name="T31" fmla="*/ 0 h 46"/>
                <a:gd name="T32" fmla="*/ 93 w 184"/>
                <a:gd name="T33" fmla="*/ 0 h 46"/>
                <a:gd name="T34" fmla="*/ 74 w 184"/>
                <a:gd name="T35" fmla="*/ 0 h 46"/>
                <a:gd name="T36" fmla="*/ 56 w 184"/>
                <a:gd name="T37" fmla="*/ 1 h 46"/>
                <a:gd name="T38" fmla="*/ 42 w 184"/>
                <a:gd name="T39" fmla="*/ 4 h 46"/>
                <a:gd name="T40" fmla="*/ 28 w 184"/>
                <a:gd name="T41" fmla="*/ 6 h 46"/>
                <a:gd name="T42" fmla="*/ 16 w 184"/>
                <a:gd name="T43" fmla="*/ 11 h 46"/>
                <a:gd name="T44" fmla="*/ 8 w 184"/>
                <a:gd name="T45" fmla="*/ 14 h 46"/>
                <a:gd name="T46" fmla="*/ 2 w 184"/>
                <a:gd name="T47" fmla="*/ 19 h 46"/>
                <a:gd name="T48" fmla="*/ 0 w 184"/>
                <a:gd name="T49" fmla="*/ 24 h 46"/>
                <a:gd name="T50" fmla="*/ 2 w 184"/>
                <a:gd name="T51" fmla="*/ 28 h 46"/>
                <a:gd name="T52" fmla="*/ 8 w 184"/>
                <a:gd name="T53" fmla="*/ 33 h 46"/>
                <a:gd name="T54" fmla="*/ 16 w 184"/>
                <a:gd name="T55" fmla="*/ 36 h 46"/>
                <a:gd name="T56" fmla="*/ 28 w 184"/>
                <a:gd name="T57" fmla="*/ 40 h 46"/>
                <a:gd name="T58" fmla="*/ 42 w 184"/>
                <a:gd name="T59" fmla="*/ 43 h 46"/>
                <a:gd name="T60" fmla="*/ 56 w 184"/>
                <a:gd name="T61" fmla="*/ 44 h 46"/>
                <a:gd name="T62" fmla="*/ 74 w 184"/>
                <a:gd name="T63" fmla="*/ 46 h 46"/>
                <a:gd name="T64" fmla="*/ 93 w 184"/>
                <a:gd name="T6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4" h="46">
                  <a:moveTo>
                    <a:pt x="93" y="46"/>
                  </a:moveTo>
                  <a:lnTo>
                    <a:pt x="112" y="46"/>
                  </a:lnTo>
                  <a:lnTo>
                    <a:pt x="128" y="44"/>
                  </a:lnTo>
                  <a:lnTo>
                    <a:pt x="144" y="43"/>
                  </a:lnTo>
                  <a:lnTo>
                    <a:pt x="159" y="40"/>
                  </a:lnTo>
                  <a:lnTo>
                    <a:pt x="168" y="36"/>
                  </a:lnTo>
                  <a:lnTo>
                    <a:pt x="178" y="33"/>
                  </a:lnTo>
                  <a:lnTo>
                    <a:pt x="182" y="28"/>
                  </a:lnTo>
                  <a:lnTo>
                    <a:pt x="184" y="24"/>
                  </a:lnTo>
                  <a:lnTo>
                    <a:pt x="182" y="19"/>
                  </a:lnTo>
                  <a:lnTo>
                    <a:pt x="178" y="14"/>
                  </a:lnTo>
                  <a:lnTo>
                    <a:pt x="168" y="11"/>
                  </a:lnTo>
                  <a:lnTo>
                    <a:pt x="159" y="6"/>
                  </a:lnTo>
                  <a:lnTo>
                    <a:pt x="144" y="4"/>
                  </a:lnTo>
                  <a:lnTo>
                    <a:pt x="128" y="1"/>
                  </a:lnTo>
                  <a:lnTo>
                    <a:pt x="112" y="0"/>
                  </a:lnTo>
                  <a:lnTo>
                    <a:pt x="93" y="0"/>
                  </a:lnTo>
                  <a:lnTo>
                    <a:pt x="74" y="0"/>
                  </a:lnTo>
                  <a:lnTo>
                    <a:pt x="56" y="1"/>
                  </a:lnTo>
                  <a:lnTo>
                    <a:pt x="42" y="4"/>
                  </a:lnTo>
                  <a:lnTo>
                    <a:pt x="28" y="6"/>
                  </a:lnTo>
                  <a:lnTo>
                    <a:pt x="16" y="11"/>
                  </a:lnTo>
                  <a:lnTo>
                    <a:pt x="8" y="14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8" y="33"/>
                  </a:lnTo>
                  <a:lnTo>
                    <a:pt x="16" y="36"/>
                  </a:lnTo>
                  <a:lnTo>
                    <a:pt x="28" y="40"/>
                  </a:lnTo>
                  <a:lnTo>
                    <a:pt x="42" y="43"/>
                  </a:lnTo>
                  <a:lnTo>
                    <a:pt x="56" y="44"/>
                  </a:lnTo>
                  <a:lnTo>
                    <a:pt x="74" y="46"/>
                  </a:lnTo>
                  <a:lnTo>
                    <a:pt x="93" y="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97629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 advAuto="0"/>
      <p:bldP spid="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5E72A-CC5D-912E-EB32-EE8BE96E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CB2524F0-2660-1BD0-0F67-1EC86986F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9557" y="2471737"/>
            <a:ext cx="7375525" cy="3876675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ED460-CA32-F24C-D3AF-936F30D5F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9557" y="39062"/>
            <a:ext cx="7315200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800" dirty="0"/>
              <a:t>Convención de signos para el momento de torsión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27C58E9-461E-5F91-999F-D19CA455E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183" y="1050042"/>
            <a:ext cx="993227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dirty="0"/>
              <a:t>Por convención, los momentos de torsión en sentido contrario al de las manecillas del reloj son positivos y los momentos de torsión en sentido de las manecillas del reloj son negativos.</a:t>
            </a:r>
          </a:p>
        </p:txBody>
      </p:sp>
      <p:sp>
        <p:nvSpPr>
          <p:cNvPr id="5" name="Text Box 29">
            <a:extLst>
              <a:ext uri="{FF2B5EF4-FFF2-40B4-BE49-F238E27FC236}">
                <a16:creationId xmlns:a16="http://schemas.microsoft.com/office/drawing/2014/main" id="{762FEE83-CDDF-096A-7129-3860FEB7E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95" y="2502882"/>
            <a:ext cx="33670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dirty="0"/>
              <a:t>Momento de torsión positivo: contra manecillas del reloj, fuera de la página</a:t>
            </a:r>
          </a:p>
        </p:txBody>
      </p:sp>
      <p:grpSp>
        <p:nvGrpSpPr>
          <p:cNvPr id="6" name="Group 33">
            <a:extLst>
              <a:ext uri="{FF2B5EF4-FFF2-40B4-BE49-F238E27FC236}">
                <a16:creationId xmlns:a16="http://schemas.microsoft.com/office/drawing/2014/main" id="{D25CFF0E-D689-8DC2-C07B-7597D1E8A6BD}"/>
              </a:ext>
            </a:extLst>
          </p:cNvPr>
          <p:cNvGrpSpPr>
            <a:grpSpLocks/>
          </p:cNvGrpSpPr>
          <p:nvPr/>
        </p:nvGrpSpPr>
        <p:grpSpPr bwMode="auto">
          <a:xfrm>
            <a:off x="3204232" y="4067175"/>
            <a:ext cx="2462213" cy="1946275"/>
            <a:chOff x="975" y="1616"/>
            <a:chExt cx="1551" cy="1226"/>
          </a:xfrm>
        </p:grpSpPr>
        <p:grpSp>
          <p:nvGrpSpPr>
            <p:cNvPr id="7" name="Group 17">
              <a:extLst>
                <a:ext uri="{FF2B5EF4-FFF2-40B4-BE49-F238E27FC236}">
                  <a16:creationId xmlns:a16="http://schemas.microsoft.com/office/drawing/2014/main" id="{C7FD4AA4-192C-5FDF-88C8-CDADF7B43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1868"/>
              <a:ext cx="1551" cy="974"/>
              <a:chOff x="1188" y="2082"/>
              <a:chExt cx="1551" cy="974"/>
            </a:xfrm>
          </p:grpSpPr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400AC90-EE42-BF3C-5877-361BC7DB6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8" y="2502"/>
                <a:ext cx="1551" cy="90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04A66B8B-FB65-666E-7E68-1909CFC0F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7" y="2457"/>
                <a:ext cx="170" cy="1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1" name="Line 9">
                <a:extLst>
                  <a:ext uri="{FF2B5EF4-FFF2-40B4-BE49-F238E27FC236}">
                    <a16:creationId xmlns:a16="http://schemas.microsoft.com/office/drawing/2014/main" id="{E725DEF0-37F3-C0D3-AA05-03B887E56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70" y="2479"/>
                <a:ext cx="113" cy="11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B25A000D-A87D-D852-6BD6-134D68100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7" y="2487"/>
                <a:ext cx="113" cy="11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id="{50F8396A-CDD6-2879-E061-02D303076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26" y="2547"/>
                <a:ext cx="0" cy="5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4" name="Line 12">
                <a:extLst>
                  <a:ext uri="{FF2B5EF4-FFF2-40B4-BE49-F238E27FC236}">
                    <a16:creationId xmlns:a16="http://schemas.microsoft.com/office/drawing/2014/main" id="{1AEA74FE-EC0E-92CE-95CA-778F871D7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0" y="2082"/>
                <a:ext cx="0" cy="48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15" name="Group 16">
                <a:extLst>
                  <a:ext uri="{FF2B5EF4-FFF2-40B4-BE49-F238E27FC236}">
                    <a16:creationId xmlns:a16="http://schemas.microsoft.com/office/drawing/2014/main" id="{7614E494-4FBF-A621-6A62-BFCA0FBB1F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4857572" flipH="1">
                <a:off x="1513" y="2205"/>
                <a:ext cx="641" cy="642"/>
                <a:chOff x="3357" y="2298"/>
                <a:chExt cx="641" cy="642"/>
              </a:xfrm>
            </p:grpSpPr>
            <p:sp>
              <p:nvSpPr>
                <p:cNvPr id="16" name="Arc 13">
                  <a:extLst>
                    <a:ext uri="{FF2B5EF4-FFF2-40B4-BE49-F238E27FC236}">
                      <a16:creationId xmlns:a16="http://schemas.microsoft.com/office/drawing/2014/main" id="{C165C784-8E5D-F614-6AD8-572A948CDE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668" y="2615"/>
                  <a:ext cx="317" cy="31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66FF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17" name="Arc 14">
                  <a:extLst>
                    <a:ext uri="{FF2B5EF4-FFF2-40B4-BE49-F238E27FC236}">
                      <a16:creationId xmlns:a16="http://schemas.microsoft.com/office/drawing/2014/main" id="{D16B099C-23E9-5C61-E7E2-0B355AE84A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357" y="2623"/>
                  <a:ext cx="317" cy="31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66FF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18" name="Arc 15">
                  <a:extLst>
                    <a:ext uri="{FF2B5EF4-FFF2-40B4-BE49-F238E27FC236}">
                      <a16:creationId xmlns:a16="http://schemas.microsoft.com/office/drawing/2014/main" id="{33C7E958-77F3-6E6E-1F7C-DFCE84269F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81" y="2298"/>
                  <a:ext cx="317" cy="31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66FFCC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sp>
          <p:nvSpPr>
            <p:cNvPr id="8" name="Text Box 30">
              <a:extLst>
                <a:ext uri="{FF2B5EF4-FFF2-40B4-BE49-F238E27FC236}">
                  <a16:creationId xmlns:a16="http://schemas.microsoft.com/office/drawing/2014/main" id="{79E46E4A-8C6F-EF6F-E3B0-B847FBD26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7" y="1616"/>
              <a:ext cx="63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000">
                  <a:solidFill>
                    <a:srgbClr val="66FFCC"/>
                  </a:solidFill>
                </a:rPr>
                <a:t>mr</a:t>
              </a:r>
              <a:endParaRPr kumimoji="0" lang="es-MX" altLang="es-CO" sz="3000"/>
            </a:p>
          </p:txBody>
        </p:sp>
      </p:grpSp>
      <p:grpSp>
        <p:nvGrpSpPr>
          <p:cNvPr id="19" name="Group 32">
            <a:extLst>
              <a:ext uri="{FF2B5EF4-FFF2-40B4-BE49-F238E27FC236}">
                <a16:creationId xmlns:a16="http://schemas.microsoft.com/office/drawing/2014/main" id="{170C86F7-EBA9-4FB8-D25D-1276D5777E8D}"/>
              </a:ext>
            </a:extLst>
          </p:cNvPr>
          <p:cNvGrpSpPr>
            <a:grpSpLocks/>
          </p:cNvGrpSpPr>
          <p:nvPr/>
        </p:nvGrpSpPr>
        <p:grpSpPr bwMode="auto">
          <a:xfrm>
            <a:off x="6680857" y="2441575"/>
            <a:ext cx="2462213" cy="1974850"/>
            <a:chOff x="975" y="2833"/>
            <a:chExt cx="1551" cy="1244"/>
          </a:xfrm>
        </p:grpSpPr>
        <p:grpSp>
          <p:nvGrpSpPr>
            <p:cNvPr id="20" name="Group 18">
              <a:extLst>
                <a:ext uri="{FF2B5EF4-FFF2-40B4-BE49-F238E27FC236}">
                  <a16:creationId xmlns:a16="http://schemas.microsoft.com/office/drawing/2014/main" id="{64B912F5-AA5B-195E-1F29-C28AEA42A94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75" y="3103"/>
              <a:ext cx="1551" cy="974"/>
              <a:chOff x="1188" y="2082"/>
              <a:chExt cx="1551" cy="974"/>
            </a:xfrm>
          </p:grpSpPr>
          <p:sp>
            <p:nvSpPr>
              <p:cNvPr id="22" name="Rectangle 19">
                <a:extLst>
                  <a:ext uri="{FF2B5EF4-FFF2-40B4-BE49-F238E27FC236}">
                    <a16:creationId xmlns:a16="http://schemas.microsoft.com/office/drawing/2014/main" id="{E5EF6DE5-9700-CBFF-41BE-4FA131D54A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8" y="2502"/>
                <a:ext cx="1551" cy="90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3" name="Oval 20">
                <a:extLst>
                  <a:ext uri="{FF2B5EF4-FFF2-40B4-BE49-F238E27FC236}">
                    <a16:creationId xmlns:a16="http://schemas.microsoft.com/office/drawing/2014/main" id="{05498A4E-5F01-19EC-95DB-C047872E9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7" y="2457"/>
                <a:ext cx="170" cy="1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4" name="Line 21">
                <a:extLst>
                  <a:ext uri="{FF2B5EF4-FFF2-40B4-BE49-F238E27FC236}">
                    <a16:creationId xmlns:a16="http://schemas.microsoft.com/office/drawing/2014/main" id="{F2D5E4E1-33D8-5CF7-73DE-FCFF09030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70" y="2479"/>
                <a:ext cx="113" cy="11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5" name="Line 22">
                <a:extLst>
                  <a:ext uri="{FF2B5EF4-FFF2-40B4-BE49-F238E27FC236}">
                    <a16:creationId xmlns:a16="http://schemas.microsoft.com/office/drawing/2014/main" id="{A28900C3-0150-6439-B755-06AF9C4C1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7" y="2487"/>
                <a:ext cx="113" cy="11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6" name="Line 23">
                <a:extLst>
                  <a:ext uri="{FF2B5EF4-FFF2-40B4-BE49-F238E27FC236}">
                    <a16:creationId xmlns:a16="http://schemas.microsoft.com/office/drawing/2014/main" id="{397B1A3F-DDCA-E974-35D5-D81050509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26" y="2547"/>
                <a:ext cx="0" cy="5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725A2BF2-6A77-E739-D978-AB7F1D7D0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0" y="2082"/>
                <a:ext cx="0" cy="48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28" name="Group 25">
                <a:extLst>
                  <a:ext uri="{FF2B5EF4-FFF2-40B4-BE49-F238E27FC236}">
                    <a16:creationId xmlns:a16="http://schemas.microsoft.com/office/drawing/2014/main" id="{CCAD11E6-068D-19E7-AF87-4F23ED083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4857572" flipH="1">
                <a:off x="1513" y="2205"/>
                <a:ext cx="641" cy="642"/>
                <a:chOff x="3357" y="2298"/>
                <a:chExt cx="641" cy="642"/>
              </a:xfrm>
            </p:grpSpPr>
            <p:sp>
              <p:nvSpPr>
                <p:cNvPr id="29" name="Arc 26">
                  <a:extLst>
                    <a:ext uri="{FF2B5EF4-FFF2-40B4-BE49-F238E27FC236}">
                      <a16:creationId xmlns:a16="http://schemas.microsoft.com/office/drawing/2014/main" id="{A029CD4A-6123-451A-AB89-AA32A79A17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668" y="2615"/>
                  <a:ext cx="317" cy="31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66FF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0" name="Arc 27">
                  <a:extLst>
                    <a:ext uri="{FF2B5EF4-FFF2-40B4-BE49-F238E27FC236}">
                      <a16:creationId xmlns:a16="http://schemas.microsoft.com/office/drawing/2014/main" id="{50162E83-F7E4-DE25-B3EB-ED525CAA45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357" y="2623"/>
                  <a:ext cx="317" cy="31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66FF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1" name="Arc 28">
                  <a:extLst>
                    <a:ext uri="{FF2B5EF4-FFF2-40B4-BE49-F238E27FC236}">
                      <a16:creationId xmlns:a16="http://schemas.microsoft.com/office/drawing/2014/main" id="{C8DE0694-8013-F7E6-CE64-A229A3A66A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81" y="2298"/>
                  <a:ext cx="317" cy="31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66FFCC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sp>
          <p:nvSpPr>
            <p:cNvPr id="21" name="Text Box 31">
              <a:extLst>
                <a:ext uri="{FF2B5EF4-FFF2-40B4-BE49-F238E27FC236}">
                  <a16:creationId xmlns:a16="http://schemas.microsoft.com/office/drawing/2014/main" id="{BA90EA8B-AC2A-6EBB-A7FF-AA03BF6B2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1" y="2833"/>
              <a:ext cx="63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000">
                  <a:solidFill>
                    <a:srgbClr val="66FFCC"/>
                  </a:solidFill>
                </a:rPr>
                <a:t>cmr</a:t>
              </a:r>
              <a:endParaRPr kumimoji="0" lang="es-MX" altLang="es-CO" sz="3000"/>
            </a:p>
          </p:txBody>
        </p:sp>
      </p:grpSp>
      <p:sp>
        <p:nvSpPr>
          <p:cNvPr id="32" name="Text Box 34">
            <a:extLst>
              <a:ext uri="{FF2B5EF4-FFF2-40B4-BE49-F238E27FC236}">
                <a16:creationId xmlns:a16="http://schemas.microsoft.com/office/drawing/2014/main" id="{DF84FF82-800D-DAE8-63CD-FDF459272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2307" y="4598897"/>
            <a:ext cx="45593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dirty="0"/>
              <a:t>Momento de torsión negativo: sentido manecillas del reloj, hacia la página</a:t>
            </a:r>
          </a:p>
        </p:txBody>
      </p:sp>
    </p:spTree>
    <p:extLst>
      <p:ext uri="{BB962C8B-B14F-4D97-AF65-F5344CB8AC3E}">
        <p14:creationId xmlns:p14="http://schemas.microsoft.com/office/powerpoint/2010/main" val="316942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3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E3CD2-2E5B-3E7E-0E71-361BA99C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594468A-5EA1-CCB2-516A-2C691E694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1860" y="26276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Línea de acción de una fuerza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5C57EA5-9A48-363D-9D10-5E9A08BDB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674" y="1581772"/>
            <a:ext cx="8112616" cy="1200329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dirty="0"/>
              <a:t>La </a:t>
            </a:r>
            <a:r>
              <a:rPr kumimoji="0" lang="es-MX" altLang="es-CO" sz="2400" b="1" dirty="0"/>
              <a:t>línea de acción</a:t>
            </a:r>
            <a:r>
              <a:rPr kumimoji="0" lang="es-MX" altLang="es-CO" sz="2400" dirty="0"/>
              <a:t> de una fuerza es una línea imaginaria de longitud indefinida dibujada a lo largo de la dirección de la fuerza.</a:t>
            </a:r>
          </a:p>
        </p:txBody>
      </p:sp>
      <p:sp>
        <p:nvSpPr>
          <p:cNvPr id="4" name="Line 7">
            <a:extLst>
              <a:ext uri="{FF2B5EF4-FFF2-40B4-BE49-F238E27FC236}">
                <a16:creationId xmlns:a16="http://schemas.microsoft.com/office/drawing/2014/main" id="{BE27C8EA-59CD-C2FA-408F-F799030B8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3710" y="3766262"/>
            <a:ext cx="4673600" cy="0"/>
          </a:xfrm>
          <a:prstGeom prst="line">
            <a:avLst/>
          </a:prstGeom>
          <a:noFill/>
          <a:ln w="9525">
            <a:solidFill>
              <a:srgbClr val="00B0F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CF637B16-5D6C-10F9-4340-1B60670D8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3135" y="3639262"/>
            <a:ext cx="2012950" cy="2120900"/>
          </a:xfrm>
          <a:prstGeom prst="line">
            <a:avLst/>
          </a:prstGeom>
          <a:noFill/>
          <a:ln w="9525">
            <a:solidFill>
              <a:srgbClr val="00B0F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7EECC31E-4F87-9F83-894A-9D975418A1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5548" y="3675774"/>
            <a:ext cx="3378200" cy="2012950"/>
          </a:xfrm>
          <a:prstGeom prst="line">
            <a:avLst/>
          </a:prstGeom>
          <a:noFill/>
          <a:ln w="9525">
            <a:solidFill>
              <a:srgbClr val="00B0F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43775BB7-48CE-5939-5B64-082E9EF60695}"/>
              </a:ext>
            </a:extLst>
          </p:cNvPr>
          <p:cNvGrpSpPr>
            <a:grpSpLocks/>
          </p:cNvGrpSpPr>
          <p:nvPr/>
        </p:nvGrpSpPr>
        <p:grpSpPr bwMode="auto">
          <a:xfrm>
            <a:off x="3044935" y="4088524"/>
            <a:ext cx="1546225" cy="1060450"/>
            <a:chOff x="1064" y="2784"/>
            <a:chExt cx="974" cy="668"/>
          </a:xfrm>
        </p:grpSpPr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430E1445-5C79-A854-E2E6-070FC172F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2784"/>
              <a:ext cx="623" cy="6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2F0A358A-C825-80EF-DE63-B4DDF3525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" y="2985"/>
              <a:ext cx="40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000"/>
                <a:t>F</a:t>
              </a:r>
              <a:r>
                <a:rPr kumimoji="0" lang="es-MX" altLang="es-CO" sz="3000" baseline="-25000"/>
                <a:t>1</a:t>
              </a:r>
              <a:endParaRPr kumimoji="0" lang="es-MX" altLang="es-CO" sz="3000"/>
            </a:p>
          </p:txBody>
        </p:sp>
      </p:grpSp>
      <p:grpSp>
        <p:nvGrpSpPr>
          <p:cNvPr id="10" name="Group 14">
            <a:extLst>
              <a:ext uri="{FF2B5EF4-FFF2-40B4-BE49-F238E27FC236}">
                <a16:creationId xmlns:a16="http://schemas.microsoft.com/office/drawing/2014/main" id="{38E67A75-0CA2-E68B-0719-5358BA26CE56}"/>
              </a:ext>
            </a:extLst>
          </p:cNvPr>
          <p:cNvGrpSpPr>
            <a:grpSpLocks/>
          </p:cNvGrpSpPr>
          <p:nvPr/>
        </p:nvGrpSpPr>
        <p:grpSpPr bwMode="auto">
          <a:xfrm>
            <a:off x="4734035" y="3764674"/>
            <a:ext cx="1887538" cy="698500"/>
            <a:chOff x="2128" y="2580"/>
            <a:chExt cx="1189" cy="440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B2760BD2-B5AD-B2EB-2DD8-F588BBE7E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2580"/>
              <a:ext cx="118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30F197CF-C088-5445-A124-093B59B47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2674"/>
              <a:ext cx="41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000"/>
                <a:t>F</a:t>
              </a:r>
              <a:r>
                <a:rPr kumimoji="0" lang="es-MX" altLang="es-CO" sz="3000" baseline="-25000"/>
                <a:t>2</a:t>
              </a:r>
              <a:endParaRPr kumimoji="0" lang="es-MX" altLang="es-CO" sz="3000"/>
            </a:p>
          </p:txBody>
        </p:sp>
      </p:grpSp>
      <p:grpSp>
        <p:nvGrpSpPr>
          <p:cNvPr id="13" name="Group 18">
            <a:extLst>
              <a:ext uri="{FF2B5EF4-FFF2-40B4-BE49-F238E27FC236}">
                <a16:creationId xmlns:a16="http://schemas.microsoft.com/office/drawing/2014/main" id="{97E9AE97-4D66-0812-D765-28787DC00A23}"/>
              </a:ext>
            </a:extLst>
          </p:cNvPr>
          <p:cNvGrpSpPr>
            <a:grpSpLocks/>
          </p:cNvGrpSpPr>
          <p:nvPr/>
        </p:nvGrpSpPr>
        <p:grpSpPr bwMode="auto">
          <a:xfrm>
            <a:off x="7861410" y="4250449"/>
            <a:ext cx="1347788" cy="903288"/>
            <a:chOff x="4098" y="2886"/>
            <a:chExt cx="849" cy="569"/>
          </a:xfrm>
        </p:grpSpPr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134AB921-F3B9-8B82-9ED6-8CD817B8F8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8" y="2886"/>
              <a:ext cx="747" cy="44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AC583C37-14B6-DF5B-1F99-6B4D813CC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0" y="3109"/>
              <a:ext cx="40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000"/>
                <a:t>F</a:t>
              </a:r>
              <a:r>
                <a:rPr kumimoji="0" lang="es-MX" altLang="es-CO" sz="3000" baseline="-25000"/>
                <a:t>3</a:t>
              </a:r>
              <a:endParaRPr kumimoji="0" lang="es-MX" altLang="es-CO" sz="3000"/>
            </a:p>
          </p:txBody>
        </p:sp>
      </p:grpSp>
      <p:sp>
        <p:nvSpPr>
          <p:cNvPr id="16" name="Text Box 13">
            <a:extLst>
              <a:ext uri="{FF2B5EF4-FFF2-40B4-BE49-F238E27FC236}">
                <a16:creationId xmlns:a16="http://schemas.microsoft.com/office/drawing/2014/main" id="{1CC0648C-4D1F-2B5C-91B3-5E10F63A6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055" y="4525850"/>
            <a:ext cx="1654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Línea de acción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6035292A-37F7-29E9-673E-26B031B74E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29523" y="3820237"/>
            <a:ext cx="538162" cy="7366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548CE0F9-4817-263F-1C4B-7DA39C051D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0185" y="5131512"/>
            <a:ext cx="827088" cy="2159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C0830CF1-F810-340A-6956-8342B69BD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9648" y="5023562"/>
            <a:ext cx="592137" cy="341312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566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nimBg="1" autoUpdateAnimBg="0"/>
      <p:bldP spid="1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E0258-4BAD-D39C-E6ED-869B7C81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0">
            <a:extLst>
              <a:ext uri="{FF2B5EF4-FFF2-40B4-BE49-F238E27FC236}">
                <a16:creationId xmlns:a16="http://schemas.microsoft.com/office/drawing/2014/main" id="{F52F6519-CE29-EA59-9DA1-F8C9E547618B}"/>
              </a:ext>
            </a:extLst>
          </p:cNvPr>
          <p:cNvSpPr>
            <a:spLocks/>
          </p:cNvSpPr>
          <p:nvPr/>
        </p:nvSpPr>
        <p:spPr bwMode="auto">
          <a:xfrm>
            <a:off x="2937696" y="3017181"/>
            <a:ext cx="7512050" cy="3216275"/>
          </a:xfrm>
          <a:custGeom>
            <a:avLst/>
            <a:gdLst>
              <a:gd name="T0" fmla="*/ 107 w 4732"/>
              <a:gd name="T1" fmla="*/ 351 h 2026"/>
              <a:gd name="T2" fmla="*/ 186 w 4732"/>
              <a:gd name="T3" fmla="*/ 305 h 2026"/>
              <a:gd name="T4" fmla="*/ 311 w 4732"/>
              <a:gd name="T5" fmla="*/ 283 h 2026"/>
              <a:gd name="T6" fmla="*/ 718 w 4732"/>
              <a:gd name="T7" fmla="*/ 204 h 2026"/>
              <a:gd name="T8" fmla="*/ 1148 w 4732"/>
              <a:gd name="T9" fmla="*/ 147 h 2026"/>
              <a:gd name="T10" fmla="*/ 1929 w 4732"/>
              <a:gd name="T11" fmla="*/ 102 h 2026"/>
              <a:gd name="T12" fmla="*/ 2235 w 4732"/>
              <a:gd name="T13" fmla="*/ 68 h 2026"/>
              <a:gd name="T14" fmla="*/ 2427 w 4732"/>
              <a:gd name="T15" fmla="*/ 45 h 2026"/>
              <a:gd name="T16" fmla="*/ 3118 w 4732"/>
              <a:gd name="T17" fmla="*/ 0 h 2026"/>
              <a:gd name="T18" fmla="*/ 4091 w 4732"/>
              <a:gd name="T19" fmla="*/ 68 h 2026"/>
              <a:gd name="T20" fmla="*/ 4227 w 4732"/>
              <a:gd name="T21" fmla="*/ 158 h 2026"/>
              <a:gd name="T22" fmla="*/ 4386 w 4732"/>
              <a:gd name="T23" fmla="*/ 181 h 2026"/>
              <a:gd name="T24" fmla="*/ 4567 w 4732"/>
              <a:gd name="T25" fmla="*/ 373 h 2026"/>
              <a:gd name="T26" fmla="*/ 4623 w 4732"/>
              <a:gd name="T27" fmla="*/ 453 h 2026"/>
              <a:gd name="T28" fmla="*/ 4646 w 4732"/>
              <a:gd name="T29" fmla="*/ 487 h 2026"/>
              <a:gd name="T30" fmla="*/ 4669 w 4732"/>
              <a:gd name="T31" fmla="*/ 555 h 2026"/>
              <a:gd name="T32" fmla="*/ 4657 w 4732"/>
              <a:gd name="T33" fmla="*/ 1143 h 2026"/>
              <a:gd name="T34" fmla="*/ 4601 w 4732"/>
              <a:gd name="T35" fmla="*/ 1279 h 2026"/>
              <a:gd name="T36" fmla="*/ 4454 w 4732"/>
              <a:gd name="T37" fmla="*/ 1471 h 2026"/>
              <a:gd name="T38" fmla="*/ 4239 w 4732"/>
              <a:gd name="T39" fmla="*/ 1641 h 2026"/>
              <a:gd name="T40" fmla="*/ 4148 w 4732"/>
              <a:gd name="T41" fmla="*/ 1675 h 2026"/>
              <a:gd name="T42" fmla="*/ 4024 w 4732"/>
              <a:gd name="T43" fmla="*/ 1732 h 2026"/>
              <a:gd name="T44" fmla="*/ 3831 w 4732"/>
              <a:gd name="T45" fmla="*/ 1788 h 2026"/>
              <a:gd name="T46" fmla="*/ 3582 w 4732"/>
              <a:gd name="T47" fmla="*/ 1856 h 2026"/>
              <a:gd name="T48" fmla="*/ 3514 w 4732"/>
              <a:gd name="T49" fmla="*/ 1924 h 2026"/>
              <a:gd name="T50" fmla="*/ 3027 w 4732"/>
              <a:gd name="T51" fmla="*/ 2003 h 2026"/>
              <a:gd name="T52" fmla="*/ 2710 w 4732"/>
              <a:gd name="T53" fmla="*/ 2026 h 2026"/>
              <a:gd name="T54" fmla="*/ 1805 w 4732"/>
              <a:gd name="T55" fmla="*/ 2015 h 2026"/>
              <a:gd name="T56" fmla="*/ 944 w 4732"/>
              <a:gd name="T57" fmla="*/ 1901 h 2026"/>
              <a:gd name="T58" fmla="*/ 741 w 4732"/>
              <a:gd name="T59" fmla="*/ 1709 h 2026"/>
              <a:gd name="T60" fmla="*/ 594 w 4732"/>
              <a:gd name="T61" fmla="*/ 1381 h 2026"/>
              <a:gd name="T62" fmla="*/ 548 w 4732"/>
              <a:gd name="T63" fmla="*/ 1290 h 2026"/>
              <a:gd name="T64" fmla="*/ 526 w 4732"/>
              <a:gd name="T65" fmla="*/ 1222 h 2026"/>
              <a:gd name="T66" fmla="*/ 503 w 4732"/>
              <a:gd name="T67" fmla="*/ 1188 h 2026"/>
              <a:gd name="T68" fmla="*/ 367 w 4732"/>
              <a:gd name="T69" fmla="*/ 1154 h 2026"/>
              <a:gd name="T70" fmla="*/ 84 w 4732"/>
              <a:gd name="T71" fmla="*/ 985 h 2026"/>
              <a:gd name="T72" fmla="*/ 16 w 4732"/>
              <a:gd name="T73" fmla="*/ 770 h 2026"/>
              <a:gd name="T74" fmla="*/ 50 w 4732"/>
              <a:gd name="T75" fmla="*/ 430 h 2026"/>
              <a:gd name="T76" fmla="*/ 141 w 4732"/>
              <a:gd name="T77" fmla="*/ 339 h 2026"/>
              <a:gd name="T78" fmla="*/ 175 w 4732"/>
              <a:gd name="T79" fmla="*/ 317 h 20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732" h="2026">
                <a:moveTo>
                  <a:pt x="107" y="351"/>
                </a:moveTo>
                <a:cubicBezTo>
                  <a:pt x="189" y="322"/>
                  <a:pt x="85" y="363"/>
                  <a:pt x="186" y="305"/>
                </a:cubicBezTo>
                <a:cubicBezTo>
                  <a:pt x="214" y="289"/>
                  <a:pt x="297" y="285"/>
                  <a:pt x="311" y="283"/>
                </a:cubicBezTo>
                <a:cubicBezTo>
                  <a:pt x="445" y="240"/>
                  <a:pt x="577" y="214"/>
                  <a:pt x="718" y="204"/>
                </a:cubicBezTo>
                <a:cubicBezTo>
                  <a:pt x="856" y="155"/>
                  <a:pt x="1004" y="159"/>
                  <a:pt x="1148" y="147"/>
                </a:cubicBezTo>
                <a:cubicBezTo>
                  <a:pt x="1409" y="126"/>
                  <a:pt x="1667" y="112"/>
                  <a:pt x="1929" y="102"/>
                </a:cubicBezTo>
                <a:cubicBezTo>
                  <a:pt x="2035" y="90"/>
                  <a:pt x="2126" y="76"/>
                  <a:pt x="2235" y="68"/>
                </a:cubicBezTo>
                <a:cubicBezTo>
                  <a:pt x="2322" y="37"/>
                  <a:pt x="2245" y="61"/>
                  <a:pt x="2427" y="45"/>
                </a:cubicBezTo>
                <a:cubicBezTo>
                  <a:pt x="2657" y="25"/>
                  <a:pt x="2887" y="9"/>
                  <a:pt x="3118" y="0"/>
                </a:cubicBezTo>
                <a:cubicBezTo>
                  <a:pt x="3443" y="13"/>
                  <a:pt x="3770" y="11"/>
                  <a:pt x="4091" y="68"/>
                </a:cubicBezTo>
                <a:cubicBezTo>
                  <a:pt x="4094" y="70"/>
                  <a:pt x="4212" y="155"/>
                  <a:pt x="4227" y="158"/>
                </a:cubicBezTo>
                <a:cubicBezTo>
                  <a:pt x="4325" y="175"/>
                  <a:pt x="4272" y="167"/>
                  <a:pt x="4386" y="181"/>
                </a:cubicBezTo>
                <a:cubicBezTo>
                  <a:pt x="4448" y="243"/>
                  <a:pt x="4504" y="310"/>
                  <a:pt x="4567" y="373"/>
                </a:cubicBezTo>
                <a:cubicBezTo>
                  <a:pt x="4590" y="396"/>
                  <a:pt x="4604" y="426"/>
                  <a:pt x="4623" y="453"/>
                </a:cubicBezTo>
                <a:cubicBezTo>
                  <a:pt x="4631" y="464"/>
                  <a:pt x="4646" y="487"/>
                  <a:pt x="4646" y="487"/>
                </a:cubicBezTo>
                <a:cubicBezTo>
                  <a:pt x="4654" y="510"/>
                  <a:pt x="4661" y="532"/>
                  <a:pt x="4669" y="555"/>
                </a:cubicBezTo>
                <a:cubicBezTo>
                  <a:pt x="4732" y="741"/>
                  <a:pt x="4664" y="947"/>
                  <a:pt x="4657" y="1143"/>
                </a:cubicBezTo>
                <a:cubicBezTo>
                  <a:pt x="4655" y="1193"/>
                  <a:pt x="4615" y="1235"/>
                  <a:pt x="4601" y="1279"/>
                </a:cubicBezTo>
                <a:cubicBezTo>
                  <a:pt x="4578" y="1351"/>
                  <a:pt x="4529" y="1447"/>
                  <a:pt x="4454" y="1471"/>
                </a:cubicBezTo>
                <a:cubicBezTo>
                  <a:pt x="4393" y="1532"/>
                  <a:pt x="4311" y="1593"/>
                  <a:pt x="4239" y="1641"/>
                </a:cubicBezTo>
                <a:cubicBezTo>
                  <a:pt x="4212" y="1659"/>
                  <a:pt x="4177" y="1662"/>
                  <a:pt x="4148" y="1675"/>
                </a:cubicBezTo>
                <a:cubicBezTo>
                  <a:pt x="4104" y="1695"/>
                  <a:pt x="4072" y="1719"/>
                  <a:pt x="4024" y="1732"/>
                </a:cubicBezTo>
                <a:cubicBezTo>
                  <a:pt x="3965" y="1770"/>
                  <a:pt x="3899" y="1777"/>
                  <a:pt x="3831" y="1788"/>
                </a:cubicBezTo>
                <a:cubicBezTo>
                  <a:pt x="3659" y="1846"/>
                  <a:pt x="3742" y="1825"/>
                  <a:pt x="3582" y="1856"/>
                </a:cubicBezTo>
                <a:cubicBezTo>
                  <a:pt x="3559" y="1879"/>
                  <a:pt x="3543" y="1911"/>
                  <a:pt x="3514" y="1924"/>
                </a:cubicBezTo>
                <a:cubicBezTo>
                  <a:pt x="3370" y="1989"/>
                  <a:pt x="3182" y="1991"/>
                  <a:pt x="3027" y="2003"/>
                </a:cubicBezTo>
                <a:cubicBezTo>
                  <a:pt x="2921" y="2011"/>
                  <a:pt x="2710" y="2026"/>
                  <a:pt x="2710" y="2026"/>
                </a:cubicBezTo>
                <a:cubicBezTo>
                  <a:pt x="2408" y="2022"/>
                  <a:pt x="2107" y="2021"/>
                  <a:pt x="1805" y="2015"/>
                </a:cubicBezTo>
                <a:cubicBezTo>
                  <a:pt x="1510" y="2009"/>
                  <a:pt x="1232" y="1950"/>
                  <a:pt x="944" y="1901"/>
                </a:cubicBezTo>
                <a:cubicBezTo>
                  <a:pt x="892" y="1820"/>
                  <a:pt x="817" y="1766"/>
                  <a:pt x="741" y="1709"/>
                </a:cubicBezTo>
                <a:cubicBezTo>
                  <a:pt x="705" y="1602"/>
                  <a:pt x="697" y="1448"/>
                  <a:pt x="594" y="1381"/>
                </a:cubicBezTo>
                <a:cubicBezTo>
                  <a:pt x="579" y="1351"/>
                  <a:pt x="558" y="1322"/>
                  <a:pt x="548" y="1290"/>
                </a:cubicBezTo>
                <a:cubicBezTo>
                  <a:pt x="541" y="1267"/>
                  <a:pt x="536" y="1244"/>
                  <a:pt x="526" y="1222"/>
                </a:cubicBezTo>
                <a:cubicBezTo>
                  <a:pt x="520" y="1209"/>
                  <a:pt x="515" y="1195"/>
                  <a:pt x="503" y="1188"/>
                </a:cubicBezTo>
                <a:cubicBezTo>
                  <a:pt x="473" y="1169"/>
                  <a:pt x="401" y="1160"/>
                  <a:pt x="367" y="1154"/>
                </a:cubicBezTo>
                <a:cubicBezTo>
                  <a:pt x="141" y="991"/>
                  <a:pt x="244" y="1029"/>
                  <a:pt x="84" y="985"/>
                </a:cubicBezTo>
                <a:cubicBezTo>
                  <a:pt x="14" y="913"/>
                  <a:pt x="28" y="871"/>
                  <a:pt x="16" y="770"/>
                </a:cubicBezTo>
                <a:cubicBezTo>
                  <a:pt x="29" y="474"/>
                  <a:pt x="0" y="584"/>
                  <a:pt x="50" y="430"/>
                </a:cubicBezTo>
                <a:cubicBezTo>
                  <a:pt x="64" y="387"/>
                  <a:pt x="105" y="357"/>
                  <a:pt x="141" y="339"/>
                </a:cubicBezTo>
                <a:cubicBezTo>
                  <a:pt x="153" y="333"/>
                  <a:pt x="175" y="317"/>
                  <a:pt x="175" y="317"/>
                </a:cubicBezTo>
              </a:path>
            </a:pathLst>
          </a:custGeom>
          <a:solidFill>
            <a:schemeClr val="bg1"/>
          </a:solidFill>
          <a:ln w="317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451331-27B4-FF79-C291-7F5E9D3AC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3558" y="139043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El brazo de momento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D2087BBF-2191-9141-912E-DA9C5736B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614" y="1394756"/>
            <a:ext cx="8708532" cy="1244600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/>
              <a:t>El </a:t>
            </a:r>
            <a:r>
              <a:rPr kumimoji="0" lang="es-MX" altLang="es-CO" sz="2400" b="1"/>
              <a:t>brazo de momento</a:t>
            </a:r>
            <a:r>
              <a:rPr kumimoji="0" lang="es-MX" altLang="es-CO" sz="2400"/>
              <a:t> de una fuerza es la distancia perpendicular desde la línea de acción de una fuerza al eje de rotación.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749B546B-CE61-E614-36E3-BEAC0AEC3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7033" y="3734731"/>
            <a:ext cx="4673600" cy="0"/>
          </a:xfrm>
          <a:prstGeom prst="line">
            <a:avLst/>
          </a:prstGeom>
          <a:noFill/>
          <a:ln w="9525">
            <a:solidFill>
              <a:srgbClr val="00B0F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7E588E43-811E-BB9F-0B99-150B8F6F4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7771" y="3983968"/>
            <a:ext cx="2012950" cy="2120900"/>
          </a:xfrm>
          <a:prstGeom prst="line">
            <a:avLst/>
          </a:prstGeom>
          <a:noFill/>
          <a:ln w="9525">
            <a:solidFill>
              <a:srgbClr val="00B0F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7357B19E-0A9A-72B7-F217-71EC538642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28658" y="3966506"/>
            <a:ext cx="3378200" cy="2012950"/>
          </a:xfrm>
          <a:prstGeom prst="line">
            <a:avLst/>
          </a:prstGeom>
          <a:noFill/>
          <a:ln w="9525">
            <a:solidFill>
              <a:srgbClr val="00B0F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9EC3B4-3E43-2DF5-36A5-66615E6AB418}"/>
              </a:ext>
            </a:extLst>
          </p:cNvPr>
          <p:cNvGrpSpPr>
            <a:grpSpLocks/>
          </p:cNvGrpSpPr>
          <p:nvPr/>
        </p:nvGrpSpPr>
        <p:grpSpPr bwMode="auto">
          <a:xfrm>
            <a:off x="4060058" y="4523718"/>
            <a:ext cx="1546225" cy="1060450"/>
            <a:chOff x="1064" y="2784"/>
            <a:chExt cx="974" cy="668"/>
          </a:xfrm>
        </p:grpSpPr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715A03D7-FCAD-85BF-D04E-6CC41EE12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2784"/>
              <a:ext cx="623" cy="6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39EB95EE-E1CC-C348-BD20-306D22172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" y="2985"/>
              <a:ext cx="40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000"/>
                <a:t>F</a:t>
              </a:r>
              <a:r>
                <a:rPr kumimoji="0" lang="es-MX" altLang="es-CO" sz="3000" baseline="-25000"/>
                <a:t>2</a:t>
              </a:r>
              <a:endParaRPr kumimoji="0" lang="es-MX" altLang="es-CO" sz="30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36EEF0-9092-F5FA-7C52-8FFF969B8229}"/>
              </a:ext>
            </a:extLst>
          </p:cNvPr>
          <p:cNvGrpSpPr>
            <a:grpSpLocks/>
          </p:cNvGrpSpPr>
          <p:nvPr/>
        </p:nvGrpSpPr>
        <p:grpSpPr bwMode="auto">
          <a:xfrm>
            <a:off x="4864921" y="3714093"/>
            <a:ext cx="1887537" cy="698500"/>
            <a:chOff x="2128" y="2580"/>
            <a:chExt cx="1189" cy="440"/>
          </a:xfrm>
        </p:grpSpPr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897B7041-84B8-9C44-9FE6-507953DF6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2580"/>
              <a:ext cx="118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FE30A337-6FF5-F1D9-8E7E-B1D68BC3F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2674"/>
              <a:ext cx="41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000"/>
                <a:t>F</a:t>
              </a:r>
              <a:r>
                <a:rPr kumimoji="0" lang="es-MX" altLang="es-CO" sz="3000" baseline="-25000"/>
                <a:t>1</a:t>
              </a:r>
              <a:endParaRPr kumimoji="0" lang="es-MX" altLang="es-CO" sz="30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FEAED8-19BE-A51D-E7AD-AFC6D6939DB3}"/>
              </a:ext>
            </a:extLst>
          </p:cNvPr>
          <p:cNvGrpSpPr>
            <a:grpSpLocks/>
          </p:cNvGrpSpPr>
          <p:nvPr/>
        </p:nvGrpSpPr>
        <p:grpSpPr bwMode="auto">
          <a:xfrm>
            <a:off x="7851008" y="4668181"/>
            <a:ext cx="1347788" cy="903287"/>
            <a:chOff x="4098" y="2886"/>
            <a:chExt cx="849" cy="569"/>
          </a:xfrm>
        </p:grpSpPr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EB78ACBE-28CF-D7E3-F480-9B72A34BC7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8" y="2886"/>
              <a:ext cx="747" cy="44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2170056A-A776-7CEB-907F-BE0D53A87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0" y="3109"/>
              <a:ext cx="40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3000"/>
                <a:t>F</a:t>
              </a:r>
              <a:r>
                <a:rPr kumimoji="0" lang="es-MX" altLang="es-CO" sz="3000" baseline="-25000"/>
                <a:t>3</a:t>
              </a:r>
              <a:endParaRPr kumimoji="0" lang="es-MX" altLang="es-CO" sz="3000"/>
            </a:p>
          </p:txBody>
        </p:sp>
      </p:grpSp>
      <p:sp>
        <p:nvSpPr>
          <p:cNvPr id="17" name="Oval 24">
            <a:extLst>
              <a:ext uri="{FF2B5EF4-FFF2-40B4-BE49-F238E27FC236}">
                <a16:creationId xmlns:a16="http://schemas.microsoft.com/office/drawing/2014/main" id="{A9B00377-653C-9F99-4F53-AF9AFEBC5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583" y="3625193"/>
            <a:ext cx="19843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8" name="Oval 25">
            <a:extLst>
              <a:ext uri="{FF2B5EF4-FFF2-40B4-BE49-F238E27FC236}">
                <a16:creationId xmlns:a16="http://schemas.microsoft.com/office/drawing/2014/main" id="{186EA9CF-E3E4-D8C2-F443-7F8C6A67B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2433" y="4461806"/>
            <a:ext cx="19843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C4149587-2A13-FEFF-DE02-CCDB552FE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933" y="5261906"/>
            <a:ext cx="19843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grpSp>
        <p:nvGrpSpPr>
          <p:cNvPr id="20" name="Group 30">
            <a:extLst>
              <a:ext uri="{FF2B5EF4-FFF2-40B4-BE49-F238E27FC236}">
                <a16:creationId xmlns:a16="http://schemas.microsoft.com/office/drawing/2014/main" id="{F941B70D-F7AD-4C24-3D2C-1B3DA693312A}"/>
              </a:ext>
            </a:extLst>
          </p:cNvPr>
          <p:cNvGrpSpPr>
            <a:grpSpLocks/>
          </p:cNvGrpSpPr>
          <p:nvPr/>
        </p:nvGrpSpPr>
        <p:grpSpPr bwMode="auto">
          <a:xfrm>
            <a:off x="6701658" y="4542768"/>
            <a:ext cx="377825" cy="341313"/>
            <a:chOff x="4460" y="328"/>
            <a:chExt cx="238" cy="215"/>
          </a:xfrm>
        </p:grpSpPr>
        <p:sp>
          <p:nvSpPr>
            <p:cNvPr id="21" name="Oval 27">
              <a:extLst>
                <a:ext uri="{FF2B5EF4-FFF2-40B4-BE49-F238E27FC236}">
                  <a16:creationId xmlns:a16="http://schemas.microsoft.com/office/drawing/2014/main" id="{7E77641A-3DD9-9FA8-7C6C-B0C3620C9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" y="328"/>
              <a:ext cx="238" cy="21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FE49706D-0FB1-1E27-3902-5FBAD6797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5" y="374"/>
              <a:ext cx="147" cy="1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Line 29">
              <a:extLst>
                <a:ext uri="{FF2B5EF4-FFF2-40B4-BE49-F238E27FC236}">
                  <a16:creationId xmlns:a16="http://schemas.microsoft.com/office/drawing/2014/main" id="{D03D47E1-BFDC-2F84-0A0E-D7AF2740C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3" y="360"/>
              <a:ext cx="147" cy="1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24" name="Line 31">
            <a:extLst>
              <a:ext uri="{FF2B5EF4-FFF2-40B4-BE49-F238E27FC236}">
                <a16:creationId xmlns:a16="http://schemas.microsoft.com/office/drawing/2014/main" id="{FFAD98FB-596B-FEA4-38C8-80B31E187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8508" y="3734731"/>
            <a:ext cx="0" cy="8096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791B3434-E46B-5901-DB97-FB51EBD7D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658" y="3818868"/>
            <a:ext cx="5572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3000"/>
              <a:t>r</a:t>
            </a:r>
          </a:p>
        </p:txBody>
      </p:sp>
      <p:sp>
        <p:nvSpPr>
          <p:cNvPr id="26" name="Line 33">
            <a:extLst>
              <a:ext uri="{FF2B5EF4-FFF2-40B4-BE49-F238E27FC236}">
                <a16:creationId xmlns:a16="http://schemas.microsoft.com/office/drawing/2014/main" id="{0A2F3437-9387-CA7D-8108-2C4E9C29EA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5308" y="4793593"/>
            <a:ext cx="1311275" cy="1150938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27" name="Text Box 34">
            <a:extLst>
              <a:ext uri="{FF2B5EF4-FFF2-40B4-BE49-F238E27FC236}">
                <a16:creationId xmlns:a16="http://schemas.microsoft.com/office/drawing/2014/main" id="{9953FEAE-EE30-6F87-C985-0591C87CA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3633" y="5246031"/>
            <a:ext cx="5572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3000"/>
              <a:t>r</a:t>
            </a:r>
          </a:p>
        </p:txBody>
      </p:sp>
      <p:sp>
        <p:nvSpPr>
          <p:cNvPr id="28" name="Text Box 35">
            <a:extLst>
              <a:ext uri="{FF2B5EF4-FFF2-40B4-BE49-F238E27FC236}">
                <a16:creationId xmlns:a16="http://schemas.microsoft.com/office/drawing/2014/main" id="{57E72D02-C78A-D8A1-01AE-666BAABB9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9021" y="4787243"/>
            <a:ext cx="55721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3000"/>
              <a:t>r</a:t>
            </a:r>
          </a:p>
        </p:txBody>
      </p:sp>
      <p:sp>
        <p:nvSpPr>
          <p:cNvPr id="29" name="Line 36">
            <a:extLst>
              <a:ext uri="{FF2B5EF4-FFF2-40B4-BE49-F238E27FC236}">
                <a16:creationId xmlns:a16="http://schemas.microsoft.com/office/drawing/2014/main" id="{04870424-224D-6FCD-87B0-CC21F3C09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2483" y="4884081"/>
            <a:ext cx="395288" cy="75406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909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 autoUpdateAnimBg="0"/>
      <p:bldP spid="25" grpId="0" autoUpdateAnimBg="0"/>
      <p:bldP spid="27" grpId="0" build="p" autoUpdateAnimBg="0" advAuto="0"/>
      <p:bldP spid="28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B02D9-421B-D08F-7392-FA8E57F3B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A446ADA-7C68-BAEF-F313-4E728DC8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9537" y="65361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Cálculo de momento de torsión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C06F220-BFAF-E6C1-A9D9-0E0A20F1AFDA}"/>
              </a:ext>
            </a:extLst>
          </p:cNvPr>
          <p:cNvSpPr txBox="1">
            <a:spLocks noChangeArrowheads="1"/>
          </p:cNvSpPr>
          <p:nvPr/>
        </p:nvSpPr>
        <p:spPr>
          <a:xfrm>
            <a:off x="2420937" y="1208361"/>
            <a:ext cx="6596939" cy="248077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altLang="es-CO" sz="2400" dirty="0"/>
              <a:t>Lea el problema y dibuje una figura burda.</a:t>
            </a:r>
          </a:p>
          <a:p>
            <a:pPr algn="just"/>
            <a:r>
              <a:rPr lang="es-MX" altLang="es-CO" sz="2400" dirty="0"/>
              <a:t>Extienda la línea de acción de la fuerza.</a:t>
            </a:r>
          </a:p>
          <a:p>
            <a:pPr algn="just"/>
            <a:r>
              <a:rPr lang="es-MX" altLang="es-CO" sz="2400" dirty="0"/>
              <a:t>Dibuje y etiquete el brazo de momento.</a:t>
            </a:r>
          </a:p>
          <a:p>
            <a:pPr algn="just"/>
            <a:r>
              <a:rPr lang="es-MX" altLang="es-CO" sz="2400" dirty="0"/>
              <a:t>Calcule el brazo de momento si es necesario.</a:t>
            </a:r>
          </a:p>
          <a:p>
            <a:pPr algn="just"/>
            <a:r>
              <a:rPr lang="es-MX" altLang="es-CO" sz="2400" dirty="0"/>
              <a:t>Aplique definición de momento de torsión: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4CC633FC-C556-D36F-180D-FC79CAE2A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4972" y="4225862"/>
            <a:ext cx="1752600" cy="553998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pPr algn="ctr"/>
            <a:r>
              <a:rPr kumimoji="0" lang="es-MX" altLang="es-CO" sz="2400">
                <a:solidFill>
                  <a:srgbClr val="000000"/>
                </a:solidFill>
                <a:latin typeface="Symbol" panose="05050102010706020507" pitchFamily="18" charset="2"/>
              </a:rPr>
              <a:t>t</a:t>
            </a:r>
            <a:r>
              <a:rPr kumimoji="0"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 = Fr</a:t>
            </a:r>
            <a:endParaRPr kumimoji="0" lang="es-MX" altLang="es-CO" sz="2400">
              <a:latin typeface="Symbol" panose="05050102010706020507" pitchFamily="18" charset="2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DD4297CD-9AD3-4EA1-F796-09C03066A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530" y="4318195"/>
            <a:ext cx="68202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es-MX" altLang="es-CO" sz="2400" dirty="0"/>
              <a:t>Momento de torsión = fuerza </a:t>
            </a:r>
            <a:r>
              <a:rPr kumimoji="0" lang="es-MX" altLang="es-CO" sz="2400" i="0" dirty="0"/>
              <a:t>x</a:t>
            </a:r>
            <a:r>
              <a:rPr kumimoji="0" lang="es-MX" altLang="es-CO" sz="2400" dirty="0"/>
              <a:t> brazo de momento</a:t>
            </a:r>
          </a:p>
        </p:txBody>
      </p:sp>
    </p:spTree>
    <p:extLst>
      <p:ext uri="{BB962C8B-B14F-4D97-AF65-F5344CB8AC3E}">
        <p14:creationId xmlns:p14="http://schemas.microsoft.com/office/powerpoint/2010/main" val="269878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/>
      <p:bldP spid="4" grpId="0" animBg="1" autoUpdateAnimBg="0"/>
      <p:bldP spid="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74012-71E6-F406-1DB2-989AB34C6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36F9B0E-79D5-0303-24A5-CF4970708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386" y="269273"/>
            <a:ext cx="11130455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>
                <a:latin typeface="+mn-lt"/>
              </a:rPr>
              <a:t>Ejemplo:</a:t>
            </a:r>
            <a:r>
              <a:rPr lang="es-MX" altLang="es-CO" sz="2400" dirty="0">
                <a:latin typeface="+mn-lt"/>
              </a:rPr>
              <a:t>  Una fuerza de 80 N actúa en el extremo de una llave de 12 cm como se muestra. Encuentre el momento de torsión.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0FD3597F-AC19-75A5-B871-9FC745946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651" y="4581478"/>
            <a:ext cx="7723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Tx/>
              <a:buChar char="•"/>
            </a:pPr>
            <a:r>
              <a:rPr kumimoji="0" lang="es-MX" altLang="es-CO" sz="2400" dirty="0"/>
              <a:t> Extienda línea de acción, dibuje, calcule r.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66A7A672-2CAF-E341-71DD-3E758BFD4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807" y="5377074"/>
            <a:ext cx="4235669" cy="55399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tIns="91440" bIns="91440" anchor="ctr">
            <a:spAutoFit/>
          </a:bodyPr>
          <a:lstStyle>
            <a:lvl1pPr marL="287338" indent="-2873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7631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9061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dirty="0">
                <a:solidFill>
                  <a:srgbClr val="000000"/>
                </a:solidFill>
                <a:latin typeface="+mn-lt"/>
              </a:rPr>
              <a:t>t = </a:t>
            </a:r>
            <a:r>
              <a:rPr kumimoji="0" lang="es-MX" altLang="es-CO" i="0" dirty="0">
                <a:solidFill>
                  <a:srgbClr val="000000"/>
                </a:solidFill>
                <a:latin typeface="+mn-lt"/>
              </a:rPr>
              <a:t>(80 N)(0.104 m) =  8.31 N m</a:t>
            </a:r>
            <a:endParaRPr kumimoji="0" lang="es-MX" altLang="es-CO" dirty="0">
              <a:latin typeface="+mn-lt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2B6A0E3B-ECCF-7CB6-CBB1-8D3A89EBE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2524" y="5367549"/>
            <a:ext cx="3919483" cy="55399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tIns="91440" bIns="91440" anchor="ctr">
            <a:spAutoFit/>
          </a:bodyPr>
          <a:lstStyle>
            <a:lvl1pPr marL="287338" indent="-2873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7631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9061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dirty="0">
                <a:solidFill>
                  <a:srgbClr val="000000"/>
                </a:solidFill>
                <a:latin typeface="+mn-lt"/>
              </a:rPr>
              <a:t>r = </a:t>
            </a:r>
            <a:r>
              <a:rPr kumimoji="0" lang="es-MX" altLang="es-CO" i="0" dirty="0">
                <a:solidFill>
                  <a:srgbClr val="000000"/>
                </a:solidFill>
                <a:latin typeface="+mn-lt"/>
              </a:rPr>
              <a:t>12</a:t>
            </a:r>
            <a:r>
              <a:rPr kumimoji="0" lang="es-MX" altLang="es-CO" dirty="0">
                <a:solidFill>
                  <a:srgbClr val="000000"/>
                </a:solidFill>
                <a:latin typeface="+mn-lt"/>
              </a:rPr>
              <a:t> </a:t>
            </a:r>
            <a:r>
              <a:rPr kumimoji="0" lang="es-MX" altLang="es-CO" i="0" dirty="0">
                <a:solidFill>
                  <a:srgbClr val="000000"/>
                </a:solidFill>
                <a:latin typeface="+mn-lt"/>
              </a:rPr>
              <a:t>cm sen 60</a:t>
            </a:r>
            <a:r>
              <a:rPr kumimoji="0" lang="es-MX" altLang="es-CO" i="0" baseline="30000" dirty="0">
                <a:solidFill>
                  <a:srgbClr val="000000"/>
                </a:solidFill>
                <a:latin typeface="+mn-lt"/>
              </a:rPr>
              <a:t>0     </a:t>
            </a:r>
            <a:r>
              <a:rPr kumimoji="0" lang="es-MX" altLang="es-CO" i="0" dirty="0">
                <a:solidFill>
                  <a:srgbClr val="000000"/>
                </a:solidFill>
                <a:latin typeface="+mn-lt"/>
              </a:rPr>
              <a:t>= 10.4 cm</a:t>
            </a: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217E1735-AB88-99F3-7660-CB361F3B3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845" y="1591660"/>
            <a:ext cx="3708400" cy="2614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>
            <a:extLst>
              <a:ext uri="{FF2B5EF4-FFF2-40B4-BE49-F238E27FC236}">
                <a16:creationId xmlns:a16="http://schemas.microsoft.com/office/drawing/2014/main" id="{AF17C930-8B7C-A69A-084A-E59FCE9C0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495" y="1567848"/>
            <a:ext cx="3736975" cy="266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49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nimBg="1" autoUpdateAnimBg="0"/>
      <p:bldP spid="5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0FE3E-ABF8-35D7-3369-C1DAD79B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0">
            <a:extLst>
              <a:ext uri="{FF2B5EF4-FFF2-40B4-BE49-F238E27FC236}">
                <a16:creationId xmlns:a16="http://schemas.microsoft.com/office/drawing/2014/main" id="{10997992-0C1B-8641-C46D-754BB6BD9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415" y="1377349"/>
            <a:ext cx="7521575" cy="226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E6AA9C-CF41-6460-55FA-AA7CB18AD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3325" y="164499"/>
            <a:ext cx="11335406" cy="1143000"/>
          </a:xfrm>
        </p:spPr>
        <p:txBody>
          <a:bodyPr>
            <a:normAutofit/>
          </a:bodyPr>
          <a:lstStyle/>
          <a:p>
            <a:r>
              <a:rPr lang="es-MX" altLang="es-CO" sz="2400" u="sng" dirty="0">
                <a:latin typeface="+mn-lt"/>
              </a:rPr>
              <a:t>Alternativo:</a:t>
            </a:r>
            <a:r>
              <a:rPr lang="es-MX" altLang="es-CO" sz="2400" dirty="0">
                <a:latin typeface="+mn-lt"/>
              </a:rPr>
              <a:t>  Una fuerza de 80 N actúa en el extremo de una llave de 12 cm como se muestra. Encuentre el momento de torsión.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07F28872-1A52-B247-7813-FF172D8A5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1615" y="3701875"/>
            <a:ext cx="8245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Descomponga la fuerza de 80-N en componentes como se muestra.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BAB9AD94-5990-A8C9-0C43-CFEE3E81D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027" y="4677116"/>
            <a:ext cx="7600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Note de la figura:   </a:t>
            </a:r>
            <a:r>
              <a:rPr kumimoji="0" lang="es-MX" altLang="es-CO" sz="2400" dirty="0" err="1"/>
              <a:t>r</a:t>
            </a:r>
            <a:r>
              <a:rPr kumimoji="0" lang="es-MX" altLang="es-CO" sz="2400" baseline="-25000" dirty="0" err="1"/>
              <a:t>x</a:t>
            </a:r>
            <a:r>
              <a:rPr kumimoji="0" lang="es-MX" altLang="es-CO" sz="2400" baseline="-25000" dirty="0"/>
              <a:t> </a:t>
            </a:r>
            <a:r>
              <a:rPr kumimoji="0" lang="es-MX" altLang="es-CO" sz="2400" i="0" dirty="0"/>
              <a:t>= 0</a:t>
            </a:r>
            <a:r>
              <a:rPr kumimoji="0" lang="es-MX" altLang="es-CO" sz="2400" dirty="0"/>
              <a:t>  y </a:t>
            </a:r>
            <a:r>
              <a:rPr kumimoji="0" lang="es-MX" altLang="es-CO" sz="2400" dirty="0" err="1"/>
              <a:t>r</a:t>
            </a:r>
            <a:r>
              <a:rPr kumimoji="0" lang="es-MX" altLang="es-CO" sz="2400" baseline="-25000" dirty="0" err="1"/>
              <a:t>y</a:t>
            </a:r>
            <a:r>
              <a:rPr kumimoji="0" lang="es-MX" altLang="es-CO" sz="2400" dirty="0"/>
              <a:t> = </a:t>
            </a:r>
            <a:r>
              <a:rPr kumimoji="0" lang="es-MX" altLang="es-CO" sz="2400" i="0" dirty="0"/>
              <a:t>12 cm</a:t>
            </a:r>
            <a:r>
              <a:rPr kumimoji="0" lang="es-MX" altLang="es-CO" sz="2400" baseline="-25000" dirty="0"/>
              <a:t> </a:t>
            </a:r>
            <a:endParaRPr kumimoji="0" lang="es-MX" altLang="es-CO" sz="2400" dirty="0"/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F639EF-7BCD-EC51-71FD-F365B8015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7515" y="5602629"/>
            <a:ext cx="36290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>
                <a:latin typeface="Symbol" panose="05050102010706020507" pitchFamily="18" charset="2"/>
              </a:rPr>
              <a:t>t</a:t>
            </a:r>
            <a:r>
              <a:rPr kumimoji="0" lang="es-MX" altLang="es-CO" sz="2400" dirty="0">
                <a:latin typeface="Times New Roman" panose="02020603050405020304" pitchFamily="18" charset="0"/>
              </a:rPr>
              <a:t> = </a:t>
            </a:r>
            <a:r>
              <a:rPr kumimoji="0" lang="es-MX" altLang="es-CO" sz="2400" i="0" dirty="0">
                <a:latin typeface="Times New Roman" panose="02020603050405020304" pitchFamily="18" charset="0"/>
              </a:rPr>
              <a:t>(69.3 N)(0.12 m)</a:t>
            </a:r>
            <a:endParaRPr kumimoji="0" lang="es-MX" altLang="es-CO" sz="2400" dirty="0">
              <a:latin typeface="Symbol" panose="05050102010706020507" pitchFamily="18" charset="2"/>
            </a:endParaRP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5F6791E0-414D-7DFF-4E01-94940E0B1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302" y="5564400"/>
            <a:ext cx="4064000" cy="55399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r>
              <a:rPr kumimoji="0" lang="es-MX" altLang="es-CO" sz="2400">
                <a:solidFill>
                  <a:srgbClr val="000000"/>
                </a:solidFill>
                <a:latin typeface="Symbol" panose="05050102010706020507" pitchFamily="18" charset="2"/>
              </a:rPr>
              <a:t>t</a:t>
            </a:r>
            <a:r>
              <a:rPr kumimoji="0"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kumimoji="0" lang="es-MX" altLang="es-CO" sz="2400" i="0">
                <a:solidFill>
                  <a:srgbClr val="000000"/>
                </a:solidFill>
                <a:latin typeface="Times New Roman" panose="02020603050405020304" pitchFamily="18" charset="0"/>
              </a:rPr>
              <a:t>8.31 N m como antes</a:t>
            </a:r>
            <a:endParaRPr kumimoji="0" lang="es-MX" altLang="es-CO" sz="2400">
              <a:latin typeface="Symbol" panose="05050102010706020507" pitchFamily="18" charset="2"/>
            </a:endParaRPr>
          </a:p>
        </p:txBody>
      </p:sp>
      <p:grpSp>
        <p:nvGrpSpPr>
          <p:cNvPr id="8" name="Group 28">
            <a:extLst>
              <a:ext uri="{FF2B5EF4-FFF2-40B4-BE49-F238E27FC236}">
                <a16:creationId xmlns:a16="http://schemas.microsoft.com/office/drawing/2014/main" id="{500094E4-0043-CD05-CFA9-4154948DD91F}"/>
              </a:ext>
            </a:extLst>
          </p:cNvPr>
          <p:cNvGrpSpPr>
            <a:grpSpLocks/>
          </p:cNvGrpSpPr>
          <p:nvPr/>
        </p:nvGrpSpPr>
        <p:grpSpPr bwMode="auto">
          <a:xfrm>
            <a:off x="5995440" y="2010761"/>
            <a:ext cx="1528762" cy="1550988"/>
            <a:chOff x="2863" y="1356"/>
            <a:chExt cx="963" cy="977"/>
          </a:xfrm>
        </p:grpSpPr>
        <p:grpSp>
          <p:nvGrpSpPr>
            <p:cNvPr id="9" name="Group 26">
              <a:extLst>
                <a:ext uri="{FF2B5EF4-FFF2-40B4-BE49-F238E27FC236}">
                  <a16:creationId xmlns:a16="http://schemas.microsoft.com/office/drawing/2014/main" id="{61952C00-C1B4-F67C-7665-78C09FA39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5" y="1645"/>
              <a:ext cx="628" cy="688"/>
              <a:chOff x="3266" y="1249"/>
              <a:chExt cx="628" cy="688"/>
            </a:xfrm>
          </p:grpSpPr>
          <p:sp>
            <p:nvSpPr>
              <p:cNvPr id="11" name="Arc 22">
                <a:extLst>
                  <a:ext uri="{FF2B5EF4-FFF2-40B4-BE49-F238E27FC236}">
                    <a16:creationId xmlns:a16="http://schemas.microsoft.com/office/drawing/2014/main" id="{9E4B1769-E2C3-11B2-DF9A-FC529939999B}"/>
                  </a:ext>
                </a:extLst>
              </p:cNvPr>
              <p:cNvSpPr>
                <a:spLocks/>
              </p:cNvSpPr>
              <p:nvPr/>
            </p:nvSpPr>
            <p:spPr bwMode="auto">
              <a:xfrm rot="16742428" flipV="1">
                <a:off x="3577" y="1312"/>
                <a:ext cx="317" cy="31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Arc 23">
                <a:extLst>
                  <a:ext uri="{FF2B5EF4-FFF2-40B4-BE49-F238E27FC236}">
                    <a16:creationId xmlns:a16="http://schemas.microsoft.com/office/drawing/2014/main" id="{9A4F6247-9464-B212-EB59-E8B7F8AEA761}"/>
                  </a:ext>
                </a:extLst>
              </p:cNvPr>
              <p:cNvSpPr>
                <a:spLocks/>
              </p:cNvSpPr>
              <p:nvPr/>
            </p:nvSpPr>
            <p:spPr bwMode="auto">
              <a:xfrm rot="-4857572" flipH="1" flipV="1">
                <a:off x="3536" y="1620"/>
                <a:ext cx="317" cy="31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Arc 24">
                <a:extLst>
                  <a:ext uri="{FF2B5EF4-FFF2-40B4-BE49-F238E27FC236}">
                    <a16:creationId xmlns:a16="http://schemas.microsoft.com/office/drawing/2014/main" id="{F277742E-A777-D9D7-3264-6A489FDBFF64}"/>
                  </a:ext>
                </a:extLst>
              </p:cNvPr>
              <p:cNvSpPr>
                <a:spLocks/>
              </p:cNvSpPr>
              <p:nvPr/>
            </p:nvSpPr>
            <p:spPr bwMode="auto">
              <a:xfrm rot="-4857572">
                <a:off x="3266" y="1249"/>
                <a:ext cx="317" cy="31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10" name="Text Box 27">
              <a:extLst>
                <a:ext uri="{FF2B5EF4-FFF2-40B4-BE49-F238E27FC236}">
                  <a16:creationId xmlns:a16="http://schemas.microsoft.com/office/drawing/2014/main" id="{F7B819ED-98FD-179C-A3FC-E18BF381F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3" y="1356"/>
              <a:ext cx="9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>
                  <a:solidFill>
                    <a:srgbClr val="000000"/>
                  </a:solidFill>
                </a:rPr>
                <a:t>positivo</a:t>
              </a:r>
              <a:endParaRPr kumimoji="0" lang="es-MX" altLang="es-CO" sz="3000"/>
            </a:p>
          </p:txBody>
        </p:sp>
      </p:grpSp>
      <p:sp>
        <p:nvSpPr>
          <p:cNvPr id="14" name="Text Box 29">
            <a:extLst>
              <a:ext uri="{FF2B5EF4-FFF2-40B4-BE49-F238E27FC236}">
                <a16:creationId xmlns:a16="http://schemas.microsoft.com/office/drawing/2014/main" id="{389A652E-7FFA-314D-204C-D702C1B1E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890" y="2620361"/>
            <a:ext cx="1133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1800" i="0">
                <a:solidFill>
                  <a:srgbClr val="000000"/>
                </a:solidFill>
              </a:rPr>
              <a:t>12 cm</a:t>
            </a:r>
            <a:endParaRPr kumimoji="0" lang="es-MX" altLang="es-CO" sz="3000"/>
          </a:p>
        </p:txBody>
      </p:sp>
    </p:spTree>
    <p:extLst>
      <p:ext uri="{BB962C8B-B14F-4D97-AF65-F5344CB8AC3E}">
        <p14:creationId xmlns:p14="http://schemas.microsoft.com/office/powerpoint/2010/main" val="23451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nimBg="1" autoUpdateAnimBg="0"/>
      <p:bldP spid="1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BE5E3-DBCE-E547-0E24-935D3FF5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9196677-C547-45C9-5DF7-642F73F84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0852" y="159885"/>
            <a:ext cx="7891462" cy="593725"/>
          </a:xfrm>
        </p:spPr>
        <p:txBody>
          <a:bodyPr>
            <a:normAutofit/>
          </a:bodyPr>
          <a:lstStyle/>
          <a:p>
            <a:r>
              <a:rPr lang="es-MX" altLang="es-CO" sz="2800" dirty="0"/>
              <a:t>Cálculo del momento de torsión resultante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41C2123-A630-20FB-93B6-2939EBA31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43" y="1054554"/>
            <a:ext cx="8367713" cy="4748892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es-MX" altLang="es-CO" i="0" dirty="0">
                <a:latin typeface="Tahoma" panose="020B0604030504040204" pitchFamily="34" charset="0"/>
              </a:rPr>
              <a:t>Lea, dibuje y etiquete una figura burda.</a:t>
            </a:r>
          </a:p>
          <a:p>
            <a:pPr algn="just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es-MX" altLang="es-CO" i="0" dirty="0">
                <a:latin typeface="Tahoma" panose="020B0604030504040204" pitchFamily="34" charset="0"/>
              </a:rPr>
              <a:t>Dibuje diagrama de cuerpo libre que muestre todas las fuerzas, distancias y ejes de rotación.</a:t>
            </a:r>
          </a:p>
          <a:p>
            <a:pPr algn="just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es-MX" altLang="es-CO" i="0" dirty="0">
                <a:latin typeface="Tahoma" panose="020B0604030504040204" pitchFamily="34" charset="0"/>
              </a:rPr>
              <a:t>Extienda líneas de acción para cada fuerza.</a:t>
            </a:r>
          </a:p>
          <a:p>
            <a:pPr algn="just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es-MX" altLang="es-CO" i="0" dirty="0">
                <a:latin typeface="Tahoma" panose="020B0604030504040204" pitchFamily="34" charset="0"/>
              </a:rPr>
              <a:t>Calcule brazos de momento si es necesario.</a:t>
            </a:r>
          </a:p>
          <a:p>
            <a:pPr algn="just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es-MX" altLang="es-CO" i="0" dirty="0">
                <a:latin typeface="Tahoma" panose="020B0604030504040204" pitchFamily="34" charset="0"/>
              </a:rPr>
              <a:t>Calcule momentos de torsión debidos a CADA fuerza individual y fije signo apropiado.  CMR (+) y MR (-).</a:t>
            </a:r>
          </a:p>
          <a:p>
            <a:pPr algn="just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es-MX" altLang="es-CO" i="0" dirty="0">
                <a:latin typeface="Tahoma" panose="020B0604030504040204" pitchFamily="34" charset="0"/>
              </a:rPr>
              <a:t>El momento de torsión resultante es la suma de los momentos de torsión individuales.</a:t>
            </a:r>
          </a:p>
        </p:txBody>
      </p:sp>
    </p:spTree>
    <p:extLst>
      <p:ext uri="{BB962C8B-B14F-4D97-AF65-F5344CB8AC3E}">
        <p14:creationId xmlns:p14="http://schemas.microsoft.com/office/powerpoint/2010/main" val="354841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D7B65-04A1-63CA-E16C-4B40618DE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374544-800C-F2FA-E57A-7969C0423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1" y="197757"/>
            <a:ext cx="11560629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Ejemplo:</a:t>
            </a:r>
            <a:r>
              <a:rPr lang="es-MX" altLang="es-CO" sz="2400" dirty="0"/>
              <a:t>  Encuentre el momento de torsión resultante en torno al eje </a:t>
            </a:r>
            <a:r>
              <a:rPr lang="es-MX" altLang="es-CO" sz="2400" i="1" dirty="0"/>
              <a:t>A</a:t>
            </a:r>
            <a:r>
              <a:rPr lang="es-MX" altLang="es-CO" sz="2400" dirty="0"/>
              <a:t> para el arreglo que se muestra abajo:</a:t>
            </a:r>
          </a:p>
        </p:txBody>
      </p:sp>
      <p:grpSp>
        <p:nvGrpSpPr>
          <p:cNvPr id="3" name="Group 25">
            <a:extLst>
              <a:ext uri="{FF2B5EF4-FFF2-40B4-BE49-F238E27FC236}">
                <a16:creationId xmlns:a16="http://schemas.microsoft.com/office/drawing/2014/main" id="{4F030431-3BF5-D6FA-AE78-152FFE179DFD}"/>
              </a:ext>
            </a:extLst>
          </p:cNvPr>
          <p:cNvGrpSpPr>
            <a:grpSpLocks/>
          </p:cNvGrpSpPr>
          <p:nvPr/>
        </p:nvGrpSpPr>
        <p:grpSpPr bwMode="auto">
          <a:xfrm>
            <a:off x="5540375" y="1780494"/>
            <a:ext cx="4357688" cy="2047875"/>
            <a:chOff x="2524" y="1414"/>
            <a:chExt cx="2745" cy="12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7F6CEF-1AFC-EF50-169A-1FF854150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060"/>
              <a:ext cx="1608" cy="1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F62F98E-DC56-D025-B9C6-B4C8B2D424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519782">
              <a:off x="4124" y="1856"/>
              <a:ext cx="667" cy="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6FFC3DB9-2C95-D89F-B2F5-E1B42372F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2105"/>
              <a:ext cx="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3F15C5F4-246B-6DA8-4009-4F36B96464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5" y="1709"/>
              <a:ext cx="4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3D08C684-25CB-5F59-75B1-242DE057EE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2" y="1754"/>
              <a:ext cx="396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A6F00E2B-04BB-601D-1537-7B2F0BC51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" y="2105"/>
              <a:ext cx="0" cy="4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F019231F-598E-5AA7-B37D-CFD0D99E0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1" y="1892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30</a:t>
              </a:r>
              <a:r>
                <a:rPr kumimoji="0" lang="es-MX" altLang="es-CO" sz="2000" i="0" baseline="30000" dirty="0"/>
                <a:t>0</a:t>
              </a:r>
              <a:endParaRPr kumimoji="0" lang="es-MX" altLang="es-CO" dirty="0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E6195C90-A1E5-1E81-6754-D956A0F52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9" y="1853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30</a:t>
              </a:r>
              <a:r>
                <a:rPr kumimoji="0" lang="es-MX" altLang="es-CO" sz="2000" i="0" baseline="30000" dirty="0"/>
                <a:t>0</a:t>
              </a:r>
              <a:endParaRPr kumimoji="0" lang="es-MX" altLang="es-CO" dirty="0"/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8EA4DEF0-5063-EF76-6091-71A4687AE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14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6 m</a:t>
              </a:r>
              <a:endParaRPr kumimoji="0" lang="es-MX" altLang="es-CO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0602CDB1-5FD9-74A4-180C-BEE3156E2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5" y="2126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2 m</a:t>
              </a:r>
              <a:endParaRPr kumimoji="0" lang="es-MX" altLang="es-CO" dirty="0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CB544F7E-332B-9578-89D8-710DA70D5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2189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4 m</a:t>
              </a:r>
              <a:endParaRPr kumimoji="0" lang="es-MX" altLang="es-CO" dirty="0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A5CFD26-312A-BE17-B31A-8B7E441AD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26" y="1947"/>
              <a:ext cx="136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D920188-459E-E3CB-843C-73AC60F4C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6" y="141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20 N</a:t>
              </a:r>
              <a:endParaRPr kumimoji="0" lang="es-MX" altLang="es-CO" dirty="0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D497170C-5E31-1F4B-A362-31BCDEB2A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4" y="1488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30 N</a:t>
              </a:r>
              <a:endParaRPr kumimoji="0" lang="es-MX" altLang="es-CO" dirty="0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01514012-D50D-3616-D47F-8AB1FDD96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7" y="245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40 N</a:t>
              </a:r>
              <a:endParaRPr kumimoji="0" lang="es-MX" altLang="es-CO" dirty="0"/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144E88D1-DB05-4CD9-88FC-04A7018EC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" y="2166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dirty="0"/>
                <a:t>A</a:t>
              </a:r>
              <a:endParaRPr kumimoji="0" lang="es-MX" altLang="es-CO" sz="3000" dirty="0"/>
            </a:p>
          </p:txBody>
        </p:sp>
        <p:grpSp>
          <p:nvGrpSpPr>
            <p:cNvPr id="20" name="Group 24">
              <a:extLst>
                <a:ext uri="{FF2B5EF4-FFF2-40B4-BE49-F238E27FC236}">
                  <a16:creationId xmlns:a16="http://schemas.microsoft.com/office/drawing/2014/main" id="{76807B07-AD7F-BBFF-98CF-2D640B6E23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2" y="2026"/>
              <a:ext cx="193" cy="159"/>
              <a:chOff x="3056" y="3067"/>
              <a:chExt cx="193" cy="159"/>
            </a:xfrm>
          </p:grpSpPr>
          <p:sp>
            <p:nvSpPr>
              <p:cNvPr id="21" name="Oval 21">
                <a:extLst>
                  <a:ext uri="{FF2B5EF4-FFF2-40B4-BE49-F238E27FC236}">
                    <a16:creationId xmlns:a16="http://schemas.microsoft.com/office/drawing/2014/main" id="{B886FBC9-33A1-D06A-5D92-D3B486596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6" y="3067"/>
                <a:ext cx="193" cy="15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2" name="Line 22">
                <a:extLst>
                  <a:ext uri="{FF2B5EF4-FFF2-40B4-BE49-F238E27FC236}">
                    <a16:creationId xmlns:a16="http://schemas.microsoft.com/office/drawing/2014/main" id="{8FDD3836-16B8-7014-6CE0-22F583344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8" y="3101"/>
                <a:ext cx="158" cy="10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3" name="Line 23">
                <a:extLst>
                  <a:ext uri="{FF2B5EF4-FFF2-40B4-BE49-F238E27FC236}">
                    <a16:creationId xmlns:a16="http://schemas.microsoft.com/office/drawing/2014/main" id="{F602E5AB-C14C-2E39-47B2-A485649AA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4" y="3096"/>
                <a:ext cx="158" cy="10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24" name="Text Box 27">
            <a:extLst>
              <a:ext uri="{FF2B5EF4-FFF2-40B4-BE49-F238E27FC236}">
                <a16:creationId xmlns:a16="http://schemas.microsoft.com/office/drawing/2014/main" id="{FC2F9CF2-EB8D-0261-19B4-D40827D26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9" y="1724278"/>
            <a:ext cx="2460624" cy="1938992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Encuentre </a:t>
            </a:r>
            <a:r>
              <a:rPr kumimoji="0" lang="es-MX" altLang="es-CO" sz="2400" dirty="0">
                <a:solidFill>
                  <a:srgbClr val="000000"/>
                </a:solidFill>
                <a:latin typeface="Symbol" panose="05050102010706020507" pitchFamily="18" charset="2"/>
              </a:rPr>
              <a:t>t </a:t>
            </a:r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debido a cada fuerza. Considere primero la fuerza de </a:t>
            </a:r>
            <a:r>
              <a:rPr kumimoji="0" lang="es-MX" altLang="es-CO" sz="2400" i="0" dirty="0">
                <a:solidFill>
                  <a:srgbClr val="000000"/>
                </a:solidFill>
                <a:latin typeface="Times New Roman" panose="02020603050405020304" pitchFamily="18" charset="0"/>
              </a:rPr>
              <a:t>20 N</a:t>
            </a:r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kumimoji="0" lang="es-MX" altLang="es-CO" sz="2400" dirty="0"/>
          </a:p>
        </p:txBody>
      </p:sp>
      <p:sp>
        <p:nvSpPr>
          <p:cNvPr id="25" name="Line 28">
            <a:extLst>
              <a:ext uri="{FF2B5EF4-FFF2-40B4-BE49-F238E27FC236}">
                <a16:creationId xmlns:a16="http://schemas.microsoft.com/office/drawing/2014/main" id="{2E1B7CD6-4FE3-C860-6D67-E81176832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5738" y="2231344"/>
            <a:ext cx="2622550" cy="17463"/>
          </a:xfrm>
          <a:prstGeom prst="line">
            <a:avLst/>
          </a:prstGeom>
          <a:noFill/>
          <a:ln w="9525">
            <a:solidFill>
              <a:srgbClr val="00B0F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26" name="Text Box 31">
            <a:extLst>
              <a:ext uri="{FF2B5EF4-FFF2-40B4-BE49-F238E27FC236}">
                <a16:creationId xmlns:a16="http://schemas.microsoft.com/office/drawing/2014/main" id="{FAFEEAC2-29D9-2487-A43A-D5BB8FE7E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4461137"/>
            <a:ext cx="3540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87338" indent="-2873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958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dirty="0">
                <a:latin typeface="+mn-lt"/>
              </a:rPr>
              <a:t>r = </a:t>
            </a:r>
            <a:r>
              <a:rPr kumimoji="0" lang="es-MX" altLang="es-CO" i="0" dirty="0">
                <a:latin typeface="+mn-lt"/>
              </a:rPr>
              <a:t>(4 m) sen 30</a:t>
            </a:r>
            <a:r>
              <a:rPr kumimoji="0" lang="es-MX" altLang="es-CO" i="0" baseline="30000" dirty="0">
                <a:latin typeface="+mn-lt"/>
              </a:rPr>
              <a:t>0</a:t>
            </a:r>
            <a:r>
              <a:rPr kumimoji="0" lang="es-MX" altLang="es-CO" i="0" dirty="0">
                <a:latin typeface="+mn-lt"/>
              </a:rPr>
              <a:t> = 2.00 m</a:t>
            </a:r>
            <a:endParaRPr kumimoji="0" lang="es-MX" altLang="es-CO" dirty="0">
              <a:latin typeface="+mn-lt"/>
            </a:endParaRPr>
          </a:p>
        </p:txBody>
      </p:sp>
      <p:sp>
        <p:nvSpPr>
          <p:cNvPr id="27" name="Text Box 32">
            <a:extLst>
              <a:ext uri="{FF2B5EF4-FFF2-40B4-BE49-F238E27FC236}">
                <a16:creationId xmlns:a16="http://schemas.microsoft.com/office/drawing/2014/main" id="{10F6BC4E-DB44-C80D-4677-2078AA548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5249027"/>
            <a:ext cx="35401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287338" indent="-2873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dirty="0">
                <a:latin typeface="Symbol" panose="05050102010706020507" pitchFamily="18" charset="2"/>
              </a:rPr>
              <a:t>t</a:t>
            </a:r>
            <a:r>
              <a:rPr kumimoji="0" lang="es-MX" altLang="es-CO" dirty="0"/>
              <a:t> = Fr = </a:t>
            </a:r>
            <a:r>
              <a:rPr kumimoji="0" lang="es-MX" altLang="es-CO" i="0" dirty="0"/>
              <a:t>(20 N)(2 m) = 40 N m, </a:t>
            </a:r>
            <a:r>
              <a:rPr kumimoji="0" lang="es-MX" altLang="es-CO" i="0" dirty="0" err="1"/>
              <a:t>mr</a:t>
            </a:r>
            <a:endParaRPr kumimoji="0" lang="es-MX" altLang="es-CO" dirty="0">
              <a:latin typeface="Symbol" panose="05050102010706020507" pitchFamily="18" charset="2"/>
            </a:endParaRPr>
          </a:p>
        </p:txBody>
      </p:sp>
      <p:sp>
        <p:nvSpPr>
          <p:cNvPr id="28" name="Text Box 33">
            <a:extLst>
              <a:ext uri="{FF2B5EF4-FFF2-40B4-BE49-F238E27FC236}">
                <a16:creationId xmlns:a16="http://schemas.microsoft.com/office/drawing/2014/main" id="{38890AA1-CE49-C0DC-8C84-E3DD11792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316" y="4066316"/>
            <a:ext cx="4632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El momento de torsión en torno a </a:t>
            </a:r>
            <a:r>
              <a:rPr kumimoji="0" lang="es-MX" altLang="es-CO" sz="2400" dirty="0" err="1"/>
              <a:t>A</a:t>
            </a:r>
            <a:r>
              <a:rPr kumimoji="0" lang="es-MX" altLang="es-CO" sz="2400" dirty="0"/>
              <a:t> es en sentido de las manecillas del reloj y negativo.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949B1549-178C-68F4-C93B-3513761AB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4312557"/>
            <a:ext cx="128588" cy="18510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30" name="Text Box 35">
            <a:extLst>
              <a:ext uri="{FF2B5EF4-FFF2-40B4-BE49-F238E27FC236}">
                <a16:creationId xmlns:a16="http://schemas.microsoft.com/office/drawing/2014/main" id="{7D8409A9-B1EE-0AF1-B324-E0EF8B46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925" y="5410333"/>
            <a:ext cx="2695575" cy="553998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r>
              <a:rPr kumimoji="0" lang="es-MX" altLang="es-CO" sz="2400" dirty="0">
                <a:solidFill>
                  <a:srgbClr val="000000"/>
                </a:solidFill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20</a:t>
            </a:r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= -</a:t>
            </a:r>
            <a:r>
              <a:rPr kumimoji="0" lang="es-MX" altLang="es-CO" sz="2400" i="0" dirty="0">
                <a:solidFill>
                  <a:srgbClr val="000000"/>
                </a:solidFill>
                <a:latin typeface="Times New Roman" panose="02020603050405020304" pitchFamily="18" charset="0"/>
              </a:rPr>
              <a:t>40 N m</a:t>
            </a:r>
            <a:endParaRPr kumimoji="0" lang="es-MX" altLang="es-CO" sz="2400" dirty="0">
              <a:latin typeface="Symbol" panose="05050102010706020507" pitchFamily="18" charset="2"/>
            </a:endParaRPr>
          </a:p>
        </p:txBody>
      </p:sp>
      <p:sp>
        <p:nvSpPr>
          <p:cNvPr id="31" name="Line 44">
            <a:extLst>
              <a:ext uri="{FF2B5EF4-FFF2-40B4-BE49-F238E27FC236}">
                <a16:creationId xmlns:a16="http://schemas.microsoft.com/office/drawing/2014/main" id="{810A375A-8A5A-3107-981A-62FF736A1A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35950" y="2248807"/>
            <a:ext cx="0" cy="6286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2" name="Text Box 45">
            <a:extLst>
              <a:ext uri="{FF2B5EF4-FFF2-40B4-BE49-F238E27FC236}">
                <a16:creationId xmlns:a16="http://schemas.microsoft.com/office/drawing/2014/main" id="{CF278EE1-109E-FC57-6306-5E9954A14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738" y="2283732"/>
            <a:ext cx="574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2000"/>
              <a:t>r</a:t>
            </a:r>
            <a:endParaRPr kumimoji="0" lang="es-MX" altLang="es-CO" sz="3000"/>
          </a:p>
        </p:txBody>
      </p:sp>
      <p:grpSp>
        <p:nvGrpSpPr>
          <p:cNvPr id="33" name="Group 46">
            <a:extLst>
              <a:ext uri="{FF2B5EF4-FFF2-40B4-BE49-F238E27FC236}">
                <a16:creationId xmlns:a16="http://schemas.microsoft.com/office/drawing/2014/main" id="{7F26CC40-A01B-8098-99AB-2DD388F04B14}"/>
              </a:ext>
            </a:extLst>
          </p:cNvPr>
          <p:cNvGrpSpPr>
            <a:grpSpLocks/>
          </p:cNvGrpSpPr>
          <p:nvPr/>
        </p:nvGrpSpPr>
        <p:grpSpPr bwMode="auto">
          <a:xfrm>
            <a:off x="7532688" y="1794782"/>
            <a:ext cx="1528762" cy="1385887"/>
            <a:chOff x="3779" y="1423"/>
            <a:chExt cx="963" cy="873"/>
          </a:xfrm>
        </p:grpSpPr>
        <p:sp>
          <p:nvSpPr>
            <p:cNvPr id="34" name="Arc 47">
              <a:extLst>
                <a:ext uri="{FF2B5EF4-FFF2-40B4-BE49-F238E27FC236}">
                  <a16:creationId xmlns:a16="http://schemas.microsoft.com/office/drawing/2014/main" id="{F8E925A5-9C77-EF81-D82D-861E4256D33C}"/>
                </a:ext>
              </a:extLst>
            </p:cNvPr>
            <p:cNvSpPr>
              <a:spLocks/>
            </p:cNvSpPr>
            <p:nvPr/>
          </p:nvSpPr>
          <p:spPr bwMode="auto">
            <a:xfrm rot="16742428" flipV="1">
              <a:off x="4243" y="1940"/>
              <a:ext cx="184" cy="19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5" name="Arc 48">
              <a:extLst>
                <a:ext uri="{FF2B5EF4-FFF2-40B4-BE49-F238E27FC236}">
                  <a16:creationId xmlns:a16="http://schemas.microsoft.com/office/drawing/2014/main" id="{407AC141-0E01-651D-7F4B-8789C5DDDABB}"/>
                </a:ext>
              </a:extLst>
            </p:cNvPr>
            <p:cNvSpPr>
              <a:spLocks/>
            </p:cNvSpPr>
            <p:nvPr/>
          </p:nvSpPr>
          <p:spPr bwMode="auto">
            <a:xfrm rot="-4857572" flipH="1" flipV="1">
              <a:off x="4227" y="2109"/>
              <a:ext cx="184" cy="1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Arc 49">
              <a:extLst>
                <a:ext uri="{FF2B5EF4-FFF2-40B4-BE49-F238E27FC236}">
                  <a16:creationId xmlns:a16="http://schemas.microsoft.com/office/drawing/2014/main" id="{5CDEF89A-96FA-58DB-A817-61997E0A3D20}"/>
                </a:ext>
              </a:extLst>
            </p:cNvPr>
            <p:cNvSpPr>
              <a:spLocks/>
            </p:cNvSpPr>
            <p:nvPr/>
          </p:nvSpPr>
          <p:spPr bwMode="auto">
            <a:xfrm rot="-4857572">
              <a:off x="4056" y="1903"/>
              <a:ext cx="184" cy="19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Text Box 50">
              <a:extLst>
                <a:ext uri="{FF2B5EF4-FFF2-40B4-BE49-F238E27FC236}">
                  <a16:creationId xmlns:a16="http://schemas.microsoft.com/office/drawing/2014/main" id="{8AE54EB1-EF16-65B2-8E29-BE652B3FC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" y="1423"/>
              <a:ext cx="9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dirty="0"/>
                <a:t>negativo</a:t>
              </a:r>
              <a:endParaRPr kumimoji="0" lang="es-MX" altLang="es-CO" sz="3000" dirty="0"/>
            </a:p>
          </p:txBody>
        </p:sp>
      </p:grpSp>
      <p:sp>
        <p:nvSpPr>
          <p:cNvPr id="38" name="Line 51">
            <a:extLst>
              <a:ext uri="{FF2B5EF4-FFF2-40B4-BE49-F238E27FC236}">
                <a16:creationId xmlns:a16="http://schemas.microsoft.com/office/drawing/2014/main" id="{CCC43469-EC1E-CF75-53C5-7301BD038E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51913" y="2258332"/>
            <a:ext cx="749300" cy="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931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4" grpId="0" animBg="1" autoUpdateAnimBg="0"/>
      <p:bldP spid="26" grpId="0" autoUpdateAnimBg="0"/>
      <p:bldP spid="27" grpId="0" autoUpdateAnimBg="0"/>
      <p:bldP spid="28" grpId="0" autoUpdateAnimBg="0"/>
      <p:bldP spid="30" grpId="0" animBg="1" autoUpdateAnimBg="0"/>
      <p:bldP spid="3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13EC0-BFF4-B8C2-87CD-84FC92059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BFFA7F9-153C-892F-4DDC-1F470B60D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732" y="153495"/>
            <a:ext cx="11209282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 A continuación encuentre el momento de torsión debido a la fuerza de 30 N en torno al mismo eje A.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4CE1DFA-5605-949A-8A9E-DC9FAF72F869}"/>
              </a:ext>
            </a:extLst>
          </p:cNvPr>
          <p:cNvGrpSpPr>
            <a:grpSpLocks/>
          </p:cNvGrpSpPr>
          <p:nvPr/>
        </p:nvGrpSpPr>
        <p:grpSpPr bwMode="auto">
          <a:xfrm>
            <a:off x="5378450" y="2087070"/>
            <a:ext cx="4357688" cy="1968500"/>
            <a:chOff x="2524" y="1414"/>
            <a:chExt cx="2745" cy="1240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5B3CC90-6C27-71E7-8EFC-AC17A60AC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060"/>
              <a:ext cx="1608" cy="1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7003BAD-AFFC-94E1-2529-E080D664BE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519782">
              <a:off x="4124" y="1856"/>
              <a:ext cx="667" cy="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22B11210-37B9-9BF5-FE88-BAFB6BC57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2105"/>
              <a:ext cx="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5EC364DA-D795-D88C-9FAD-CE3AF0A1A9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5" y="1709"/>
              <a:ext cx="4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89D0DEC5-DC7A-0DC9-8E0B-72AEF77C58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2" y="1754"/>
              <a:ext cx="396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25721E0-5046-965F-9AE2-3C973771B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" y="2105"/>
              <a:ext cx="0" cy="4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85B10C00-CB6F-E314-2196-F1A6E7625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" y="1861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30</a:t>
              </a:r>
              <a:r>
                <a:rPr kumimoji="0" lang="es-MX" altLang="es-CO" sz="2000" i="0" baseline="30000"/>
                <a:t>0</a:t>
              </a:r>
              <a:endParaRPr kumimoji="0" lang="es-MX" altLang="es-CO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3D920E80-37C1-F605-DDAC-24FB55E50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1" y="1833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30</a:t>
              </a:r>
              <a:r>
                <a:rPr kumimoji="0" lang="es-MX" altLang="es-CO" sz="2000" i="0" baseline="30000"/>
                <a:t>0</a:t>
              </a:r>
              <a:endParaRPr kumimoji="0" lang="es-MX" altLang="es-CO"/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13535487-1C6C-30D1-D29F-3A8E8F8BD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14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6 m</a:t>
              </a:r>
              <a:endParaRPr kumimoji="0" lang="es-MX" altLang="es-CO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D0E259C7-7924-4A20-3C28-9EAAE9906B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12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2 m</a:t>
              </a:r>
              <a:endParaRPr kumimoji="0" lang="es-MX" altLang="es-CO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58C8C139-B98A-6B62-10AB-14D4AD2F8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2229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4 m</a:t>
              </a:r>
              <a:endParaRPr kumimoji="0" lang="es-MX" altLang="es-CO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FA915BF3-8D3B-DB50-EDEC-7BAEA9E273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26" y="1947"/>
              <a:ext cx="136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97256115-E183-F111-7E65-299577A07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6" y="141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20 N</a:t>
              </a:r>
              <a:endParaRPr kumimoji="0" lang="es-MX" altLang="es-CO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84504CDE-3D3F-A85D-681D-82220CD59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4" y="1488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30 N</a:t>
              </a:r>
              <a:endParaRPr kumimoji="0" lang="es-MX" altLang="es-CO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DB1D263C-1202-7598-F603-ED1282E9D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40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40 N</a:t>
              </a:r>
              <a:endParaRPr kumimoji="0" lang="es-MX" altLang="es-CO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3D67397D-872D-85E9-181D-8BD31B060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" y="2205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/>
                <a:t>A</a:t>
              </a:r>
              <a:endParaRPr kumimoji="0" lang="es-MX" altLang="es-CO" sz="3000"/>
            </a:p>
          </p:txBody>
        </p: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02BD7ACE-2484-B70B-4A87-E5370E72C3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2" y="2026"/>
              <a:ext cx="193" cy="159"/>
              <a:chOff x="3056" y="3067"/>
              <a:chExt cx="193" cy="159"/>
            </a:xfrm>
          </p:grpSpPr>
          <p:sp>
            <p:nvSpPr>
              <p:cNvPr id="21" name="Oval 21">
                <a:extLst>
                  <a:ext uri="{FF2B5EF4-FFF2-40B4-BE49-F238E27FC236}">
                    <a16:creationId xmlns:a16="http://schemas.microsoft.com/office/drawing/2014/main" id="{DEEC44F4-43B0-F5F7-408B-8C492CBA5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6" y="3067"/>
                <a:ext cx="193" cy="15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2" name="Line 22">
                <a:extLst>
                  <a:ext uri="{FF2B5EF4-FFF2-40B4-BE49-F238E27FC236}">
                    <a16:creationId xmlns:a16="http://schemas.microsoft.com/office/drawing/2014/main" id="{8B52AC82-0AFF-F0B3-160C-810B0E4F4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8" y="3101"/>
                <a:ext cx="158" cy="10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3" name="Line 23">
                <a:extLst>
                  <a:ext uri="{FF2B5EF4-FFF2-40B4-BE49-F238E27FC236}">
                    <a16:creationId xmlns:a16="http://schemas.microsoft.com/office/drawing/2014/main" id="{78680430-8892-14BD-DB9B-5305D7DDC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4" y="3096"/>
                <a:ext cx="158" cy="10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24" name="Text Box 24">
            <a:extLst>
              <a:ext uri="{FF2B5EF4-FFF2-40B4-BE49-F238E27FC236}">
                <a16:creationId xmlns:a16="http://schemas.microsoft.com/office/drawing/2014/main" id="{A54272A3-084C-35EE-0F55-4C92C0B71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87" y="1827186"/>
            <a:ext cx="2516188" cy="1938992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dirty="0">
                <a:solidFill>
                  <a:srgbClr val="000000"/>
                </a:solidFill>
              </a:rPr>
              <a:t>Encuentre </a:t>
            </a:r>
            <a:r>
              <a:rPr lang="es-MX" altLang="es-CO" sz="2400" dirty="0">
                <a:latin typeface="Symbol" panose="05050102010706020507" pitchFamily="18" charset="2"/>
              </a:rPr>
              <a:t>t</a:t>
            </a:r>
            <a:r>
              <a:rPr kumimoji="0" lang="es-MX" altLang="es-CO" sz="2400" dirty="0">
                <a:solidFill>
                  <a:srgbClr val="000000"/>
                </a:solidFill>
              </a:rPr>
              <a:t> debido a cada fuerza. Considere a continuación la fuerza de 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30 N</a:t>
            </a:r>
            <a:r>
              <a:rPr kumimoji="0" lang="es-MX" altLang="es-CO" sz="2400" dirty="0">
                <a:solidFill>
                  <a:srgbClr val="000000"/>
                </a:solidFill>
              </a:rPr>
              <a:t>.</a:t>
            </a:r>
            <a:endParaRPr kumimoji="0" lang="es-MX" altLang="es-CO" sz="2400" dirty="0"/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36F6D5FE-4834-28D1-CE59-3806CDEA5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90" y="4499425"/>
            <a:ext cx="35401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87338" indent="-2873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958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dirty="0">
                <a:latin typeface="+mn-lt"/>
              </a:rPr>
              <a:t>r = </a:t>
            </a:r>
            <a:r>
              <a:rPr kumimoji="0" lang="es-MX" altLang="es-CO" i="0" dirty="0">
                <a:latin typeface="+mn-lt"/>
              </a:rPr>
              <a:t>(8 m) sen 30</a:t>
            </a:r>
            <a:r>
              <a:rPr kumimoji="0" lang="es-MX" altLang="es-CO" i="0" baseline="30000" dirty="0">
                <a:latin typeface="+mn-lt"/>
              </a:rPr>
              <a:t>0</a:t>
            </a:r>
            <a:r>
              <a:rPr kumimoji="0" lang="es-MX" altLang="es-CO" i="0" dirty="0">
                <a:latin typeface="+mn-lt"/>
              </a:rPr>
              <a:t> = 4.00 m</a:t>
            </a:r>
            <a:endParaRPr kumimoji="0" lang="es-MX" altLang="es-CO" dirty="0">
              <a:latin typeface="+mn-lt"/>
            </a:endParaRPr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97CB44FA-F1FB-3B1D-09EA-2263CE7A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25" y="5276357"/>
            <a:ext cx="35401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287338" indent="-2873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dirty="0">
                <a:latin typeface="Symbol" panose="05050102010706020507" pitchFamily="18" charset="2"/>
              </a:rPr>
              <a:t>t</a:t>
            </a:r>
            <a:r>
              <a:rPr kumimoji="0" lang="es-MX" altLang="es-CO" dirty="0"/>
              <a:t> = Fr = </a:t>
            </a:r>
            <a:r>
              <a:rPr kumimoji="0" lang="es-MX" altLang="es-CO" i="0" dirty="0"/>
              <a:t>(30 N)(4 m) = 120 N m, </a:t>
            </a:r>
            <a:r>
              <a:rPr kumimoji="0" lang="es-MX" altLang="es-CO" i="0" dirty="0" err="1"/>
              <a:t>mr</a:t>
            </a:r>
            <a:endParaRPr kumimoji="0" lang="es-MX" altLang="es-CO" dirty="0">
              <a:latin typeface="Symbol" panose="05050102010706020507" pitchFamily="18" charset="2"/>
            </a:endParaRPr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E25F9017-AACE-F32B-CC68-FE95CECB1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5" y="4120569"/>
            <a:ext cx="4632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El momento de torsión en torno a </a:t>
            </a:r>
            <a:r>
              <a:rPr kumimoji="0" lang="es-MX" altLang="es-CO" sz="2400" dirty="0" err="1"/>
              <a:t>A</a:t>
            </a:r>
            <a:r>
              <a:rPr kumimoji="0" lang="es-MX" altLang="es-CO" sz="2400" dirty="0"/>
              <a:t> es en sentido de las manecillas del reloj y negativo.</a:t>
            </a:r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16E52247-AEE2-F27B-852B-0A5DCE9CE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275" y="4350845"/>
            <a:ext cx="128588" cy="18510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29" name="Text Box 32">
            <a:extLst>
              <a:ext uri="{FF2B5EF4-FFF2-40B4-BE49-F238E27FC236}">
                <a16:creationId xmlns:a16="http://schemas.microsoft.com/office/drawing/2014/main" id="{7DED2AF9-A3A8-33CD-5BED-39BFCC4D5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5513708"/>
            <a:ext cx="2930525" cy="553998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r>
              <a:rPr kumimoji="0" lang="es-MX" altLang="es-CO" sz="2400">
                <a:solidFill>
                  <a:srgbClr val="000000"/>
                </a:solidFill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30</a:t>
            </a:r>
            <a:r>
              <a:rPr kumimoji="0"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kumimoji="0" lang="es-MX" altLang="es-CO" sz="2400" i="0">
                <a:solidFill>
                  <a:srgbClr val="000000"/>
                </a:solidFill>
                <a:latin typeface="Times New Roman" panose="02020603050405020304" pitchFamily="18" charset="0"/>
              </a:rPr>
              <a:t>-120</a:t>
            </a:r>
            <a:r>
              <a:rPr kumimoji="0"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0" lang="es-MX" altLang="es-CO" sz="2400" i="0">
                <a:solidFill>
                  <a:srgbClr val="000000"/>
                </a:solidFill>
                <a:latin typeface="Times New Roman" panose="02020603050405020304" pitchFamily="18" charset="0"/>
              </a:rPr>
              <a:t>N m</a:t>
            </a:r>
            <a:endParaRPr kumimoji="0" lang="es-MX" altLang="es-CO" sz="2400">
              <a:latin typeface="Symbol" panose="05050102010706020507" pitchFamily="18" charset="2"/>
            </a:endParaRPr>
          </a:p>
        </p:txBody>
      </p:sp>
      <p:sp>
        <p:nvSpPr>
          <p:cNvPr id="30" name="Line 33">
            <a:extLst>
              <a:ext uri="{FF2B5EF4-FFF2-40B4-BE49-F238E27FC236}">
                <a16:creationId xmlns:a16="http://schemas.microsoft.com/office/drawing/2014/main" id="{183B7309-B330-1EAC-D3A5-51A5DEFFF9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3038" y="1674320"/>
            <a:ext cx="2047875" cy="1851025"/>
          </a:xfrm>
          <a:prstGeom prst="line">
            <a:avLst/>
          </a:prstGeom>
          <a:noFill/>
          <a:ln w="12700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31" name="Group 36">
            <a:extLst>
              <a:ext uri="{FF2B5EF4-FFF2-40B4-BE49-F238E27FC236}">
                <a16:creationId xmlns:a16="http://schemas.microsoft.com/office/drawing/2014/main" id="{BD36188B-7BC7-019A-1A6C-426711BE7202}"/>
              </a:ext>
            </a:extLst>
          </p:cNvPr>
          <p:cNvGrpSpPr>
            <a:grpSpLocks/>
          </p:cNvGrpSpPr>
          <p:nvPr/>
        </p:nvGrpSpPr>
        <p:grpSpPr bwMode="auto">
          <a:xfrm>
            <a:off x="7015163" y="1980708"/>
            <a:ext cx="1077912" cy="1222375"/>
            <a:chOff x="3555" y="1347"/>
            <a:chExt cx="679" cy="770"/>
          </a:xfrm>
        </p:grpSpPr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AA02BC52-CEF8-95FD-653C-8222A4D4B7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55" y="1347"/>
              <a:ext cx="679" cy="7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3" name="Text Box 35">
              <a:extLst>
                <a:ext uri="{FF2B5EF4-FFF2-40B4-BE49-F238E27FC236}">
                  <a16:creationId xmlns:a16="http://schemas.microsoft.com/office/drawing/2014/main" id="{8BB11C18-E81F-1D32-BADD-4D0EC8C8C2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1413"/>
              <a:ext cx="3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/>
                <a:t>r</a:t>
              </a:r>
              <a:endParaRPr kumimoji="0" lang="es-MX" altLang="es-CO" sz="3000"/>
            </a:p>
          </p:txBody>
        </p:sp>
      </p:grpSp>
      <p:grpSp>
        <p:nvGrpSpPr>
          <p:cNvPr id="34" name="Group 42">
            <a:extLst>
              <a:ext uri="{FF2B5EF4-FFF2-40B4-BE49-F238E27FC236}">
                <a16:creationId xmlns:a16="http://schemas.microsoft.com/office/drawing/2014/main" id="{11E2FFA4-EA3F-AFD6-CFD3-CD87D5E6AE6B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285508"/>
            <a:ext cx="1528763" cy="1201737"/>
            <a:chOff x="3792" y="1539"/>
            <a:chExt cx="963" cy="757"/>
          </a:xfrm>
        </p:grpSpPr>
        <p:sp>
          <p:nvSpPr>
            <p:cNvPr id="35" name="Arc 38">
              <a:extLst>
                <a:ext uri="{FF2B5EF4-FFF2-40B4-BE49-F238E27FC236}">
                  <a16:creationId xmlns:a16="http://schemas.microsoft.com/office/drawing/2014/main" id="{15642904-FB6A-4B32-4234-857A538BF15E}"/>
                </a:ext>
              </a:extLst>
            </p:cNvPr>
            <p:cNvSpPr>
              <a:spLocks/>
            </p:cNvSpPr>
            <p:nvPr/>
          </p:nvSpPr>
          <p:spPr bwMode="auto">
            <a:xfrm rot="16742428" flipV="1">
              <a:off x="4243" y="1940"/>
              <a:ext cx="184" cy="19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Arc 39">
              <a:extLst>
                <a:ext uri="{FF2B5EF4-FFF2-40B4-BE49-F238E27FC236}">
                  <a16:creationId xmlns:a16="http://schemas.microsoft.com/office/drawing/2014/main" id="{772E35BA-9FAA-5BFB-1C15-C82463B33870}"/>
                </a:ext>
              </a:extLst>
            </p:cNvPr>
            <p:cNvSpPr>
              <a:spLocks/>
            </p:cNvSpPr>
            <p:nvPr/>
          </p:nvSpPr>
          <p:spPr bwMode="auto">
            <a:xfrm rot="-4857572" flipH="1" flipV="1">
              <a:off x="4227" y="2109"/>
              <a:ext cx="184" cy="1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Arc 40">
              <a:extLst>
                <a:ext uri="{FF2B5EF4-FFF2-40B4-BE49-F238E27FC236}">
                  <a16:creationId xmlns:a16="http://schemas.microsoft.com/office/drawing/2014/main" id="{1ABBCC38-B241-7698-2445-F9255BFC4BD3}"/>
                </a:ext>
              </a:extLst>
            </p:cNvPr>
            <p:cNvSpPr>
              <a:spLocks/>
            </p:cNvSpPr>
            <p:nvPr/>
          </p:nvSpPr>
          <p:spPr bwMode="auto">
            <a:xfrm rot="-4857572">
              <a:off x="4056" y="1903"/>
              <a:ext cx="184" cy="19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8" name="Text Box 41">
              <a:extLst>
                <a:ext uri="{FF2B5EF4-FFF2-40B4-BE49-F238E27FC236}">
                  <a16:creationId xmlns:a16="http://schemas.microsoft.com/office/drawing/2014/main" id="{F64B4D72-4CD4-3380-C723-9D1C6D14CF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539"/>
              <a:ext cx="9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>
                  <a:solidFill>
                    <a:srgbClr val="66FF33"/>
                  </a:solidFill>
                </a:rPr>
                <a:t>negativo</a:t>
              </a:r>
              <a:endParaRPr kumimoji="0" lang="es-MX" altLang="es-CO" sz="3000">
                <a:solidFill>
                  <a:srgbClr val="66FF33"/>
                </a:solidFill>
              </a:endParaRPr>
            </a:p>
          </p:txBody>
        </p:sp>
      </p:grpSp>
      <p:sp>
        <p:nvSpPr>
          <p:cNvPr id="39" name="Line 43">
            <a:extLst>
              <a:ext uri="{FF2B5EF4-FFF2-40B4-BE49-F238E27FC236}">
                <a16:creationId xmlns:a16="http://schemas.microsoft.com/office/drawing/2014/main" id="{F954A9FD-ADCD-0242-69AF-57196D7A16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11813" y="2606183"/>
            <a:ext cx="623887" cy="582612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134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4" grpId="0" animBg="1" autoUpdateAnimBg="0"/>
      <p:bldP spid="25" grpId="0" autoUpdateAnimBg="0"/>
      <p:bldP spid="26" grpId="0" autoUpdateAnimBg="0"/>
      <p:bldP spid="27" grpId="0" autoUpdateAnimBg="0"/>
      <p:bldP spid="29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5852A-619E-AB94-6C65-7726F7715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664F6DD-1DB2-01A9-F018-CAF92AA01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6027" y="190172"/>
            <a:ext cx="11398469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 Finalmente, considere el momento de torsión debido a la fuerza de 40 N.</a:t>
            </a: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0064382D-C067-43CA-53AD-05A5E338B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423" y="1794013"/>
            <a:ext cx="2552700" cy="1938992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dirty="0">
                <a:solidFill>
                  <a:srgbClr val="000000"/>
                </a:solidFill>
              </a:rPr>
              <a:t>Encuentre </a:t>
            </a:r>
            <a:r>
              <a:rPr lang="es-MX" altLang="es-CO" sz="2400" dirty="0">
                <a:latin typeface="Symbol" panose="05050102010706020507" pitchFamily="18" charset="2"/>
              </a:rPr>
              <a:t>t</a:t>
            </a:r>
            <a:r>
              <a:rPr kumimoji="0" lang="es-MX" altLang="es-CO" sz="2400" dirty="0">
                <a:solidFill>
                  <a:srgbClr val="000000"/>
                </a:solidFill>
              </a:rPr>
              <a:t> debido a cada fuerza. Considere a continuación la fuerza de 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40 N</a:t>
            </a:r>
            <a:r>
              <a:rPr kumimoji="0" lang="es-MX" altLang="es-CO" sz="2400" dirty="0">
                <a:solidFill>
                  <a:srgbClr val="000000"/>
                </a:solidFill>
              </a:rPr>
              <a:t>:</a:t>
            </a:r>
            <a:endParaRPr kumimoji="0" lang="es-MX" altLang="es-CO" sz="2400" dirty="0"/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5D2928F8-0CA7-D673-8FB0-EE58396D7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798" y="4247177"/>
            <a:ext cx="3540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87338" indent="-2873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958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dirty="0">
                <a:latin typeface="+mn-lt"/>
              </a:rPr>
              <a:t>r = </a:t>
            </a:r>
            <a:r>
              <a:rPr kumimoji="0" lang="es-MX" altLang="es-CO" i="0" dirty="0">
                <a:latin typeface="+mn-lt"/>
              </a:rPr>
              <a:t>(2 m) sen 90</a:t>
            </a:r>
            <a:r>
              <a:rPr kumimoji="0" lang="es-MX" altLang="es-CO" i="0" baseline="30000" dirty="0">
                <a:latin typeface="+mn-lt"/>
              </a:rPr>
              <a:t>0</a:t>
            </a:r>
            <a:r>
              <a:rPr kumimoji="0" lang="es-MX" altLang="es-CO" i="0" dirty="0">
                <a:latin typeface="+mn-lt"/>
              </a:rPr>
              <a:t> = 2.00 m</a:t>
            </a:r>
            <a:endParaRPr kumimoji="0" lang="es-MX" altLang="es-CO" dirty="0">
              <a:latin typeface="+mn-lt"/>
            </a:endParaRPr>
          </a:p>
        </p:txBody>
      </p:sp>
      <p:sp>
        <p:nvSpPr>
          <p:cNvPr id="5" name="Text Box 29">
            <a:extLst>
              <a:ext uri="{FF2B5EF4-FFF2-40B4-BE49-F238E27FC236}">
                <a16:creationId xmlns:a16="http://schemas.microsoft.com/office/drawing/2014/main" id="{09E1609C-E3C3-3F2A-D0D6-ABEE6869C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2598" y="5202336"/>
            <a:ext cx="35401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287338" indent="-2873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dirty="0">
                <a:latin typeface="Symbol" panose="05050102010706020507" pitchFamily="18" charset="2"/>
              </a:rPr>
              <a:t>t</a:t>
            </a:r>
            <a:r>
              <a:rPr kumimoji="0" lang="es-MX" altLang="es-CO" dirty="0"/>
              <a:t> = Fr = </a:t>
            </a:r>
            <a:r>
              <a:rPr kumimoji="0" lang="es-MX" altLang="es-CO" i="0" dirty="0"/>
              <a:t>(40 N)(2 m) = 80 N m, </a:t>
            </a:r>
            <a:r>
              <a:rPr kumimoji="0" lang="es-MX" altLang="es-CO" i="0" dirty="0" err="1"/>
              <a:t>cmr</a:t>
            </a:r>
            <a:endParaRPr kumimoji="0" lang="es-MX" altLang="es-CO" dirty="0">
              <a:latin typeface="Symbol" panose="05050102010706020507" pitchFamily="18" charset="2"/>
            </a:endParaRPr>
          </a:p>
        </p:txBody>
      </p:sp>
      <p:sp>
        <p:nvSpPr>
          <p:cNvPr id="6" name="Text Box 30">
            <a:extLst>
              <a:ext uri="{FF2B5EF4-FFF2-40B4-BE49-F238E27FC236}">
                <a16:creationId xmlns:a16="http://schemas.microsoft.com/office/drawing/2014/main" id="{935A0507-0F39-16D5-5E9F-B1E92CB8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816" y="4116059"/>
            <a:ext cx="42402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El momento de torsión en torno a </a:t>
            </a:r>
            <a:r>
              <a:rPr kumimoji="0" lang="es-MX" altLang="es-CO" sz="2400" dirty="0" err="1"/>
              <a:t>A</a:t>
            </a:r>
            <a:r>
              <a:rPr kumimoji="0" lang="es-MX" altLang="es-CO" sz="2400" dirty="0"/>
              <a:t> es CMR    y positivo.</a:t>
            </a: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36DD1B7B-82DB-636A-4BC8-4E071F390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185" y="4098597"/>
            <a:ext cx="128588" cy="18510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8" name="Text Box 32">
            <a:extLst>
              <a:ext uri="{FF2B5EF4-FFF2-40B4-BE49-F238E27FC236}">
                <a16:creationId xmlns:a16="http://schemas.microsoft.com/office/drawing/2014/main" id="{944D8EDD-6472-C2F4-1E4B-30183EBCC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1735" y="5339248"/>
            <a:ext cx="2695575" cy="553998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r>
              <a:rPr kumimoji="0" lang="es-MX" altLang="es-CO" sz="2400" dirty="0">
                <a:solidFill>
                  <a:srgbClr val="000000"/>
                </a:solidFill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kumimoji="0" lang="es-MX" altLang="es-CO" sz="2400" i="0" dirty="0">
                <a:solidFill>
                  <a:srgbClr val="000000"/>
                </a:solidFill>
                <a:latin typeface="Times New Roman" panose="02020603050405020304" pitchFamily="18" charset="0"/>
              </a:rPr>
              <a:t>+80</a:t>
            </a:r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0" lang="es-MX" altLang="es-CO" sz="2400" i="0" dirty="0">
                <a:solidFill>
                  <a:srgbClr val="000000"/>
                </a:solidFill>
                <a:latin typeface="Times New Roman" panose="02020603050405020304" pitchFamily="18" charset="0"/>
              </a:rPr>
              <a:t>N m</a:t>
            </a:r>
            <a:endParaRPr kumimoji="0" lang="es-MX" altLang="es-CO" sz="2400" dirty="0">
              <a:latin typeface="Symbol" panose="05050102010706020507" pitchFamily="18" charset="2"/>
            </a:endParaRPr>
          </a:p>
        </p:txBody>
      </p:sp>
      <p:grpSp>
        <p:nvGrpSpPr>
          <p:cNvPr id="9" name="Group 34">
            <a:extLst>
              <a:ext uri="{FF2B5EF4-FFF2-40B4-BE49-F238E27FC236}">
                <a16:creationId xmlns:a16="http://schemas.microsoft.com/office/drawing/2014/main" id="{7C934405-B988-CBF7-911F-014CD76121F5}"/>
              </a:ext>
            </a:extLst>
          </p:cNvPr>
          <p:cNvGrpSpPr>
            <a:grpSpLocks/>
          </p:cNvGrpSpPr>
          <p:nvPr/>
        </p:nvGrpSpPr>
        <p:grpSpPr bwMode="auto">
          <a:xfrm>
            <a:off x="4779360" y="1834822"/>
            <a:ext cx="4357688" cy="1968500"/>
            <a:chOff x="2524" y="1414"/>
            <a:chExt cx="2745" cy="1240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D955B044-B7C3-D2F3-6965-1585813C2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060"/>
              <a:ext cx="1608" cy="1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88BDCB0C-3CE1-273B-4E88-94BBAC0784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519782">
              <a:off x="4124" y="1856"/>
              <a:ext cx="667" cy="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6384337C-0ABB-EE4C-51F0-8C0BC3444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2105"/>
              <a:ext cx="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CA913DB1-10EE-A359-10CB-177B3DED16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5" y="1709"/>
              <a:ext cx="4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92FA8D8B-2638-2054-3679-951D3967E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2" y="1754"/>
              <a:ext cx="396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3F498E28-8D72-F96A-57CF-67580626C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7" y="1891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30</a:t>
              </a:r>
              <a:r>
                <a:rPr kumimoji="0" lang="es-MX" altLang="es-CO" sz="2000" i="0" baseline="30000" dirty="0"/>
                <a:t>0</a:t>
              </a:r>
              <a:endParaRPr kumimoji="0" lang="es-MX" altLang="es-CO" dirty="0"/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590E4AC2-0537-084F-4667-6680483B3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0" y="184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30</a:t>
              </a:r>
              <a:r>
                <a:rPr kumimoji="0" lang="es-MX" altLang="es-CO" sz="2000" i="0" baseline="30000" dirty="0"/>
                <a:t>0</a:t>
              </a:r>
              <a:endParaRPr kumimoji="0" lang="es-MX" altLang="es-CO" dirty="0"/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7F4433C7-BB87-6A06-3FF4-95288DB0C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14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6 m</a:t>
              </a:r>
              <a:endParaRPr kumimoji="0" lang="es-MX" altLang="es-CO"/>
            </a:p>
          </p:txBody>
        </p:sp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ADA0A28D-87F8-51C2-C599-0100DE2B6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12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2 m</a:t>
              </a:r>
              <a:endParaRPr kumimoji="0" lang="es-MX" altLang="es-CO"/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6D23C320-44E5-2976-3553-828B79FE5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2229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4 m</a:t>
              </a:r>
              <a:endParaRPr kumimoji="0" lang="es-MX" altLang="es-CO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5A181A98-FF1B-C0A0-A2DD-F648B30484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26" y="1947"/>
              <a:ext cx="136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Text Box 16">
              <a:extLst>
                <a:ext uri="{FF2B5EF4-FFF2-40B4-BE49-F238E27FC236}">
                  <a16:creationId xmlns:a16="http://schemas.microsoft.com/office/drawing/2014/main" id="{86F7297C-CD08-B2BC-083A-9F3B669C1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6" y="141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20 N</a:t>
              </a:r>
              <a:endParaRPr kumimoji="0" lang="es-MX" altLang="es-CO"/>
            </a:p>
          </p:txBody>
        </p:sp>
        <p:sp>
          <p:nvSpPr>
            <p:cNvPr id="22" name="Text Box 17">
              <a:extLst>
                <a:ext uri="{FF2B5EF4-FFF2-40B4-BE49-F238E27FC236}">
                  <a16:creationId xmlns:a16="http://schemas.microsoft.com/office/drawing/2014/main" id="{56088746-9295-111B-1B5A-127C035C9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4" y="1488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30 N</a:t>
              </a:r>
              <a:endParaRPr kumimoji="0" lang="es-MX" altLang="es-CO"/>
            </a:p>
          </p:txBody>
        </p:sp>
        <p:sp>
          <p:nvSpPr>
            <p:cNvPr id="23" name="Text Box 18">
              <a:extLst>
                <a:ext uri="{FF2B5EF4-FFF2-40B4-BE49-F238E27FC236}">
                  <a16:creationId xmlns:a16="http://schemas.microsoft.com/office/drawing/2014/main" id="{53DC5AB0-090E-F276-C472-CEBAEFBCB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40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40 N</a:t>
              </a:r>
              <a:endParaRPr kumimoji="0" lang="es-MX" altLang="es-CO"/>
            </a:p>
          </p:txBody>
        </p:sp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69418C3D-35F4-799F-23B4-667AAD304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" y="2205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/>
                <a:t>A</a:t>
              </a:r>
              <a:endParaRPr kumimoji="0" lang="es-MX" altLang="es-CO" sz="3000"/>
            </a:p>
          </p:txBody>
        </p:sp>
        <p:grpSp>
          <p:nvGrpSpPr>
            <p:cNvPr id="25" name="Group 20">
              <a:extLst>
                <a:ext uri="{FF2B5EF4-FFF2-40B4-BE49-F238E27FC236}">
                  <a16:creationId xmlns:a16="http://schemas.microsoft.com/office/drawing/2014/main" id="{35E7BC5D-4478-B87A-9B42-61171378EA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2" y="2026"/>
              <a:ext cx="193" cy="159"/>
              <a:chOff x="3056" y="3067"/>
              <a:chExt cx="193" cy="159"/>
            </a:xfrm>
          </p:grpSpPr>
          <p:sp>
            <p:nvSpPr>
              <p:cNvPr id="29" name="Oval 21">
                <a:extLst>
                  <a:ext uri="{FF2B5EF4-FFF2-40B4-BE49-F238E27FC236}">
                    <a16:creationId xmlns:a16="http://schemas.microsoft.com/office/drawing/2014/main" id="{3F29DBAC-C7EB-DE46-010D-363908C97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6" y="3067"/>
                <a:ext cx="193" cy="15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0" name="Line 22">
                <a:extLst>
                  <a:ext uri="{FF2B5EF4-FFF2-40B4-BE49-F238E27FC236}">
                    <a16:creationId xmlns:a16="http://schemas.microsoft.com/office/drawing/2014/main" id="{5BC98BA3-C62B-E495-C966-D15B5E507A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8" y="3101"/>
                <a:ext cx="158" cy="10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1" name="Line 23">
                <a:extLst>
                  <a:ext uri="{FF2B5EF4-FFF2-40B4-BE49-F238E27FC236}">
                    <a16:creationId xmlns:a16="http://schemas.microsoft.com/office/drawing/2014/main" id="{B69A0AD4-2433-06C1-CE5B-A23DA1C8C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4" y="3096"/>
                <a:ext cx="158" cy="10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59DA07A7-077D-9630-E938-5B7CC5EC5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3" y="1821"/>
              <a:ext cx="3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/>
                <a:t>r</a:t>
              </a:r>
              <a:endParaRPr kumimoji="0" lang="es-MX" altLang="es-CO" sz="3000"/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B039C7A3-8B9C-BA08-F757-66D50CD69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84" y="1488"/>
              <a:ext cx="12" cy="967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Line 9">
              <a:extLst>
                <a:ext uri="{FF2B5EF4-FFF2-40B4-BE49-F238E27FC236}">
                  <a16:creationId xmlns:a16="http://schemas.microsoft.com/office/drawing/2014/main" id="{DE125EEA-A3A0-2A4F-747A-D17FEC6339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" y="2105"/>
              <a:ext cx="0" cy="4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32" name="Line 35">
            <a:extLst>
              <a:ext uri="{FF2B5EF4-FFF2-40B4-BE49-F238E27FC236}">
                <a16:creationId xmlns:a16="http://schemas.microsoft.com/office/drawing/2014/main" id="{7BA8F1B3-0732-6207-487D-E5FBA3977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9910" y="2942897"/>
            <a:ext cx="706438" cy="0"/>
          </a:xfrm>
          <a:prstGeom prst="line">
            <a:avLst/>
          </a:prstGeom>
          <a:noFill/>
          <a:ln w="9525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33" name="Group 36">
            <a:extLst>
              <a:ext uri="{FF2B5EF4-FFF2-40B4-BE49-F238E27FC236}">
                <a16:creationId xmlns:a16="http://schemas.microsoft.com/office/drawing/2014/main" id="{B39BFCB2-4BD2-E35A-07AB-594DD48100BE}"/>
              </a:ext>
            </a:extLst>
          </p:cNvPr>
          <p:cNvGrpSpPr>
            <a:grpSpLocks/>
          </p:cNvGrpSpPr>
          <p:nvPr/>
        </p:nvGrpSpPr>
        <p:grpSpPr bwMode="auto">
          <a:xfrm>
            <a:off x="6771673" y="1849110"/>
            <a:ext cx="1528762" cy="1385887"/>
            <a:chOff x="3779" y="1423"/>
            <a:chExt cx="963" cy="873"/>
          </a:xfrm>
        </p:grpSpPr>
        <p:sp>
          <p:nvSpPr>
            <p:cNvPr id="34" name="Arc 37">
              <a:extLst>
                <a:ext uri="{FF2B5EF4-FFF2-40B4-BE49-F238E27FC236}">
                  <a16:creationId xmlns:a16="http://schemas.microsoft.com/office/drawing/2014/main" id="{3476FCE4-5BE0-4B71-CBAD-1B623F271A7B}"/>
                </a:ext>
              </a:extLst>
            </p:cNvPr>
            <p:cNvSpPr>
              <a:spLocks/>
            </p:cNvSpPr>
            <p:nvPr/>
          </p:nvSpPr>
          <p:spPr bwMode="auto">
            <a:xfrm rot="16742428" flipV="1">
              <a:off x="4243" y="1940"/>
              <a:ext cx="184" cy="19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5" name="Arc 38">
              <a:extLst>
                <a:ext uri="{FF2B5EF4-FFF2-40B4-BE49-F238E27FC236}">
                  <a16:creationId xmlns:a16="http://schemas.microsoft.com/office/drawing/2014/main" id="{BC02398E-9810-E49B-6450-2F6F07DF61FF}"/>
                </a:ext>
              </a:extLst>
            </p:cNvPr>
            <p:cNvSpPr>
              <a:spLocks/>
            </p:cNvSpPr>
            <p:nvPr/>
          </p:nvSpPr>
          <p:spPr bwMode="auto">
            <a:xfrm rot="-4857572" flipH="1" flipV="1">
              <a:off x="4227" y="2109"/>
              <a:ext cx="184" cy="1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Arc 39">
              <a:extLst>
                <a:ext uri="{FF2B5EF4-FFF2-40B4-BE49-F238E27FC236}">
                  <a16:creationId xmlns:a16="http://schemas.microsoft.com/office/drawing/2014/main" id="{9A8429BB-E576-F927-E681-DC02DEA7CE32}"/>
                </a:ext>
              </a:extLst>
            </p:cNvPr>
            <p:cNvSpPr>
              <a:spLocks/>
            </p:cNvSpPr>
            <p:nvPr/>
          </p:nvSpPr>
          <p:spPr bwMode="auto">
            <a:xfrm rot="-4857572">
              <a:off x="4056" y="1903"/>
              <a:ext cx="184" cy="19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Text Box 40">
              <a:extLst>
                <a:ext uri="{FF2B5EF4-FFF2-40B4-BE49-F238E27FC236}">
                  <a16:creationId xmlns:a16="http://schemas.microsoft.com/office/drawing/2014/main" id="{3D4C778E-C533-C930-E7DA-CD0210B2B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" y="1423"/>
              <a:ext cx="9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dirty="0"/>
                <a:t>positivo</a:t>
              </a:r>
              <a:endParaRPr kumimoji="0" lang="es-MX" altLang="es-CO" sz="3000" dirty="0"/>
            </a:p>
          </p:txBody>
        </p:sp>
      </p:grpSp>
      <p:sp>
        <p:nvSpPr>
          <p:cNvPr id="38" name="Line 41">
            <a:extLst>
              <a:ext uri="{FF2B5EF4-FFF2-40B4-BE49-F238E27FC236}">
                <a16:creationId xmlns:a16="http://schemas.microsoft.com/office/drawing/2014/main" id="{BF1D7E8E-6FE6-6C4B-B796-CC337F921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3560" y="2936547"/>
            <a:ext cx="0" cy="706438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429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animBg="1" autoUpdateAnimBg="0"/>
      <p:bldP spid="4" grpId="0" autoUpdateAnimBg="0"/>
      <p:bldP spid="5" grpId="0" autoUpdateAnimBg="0"/>
      <p:bldP spid="6" grpId="0" autoUpdateAnimBg="0"/>
      <p:bldP spid="8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4BE99-E07B-C5B0-EB7A-1E019444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78B8738-B840-75A4-1374-5582C9367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262" y="199752"/>
            <a:ext cx="11303875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(conclusión):</a:t>
            </a:r>
            <a:r>
              <a:rPr lang="es-MX" altLang="es-CO" sz="2400" dirty="0"/>
              <a:t>  Encuentre el momento de torsión resultante en torno al eje A para el arreglo que se muestra abajo: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B4365FC-80EA-BBBB-19EB-C7228ADDDDB4}"/>
              </a:ext>
            </a:extLst>
          </p:cNvPr>
          <p:cNvGrpSpPr>
            <a:grpSpLocks/>
          </p:cNvGrpSpPr>
          <p:nvPr/>
        </p:nvGrpSpPr>
        <p:grpSpPr bwMode="auto">
          <a:xfrm>
            <a:off x="5127954" y="1977752"/>
            <a:ext cx="4357688" cy="1968500"/>
            <a:chOff x="2524" y="1414"/>
            <a:chExt cx="2745" cy="1240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55740AFD-2DA9-34CB-9430-EFA7D15AE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060"/>
              <a:ext cx="1608" cy="1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9E8FCC6-89E1-0519-ABAE-F8CDC8E724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519782">
              <a:off x="4124" y="1856"/>
              <a:ext cx="667" cy="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43A1681E-06DD-B694-ACD5-5DF828E37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2105"/>
              <a:ext cx="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A36EAEC3-3142-006D-3232-C4D02DAFFE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5" y="1709"/>
              <a:ext cx="4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A70ADA7F-9636-73D4-6A1E-6D9F561D4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2" y="1754"/>
              <a:ext cx="396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8F46303E-CCD5-C91F-8C28-E9A4F0DE49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" y="2105"/>
              <a:ext cx="0" cy="4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AEB6C73D-EC98-8E80-DB76-2F9545CA1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6" y="1881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30</a:t>
              </a:r>
              <a:r>
                <a:rPr kumimoji="0" lang="es-MX" altLang="es-CO" sz="2000" i="0" baseline="30000" dirty="0"/>
                <a:t>0</a:t>
              </a:r>
              <a:endParaRPr kumimoji="0" lang="es-MX" altLang="es-CO" dirty="0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2F36BE58-D9AB-1DD7-9593-AB243502A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9" y="1832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 dirty="0"/>
                <a:t>30</a:t>
              </a:r>
              <a:r>
                <a:rPr kumimoji="0" lang="es-MX" altLang="es-CO" sz="2000" i="0" baseline="30000" dirty="0"/>
                <a:t>0</a:t>
              </a:r>
              <a:endParaRPr kumimoji="0" lang="es-MX" altLang="es-CO" dirty="0"/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3FF51F45-C31B-C95B-B5A5-267AD01CB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14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6 m</a:t>
              </a:r>
              <a:endParaRPr kumimoji="0" lang="es-MX" altLang="es-CO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AEFD1EF7-ED81-25FE-1FE7-B6D8F0055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12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2 m</a:t>
              </a:r>
              <a:endParaRPr kumimoji="0" lang="es-MX" altLang="es-CO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5FD0CC6-9E6D-F7E0-002F-506ACE981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2229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4 m</a:t>
              </a:r>
              <a:endParaRPr kumimoji="0" lang="es-MX" altLang="es-CO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AC44F24A-3F87-E1A3-E373-918D69290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26" y="1947"/>
              <a:ext cx="136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478BA9C7-2326-4456-D09A-0BDBA3EC6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6" y="141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20 N</a:t>
              </a:r>
              <a:endParaRPr kumimoji="0" lang="es-MX" altLang="es-CO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BD7492AB-C376-9049-0ED5-25131CDCF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4" y="1488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30 N</a:t>
              </a:r>
              <a:endParaRPr kumimoji="0" lang="es-MX" altLang="es-CO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D357C38E-95CC-740C-083B-61A6C210A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404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000" i="0"/>
                <a:t>40 N</a:t>
              </a:r>
              <a:endParaRPr kumimoji="0" lang="es-MX" altLang="es-CO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4B4C4583-24E7-13D5-B2B9-44498FB04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" y="2205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/>
                <a:t>A</a:t>
              </a:r>
              <a:endParaRPr kumimoji="0" lang="es-MX" altLang="es-CO" sz="3000"/>
            </a:p>
          </p:txBody>
        </p: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70E707EB-99C5-20EA-CCFA-F76810ED8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2" y="2026"/>
              <a:ext cx="193" cy="159"/>
              <a:chOff x="3056" y="3067"/>
              <a:chExt cx="193" cy="159"/>
            </a:xfrm>
          </p:grpSpPr>
          <p:sp>
            <p:nvSpPr>
              <p:cNvPr id="21" name="Oval 21">
                <a:extLst>
                  <a:ext uri="{FF2B5EF4-FFF2-40B4-BE49-F238E27FC236}">
                    <a16:creationId xmlns:a16="http://schemas.microsoft.com/office/drawing/2014/main" id="{8C0DA279-9FA2-C512-3775-3CE261A88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6" y="3067"/>
                <a:ext cx="193" cy="15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2" name="Line 22">
                <a:extLst>
                  <a:ext uri="{FF2B5EF4-FFF2-40B4-BE49-F238E27FC236}">
                    <a16:creationId xmlns:a16="http://schemas.microsoft.com/office/drawing/2014/main" id="{3DAEC438-3D03-8BBF-A35B-3C94B8C75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8" y="3101"/>
                <a:ext cx="158" cy="10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3" name="Line 23">
                <a:extLst>
                  <a:ext uri="{FF2B5EF4-FFF2-40B4-BE49-F238E27FC236}">
                    <a16:creationId xmlns:a16="http://schemas.microsoft.com/office/drawing/2014/main" id="{8BD98170-9C60-DD46-C3A1-320602F26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4" y="3096"/>
                <a:ext cx="158" cy="10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24" name="Text Box 24">
            <a:extLst>
              <a:ext uri="{FF2B5EF4-FFF2-40B4-BE49-F238E27FC236}">
                <a16:creationId xmlns:a16="http://schemas.microsoft.com/office/drawing/2014/main" id="{5D303E7B-2EB2-8306-1745-FBE1268CA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0041" y="1817087"/>
            <a:ext cx="3100388" cy="1938992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dirty="0">
                <a:solidFill>
                  <a:srgbClr val="000000"/>
                </a:solidFill>
              </a:rPr>
              <a:t>El momento de torsión resultante es la suma de los momentos de torsión individuales.</a:t>
            </a:r>
            <a:endParaRPr kumimoji="0" lang="es-MX" altLang="es-CO" sz="2400" dirty="0"/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393877FB-F93C-1CBC-4DC8-2187B2335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404" y="5386927"/>
            <a:ext cx="2695575" cy="553998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r>
              <a:rPr kumimoji="0" lang="es-MX" altLang="es-CO" sz="2400" dirty="0" err="1">
                <a:solidFill>
                  <a:srgbClr val="000000"/>
                </a:solidFill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= - </a:t>
            </a:r>
            <a:r>
              <a:rPr kumimoji="0" lang="es-MX" altLang="es-CO" sz="2400" i="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r>
              <a:rPr kumimoji="0"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0" lang="es-MX" altLang="es-CO" sz="2400" i="0" dirty="0">
                <a:solidFill>
                  <a:srgbClr val="000000"/>
                </a:solidFill>
                <a:latin typeface="Times New Roman" panose="02020603050405020304" pitchFamily="18" charset="0"/>
              </a:rPr>
              <a:t>N m</a:t>
            </a:r>
            <a:endParaRPr kumimoji="0" lang="es-MX" altLang="es-CO" sz="2400" dirty="0">
              <a:latin typeface="Symbol" panose="05050102010706020507" pitchFamily="18" charset="2"/>
            </a:endParaRPr>
          </a:p>
        </p:txBody>
      </p:sp>
      <p:sp>
        <p:nvSpPr>
          <p:cNvPr id="26" name="Text Box 34">
            <a:extLst>
              <a:ext uri="{FF2B5EF4-FFF2-40B4-BE49-F238E27FC236}">
                <a16:creationId xmlns:a16="http://schemas.microsoft.com/office/drawing/2014/main" id="{B511DE33-96E8-55F4-83F1-D84FA2CC6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854" y="5264304"/>
            <a:ext cx="360307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es-MX" altLang="es-CO" sz="2400" dirty="0"/>
              <a:t>Sentido de las manecillas del reloj (MR)</a:t>
            </a:r>
          </a:p>
        </p:txBody>
      </p:sp>
      <p:sp>
        <p:nvSpPr>
          <p:cNvPr id="27" name="Text Box 36">
            <a:extLst>
              <a:ext uri="{FF2B5EF4-FFF2-40B4-BE49-F238E27FC236}">
                <a16:creationId xmlns:a16="http://schemas.microsoft.com/office/drawing/2014/main" id="{4849076F-4610-3A0F-6DF2-DEB232E21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5292" y="4274219"/>
            <a:ext cx="8172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 err="1"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 err="1">
                <a:latin typeface="Times New Roman" panose="02020603050405020304" pitchFamily="18" charset="0"/>
              </a:rPr>
              <a:t>R</a:t>
            </a:r>
            <a:r>
              <a:rPr kumimoji="0" lang="es-MX" altLang="es-CO" sz="2400" dirty="0">
                <a:latin typeface="Times New Roman" panose="02020603050405020304" pitchFamily="18" charset="0"/>
              </a:rPr>
              <a:t> = </a:t>
            </a:r>
            <a:r>
              <a:rPr kumimoji="0" lang="es-MX" altLang="es-CO" sz="2400" dirty="0"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latin typeface="Times New Roman" panose="02020603050405020304" pitchFamily="18" charset="0"/>
              </a:rPr>
              <a:t>20 </a:t>
            </a:r>
            <a:r>
              <a:rPr kumimoji="0" lang="es-MX" altLang="es-CO" sz="2400" dirty="0">
                <a:latin typeface="Times New Roman" panose="02020603050405020304" pitchFamily="18" charset="0"/>
              </a:rPr>
              <a:t>+ </a:t>
            </a:r>
            <a:r>
              <a:rPr kumimoji="0" lang="es-MX" altLang="es-CO" sz="2400" dirty="0"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latin typeface="Times New Roman" panose="02020603050405020304" pitchFamily="18" charset="0"/>
              </a:rPr>
              <a:t>30</a:t>
            </a:r>
            <a:r>
              <a:rPr kumimoji="0" lang="es-MX" altLang="es-CO" sz="2400" dirty="0">
                <a:latin typeface="Times New Roman" panose="02020603050405020304" pitchFamily="18" charset="0"/>
              </a:rPr>
              <a:t> + </a:t>
            </a:r>
            <a:r>
              <a:rPr kumimoji="0" lang="es-MX" altLang="es-CO" sz="2400" dirty="0"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latin typeface="Times New Roman" panose="02020603050405020304" pitchFamily="18" charset="0"/>
              </a:rPr>
              <a:t>40</a:t>
            </a:r>
            <a:r>
              <a:rPr kumimoji="0" lang="es-MX" altLang="es-CO" sz="2400" dirty="0">
                <a:latin typeface="Times New Roman" panose="02020603050405020304" pitchFamily="18" charset="0"/>
              </a:rPr>
              <a:t> = </a:t>
            </a:r>
            <a:r>
              <a:rPr kumimoji="0" lang="es-MX" altLang="es-CO" sz="2400" i="0" dirty="0">
                <a:latin typeface="Times New Roman" panose="02020603050405020304" pitchFamily="18" charset="0"/>
              </a:rPr>
              <a:t>-40 N m -120 N m + 80 N m</a:t>
            </a:r>
          </a:p>
        </p:txBody>
      </p:sp>
    </p:spTree>
    <p:extLst>
      <p:ext uri="{BB962C8B-B14F-4D97-AF65-F5344CB8AC3E}">
        <p14:creationId xmlns:p14="http://schemas.microsoft.com/office/powerpoint/2010/main" val="9276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4" grpId="0" animBg="1" autoUpdateAnimBg="0"/>
      <p:bldP spid="25" grpId="0" animBg="1" autoUpdateAnimBg="0"/>
      <p:bldP spid="26" grpId="0" autoUpdateAnimBg="0"/>
      <p:bldP spid="2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8AE4D-95A8-F078-8CF9-1F76E5E0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B700583-A350-CCC5-3F2A-01AE9B4A2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5544" y="126234"/>
            <a:ext cx="7315200" cy="879419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Equilibrio traslacional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BCE1D57-4712-9AB0-F425-544EFDC92CDA}"/>
              </a:ext>
            </a:extLst>
          </p:cNvPr>
          <p:cNvSpPr txBox="1">
            <a:spLocks noChangeArrowheads="1"/>
          </p:cNvSpPr>
          <p:nvPr/>
        </p:nvSpPr>
        <p:spPr>
          <a:xfrm>
            <a:off x="1750521" y="1216052"/>
            <a:ext cx="5467350" cy="223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altLang="es-CO" sz="2400" dirty="0"/>
              <a:t>Se dice que un objeto está en equilibrio traslacional si y sólo si no existe fuerza resultante. </a:t>
            </a:r>
          </a:p>
          <a:p>
            <a:r>
              <a:rPr lang="es-MX" altLang="es-CO" sz="2400" dirty="0"/>
              <a:t>Esto significa que la suma de todas las fuerzas actuantes es cero.</a:t>
            </a:r>
            <a:endParaRPr lang="es-MX" altLang="es-CO" sz="2400" i="1" dirty="0"/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87B3110E-404C-8016-490E-8780721245D2}"/>
              </a:ext>
            </a:extLst>
          </p:cNvPr>
          <p:cNvGrpSpPr>
            <a:grpSpLocks/>
          </p:cNvGrpSpPr>
          <p:nvPr/>
        </p:nvGrpSpPr>
        <p:grpSpPr bwMode="auto">
          <a:xfrm>
            <a:off x="7984632" y="1496247"/>
            <a:ext cx="2330450" cy="2214562"/>
            <a:chOff x="3977" y="1161"/>
            <a:chExt cx="1468" cy="1395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227DBF8-DE41-96F7-DCF6-35E46E1C1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" y="1161"/>
              <a:ext cx="1468" cy="121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A6440E12-5A1D-140C-EDF0-33897FE199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9" y="1981"/>
              <a:ext cx="258" cy="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80A9A356-94EA-319E-E506-6216507F3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3" y="1690"/>
              <a:ext cx="10" cy="34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1F4330B3-9C15-A711-45AC-11B737A4F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" y="1590"/>
              <a:ext cx="157" cy="139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DFDF71C6-9B85-628D-BE5F-B67DF907B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" y="1272"/>
              <a:ext cx="455" cy="363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915152C5-44CC-AEFC-5350-23ECEFFD2D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0" y="1282"/>
              <a:ext cx="446" cy="34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sp>
        <p:nvSpPr>
          <p:cNvPr id="11" name="Text Box 13">
            <a:extLst>
              <a:ext uri="{FF2B5EF4-FFF2-40B4-BE49-F238E27FC236}">
                <a16:creationId xmlns:a16="http://schemas.microsoft.com/office/drawing/2014/main" id="{F2C69337-8745-9E37-2EE4-3B1EC43A2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544" y="4208068"/>
            <a:ext cx="8307387" cy="83099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r>
              <a:rPr lang="es-MX" altLang="es-CO" sz="2400" b="0" u="none"/>
              <a:t>En el ejemplo, la resultante de las tres fuerzas A, B y C que actúan sobre el anillo debe ser cero.</a:t>
            </a:r>
          </a:p>
        </p:txBody>
      </p:sp>
      <p:grpSp>
        <p:nvGrpSpPr>
          <p:cNvPr id="12" name="Group 20">
            <a:extLst>
              <a:ext uri="{FF2B5EF4-FFF2-40B4-BE49-F238E27FC236}">
                <a16:creationId xmlns:a16="http://schemas.microsoft.com/office/drawing/2014/main" id="{0529F407-11CD-965E-3E82-CC0D88686CC9}"/>
              </a:ext>
            </a:extLst>
          </p:cNvPr>
          <p:cNvGrpSpPr>
            <a:grpSpLocks/>
          </p:cNvGrpSpPr>
          <p:nvPr/>
        </p:nvGrpSpPr>
        <p:grpSpPr bwMode="auto">
          <a:xfrm>
            <a:off x="9146678" y="1858199"/>
            <a:ext cx="768349" cy="528638"/>
            <a:chOff x="4709" y="1389"/>
            <a:chExt cx="484" cy="333"/>
          </a:xfrm>
        </p:grpSpPr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DF4DAF2F-A2CA-6092-E32F-2D95F7232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9" y="1389"/>
              <a:ext cx="297" cy="22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4" name="Text Box 17">
              <a:extLst>
                <a:ext uri="{FF2B5EF4-FFF2-40B4-BE49-F238E27FC236}">
                  <a16:creationId xmlns:a16="http://schemas.microsoft.com/office/drawing/2014/main" id="{9C4E740C-EDE4-B23E-0629-72D59425E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0" y="1431"/>
              <a:ext cx="3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u="none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5" name="Group 21">
            <a:extLst>
              <a:ext uri="{FF2B5EF4-FFF2-40B4-BE49-F238E27FC236}">
                <a16:creationId xmlns:a16="http://schemas.microsoft.com/office/drawing/2014/main" id="{3D4B51CB-6394-6375-C0E4-9FC36332223F}"/>
              </a:ext>
            </a:extLst>
          </p:cNvPr>
          <p:cNvGrpSpPr>
            <a:grpSpLocks/>
          </p:cNvGrpSpPr>
          <p:nvPr/>
        </p:nvGrpSpPr>
        <p:grpSpPr bwMode="auto">
          <a:xfrm>
            <a:off x="8637094" y="2386836"/>
            <a:ext cx="592137" cy="592138"/>
            <a:chOff x="4388" y="1722"/>
            <a:chExt cx="373" cy="373"/>
          </a:xfrm>
        </p:grpSpPr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5386BB34-529C-7B1D-9612-582BF7263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3" y="1722"/>
              <a:ext cx="9" cy="373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00D43BEC-F772-7E7E-CF9A-12DFD40E1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8" y="1756"/>
              <a:ext cx="3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u="none" dirty="0"/>
                <a:t>C</a:t>
              </a:r>
            </a:p>
          </p:txBody>
        </p:sp>
      </p:grpSp>
      <p:grpSp>
        <p:nvGrpSpPr>
          <p:cNvPr id="18" name="Group 24">
            <a:extLst>
              <a:ext uri="{FF2B5EF4-FFF2-40B4-BE49-F238E27FC236}">
                <a16:creationId xmlns:a16="http://schemas.microsoft.com/office/drawing/2014/main" id="{96AAA4BE-25C1-CB80-1A93-74984B290CE4}"/>
              </a:ext>
            </a:extLst>
          </p:cNvPr>
          <p:cNvGrpSpPr>
            <a:grpSpLocks/>
          </p:cNvGrpSpPr>
          <p:nvPr/>
        </p:nvGrpSpPr>
        <p:grpSpPr bwMode="auto">
          <a:xfrm>
            <a:off x="8433900" y="1888359"/>
            <a:ext cx="592138" cy="539750"/>
            <a:chOff x="4260" y="1408"/>
            <a:chExt cx="373" cy="340"/>
          </a:xfrm>
        </p:grpSpPr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92F2C012-F701-5268-7DCE-695C56625D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30" y="1408"/>
              <a:ext cx="279" cy="202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C30222FF-64A1-0F80-D72F-1618E6F0C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" y="1457"/>
              <a:ext cx="3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u="none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916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6CC31-FABF-3F06-CB2B-A6440F21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7088D360-0FAE-FB47-1B2C-B0B547AA6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6" y="1468601"/>
            <a:ext cx="4702176" cy="262255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DBB806-B244-AE2A-97EA-873887042E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33526"/>
            <a:ext cx="7315200" cy="746125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Equilibrio traslacional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575D5-97E1-8A10-7C70-CB6ED943EFF8}"/>
              </a:ext>
            </a:extLst>
          </p:cNvPr>
          <p:cNvSpPr txBox="1">
            <a:spLocks noChangeArrowheads="1"/>
          </p:cNvSpPr>
          <p:nvPr/>
        </p:nvSpPr>
        <p:spPr>
          <a:xfrm>
            <a:off x="2311399" y="1686882"/>
            <a:ext cx="4260851" cy="223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altLang="es-CO" sz="2400" dirty="0"/>
              <a:t>La primera condición para el equilibrio es que no debe haber fuerza resultante. </a:t>
            </a:r>
          </a:p>
          <a:p>
            <a:r>
              <a:rPr lang="es-MX" altLang="es-CO" sz="2400" dirty="0"/>
              <a:t>Esto significa que la suma de todas las fuerzas actuantes es cero.</a:t>
            </a:r>
            <a:endParaRPr lang="es-MX" altLang="es-CO" sz="2400" i="1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3A1387A-0FE2-1992-E14C-A6C7449F3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302917"/>
              </p:ext>
            </p:extLst>
          </p:nvPr>
        </p:nvGraphicFramePr>
        <p:xfrm>
          <a:off x="5555648" y="4832514"/>
          <a:ext cx="16129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708612" name="Object 4">
                        <a:extLst>
                          <a:ext uri="{FF2B5EF4-FFF2-40B4-BE49-F238E27FC236}">
                            <a16:creationId xmlns:a16="http://schemas.microsoft.com/office/drawing/2014/main" id="{E507F16D-FB9C-DA84-4C2E-4A733CA95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5648" y="4832514"/>
                        <a:ext cx="1612900" cy="7254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08D832E-69F8-BDD5-E3C9-22EEB95BE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767494"/>
              </p:ext>
            </p:extLst>
          </p:nvPr>
        </p:nvGraphicFramePr>
        <p:xfrm>
          <a:off x="7948105" y="4832514"/>
          <a:ext cx="1524573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241200" progId="Equation.DSMT4">
                  <p:embed/>
                </p:oleObj>
              </mc:Choice>
              <mc:Fallback>
                <p:oleObj name="Equation" r:id="rId8" imgW="507960" imgH="241200" progId="Equation.DSMT4">
                  <p:embed/>
                  <p:pic>
                    <p:nvPicPr>
                      <p:cNvPr id="708613" name="Object 5">
                        <a:extLst>
                          <a:ext uri="{FF2B5EF4-FFF2-40B4-BE49-F238E27FC236}">
                            <a16:creationId xmlns:a16="http://schemas.microsoft.com/office/drawing/2014/main" id="{7E379859-C7AD-B125-B623-6EF0EC2E5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8105" y="4832514"/>
                        <a:ext cx="1524573" cy="7254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7D939A63-8699-2F15-9242-520C7F242270}"/>
              </a:ext>
            </a:extLst>
          </p:cNvPr>
          <p:cNvGrpSpPr>
            <a:grpSpLocks/>
          </p:cNvGrpSpPr>
          <p:nvPr/>
        </p:nvGrpSpPr>
        <p:grpSpPr bwMode="auto">
          <a:xfrm>
            <a:off x="7837488" y="1590839"/>
            <a:ext cx="2330450" cy="2214562"/>
            <a:chOff x="3977" y="1161"/>
            <a:chExt cx="1468" cy="139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0358AF-E4D1-1633-9605-D81723B35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" y="1161"/>
              <a:ext cx="1468" cy="121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60E9AD-F8BE-164C-8785-DF429C62D9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9" y="1981"/>
              <a:ext cx="258" cy="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BB5D140D-9F95-1113-8968-A98610BB0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3" y="1690"/>
              <a:ext cx="10" cy="34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9EE9C58E-8878-9730-2085-8A26826E5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" y="1590"/>
              <a:ext cx="157" cy="139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248873C1-452E-8A1E-1BA2-ED1C945FB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" y="1272"/>
              <a:ext cx="455" cy="363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E1B21168-204A-E271-E3A1-6538184FE8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0" y="1282"/>
              <a:ext cx="446" cy="34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12719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98464-9962-D43B-D3B8-8FD419E5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CD3339B3-E904-D806-C7C1-3A94AE355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023" y="1162324"/>
            <a:ext cx="8021637" cy="4852987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es-C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F789DC-4A71-0C35-4989-59450959A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7367" y="50691"/>
            <a:ext cx="6491287" cy="865187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Estrategia para resolución de problemas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B420369-02FB-3D55-7C14-2F3C79FFB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748" y="1696928"/>
            <a:ext cx="7831137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s-MX" altLang="es-CO" b="0" u="none" dirty="0">
                <a:latin typeface="+mn-lt"/>
              </a:rPr>
              <a:t>Dibuje un esquema y etiquete toda la información.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s-MX" altLang="es-CO" b="0" u="none" dirty="0">
                <a:latin typeface="+mn-lt"/>
              </a:rPr>
              <a:t>Dibuje un diagrama de cuerpo libre.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s-MX" altLang="es-CO" b="0" u="none" dirty="0">
                <a:latin typeface="+mn-lt"/>
              </a:rPr>
              <a:t>Encuentre componentes de todas las fuerzas (+ y -).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s-MX" altLang="es-CO" b="0" u="none" dirty="0">
                <a:latin typeface="+mn-lt"/>
              </a:rPr>
              <a:t>Aplique primera condición de equilibrio:</a:t>
            </a: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86CC7DEC-D646-5D6F-0AE2-FF34003B58CC}"/>
              </a:ext>
            </a:extLst>
          </p:cNvPr>
          <p:cNvGrpSpPr>
            <a:grpSpLocks/>
          </p:cNvGrpSpPr>
          <p:nvPr/>
        </p:nvGrpSpPr>
        <p:grpSpPr bwMode="auto">
          <a:xfrm>
            <a:off x="4135547" y="4071411"/>
            <a:ext cx="4175125" cy="708025"/>
            <a:chOff x="1849" y="2796"/>
            <a:chExt cx="2630" cy="44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FF75D72-DA3E-82B2-3683-6145330A7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9" y="2796"/>
              <a:ext cx="2210" cy="44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1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4E2CD914-59A8-C09A-AFFD-C881E94B4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2853"/>
              <a:ext cx="235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b="0" u="none" dirty="0"/>
                <a:t> </a:t>
              </a:r>
              <a:r>
                <a:rPr lang="es-MX" altLang="es-CO" sz="2400" b="0" u="none" dirty="0" err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r>
                <a:rPr lang="es-MX" altLang="es-CO" sz="2400" b="0" u="none" dirty="0" err="1">
                  <a:solidFill>
                    <a:srgbClr val="000000"/>
                  </a:solidFill>
                </a:rPr>
                <a:t>F</a:t>
              </a:r>
              <a:r>
                <a:rPr lang="es-MX" altLang="es-CO" sz="2400" b="0" u="none" baseline="-25000" dirty="0" err="1">
                  <a:solidFill>
                    <a:srgbClr val="000000"/>
                  </a:solidFill>
                </a:rPr>
                <a:t>x</a:t>
              </a:r>
              <a:r>
                <a:rPr lang="es-MX" altLang="es-CO" sz="2400" b="0" i="1" u="none" dirty="0">
                  <a:solidFill>
                    <a:srgbClr val="000000"/>
                  </a:solidFill>
                </a:rPr>
                <a:t>= </a:t>
              </a:r>
              <a:r>
                <a:rPr lang="es-MX" altLang="es-CO" sz="2400" b="0" u="none" dirty="0">
                  <a:solidFill>
                    <a:srgbClr val="000000"/>
                  </a:solidFill>
                </a:rPr>
                <a:t>0</a:t>
              </a:r>
              <a:r>
                <a:rPr lang="es-MX" altLang="es-CO" sz="2400" b="0" i="1" u="none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b="0" u="none" dirty="0">
                  <a:solidFill>
                    <a:srgbClr val="000000"/>
                  </a:solidFill>
                </a:rPr>
                <a:t>;</a:t>
              </a:r>
              <a:r>
                <a:rPr lang="es-MX" altLang="es-CO" sz="2400" b="0" i="1" u="none" dirty="0">
                  <a:solidFill>
                    <a:srgbClr val="000000"/>
                  </a:solidFill>
                </a:rPr>
                <a:t>    </a:t>
              </a:r>
              <a:r>
                <a:rPr lang="es-MX" altLang="es-CO" sz="2400" b="0" u="none" dirty="0" err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r>
                <a:rPr lang="es-MX" altLang="es-CO" sz="2400" b="0" u="none" dirty="0" err="1">
                  <a:solidFill>
                    <a:srgbClr val="000000"/>
                  </a:solidFill>
                </a:rPr>
                <a:t>F</a:t>
              </a:r>
              <a:r>
                <a:rPr lang="es-MX" altLang="es-CO" sz="2400" b="0" u="none" baseline="-25000" dirty="0" err="1">
                  <a:solidFill>
                    <a:srgbClr val="000000"/>
                  </a:solidFill>
                </a:rPr>
                <a:t>y</a:t>
              </a:r>
              <a:r>
                <a:rPr lang="es-MX" altLang="es-CO" sz="2400" b="0" i="1" u="none" dirty="0">
                  <a:solidFill>
                    <a:srgbClr val="000000"/>
                  </a:solidFill>
                </a:rPr>
                <a:t>= </a:t>
              </a:r>
              <a:r>
                <a:rPr lang="es-MX" altLang="es-CO" sz="2400" b="0" u="none" dirty="0">
                  <a:solidFill>
                    <a:srgbClr val="000000"/>
                  </a:solidFill>
                </a:rPr>
                <a:t>0</a:t>
              </a:r>
              <a:endParaRPr lang="es-MX" altLang="es-CO" sz="2400" b="0" u="none" dirty="0"/>
            </a:p>
          </p:txBody>
        </p:sp>
      </p:grpSp>
      <p:sp>
        <p:nvSpPr>
          <p:cNvPr id="8" name="Text Box 7">
            <a:extLst>
              <a:ext uri="{FF2B5EF4-FFF2-40B4-BE49-F238E27FC236}">
                <a16:creationId xmlns:a16="http://schemas.microsoft.com/office/drawing/2014/main" id="{CE1951E8-2C63-8E6D-70C7-3BDAB7B9C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785" y="5030261"/>
            <a:ext cx="7762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023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b="0" u="none" dirty="0">
                <a:latin typeface="+mn-lt"/>
              </a:rPr>
              <a:t>5. Resuelva para fuerzas o ángulos desconocidos.</a:t>
            </a:r>
          </a:p>
        </p:txBody>
      </p:sp>
    </p:spTree>
    <p:extLst>
      <p:ext uri="{BB962C8B-B14F-4D97-AF65-F5344CB8AC3E}">
        <p14:creationId xmlns:p14="http://schemas.microsoft.com/office/powerpoint/2010/main" val="269929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85220-1AE9-2890-D573-1455E0AB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53DCC68-0F76-AF08-4711-AE49947DF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187" y="-14287"/>
            <a:ext cx="8170861" cy="1143000"/>
          </a:xfrm>
          <a:noFill/>
          <a:ln/>
        </p:spPr>
        <p:txBody>
          <a:bodyPr>
            <a:normAutofit/>
          </a:bodyPr>
          <a:lstStyle/>
          <a:p>
            <a:r>
              <a:rPr lang="es-MX" altLang="es-CO" sz="2400" u="sng" dirty="0"/>
              <a:t>Ejemplo.</a:t>
            </a:r>
            <a:r>
              <a:rPr lang="es-MX" altLang="es-CO" sz="2400" dirty="0"/>
              <a:t> </a:t>
            </a:r>
            <a:r>
              <a:rPr lang="es-MX" altLang="es-CO" sz="2400" dirty="0">
                <a:solidFill>
                  <a:schemeClr val="tx1"/>
                </a:solidFill>
              </a:rPr>
              <a:t>Encuentre la tensión en las cuerdas </a:t>
            </a:r>
            <a:r>
              <a:rPr lang="es-MX" altLang="es-CO" sz="2400" i="1" dirty="0">
                <a:solidFill>
                  <a:schemeClr val="tx1"/>
                </a:solidFill>
              </a:rPr>
              <a:t>A</a:t>
            </a:r>
            <a:r>
              <a:rPr lang="es-MX" altLang="es-CO" sz="2400" dirty="0">
                <a:solidFill>
                  <a:schemeClr val="tx1"/>
                </a:solidFill>
              </a:rPr>
              <a:t> y </a:t>
            </a:r>
            <a:r>
              <a:rPr lang="es-MX" altLang="es-CO" sz="2400" i="1" dirty="0">
                <a:solidFill>
                  <a:schemeClr val="tx1"/>
                </a:solidFill>
              </a:rPr>
              <a:t>B</a:t>
            </a:r>
            <a:r>
              <a:rPr lang="es-MX" altLang="es-CO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C73B2A-363F-CA63-9A4A-41386D680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55" y="1401434"/>
            <a:ext cx="8170862" cy="34813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D6393A48-8B99-3C86-79B6-65E42261A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0517" y="1877684"/>
            <a:ext cx="18288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C618BA5F-9398-30B1-3472-000CF46778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9317" y="1877684"/>
            <a:ext cx="6858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BF229621-97A4-9203-6586-28F4EBA8B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9317" y="29444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07C40D06-D295-4685-E8D2-FBB6C9BA7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17" y="1844495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b="0" u="none" dirty="0"/>
              <a:t>30</a:t>
            </a:r>
            <a:r>
              <a:rPr kumimoji="0" lang="es-MX" altLang="es-CO" sz="2400" b="0" u="none" baseline="30000" dirty="0"/>
              <a:t>0</a:t>
            </a:r>
            <a:endParaRPr kumimoji="0" lang="es-MX" altLang="es-CO" sz="2400" b="0" i="1" u="none" dirty="0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F1C3BA0-FEE1-C5B5-4DEF-839B1EEC6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917" y="1830208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b="0" u="none" dirty="0"/>
              <a:t>60</a:t>
            </a:r>
            <a:r>
              <a:rPr kumimoji="0" lang="es-MX" altLang="es-CO" sz="2400" b="0" u="none" baseline="30000" dirty="0"/>
              <a:t>0</a:t>
            </a:r>
            <a:endParaRPr kumimoji="0" lang="es-MX" altLang="es-CO" sz="2400" b="0" i="1" u="none" dirty="0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32883AFE-4143-5511-2CAE-10D046E34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8355" y="2209505"/>
            <a:ext cx="533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b="0" i="1" u="none" dirty="0"/>
              <a:t>A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29030AB7-CBAB-E5BF-406D-76E0709A9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210" y="2101099"/>
            <a:ext cx="533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b="0" i="1" u="none" dirty="0"/>
              <a:t>B</a:t>
            </a:r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5F9D6D38-3BE2-A553-C12D-378A8E7D7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967" y="1585584"/>
            <a:ext cx="3289300" cy="2794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hlink"/>
              </a:gs>
              <a:gs pos="100000">
                <a:schemeClr val="accent1"/>
              </a:gs>
            </a:gsLst>
            <a:lin ang="5400000" scaled="1"/>
          </a:gradFill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DFE4300C-5356-AD84-1966-C85D4D2DF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817" y="3501697"/>
            <a:ext cx="1149350" cy="663575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0A2F0DFE-3789-8E38-1F87-29E4F7AF8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716" y="3576318"/>
            <a:ext cx="13477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b="0" u="none" dirty="0">
                <a:solidFill>
                  <a:srgbClr val="000000"/>
                </a:solidFill>
              </a:rPr>
              <a:t>400 N</a:t>
            </a:r>
          </a:p>
        </p:txBody>
      </p:sp>
      <p:grpSp>
        <p:nvGrpSpPr>
          <p:cNvPr id="14" name="Group 62">
            <a:extLst>
              <a:ext uri="{FF2B5EF4-FFF2-40B4-BE49-F238E27FC236}">
                <a16:creationId xmlns:a16="http://schemas.microsoft.com/office/drawing/2014/main" id="{6CB0603C-92EC-F0A4-667C-1E6444302CA3}"/>
              </a:ext>
            </a:extLst>
          </p:cNvPr>
          <p:cNvGrpSpPr>
            <a:grpSpLocks/>
          </p:cNvGrpSpPr>
          <p:nvPr/>
        </p:nvGrpSpPr>
        <p:grpSpPr bwMode="auto">
          <a:xfrm>
            <a:off x="6088117" y="1434772"/>
            <a:ext cx="3657600" cy="2895600"/>
            <a:chOff x="3120" y="825"/>
            <a:chExt cx="2304" cy="1824"/>
          </a:xfrm>
        </p:grpSpPr>
        <p:sp>
          <p:nvSpPr>
            <p:cNvPr id="15" name="Line 41">
              <a:extLst>
                <a:ext uri="{FF2B5EF4-FFF2-40B4-BE49-F238E27FC236}">
                  <a16:creationId xmlns:a16="http://schemas.microsoft.com/office/drawing/2014/main" id="{06A82F7F-0A23-DE98-6E38-AED8BBC88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1785"/>
              <a:ext cx="23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42">
              <a:extLst>
                <a:ext uri="{FF2B5EF4-FFF2-40B4-BE49-F238E27FC236}">
                  <a16:creationId xmlns:a16="http://schemas.microsoft.com/office/drawing/2014/main" id="{93EFE941-13C9-3693-78DA-58EE5B877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838"/>
              <a:ext cx="0" cy="18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Line 43">
              <a:extLst>
                <a:ext uri="{FF2B5EF4-FFF2-40B4-BE49-F238E27FC236}">
                  <a16:creationId xmlns:a16="http://schemas.microsoft.com/office/drawing/2014/main" id="{72EC66D8-C76F-9B9E-8A14-B9B6790395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825"/>
              <a:ext cx="720" cy="96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Line 44">
              <a:extLst>
                <a:ext uri="{FF2B5EF4-FFF2-40B4-BE49-F238E27FC236}">
                  <a16:creationId xmlns:a16="http://schemas.microsoft.com/office/drawing/2014/main" id="{50100F24-2D0B-542E-F37E-E9B475B13A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" y="1305"/>
              <a:ext cx="864" cy="48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Text Box 45">
              <a:extLst>
                <a:ext uri="{FF2B5EF4-FFF2-40B4-BE49-F238E27FC236}">
                  <a16:creationId xmlns:a16="http://schemas.microsoft.com/office/drawing/2014/main" id="{7F1EF061-9B7A-D694-252C-6420A9A81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86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i="1" u="none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20" name="Text Box 46">
              <a:extLst>
                <a:ext uri="{FF2B5EF4-FFF2-40B4-BE49-F238E27FC236}">
                  <a16:creationId xmlns:a16="http://schemas.microsoft.com/office/drawing/2014/main" id="{F6627E7B-83FE-61C6-6075-9240A430B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1074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i="1" u="none" dirty="0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21" name="Line 47">
              <a:extLst>
                <a:ext uri="{FF2B5EF4-FFF2-40B4-BE49-F238E27FC236}">
                  <a16:creationId xmlns:a16="http://schemas.microsoft.com/office/drawing/2014/main" id="{BEBE3601-1786-2A01-5A03-B4669D1AFC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785"/>
              <a:ext cx="0" cy="76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Text Box 48">
              <a:extLst>
                <a:ext uri="{FF2B5EF4-FFF2-40B4-BE49-F238E27FC236}">
                  <a16:creationId xmlns:a16="http://schemas.microsoft.com/office/drawing/2014/main" id="{3A6A7FC7-9249-8E0C-E5EA-BA5B47103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" y="2082"/>
              <a:ext cx="85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u="none" dirty="0">
                  <a:solidFill>
                    <a:srgbClr val="FFFF00"/>
                  </a:solidFill>
                </a:rPr>
                <a:t>400 N</a:t>
              </a:r>
            </a:p>
          </p:txBody>
        </p:sp>
      </p:grpSp>
      <p:sp>
        <p:nvSpPr>
          <p:cNvPr id="23" name="Text Box 60">
            <a:extLst>
              <a:ext uri="{FF2B5EF4-FFF2-40B4-BE49-F238E27FC236}">
                <a16:creationId xmlns:a16="http://schemas.microsoft.com/office/drawing/2014/main" id="{DA835B2A-31EC-3F51-19BE-9999E1D67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42" y="4932034"/>
            <a:ext cx="4779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u="none" dirty="0"/>
              <a:t>1. Dibuje diagrama de cuerpo libre.</a:t>
            </a:r>
          </a:p>
        </p:txBody>
      </p:sp>
      <p:sp>
        <p:nvSpPr>
          <p:cNvPr id="24" name="Text Box 61">
            <a:extLst>
              <a:ext uri="{FF2B5EF4-FFF2-40B4-BE49-F238E27FC236}">
                <a16:creationId xmlns:a16="http://schemas.microsoft.com/office/drawing/2014/main" id="{F0AB19D2-5464-7332-CFD6-7FBA8DB4C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111" y="5447327"/>
            <a:ext cx="4779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u="none" dirty="0"/>
              <a:t>2. Determine ángulos.</a:t>
            </a:r>
          </a:p>
        </p:txBody>
      </p:sp>
      <p:grpSp>
        <p:nvGrpSpPr>
          <p:cNvPr id="25" name="Group 80">
            <a:extLst>
              <a:ext uri="{FF2B5EF4-FFF2-40B4-BE49-F238E27FC236}">
                <a16:creationId xmlns:a16="http://schemas.microsoft.com/office/drawing/2014/main" id="{BE42F01C-606A-2251-641F-3A02317CE5A0}"/>
              </a:ext>
            </a:extLst>
          </p:cNvPr>
          <p:cNvGrpSpPr>
            <a:grpSpLocks/>
          </p:cNvGrpSpPr>
          <p:nvPr/>
        </p:nvGrpSpPr>
        <p:grpSpPr bwMode="auto">
          <a:xfrm>
            <a:off x="3081392" y="2458714"/>
            <a:ext cx="2274889" cy="547689"/>
            <a:chOff x="1226" y="1470"/>
            <a:chExt cx="1433" cy="345"/>
          </a:xfrm>
        </p:grpSpPr>
        <p:sp>
          <p:nvSpPr>
            <p:cNvPr id="26" name="Line 81">
              <a:extLst>
                <a:ext uri="{FF2B5EF4-FFF2-40B4-BE49-F238E27FC236}">
                  <a16:creationId xmlns:a16="http://schemas.microsoft.com/office/drawing/2014/main" id="{D89DEC56-DC73-5201-C021-1E755BAF7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6" y="1765"/>
              <a:ext cx="1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grpSp>
          <p:nvGrpSpPr>
            <p:cNvPr id="27" name="Group 82">
              <a:extLst>
                <a:ext uri="{FF2B5EF4-FFF2-40B4-BE49-F238E27FC236}">
                  <a16:creationId xmlns:a16="http://schemas.microsoft.com/office/drawing/2014/main" id="{2C1AF6F0-D91B-5FBD-62FF-A939B89E3D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470"/>
              <a:ext cx="1411" cy="345"/>
              <a:chOff x="1248" y="1470"/>
              <a:chExt cx="1411" cy="345"/>
            </a:xfrm>
          </p:grpSpPr>
          <p:sp>
            <p:nvSpPr>
              <p:cNvPr id="28" name="Text Box 83">
                <a:extLst>
                  <a:ext uri="{FF2B5EF4-FFF2-40B4-BE49-F238E27FC236}">
                    <a16:creationId xmlns:a16="http://schemas.microsoft.com/office/drawing/2014/main" id="{907B4BD4-4A86-F414-7717-A945158DD1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524"/>
                <a:ext cx="53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b="0" u="none" dirty="0"/>
                  <a:t>30</a:t>
                </a:r>
                <a:r>
                  <a:rPr lang="es-MX" altLang="es-CO" sz="2400" b="0" u="none" baseline="30000" dirty="0"/>
                  <a:t>0</a:t>
                </a:r>
                <a:endParaRPr lang="es-MX" altLang="es-CO" sz="2400" b="0" u="none" dirty="0"/>
              </a:p>
            </p:txBody>
          </p:sp>
          <p:sp>
            <p:nvSpPr>
              <p:cNvPr id="29" name="Text Box 84">
                <a:extLst>
                  <a:ext uri="{FF2B5EF4-FFF2-40B4-BE49-F238E27FC236}">
                    <a16:creationId xmlns:a16="http://schemas.microsoft.com/office/drawing/2014/main" id="{1A0672D1-CCB0-C28F-43C3-97AE2B3C9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0" y="1470"/>
                <a:ext cx="53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b="0" u="none" dirty="0"/>
                  <a:t>60</a:t>
                </a:r>
                <a:r>
                  <a:rPr lang="es-MX" altLang="es-CO" sz="2400" b="0" u="none" baseline="30000" dirty="0"/>
                  <a:t>0</a:t>
                </a:r>
                <a:endParaRPr lang="es-MX" altLang="es-CO" sz="2400" b="0" u="none" dirty="0"/>
              </a:p>
            </p:txBody>
          </p:sp>
        </p:grpSp>
      </p:grpSp>
      <p:grpSp>
        <p:nvGrpSpPr>
          <p:cNvPr id="30" name="Group 91">
            <a:extLst>
              <a:ext uri="{FF2B5EF4-FFF2-40B4-BE49-F238E27FC236}">
                <a16:creationId xmlns:a16="http://schemas.microsoft.com/office/drawing/2014/main" id="{7621EE8A-2E07-43F5-4D9C-E9E68B44B13D}"/>
              </a:ext>
            </a:extLst>
          </p:cNvPr>
          <p:cNvGrpSpPr>
            <a:grpSpLocks/>
          </p:cNvGrpSpPr>
          <p:nvPr/>
        </p:nvGrpSpPr>
        <p:grpSpPr bwMode="auto">
          <a:xfrm>
            <a:off x="6773917" y="2593647"/>
            <a:ext cx="2209800" cy="419100"/>
            <a:chOff x="2688" y="756"/>
            <a:chExt cx="1392" cy="264"/>
          </a:xfrm>
        </p:grpSpPr>
        <p:sp>
          <p:nvSpPr>
            <p:cNvPr id="31" name="Text Box 89">
              <a:extLst>
                <a:ext uri="{FF2B5EF4-FFF2-40B4-BE49-F238E27FC236}">
                  <a16:creationId xmlns:a16="http://schemas.microsoft.com/office/drawing/2014/main" id="{DCFA2C3A-69CB-3B12-030F-1470008BA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756"/>
              <a:ext cx="5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000" b="0" u="none"/>
                <a:t>30</a:t>
              </a:r>
              <a:r>
                <a:rPr lang="es-MX" altLang="es-CO" sz="2000" b="0" u="none" baseline="30000"/>
                <a:t>0</a:t>
              </a:r>
              <a:endParaRPr lang="es-MX" altLang="es-CO" b="0" u="none"/>
            </a:p>
          </p:txBody>
        </p:sp>
        <p:sp>
          <p:nvSpPr>
            <p:cNvPr id="32" name="Text Box 90">
              <a:extLst>
                <a:ext uri="{FF2B5EF4-FFF2-40B4-BE49-F238E27FC236}">
                  <a16:creationId xmlns:a16="http://schemas.microsoft.com/office/drawing/2014/main" id="{B374AF6B-7EE3-1870-B7A5-1386A4C27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770"/>
              <a:ext cx="5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000" b="0" u="none" dirty="0"/>
                <a:t>60</a:t>
              </a:r>
              <a:r>
                <a:rPr lang="es-MX" altLang="es-CO" sz="2000" b="0" u="none" baseline="30000" dirty="0"/>
                <a:t>0</a:t>
              </a:r>
              <a:endParaRPr lang="es-MX" altLang="es-CO" b="0" u="none" dirty="0"/>
            </a:p>
          </p:txBody>
        </p:sp>
      </p:grpSp>
      <p:sp>
        <p:nvSpPr>
          <p:cNvPr id="33" name="Line 95">
            <a:extLst>
              <a:ext uri="{FF2B5EF4-FFF2-40B4-BE49-F238E27FC236}">
                <a16:creationId xmlns:a16="http://schemas.microsoft.com/office/drawing/2014/main" id="{4C989763-E05F-02B1-D43C-AABD93D1C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6917" y="1434772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4" name="Line 96">
            <a:extLst>
              <a:ext uri="{FF2B5EF4-FFF2-40B4-BE49-F238E27FC236}">
                <a16:creationId xmlns:a16="http://schemas.microsoft.com/office/drawing/2014/main" id="{9474DB93-ED79-BCC9-9AD1-F3892233E7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5317" y="2196772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grpSp>
        <p:nvGrpSpPr>
          <p:cNvPr id="35" name="Group 104">
            <a:extLst>
              <a:ext uri="{FF2B5EF4-FFF2-40B4-BE49-F238E27FC236}">
                <a16:creationId xmlns:a16="http://schemas.microsoft.com/office/drawing/2014/main" id="{695D5A13-A215-532F-3B2F-801DA1A35A4C}"/>
              </a:ext>
            </a:extLst>
          </p:cNvPr>
          <p:cNvGrpSpPr>
            <a:grpSpLocks/>
          </p:cNvGrpSpPr>
          <p:nvPr/>
        </p:nvGrpSpPr>
        <p:grpSpPr bwMode="auto">
          <a:xfrm>
            <a:off x="6015092" y="2196772"/>
            <a:ext cx="685800" cy="762000"/>
            <a:chOff x="3074" y="1305"/>
            <a:chExt cx="432" cy="480"/>
          </a:xfrm>
        </p:grpSpPr>
        <p:sp>
          <p:nvSpPr>
            <p:cNvPr id="36" name="Line 97">
              <a:extLst>
                <a:ext uri="{FF2B5EF4-FFF2-40B4-BE49-F238E27FC236}">
                  <a16:creationId xmlns:a16="http://schemas.microsoft.com/office/drawing/2014/main" id="{80B50588-891A-A03E-2CC6-663167299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305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Text Box 98">
              <a:extLst>
                <a:ext uri="{FF2B5EF4-FFF2-40B4-BE49-F238E27FC236}">
                  <a16:creationId xmlns:a16="http://schemas.microsoft.com/office/drawing/2014/main" id="{615427EF-3E0B-092B-F2D8-0D08AEF22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4" y="1382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 dirty="0"/>
                <a:t>A</a:t>
              </a:r>
              <a:r>
                <a:rPr lang="es-MX" altLang="es-CO" b="0" i="1" u="none" baseline="-25000" dirty="0"/>
                <a:t>y</a:t>
              </a:r>
              <a:endParaRPr lang="es-MX" altLang="es-CO" b="0" u="none" dirty="0"/>
            </a:p>
          </p:txBody>
        </p:sp>
      </p:grpSp>
      <p:grpSp>
        <p:nvGrpSpPr>
          <p:cNvPr id="38" name="Group 103">
            <a:extLst>
              <a:ext uri="{FF2B5EF4-FFF2-40B4-BE49-F238E27FC236}">
                <a16:creationId xmlns:a16="http://schemas.microsoft.com/office/drawing/2014/main" id="{9294BAEC-A078-8B61-315E-231756D8C38A}"/>
              </a:ext>
            </a:extLst>
          </p:cNvPr>
          <p:cNvGrpSpPr>
            <a:grpSpLocks/>
          </p:cNvGrpSpPr>
          <p:nvPr/>
        </p:nvGrpSpPr>
        <p:grpSpPr bwMode="auto">
          <a:xfrm>
            <a:off x="9059918" y="1434772"/>
            <a:ext cx="704850" cy="1524000"/>
            <a:chOff x="4992" y="825"/>
            <a:chExt cx="444" cy="960"/>
          </a:xfrm>
        </p:grpSpPr>
        <p:sp>
          <p:nvSpPr>
            <p:cNvPr id="39" name="Line 94">
              <a:extLst>
                <a:ext uri="{FF2B5EF4-FFF2-40B4-BE49-F238E27FC236}">
                  <a16:creationId xmlns:a16="http://schemas.microsoft.com/office/drawing/2014/main" id="{0790151F-8171-C84B-9102-2A3078AE4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825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0" name="Text Box 99">
              <a:extLst>
                <a:ext uri="{FF2B5EF4-FFF2-40B4-BE49-F238E27FC236}">
                  <a16:creationId xmlns:a16="http://schemas.microsoft.com/office/drawing/2014/main" id="{57E6866B-275A-2A19-D95E-4AD01C910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" y="116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 dirty="0" err="1"/>
                <a:t>B</a:t>
              </a:r>
              <a:r>
                <a:rPr lang="es-MX" altLang="es-CO" b="0" i="1" u="none" baseline="-25000" dirty="0" err="1"/>
                <a:t>y</a:t>
              </a:r>
              <a:endParaRPr lang="es-MX" altLang="es-CO" b="0" u="none" dirty="0"/>
            </a:p>
          </p:txBody>
        </p:sp>
      </p:grpSp>
      <p:sp>
        <p:nvSpPr>
          <p:cNvPr id="41" name="Text Box 100">
            <a:extLst>
              <a:ext uri="{FF2B5EF4-FFF2-40B4-BE49-F238E27FC236}">
                <a16:creationId xmlns:a16="http://schemas.microsoft.com/office/drawing/2014/main" id="{F6649763-6543-F9F8-CE8B-6931D60EC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55" y="2927026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s-MX" altLang="es-CO" b="0" i="1" u="none"/>
              <a:t>A</a:t>
            </a:r>
            <a:r>
              <a:rPr lang="es-MX" altLang="es-CO" b="0" i="1" u="none" baseline="-25000"/>
              <a:t>x</a:t>
            </a:r>
            <a:endParaRPr lang="es-MX" altLang="es-CO" b="0" u="none"/>
          </a:p>
        </p:txBody>
      </p:sp>
      <p:sp>
        <p:nvSpPr>
          <p:cNvPr id="42" name="Text Box 101">
            <a:extLst>
              <a:ext uri="{FF2B5EF4-FFF2-40B4-BE49-F238E27FC236}">
                <a16:creationId xmlns:a16="http://schemas.microsoft.com/office/drawing/2014/main" id="{E8CE2A52-78F3-7D06-D26E-66C4B57C8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67" y="2913529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s-MX" altLang="es-CO" b="0" i="1" u="none" dirty="0" err="1"/>
              <a:t>B</a:t>
            </a:r>
            <a:r>
              <a:rPr lang="es-MX" altLang="es-CO" b="0" i="1" u="none" baseline="-25000" dirty="0" err="1"/>
              <a:t>x</a:t>
            </a:r>
            <a:endParaRPr lang="es-MX" altLang="es-CO" b="0" u="none" dirty="0"/>
          </a:p>
        </p:txBody>
      </p:sp>
      <p:sp>
        <p:nvSpPr>
          <p:cNvPr id="43" name="Text Box 102">
            <a:extLst>
              <a:ext uri="{FF2B5EF4-FFF2-40B4-BE49-F238E27FC236}">
                <a16:creationId xmlns:a16="http://schemas.microsoft.com/office/drawing/2014/main" id="{D41D6B70-11D5-0FAD-0FB5-7DDFA7247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959" y="6011832"/>
            <a:ext cx="528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u="none" dirty="0"/>
              <a:t>3. Dibuje/etiquete componentes.</a:t>
            </a:r>
          </a:p>
        </p:txBody>
      </p:sp>
      <p:sp>
        <p:nvSpPr>
          <p:cNvPr id="44" name="Text Box 105">
            <a:extLst>
              <a:ext uri="{FF2B5EF4-FFF2-40B4-BE49-F238E27FC236}">
                <a16:creationId xmlns:a16="http://schemas.microsoft.com/office/drawing/2014/main" id="{89FE80E4-03CA-01C0-854F-F15367163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241" y="4946322"/>
            <a:ext cx="3918717" cy="1200329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s-MX" altLang="es-CO" sz="2400" b="0" u="none" dirty="0">
                <a:solidFill>
                  <a:srgbClr val="000000"/>
                </a:solidFill>
              </a:rPr>
              <a:t>A continuación se encontrarán componentes de cada vector.</a:t>
            </a:r>
          </a:p>
        </p:txBody>
      </p:sp>
      <p:sp>
        <p:nvSpPr>
          <p:cNvPr id="45" name="Oval 106">
            <a:extLst>
              <a:ext uri="{FF2B5EF4-FFF2-40B4-BE49-F238E27FC236}">
                <a16:creationId xmlns:a16="http://schemas.microsoft.com/office/drawing/2014/main" id="{48144045-0C96-B627-46F6-B7BDE5305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67" y="2692072"/>
            <a:ext cx="635000" cy="428625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27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3" grpId="0"/>
      <p:bldP spid="24" grpId="0"/>
      <p:bldP spid="41" grpId="0"/>
      <p:bldP spid="42" grpId="0"/>
      <p:bldP spid="43" grpId="0"/>
      <p:bldP spid="4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47446-2E5A-E6B3-7EA3-329E22DB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328B1BB-1E36-F426-70D6-4F3A70C82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386" y="15766"/>
            <a:ext cx="8787525" cy="1143000"/>
          </a:xfrm>
          <a:noFill/>
          <a:ln/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Ejemplo.</a:t>
            </a:r>
            <a:r>
              <a:rPr lang="es-MX" altLang="es-CO" sz="2400" dirty="0">
                <a:solidFill>
                  <a:schemeClr val="tx1"/>
                </a:solidFill>
              </a:rPr>
              <a:t> Encuentre la tensión en las cuerdas </a:t>
            </a:r>
            <a:r>
              <a:rPr lang="es-MX" altLang="es-CO" sz="2400" i="1" dirty="0">
                <a:solidFill>
                  <a:schemeClr val="tx1"/>
                </a:solidFill>
              </a:rPr>
              <a:t>A</a:t>
            </a:r>
            <a:r>
              <a:rPr lang="es-MX" altLang="es-CO" sz="2400" dirty="0">
                <a:solidFill>
                  <a:schemeClr val="tx1"/>
                </a:solidFill>
              </a:rPr>
              <a:t> y </a:t>
            </a:r>
            <a:r>
              <a:rPr lang="es-MX" altLang="es-CO" sz="2400" i="1" dirty="0">
                <a:solidFill>
                  <a:schemeClr val="tx1"/>
                </a:solidFill>
              </a:rPr>
              <a:t>B</a:t>
            </a:r>
            <a:r>
              <a:rPr lang="es-MX" altLang="es-CO" sz="2400" dirty="0">
                <a:solidFill>
                  <a:schemeClr val="tx1"/>
                </a:solidFill>
              </a:rPr>
              <a:t>.</a:t>
            </a:r>
            <a:endParaRPr lang="es-MX" altLang="es-CO" sz="2400" u="sng" dirty="0"/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41C9EF43-1F19-C605-15C8-1A90113B1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8512" y="5011627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b="0" u="none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b="0" i="1" u="none" dirty="0" err="1"/>
              <a:t>F</a:t>
            </a:r>
            <a:r>
              <a:rPr kumimoji="0" lang="es-MX" altLang="es-CO" sz="2400" b="0" i="1" u="none" baseline="-25000" dirty="0" err="1"/>
              <a:t>x</a:t>
            </a:r>
            <a:r>
              <a:rPr kumimoji="0" lang="es-MX" altLang="es-CO" sz="2400" b="0" i="1" u="none" dirty="0"/>
              <a:t> = </a:t>
            </a:r>
            <a:r>
              <a:rPr kumimoji="0" lang="es-MX" altLang="es-CO" sz="2400" b="0" i="1" u="none" dirty="0" err="1"/>
              <a:t>B</a:t>
            </a:r>
            <a:r>
              <a:rPr kumimoji="0" lang="es-MX" altLang="es-CO" sz="2400" b="0" i="1" u="none" baseline="-25000" dirty="0" err="1"/>
              <a:t>x</a:t>
            </a:r>
            <a:r>
              <a:rPr kumimoji="0" lang="es-MX" altLang="es-CO" sz="2400" b="0" i="1" u="none" dirty="0"/>
              <a:t> - </a:t>
            </a:r>
            <a:r>
              <a:rPr kumimoji="0" lang="es-MX" altLang="es-CO" sz="2400" b="0" i="1" u="none" dirty="0" err="1"/>
              <a:t>A</a:t>
            </a:r>
            <a:r>
              <a:rPr kumimoji="0" lang="es-MX" altLang="es-CO" sz="2400" b="0" i="1" u="none" baseline="-25000" dirty="0" err="1"/>
              <a:t>x</a:t>
            </a:r>
            <a:r>
              <a:rPr kumimoji="0" lang="es-MX" altLang="es-CO" sz="2400" b="0" i="1" u="none" dirty="0"/>
              <a:t> = 0</a:t>
            </a: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4B550D1F-D05A-5165-6559-6806BCD01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351" y="5686318"/>
            <a:ext cx="441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b="0" u="none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b="0" i="1" u="none" dirty="0" err="1"/>
              <a:t>F</a:t>
            </a:r>
            <a:r>
              <a:rPr kumimoji="0" lang="es-MX" altLang="es-CO" sz="2400" b="0" i="1" u="none" baseline="-25000" dirty="0" err="1"/>
              <a:t>y</a:t>
            </a:r>
            <a:r>
              <a:rPr kumimoji="0" lang="es-MX" altLang="es-CO" sz="2400" b="0" i="1" u="none" dirty="0"/>
              <a:t> = </a:t>
            </a:r>
            <a:r>
              <a:rPr kumimoji="0" lang="es-MX" altLang="es-CO" sz="2400" b="0" i="1" u="none" dirty="0" err="1"/>
              <a:t>B</a:t>
            </a:r>
            <a:r>
              <a:rPr kumimoji="0" lang="es-MX" altLang="es-CO" sz="2400" b="0" i="1" u="none" baseline="-25000" dirty="0" err="1"/>
              <a:t>y</a:t>
            </a:r>
            <a:r>
              <a:rPr kumimoji="0" lang="es-MX" altLang="es-CO" sz="2400" b="0" i="1" u="none" dirty="0"/>
              <a:t> +  A</a:t>
            </a:r>
            <a:r>
              <a:rPr kumimoji="0" lang="es-MX" altLang="es-CO" sz="2400" b="0" i="1" u="none" baseline="-25000" dirty="0"/>
              <a:t>y</a:t>
            </a:r>
            <a:r>
              <a:rPr kumimoji="0" lang="es-MX" altLang="es-CO" sz="2400" b="0" i="1" u="none" dirty="0"/>
              <a:t> - W = 0</a:t>
            </a:r>
          </a:p>
        </p:txBody>
      </p:sp>
      <p:sp>
        <p:nvSpPr>
          <p:cNvPr id="5" name="Text Box 39">
            <a:extLst>
              <a:ext uri="{FF2B5EF4-FFF2-40B4-BE49-F238E27FC236}">
                <a16:creationId xmlns:a16="http://schemas.microsoft.com/office/drawing/2014/main" id="{75D110DB-0286-471F-E12A-D7ECB080A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8775" y="5017036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 dirty="0" err="1"/>
              <a:t>B</a:t>
            </a:r>
            <a:r>
              <a:rPr lang="es-MX" altLang="es-CO" sz="2400" b="0" i="1" u="none" baseline="-25000" dirty="0" err="1"/>
              <a:t>x</a:t>
            </a:r>
            <a:r>
              <a:rPr lang="es-MX" altLang="es-CO" sz="2400" b="0" u="none" baseline="-25000" dirty="0"/>
              <a:t> </a:t>
            </a:r>
            <a:r>
              <a:rPr lang="es-MX" altLang="es-CO" sz="2400" b="0" u="none" dirty="0"/>
              <a:t>= </a:t>
            </a:r>
            <a:r>
              <a:rPr lang="es-MX" altLang="es-CO" sz="2400" b="0" i="1" u="none" dirty="0" err="1"/>
              <a:t>A</a:t>
            </a:r>
            <a:r>
              <a:rPr lang="es-MX" altLang="es-CO" sz="2400" b="0" i="1" u="none" baseline="-25000" dirty="0" err="1"/>
              <a:t>x</a:t>
            </a:r>
            <a:endParaRPr lang="es-MX" altLang="es-CO" sz="2400" b="0" i="1" u="none" dirty="0"/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8830D5F2-8BF1-2DBB-6F5C-8D54E2DEC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0600" y="5639196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b="0" i="1" u="none" dirty="0" err="1"/>
              <a:t>B</a:t>
            </a:r>
            <a:r>
              <a:rPr kumimoji="0" lang="es-MX" altLang="es-CO" sz="2400" b="0" i="1" u="none" baseline="-25000" dirty="0" err="1"/>
              <a:t>y</a:t>
            </a:r>
            <a:r>
              <a:rPr kumimoji="0" lang="es-MX" altLang="es-CO" sz="2400" b="0" i="1" u="none" dirty="0"/>
              <a:t> </a:t>
            </a:r>
            <a:r>
              <a:rPr kumimoji="0" lang="es-MX" altLang="es-CO" sz="2400" b="0" u="none" dirty="0"/>
              <a:t>+ </a:t>
            </a:r>
            <a:r>
              <a:rPr kumimoji="0" lang="es-MX" altLang="es-CO" sz="2400" b="0" i="1" u="none" dirty="0"/>
              <a:t> A</a:t>
            </a:r>
            <a:r>
              <a:rPr kumimoji="0" lang="es-MX" altLang="es-CO" sz="2400" b="0" i="1" u="none" baseline="-25000" dirty="0"/>
              <a:t>y</a:t>
            </a:r>
            <a:r>
              <a:rPr kumimoji="0" lang="es-MX" altLang="es-CO" sz="2400" b="0" i="1" u="none" dirty="0"/>
              <a:t> </a:t>
            </a:r>
            <a:r>
              <a:rPr kumimoji="0" lang="es-MX" altLang="es-CO" sz="2400" b="0" u="none" dirty="0"/>
              <a:t>= </a:t>
            </a:r>
            <a:r>
              <a:rPr kumimoji="0" lang="es-MX" altLang="es-CO" sz="2400" b="0" i="1" u="none" dirty="0"/>
              <a:t>W</a:t>
            </a:r>
          </a:p>
        </p:txBody>
      </p:sp>
      <p:sp>
        <p:nvSpPr>
          <p:cNvPr id="7" name="AutoShape 42">
            <a:extLst>
              <a:ext uri="{FF2B5EF4-FFF2-40B4-BE49-F238E27FC236}">
                <a16:creationId xmlns:a16="http://schemas.microsoft.com/office/drawing/2014/main" id="{7A86CDCF-2E6E-011D-784C-A0A78A00A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828" y="5802850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8" name="AutoShape 43">
            <a:extLst>
              <a:ext uri="{FF2B5EF4-FFF2-40B4-BE49-F238E27FC236}">
                <a16:creationId xmlns:a16="http://schemas.microsoft.com/office/drawing/2014/main" id="{FBED86C6-E37A-B50F-4642-537355E0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074" y="5135513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9" name="Rectangle 44">
            <a:extLst>
              <a:ext uri="{FF2B5EF4-FFF2-40B4-BE49-F238E27FC236}">
                <a16:creationId xmlns:a16="http://schemas.microsoft.com/office/drawing/2014/main" id="{C30EBF44-204C-CE1F-C8D3-8EE50BABD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749" y="1292116"/>
            <a:ext cx="8170862" cy="313213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0" name="Line 57">
            <a:extLst>
              <a:ext uri="{FF2B5EF4-FFF2-40B4-BE49-F238E27FC236}">
                <a16:creationId xmlns:a16="http://schemas.microsoft.com/office/drawing/2014/main" id="{7495B6F6-22CC-AF98-ED9F-2B8569C142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4799" y="3006616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1" name="Line 58">
            <a:extLst>
              <a:ext uri="{FF2B5EF4-FFF2-40B4-BE49-F238E27FC236}">
                <a16:creationId xmlns:a16="http://schemas.microsoft.com/office/drawing/2014/main" id="{1B307048-E0C2-AE92-7B69-0D89A7315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3599" y="1503254"/>
            <a:ext cx="0" cy="287496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2" name="Line 59">
            <a:extLst>
              <a:ext uri="{FF2B5EF4-FFF2-40B4-BE49-F238E27FC236}">
                <a16:creationId xmlns:a16="http://schemas.microsoft.com/office/drawing/2014/main" id="{47002AEB-24EA-BFAB-C2CC-5550E0DA76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03599" y="1482616"/>
            <a:ext cx="1143000" cy="15240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3" name="Line 60">
            <a:extLst>
              <a:ext uri="{FF2B5EF4-FFF2-40B4-BE49-F238E27FC236}">
                <a16:creationId xmlns:a16="http://schemas.microsoft.com/office/drawing/2014/main" id="{88A7E2BA-A47A-485F-2F13-221889434C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31999" y="2244616"/>
            <a:ext cx="1371600" cy="7620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4" name="Text Box 61">
            <a:extLst>
              <a:ext uri="{FF2B5EF4-FFF2-40B4-BE49-F238E27FC236}">
                <a16:creationId xmlns:a16="http://schemas.microsoft.com/office/drawing/2014/main" id="{22E1C7F4-1C18-45A4-D8C0-B111A8D97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4440" y="2215713"/>
            <a:ext cx="533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b="0" i="1" u="none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15" name="Text Box 62">
            <a:extLst>
              <a:ext uri="{FF2B5EF4-FFF2-40B4-BE49-F238E27FC236}">
                <a16:creationId xmlns:a16="http://schemas.microsoft.com/office/drawing/2014/main" id="{9565FC93-A523-5FBF-CB77-2E2333285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4888" y="1874729"/>
            <a:ext cx="533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b="0" i="1" u="none" dirty="0">
                <a:solidFill>
                  <a:srgbClr val="FFFF00"/>
                </a:solidFill>
              </a:rPr>
              <a:t>B</a:t>
            </a:r>
          </a:p>
        </p:txBody>
      </p:sp>
      <p:sp>
        <p:nvSpPr>
          <p:cNvPr id="16" name="Line 63">
            <a:extLst>
              <a:ext uri="{FF2B5EF4-FFF2-40B4-BE49-F238E27FC236}">
                <a16:creationId xmlns:a16="http://schemas.microsoft.com/office/drawing/2014/main" id="{A7579BDA-50BF-A869-C80E-8EB0F97642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03599" y="3006616"/>
            <a:ext cx="0" cy="12192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7" name="Text Box 64">
            <a:extLst>
              <a:ext uri="{FF2B5EF4-FFF2-40B4-BE49-F238E27FC236}">
                <a16:creationId xmlns:a16="http://schemas.microsoft.com/office/drawing/2014/main" id="{0BBA9BA9-6F53-BB26-04E8-17B9828E4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9800" y="3699559"/>
            <a:ext cx="19669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b="0" u="none" dirty="0">
                <a:solidFill>
                  <a:srgbClr val="FFFF00"/>
                </a:solidFill>
              </a:rPr>
              <a:t>W  400 N</a:t>
            </a:r>
          </a:p>
        </p:txBody>
      </p:sp>
      <p:grpSp>
        <p:nvGrpSpPr>
          <p:cNvPr id="18" name="Group 70">
            <a:extLst>
              <a:ext uri="{FF2B5EF4-FFF2-40B4-BE49-F238E27FC236}">
                <a16:creationId xmlns:a16="http://schemas.microsoft.com/office/drawing/2014/main" id="{6F357D1C-8CCF-8CCA-092A-8F10DD22233E}"/>
              </a:ext>
            </a:extLst>
          </p:cNvPr>
          <p:cNvGrpSpPr>
            <a:grpSpLocks/>
          </p:cNvGrpSpPr>
          <p:nvPr/>
        </p:nvGrpSpPr>
        <p:grpSpPr bwMode="auto">
          <a:xfrm>
            <a:off x="7060600" y="2636730"/>
            <a:ext cx="2179638" cy="401638"/>
            <a:chOff x="2688" y="753"/>
            <a:chExt cx="1373" cy="253"/>
          </a:xfrm>
        </p:grpSpPr>
        <p:sp>
          <p:nvSpPr>
            <p:cNvPr id="19" name="Text Box 71">
              <a:extLst>
                <a:ext uri="{FF2B5EF4-FFF2-40B4-BE49-F238E27FC236}">
                  <a16:creationId xmlns:a16="http://schemas.microsoft.com/office/drawing/2014/main" id="{A28B0B2F-088E-6561-5482-082391292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756"/>
              <a:ext cx="5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000" b="0" u="none"/>
                <a:t>30</a:t>
              </a:r>
              <a:r>
                <a:rPr lang="es-MX" altLang="es-CO" sz="2000" b="0" u="none" baseline="30000"/>
                <a:t>0</a:t>
              </a:r>
              <a:endParaRPr lang="es-MX" altLang="es-CO" b="0" u="none"/>
            </a:p>
          </p:txBody>
        </p:sp>
        <p:sp>
          <p:nvSpPr>
            <p:cNvPr id="20" name="Text Box 72">
              <a:extLst>
                <a:ext uri="{FF2B5EF4-FFF2-40B4-BE49-F238E27FC236}">
                  <a16:creationId xmlns:a16="http://schemas.microsoft.com/office/drawing/2014/main" id="{67372517-D89F-62FD-C1B2-A64BA4881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2" y="753"/>
              <a:ext cx="5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000" b="0" u="none" dirty="0"/>
                <a:t>60</a:t>
              </a:r>
              <a:r>
                <a:rPr lang="es-MX" altLang="es-CO" sz="2000" b="0" u="none" baseline="30000" dirty="0"/>
                <a:t>0</a:t>
              </a:r>
              <a:endParaRPr lang="es-MX" altLang="es-CO" b="0" u="none" dirty="0"/>
            </a:p>
          </p:txBody>
        </p:sp>
      </p:grpSp>
      <p:sp>
        <p:nvSpPr>
          <p:cNvPr id="21" name="Line 73">
            <a:extLst>
              <a:ext uri="{FF2B5EF4-FFF2-40B4-BE49-F238E27FC236}">
                <a16:creationId xmlns:a16="http://schemas.microsoft.com/office/drawing/2014/main" id="{FD62BE9A-F65B-FA7F-75EB-0956CBAD3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3599" y="1482616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22" name="Line 74">
            <a:extLst>
              <a:ext uri="{FF2B5EF4-FFF2-40B4-BE49-F238E27FC236}">
                <a16:creationId xmlns:a16="http://schemas.microsoft.com/office/drawing/2014/main" id="{BF2A63B6-3B02-8EF4-A62E-07CFBFB07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1999" y="2244616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grpSp>
        <p:nvGrpSpPr>
          <p:cNvPr id="23" name="Group 75">
            <a:extLst>
              <a:ext uri="{FF2B5EF4-FFF2-40B4-BE49-F238E27FC236}">
                <a16:creationId xmlns:a16="http://schemas.microsoft.com/office/drawing/2014/main" id="{E8A150E4-867A-584C-A68B-E4412C1C92A5}"/>
              </a:ext>
            </a:extLst>
          </p:cNvPr>
          <p:cNvGrpSpPr>
            <a:grpSpLocks/>
          </p:cNvGrpSpPr>
          <p:nvPr/>
        </p:nvGrpSpPr>
        <p:grpSpPr bwMode="auto">
          <a:xfrm>
            <a:off x="6335112" y="2244616"/>
            <a:ext cx="685800" cy="762000"/>
            <a:chOff x="3095" y="1305"/>
            <a:chExt cx="432" cy="480"/>
          </a:xfrm>
        </p:grpSpPr>
        <p:sp>
          <p:nvSpPr>
            <p:cNvPr id="24" name="Line 76">
              <a:extLst>
                <a:ext uri="{FF2B5EF4-FFF2-40B4-BE49-F238E27FC236}">
                  <a16:creationId xmlns:a16="http://schemas.microsoft.com/office/drawing/2014/main" id="{C003717A-B9DB-5153-2603-3CF10112F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305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5" name="Text Box 77">
              <a:extLst>
                <a:ext uri="{FF2B5EF4-FFF2-40B4-BE49-F238E27FC236}">
                  <a16:creationId xmlns:a16="http://schemas.microsoft.com/office/drawing/2014/main" id="{F3401279-A0EB-4F6A-521B-1AF44F3FAB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5" y="1372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 dirty="0"/>
                <a:t>A</a:t>
              </a:r>
              <a:r>
                <a:rPr lang="es-MX" altLang="es-CO" b="0" i="1" u="none" baseline="-25000" dirty="0"/>
                <a:t>y</a:t>
              </a:r>
              <a:endParaRPr lang="es-MX" altLang="es-CO" b="0" u="none" dirty="0"/>
            </a:p>
          </p:txBody>
        </p:sp>
      </p:grpSp>
      <p:grpSp>
        <p:nvGrpSpPr>
          <p:cNvPr id="26" name="Group 78">
            <a:extLst>
              <a:ext uri="{FF2B5EF4-FFF2-40B4-BE49-F238E27FC236}">
                <a16:creationId xmlns:a16="http://schemas.microsoft.com/office/drawing/2014/main" id="{97853EEF-4518-966E-DF66-C549F8E5B636}"/>
              </a:ext>
            </a:extLst>
          </p:cNvPr>
          <p:cNvGrpSpPr>
            <a:grpSpLocks/>
          </p:cNvGrpSpPr>
          <p:nvPr/>
        </p:nvGrpSpPr>
        <p:grpSpPr bwMode="auto">
          <a:xfrm>
            <a:off x="9346599" y="1482616"/>
            <a:ext cx="685800" cy="1524000"/>
            <a:chOff x="4992" y="825"/>
            <a:chExt cx="432" cy="960"/>
          </a:xfrm>
        </p:grpSpPr>
        <p:sp>
          <p:nvSpPr>
            <p:cNvPr id="27" name="Line 79">
              <a:extLst>
                <a:ext uri="{FF2B5EF4-FFF2-40B4-BE49-F238E27FC236}">
                  <a16:creationId xmlns:a16="http://schemas.microsoft.com/office/drawing/2014/main" id="{101C5735-122D-FEF4-2010-F462872BB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825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Text Box 80">
              <a:extLst>
                <a:ext uri="{FF2B5EF4-FFF2-40B4-BE49-F238E27FC236}">
                  <a16:creationId xmlns:a16="http://schemas.microsoft.com/office/drawing/2014/main" id="{15DE82A1-8A51-4528-B9D3-FE4F8C255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173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 dirty="0" err="1"/>
                <a:t>B</a:t>
              </a:r>
              <a:r>
                <a:rPr lang="es-MX" altLang="es-CO" b="0" i="1" u="none" baseline="-25000" dirty="0" err="1"/>
                <a:t>y</a:t>
              </a:r>
              <a:endParaRPr lang="es-MX" altLang="es-CO" b="0" u="none" dirty="0"/>
            </a:p>
          </p:txBody>
        </p:sp>
      </p:grpSp>
      <p:sp>
        <p:nvSpPr>
          <p:cNvPr id="29" name="Text Box 81">
            <a:extLst>
              <a:ext uri="{FF2B5EF4-FFF2-40B4-BE49-F238E27FC236}">
                <a16:creationId xmlns:a16="http://schemas.microsoft.com/office/drawing/2014/main" id="{49B24E5A-AB91-3697-83AF-77EC8D314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951" y="2913311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s-MX" altLang="es-CO" b="0" i="1" u="none"/>
              <a:t>A</a:t>
            </a:r>
            <a:r>
              <a:rPr lang="es-MX" altLang="es-CO" b="0" i="1" u="none" baseline="-25000"/>
              <a:t>x</a:t>
            </a:r>
            <a:endParaRPr lang="es-MX" altLang="es-CO" b="0" u="none"/>
          </a:p>
        </p:txBody>
      </p:sp>
      <p:sp>
        <p:nvSpPr>
          <p:cNvPr id="30" name="Text Box 82">
            <a:extLst>
              <a:ext uri="{FF2B5EF4-FFF2-40B4-BE49-F238E27FC236}">
                <a16:creationId xmlns:a16="http://schemas.microsoft.com/office/drawing/2014/main" id="{69B2FB42-0F85-B082-AFFC-72E1114D5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7187" y="3006616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s-MX" altLang="es-CO" b="0" i="1" u="none"/>
              <a:t>B</a:t>
            </a:r>
            <a:r>
              <a:rPr lang="es-MX" altLang="es-CO" b="0" i="1" u="none" baseline="-25000"/>
              <a:t>x</a:t>
            </a:r>
            <a:endParaRPr lang="es-MX" altLang="es-CO" b="0" u="none"/>
          </a:p>
        </p:txBody>
      </p:sp>
      <p:sp>
        <p:nvSpPr>
          <p:cNvPr id="31" name="Text Box 98">
            <a:extLst>
              <a:ext uri="{FF2B5EF4-FFF2-40B4-BE49-F238E27FC236}">
                <a16:creationId xmlns:a16="http://schemas.microsoft.com/office/drawing/2014/main" id="{E9F83151-5AC6-7290-9BA6-246684FF3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211" y="4560779"/>
            <a:ext cx="73009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u="none" dirty="0"/>
              <a:t>4. Aplique 1</a:t>
            </a:r>
            <a:r>
              <a:rPr lang="es-MX" altLang="es-CO" sz="2400" b="0" u="none" baseline="30000" dirty="0"/>
              <a:t>a</a:t>
            </a:r>
            <a:r>
              <a:rPr lang="es-MX" altLang="es-CO" sz="2400" b="0" u="none" dirty="0"/>
              <a:t> condición para equilibrio:</a:t>
            </a:r>
          </a:p>
        </p:txBody>
      </p:sp>
      <p:sp>
        <p:nvSpPr>
          <p:cNvPr id="32" name="Text Box 99">
            <a:extLst>
              <a:ext uri="{FF2B5EF4-FFF2-40B4-BE49-F238E27FC236}">
                <a16:creationId xmlns:a16="http://schemas.microsoft.com/office/drawing/2014/main" id="{B67930AB-676B-5ADF-DCB0-0A7F8E09C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111" y="1584216"/>
            <a:ext cx="3997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u="none" dirty="0"/>
              <a:t>Primera condición para equilibrio:</a:t>
            </a:r>
          </a:p>
        </p:txBody>
      </p:sp>
      <p:sp>
        <p:nvSpPr>
          <p:cNvPr id="33" name="Text Box 100">
            <a:extLst>
              <a:ext uri="{FF2B5EF4-FFF2-40B4-BE49-F238E27FC236}">
                <a16:creationId xmlns:a16="http://schemas.microsoft.com/office/drawing/2014/main" id="{4791FFEB-F5F2-391C-EBA0-AE6A39D39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070" y="2621736"/>
            <a:ext cx="2489608" cy="461665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MX" altLang="es-CO" sz="2400" b="0" u="none" dirty="0"/>
              <a:t> </a:t>
            </a:r>
            <a:r>
              <a:rPr lang="es-MX" altLang="es-CO" sz="2400" b="0" u="none" dirty="0" err="1">
                <a:solidFill>
                  <a:srgbClr val="000000"/>
                </a:solidFill>
                <a:latin typeface="Symbol" panose="05050102010706020507" pitchFamily="18" charset="2"/>
              </a:rPr>
              <a:t>S</a:t>
            </a:r>
            <a:r>
              <a:rPr lang="es-MX" altLang="es-CO" sz="2400" b="0" i="1" u="none" dirty="0" err="1">
                <a:solidFill>
                  <a:srgbClr val="000000"/>
                </a:solidFill>
              </a:rPr>
              <a:t>F</a:t>
            </a:r>
            <a:r>
              <a:rPr lang="es-MX" altLang="es-CO" sz="2400" b="0" i="1" u="none" baseline="-25000" dirty="0" err="1">
                <a:solidFill>
                  <a:srgbClr val="000000"/>
                </a:solidFill>
              </a:rPr>
              <a:t>x</a:t>
            </a:r>
            <a:r>
              <a:rPr lang="es-MX" altLang="es-CO" sz="2400" b="0" i="1" u="none" dirty="0">
                <a:solidFill>
                  <a:srgbClr val="000000"/>
                </a:solidFill>
              </a:rPr>
              <a:t>= </a:t>
            </a:r>
            <a:r>
              <a:rPr lang="es-MX" altLang="es-CO" sz="2400" b="0" u="none" dirty="0">
                <a:solidFill>
                  <a:srgbClr val="000000"/>
                </a:solidFill>
              </a:rPr>
              <a:t>0</a:t>
            </a:r>
            <a:r>
              <a:rPr lang="es-MX" altLang="es-CO" sz="2400" b="0" i="1" u="none" dirty="0">
                <a:solidFill>
                  <a:srgbClr val="000000"/>
                </a:solidFill>
              </a:rPr>
              <a:t> </a:t>
            </a:r>
            <a:r>
              <a:rPr lang="es-MX" altLang="es-CO" sz="2400" b="0" u="none" dirty="0">
                <a:solidFill>
                  <a:srgbClr val="000000"/>
                </a:solidFill>
              </a:rPr>
              <a:t>;</a:t>
            </a:r>
            <a:r>
              <a:rPr lang="es-MX" altLang="es-CO" sz="2400" b="0" i="1" u="none" dirty="0">
                <a:solidFill>
                  <a:srgbClr val="000000"/>
                </a:solidFill>
              </a:rPr>
              <a:t>    </a:t>
            </a:r>
            <a:r>
              <a:rPr lang="es-MX" altLang="es-CO" sz="2400" b="0" u="none" dirty="0" err="1">
                <a:solidFill>
                  <a:srgbClr val="000000"/>
                </a:solidFill>
                <a:latin typeface="Symbol" panose="05050102010706020507" pitchFamily="18" charset="2"/>
              </a:rPr>
              <a:t>S</a:t>
            </a:r>
            <a:r>
              <a:rPr lang="es-MX" altLang="es-CO" sz="2400" b="0" i="1" u="none" dirty="0" err="1">
                <a:solidFill>
                  <a:srgbClr val="000000"/>
                </a:solidFill>
              </a:rPr>
              <a:t>F</a:t>
            </a:r>
            <a:r>
              <a:rPr lang="es-MX" altLang="es-CO" sz="2400" b="0" i="1" u="none" baseline="-25000" dirty="0" err="1">
                <a:solidFill>
                  <a:srgbClr val="000000"/>
                </a:solidFill>
              </a:rPr>
              <a:t>y</a:t>
            </a:r>
            <a:r>
              <a:rPr lang="es-MX" altLang="es-CO" sz="2400" b="0" i="1" u="none" dirty="0">
                <a:solidFill>
                  <a:srgbClr val="000000"/>
                </a:solidFill>
              </a:rPr>
              <a:t>= </a:t>
            </a:r>
            <a:r>
              <a:rPr lang="es-MX" altLang="es-CO" sz="2400" b="0" u="none" dirty="0">
                <a:solidFill>
                  <a:srgbClr val="000000"/>
                </a:solidFill>
              </a:rPr>
              <a:t>0</a:t>
            </a:r>
            <a:endParaRPr lang="es-MX" altLang="es-CO" sz="2400" b="0" u="none" dirty="0"/>
          </a:p>
        </p:txBody>
      </p:sp>
    </p:spTree>
    <p:extLst>
      <p:ext uri="{BB962C8B-B14F-4D97-AF65-F5344CB8AC3E}">
        <p14:creationId xmlns:p14="http://schemas.microsoft.com/office/powerpoint/2010/main" val="39148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autoUpdateAnimBg="0"/>
      <p:bldP spid="4" grpId="0" autoUpdateAnimBg="0"/>
      <p:bldP spid="5" grpId="0" autoUpdateAnimBg="0"/>
      <p:bldP spid="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6C576-41C9-F785-D3AA-0D2F7CE3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A410E91-4649-EAEB-D2FE-2E5C22C63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9903" y="78828"/>
            <a:ext cx="8784131" cy="900112"/>
          </a:xfrm>
          <a:noFill/>
          <a:ln/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Ejemplo.</a:t>
            </a:r>
            <a:r>
              <a:rPr lang="es-MX" altLang="es-CO" sz="2400" dirty="0">
                <a:solidFill>
                  <a:schemeClr val="tx1"/>
                </a:solidFill>
              </a:rPr>
              <a:t> Encuentre la tensión en las cuerdas A y B.</a:t>
            </a:r>
            <a:endParaRPr lang="es-MX" altLang="es-CO" sz="2400" u="sng" dirty="0"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FCC89310-A7DA-ED4E-C5FC-B123D0EAB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9434" y="5068341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u="none" dirty="0" err="1"/>
              <a:t>B</a:t>
            </a:r>
            <a:r>
              <a:rPr lang="es-MX" altLang="es-CO" sz="2400" b="0" u="none" baseline="-25000" dirty="0" err="1"/>
              <a:t>x</a:t>
            </a:r>
            <a:r>
              <a:rPr lang="es-MX" altLang="es-CO" sz="2400" b="0" u="none" baseline="-25000" dirty="0"/>
              <a:t> </a:t>
            </a:r>
            <a:r>
              <a:rPr lang="es-MX" altLang="es-CO" sz="2400" b="0" u="none" dirty="0"/>
              <a:t>= </a:t>
            </a:r>
            <a:r>
              <a:rPr lang="es-MX" altLang="es-CO" sz="2400" b="0" u="none" dirty="0" err="1"/>
              <a:t>A</a:t>
            </a:r>
            <a:r>
              <a:rPr lang="es-MX" altLang="es-CO" sz="2400" b="0" u="none" baseline="-25000" dirty="0" err="1"/>
              <a:t>x</a:t>
            </a:r>
            <a:endParaRPr lang="es-MX" altLang="es-CO" sz="2400" b="0" u="none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665AA818-6C7A-F593-CE62-1E41A1ACA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922" y="5768428"/>
            <a:ext cx="2936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b="0" i="1" u="none" dirty="0" err="1"/>
              <a:t>B</a:t>
            </a:r>
            <a:r>
              <a:rPr kumimoji="0" lang="es-MX" altLang="es-CO" sz="2400" b="0" i="1" u="none" baseline="-25000" dirty="0" err="1"/>
              <a:t>y</a:t>
            </a:r>
            <a:r>
              <a:rPr kumimoji="0" lang="es-MX" altLang="es-CO" sz="2400" b="0" i="1" u="none" dirty="0"/>
              <a:t> +  A</a:t>
            </a:r>
            <a:r>
              <a:rPr kumimoji="0" lang="es-MX" altLang="es-CO" sz="2400" b="0" i="1" u="none" baseline="-25000" dirty="0"/>
              <a:t>y</a:t>
            </a:r>
            <a:r>
              <a:rPr kumimoji="0" lang="es-MX" altLang="es-CO" sz="2400" b="0" i="1" u="none" dirty="0"/>
              <a:t> = W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90FC4213-BF33-F6CE-B005-7CBD31C0D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697" y="5931941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C00F3213-C070-BE94-6DE3-154296AA0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159" y="5252491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7" name="Group 40">
            <a:extLst>
              <a:ext uri="{FF2B5EF4-FFF2-40B4-BE49-F238E27FC236}">
                <a16:creationId xmlns:a16="http://schemas.microsoft.com/office/drawing/2014/main" id="{9FC3C8BB-1E08-D5C7-A165-FE1E7C29A88B}"/>
              </a:ext>
            </a:extLst>
          </p:cNvPr>
          <p:cNvGrpSpPr>
            <a:grpSpLocks/>
          </p:cNvGrpSpPr>
          <p:nvPr/>
        </p:nvGrpSpPr>
        <p:grpSpPr bwMode="auto">
          <a:xfrm>
            <a:off x="2669408" y="1278829"/>
            <a:ext cx="8170863" cy="3132137"/>
            <a:chOff x="429" y="586"/>
            <a:chExt cx="5147" cy="1973"/>
          </a:xfrm>
        </p:grpSpPr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EABA0014-B89E-A5CA-59C3-8D15521A2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586"/>
              <a:ext cx="5147" cy="197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1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3B477795-F3EB-52FC-B4E4-A23C4659C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1" y="1666"/>
              <a:ext cx="23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9F37B32A-C18F-EEA4-55BB-B4CFF4738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3" y="719"/>
              <a:ext cx="0" cy="18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0F72712B-1FF0-3051-F947-F8B2D5D0B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3" y="706"/>
              <a:ext cx="720" cy="96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4299790C-9A60-D6FD-E55C-07B7FB1847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29" y="1186"/>
              <a:ext cx="864" cy="48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9330CA5F-21D0-D9D8-C298-3C1025230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1" y="1138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i="1" u="none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A6E3DDC9-D0C3-7D2B-4DFB-3021826AC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3" y="946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i="1" u="none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E22A9288-3B31-1559-821E-7B4E2F924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3" y="1666"/>
              <a:ext cx="0" cy="76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50654346-1C30-175F-1BBF-0E3071114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2" y="2083"/>
              <a:ext cx="123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u="none">
                  <a:solidFill>
                    <a:srgbClr val="FFFF00"/>
                  </a:solidFill>
                </a:rPr>
                <a:t>W  400 N</a:t>
              </a:r>
            </a:p>
          </p:txBody>
        </p:sp>
        <p:grpSp>
          <p:nvGrpSpPr>
            <p:cNvPr id="17" name="Group 18">
              <a:extLst>
                <a:ext uri="{FF2B5EF4-FFF2-40B4-BE49-F238E27FC236}">
                  <a16:creationId xmlns:a16="http://schemas.microsoft.com/office/drawing/2014/main" id="{A24C1289-E9E2-D507-6D76-344E3B877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3" y="1412"/>
              <a:ext cx="1312" cy="274"/>
              <a:chOff x="2688" y="732"/>
              <a:chExt cx="1312" cy="274"/>
            </a:xfrm>
          </p:grpSpPr>
          <p:sp>
            <p:nvSpPr>
              <p:cNvPr id="28" name="Text Box 19">
                <a:extLst>
                  <a:ext uri="{FF2B5EF4-FFF2-40B4-BE49-F238E27FC236}">
                    <a16:creationId xmlns:a16="http://schemas.microsoft.com/office/drawing/2014/main" id="{5313A268-141B-5170-2F8C-6218062197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756"/>
                <a:ext cx="53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b="0" u="none"/>
                  <a:t>30</a:t>
                </a:r>
                <a:r>
                  <a:rPr lang="es-MX" altLang="es-CO" sz="2000" b="0" u="none" baseline="30000"/>
                  <a:t>0</a:t>
                </a:r>
                <a:endParaRPr lang="es-MX" altLang="es-CO" b="0" u="none"/>
              </a:p>
            </p:txBody>
          </p:sp>
          <p:sp>
            <p:nvSpPr>
              <p:cNvPr id="29" name="Text Box 20">
                <a:extLst>
                  <a:ext uri="{FF2B5EF4-FFF2-40B4-BE49-F238E27FC236}">
                    <a16:creationId xmlns:a16="http://schemas.microsoft.com/office/drawing/2014/main" id="{484470B0-E672-53EE-C0D5-27B63167A0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1" y="732"/>
                <a:ext cx="53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b="0" u="none"/>
                  <a:t>60</a:t>
                </a:r>
                <a:r>
                  <a:rPr lang="es-MX" altLang="es-CO" sz="2000" b="0" u="none" baseline="30000"/>
                  <a:t>0</a:t>
                </a:r>
                <a:endParaRPr lang="es-MX" altLang="es-CO" b="0" u="none"/>
              </a:p>
            </p:txBody>
          </p:sp>
        </p:grp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1A1826C2-1E38-0C0D-118C-601A3E77C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3" y="706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83A5965A-C6EA-D64E-45B3-10B7180D4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186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20" name="Group 23">
              <a:extLst>
                <a:ext uri="{FF2B5EF4-FFF2-40B4-BE49-F238E27FC236}">
                  <a16:creationId xmlns:a16="http://schemas.microsoft.com/office/drawing/2014/main" id="{9D91EDBE-A3EC-6273-CF79-422AD97F5A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7" y="1186"/>
              <a:ext cx="432" cy="480"/>
              <a:chOff x="2976" y="1305"/>
              <a:chExt cx="432" cy="480"/>
            </a:xfrm>
          </p:grpSpPr>
          <p:sp>
            <p:nvSpPr>
              <p:cNvPr id="26" name="Line 24">
                <a:extLst>
                  <a:ext uri="{FF2B5EF4-FFF2-40B4-BE49-F238E27FC236}">
                    <a16:creationId xmlns:a16="http://schemas.microsoft.com/office/drawing/2014/main" id="{4564A6E9-00A3-F56A-085F-58D626370F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30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Text Box 25">
                <a:extLst>
                  <a:ext uri="{FF2B5EF4-FFF2-40B4-BE49-F238E27FC236}">
                    <a16:creationId xmlns:a16="http://schemas.microsoft.com/office/drawing/2014/main" id="{112C4571-33E7-8D82-72BC-7BDA8F7604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333"/>
                <a:ext cx="432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s-MX" altLang="es-CO" b="0" i="1" u="none"/>
                  <a:t>A</a:t>
                </a:r>
                <a:r>
                  <a:rPr lang="es-MX" altLang="es-CO" b="0" i="1" u="none" baseline="-25000"/>
                  <a:t>y</a:t>
                </a:r>
                <a:endParaRPr lang="es-MX" altLang="es-CO" b="0" u="none"/>
              </a:p>
            </p:txBody>
          </p:sp>
        </p:grpSp>
        <p:grpSp>
          <p:nvGrpSpPr>
            <p:cNvPr id="21" name="Group 26">
              <a:extLst>
                <a:ext uri="{FF2B5EF4-FFF2-40B4-BE49-F238E27FC236}">
                  <a16:creationId xmlns:a16="http://schemas.microsoft.com/office/drawing/2014/main" id="{F774DF43-F5EC-FE83-2FC5-A1BEB40214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6" y="706"/>
              <a:ext cx="432" cy="960"/>
              <a:chOff x="4945" y="825"/>
              <a:chExt cx="432" cy="960"/>
            </a:xfrm>
          </p:grpSpPr>
          <p:sp>
            <p:nvSpPr>
              <p:cNvPr id="24" name="Line 27">
                <a:extLst>
                  <a:ext uri="{FF2B5EF4-FFF2-40B4-BE49-F238E27FC236}">
                    <a16:creationId xmlns:a16="http://schemas.microsoft.com/office/drawing/2014/main" id="{2285EE93-F4AB-6E4C-CE33-03F129D3F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825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F70C9BD7-828C-09D0-5902-BC122670DB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5" y="1161"/>
                <a:ext cx="432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s-MX" altLang="es-CO" b="0" i="1" u="none"/>
                  <a:t>B</a:t>
                </a:r>
                <a:r>
                  <a:rPr lang="es-MX" altLang="es-CO" b="0" i="1" u="none" baseline="-25000"/>
                  <a:t>y</a:t>
                </a:r>
                <a:endParaRPr lang="es-MX" altLang="es-CO" b="0" u="none"/>
              </a:p>
            </p:txBody>
          </p:sp>
        </p:grp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B02C6632-2116-817E-433C-B09B4FC83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1" y="1666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/>
                <a:t>A</a:t>
              </a:r>
              <a:r>
                <a:rPr lang="es-MX" altLang="es-CO" b="0" i="1" u="none" baseline="-25000"/>
                <a:t>x</a:t>
              </a:r>
              <a:endParaRPr lang="es-MX" altLang="es-CO" b="0" u="none"/>
            </a:p>
          </p:txBody>
        </p:sp>
        <p:sp>
          <p:nvSpPr>
            <p:cNvPr id="23" name="Text Box 30">
              <a:extLst>
                <a:ext uri="{FF2B5EF4-FFF2-40B4-BE49-F238E27FC236}">
                  <a16:creationId xmlns:a16="http://schemas.microsoft.com/office/drawing/2014/main" id="{E1909D3E-C44A-495F-BA07-61A5C33EDA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" y="1666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/>
                <a:t>B</a:t>
              </a:r>
              <a:r>
                <a:rPr lang="es-MX" altLang="es-CO" b="0" i="1" u="none" baseline="-25000"/>
                <a:t>x</a:t>
              </a:r>
              <a:endParaRPr lang="es-MX" altLang="es-CO" b="0" u="none"/>
            </a:p>
          </p:txBody>
        </p:sp>
      </p:grpSp>
      <p:sp>
        <p:nvSpPr>
          <p:cNvPr id="30" name="Text Box 35">
            <a:extLst>
              <a:ext uri="{FF2B5EF4-FFF2-40B4-BE49-F238E27FC236}">
                <a16:creationId xmlns:a16="http://schemas.microsoft.com/office/drawing/2014/main" id="{E77CD6A8-7417-B4DD-E63A-723BE158A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6522" y="4482553"/>
            <a:ext cx="86566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u="none" dirty="0"/>
              <a:t>Con trigonometría, la primera condición produce:</a:t>
            </a:r>
          </a:p>
        </p:txBody>
      </p:sp>
      <p:sp>
        <p:nvSpPr>
          <p:cNvPr id="31" name="Text Box 37">
            <a:extLst>
              <a:ext uri="{FF2B5EF4-FFF2-40B4-BE49-F238E27FC236}">
                <a16:creationId xmlns:a16="http://schemas.microsoft.com/office/drawing/2014/main" id="{084B22B9-AC49-D53E-80E2-94C672C82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5858" y="5109764"/>
            <a:ext cx="4556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cos 60</a:t>
            </a:r>
            <a:r>
              <a:rPr lang="es-MX" altLang="es-CO" sz="2400" b="0" u="none" baseline="30000" dirty="0"/>
              <a:t>0</a:t>
            </a:r>
            <a:r>
              <a:rPr lang="es-MX" altLang="es-CO" sz="2400" b="0" u="none" dirty="0"/>
              <a:t> = </a:t>
            </a:r>
            <a:r>
              <a:rPr lang="es-MX" altLang="es-CO" sz="2400" b="0" i="1" u="none" dirty="0"/>
              <a:t>A </a:t>
            </a:r>
            <a:r>
              <a:rPr lang="es-MX" altLang="es-CO" sz="2400" b="0" u="none" dirty="0"/>
              <a:t>cos 30</a:t>
            </a:r>
            <a:r>
              <a:rPr lang="es-MX" altLang="es-CO" sz="2400" b="0" u="none" baseline="30000" dirty="0"/>
              <a:t>0</a:t>
            </a:r>
            <a:endParaRPr lang="es-MX" altLang="es-CO" sz="2400" b="0" u="none" dirty="0"/>
          </a:p>
        </p:txBody>
      </p:sp>
      <p:sp>
        <p:nvSpPr>
          <p:cNvPr id="32" name="Text Box 38">
            <a:extLst>
              <a:ext uri="{FF2B5EF4-FFF2-40B4-BE49-F238E27FC236}">
                <a16:creationId xmlns:a16="http://schemas.microsoft.com/office/drawing/2014/main" id="{15B22590-AF88-6EF0-079C-B3393036B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159" y="5734943"/>
            <a:ext cx="520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 dirty="0"/>
              <a:t>A</a:t>
            </a:r>
            <a:r>
              <a:rPr lang="es-MX" altLang="es-CO" sz="2400" b="0" u="none" dirty="0"/>
              <a:t> sen 30</a:t>
            </a:r>
            <a:r>
              <a:rPr lang="es-MX" altLang="es-CO" sz="2400" b="0" u="none" baseline="30000" dirty="0"/>
              <a:t>0</a:t>
            </a:r>
            <a:r>
              <a:rPr lang="es-MX" altLang="es-CO" sz="2400" b="0" u="none" dirty="0"/>
              <a:t> + </a:t>
            </a:r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sen 60</a:t>
            </a:r>
            <a:r>
              <a:rPr lang="es-MX" altLang="es-CO" sz="2400" b="0" u="none" baseline="30000" dirty="0"/>
              <a:t>0 </a:t>
            </a:r>
            <a:r>
              <a:rPr lang="es-MX" altLang="es-CO" sz="2400" b="0" u="none" dirty="0"/>
              <a:t>= 400 N</a:t>
            </a:r>
          </a:p>
        </p:txBody>
      </p:sp>
      <p:sp>
        <p:nvSpPr>
          <p:cNvPr id="33" name="Text Box 41">
            <a:extLst>
              <a:ext uri="{FF2B5EF4-FFF2-40B4-BE49-F238E27FC236}">
                <a16:creationId xmlns:a16="http://schemas.microsoft.com/office/drawing/2014/main" id="{D55887FD-5D64-C5F7-517F-567377FF7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197" y="1393575"/>
            <a:ext cx="59070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 err="1"/>
              <a:t>A</a:t>
            </a:r>
            <a:r>
              <a:rPr lang="es-MX" altLang="es-CO" sz="2400" b="0" u="none" baseline="-25000" dirty="0" err="1"/>
              <a:t>x</a:t>
            </a:r>
            <a:r>
              <a:rPr lang="es-MX" altLang="es-CO" sz="2400" b="0" u="none" dirty="0"/>
              <a:t> = -</a:t>
            </a:r>
            <a:r>
              <a:rPr lang="es-MX" altLang="es-CO" sz="2400" b="0" i="1" u="none" dirty="0"/>
              <a:t>A</a:t>
            </a:r>
            <a:r>
              <a:rPr lang="es-MX" altLang="es-CO" sz="2400" b="0" u="none" dirty="0"/>
              <a:t> cos 30</a:t>
            </a:r>
            <a:r>
              <a:rPr lang="es-MX" altLang="es-CO" sz="2400" b="0" u="none" baseline="30000" dirty="0"/>
              <a:t>0</a:t>
            </a:r>
            <a:r>
              <a:rPr lang="es-MX" altLang="es-CO" sz="2400" b="0" u="none" dirty="0"/>
              <a:t>; </a:t>
            </a:r>
            <a:r>
              <a:rPr lang="es-MX" altLang="es-CO" sz="2400" b="0" i="1" u="none" dirty="0"/>
              <a:t>A</a:t>
            </a:r>
            <a:r>
              <a:rPr lang="es-MX" altLang="es-CO" sz="2400" b="0" u="none" baseline="-25000" dirty="0"/>
              <a:t>y</a:t>
            </a:r>
            <a:r>
              <a:rPr lang="es-MX" altLang="es-CO" sz="2400" b="0" u="none" dirty="0"/>
              <a:t> = </a:t>
            </a:r>
            <a:r>
              <a:rPr lang="es-MX" altLang="es-CO" sz="2400" b="0" i="1" u="none" dirty="0"/>
              <a:t>A</a:t>
            </a:r>
            <a:r>
              <a:rPr lang="es-MX" altLang="es-CO" sz="2400" b="0" u="none" dirty="0"/>
              <a:t> sen 30</a:t>
            </a:r>
            <a:r>
              <a:rPr lang="es-MX" altLang="es-CO" sz="2400" b="0" u="none" baseline="30000" dirty="0"/>
              <a:t>0</a:t>
            </a:r>
            <a:r>
              <a:rPr lang="es-MX" altLang="es-CO" sz="2400" b="0" u="none" dirty="0"/>
              <a:t> </a:t>
            </a:r>
            <a:endParaRPr lang="es-MX" altLang="es-CO" sz="2400" u="none" dirty="0"/>
          </a:p>
        </p:txBody>
      </p:sp>
      <p:sp>
        <p:nvSpPr>
          <p:cNvPr id="34" name="Text Box 42">
            <a:extLst>
              <a:ext uri="{FF2B5EF4-FFF2-40B4-BE49-F238E27FC236}">
                <a16:creationId xmlns:a16="http://schemas.microsoft.com/office/drawing/2014/main" id="{570424DD-DC94-479C-605C-9999F8047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597" y="1943495"/>
            <a:ext cx="28305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 err="1"/>
              <a:t>B</a:t>
            </a:r>
            <a:r>
              <a:rPr lang="es-MX" altLang="es-CO" sz="2400" b="0" u="none" baseline="-25000" dirty="0" err="1"/>
              <a:t>x</a:t>
            </a:r>
            <a:r>
              <a:rPr lang="es-MX" altLang="es-CO" sz="2400" b="0" u="none" dirty="0"/>
              <a:t> = </a:t>
            </a:r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cos 60</a:t>
            </a:r>
            <a:r>
              <a:rPr lang="es-MX" altLang="es-CO" sz="2400" b="0" u="none" baseline="30000" dirty="0"/>
              <a:t>0</a:t>
            </a:r>
            <a:endParaRPr lang="es-MX" altLang="es-CO" sz="2400" u="none" dirty="0"/>
          </a:p>
        </p:txBody>
      </p:sp>
      <p:sp>
        <p:nvSpPr>
          <p:cNvPr id="35" name="Text Box 43">
            <a:extLst>
              <a:ext uri="{FF2B5EF4-FFF2-40B4-BE49-F238E27FC236}">
                <a16:creationId xmlns:a16="http://schemas.microsoft.com/office/drawing/2014/main" id="{6684C1E3-E211-F21C-A76B-E3FF8F0E8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597" y="2614066"/>
            <a:ext cx="28305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 err="1"/>
              <a:t>B</a:t>
            </a:r>
            <a:r>
              <a:rPr lang="es-MX" altLang="es-CO" sz="2400" b="0" u="none" baseline="-25000" dirty="0" err="1"/>
              <a:t>y</a:t>
            </a:r>
            <a:r>
              <a:rPr lang="es-MX" altLang="es-CO" sz="2400" b="0" u="none" dirty="0"/>
              <a:t> = </a:t>
            </a:r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sen 60</a:t>
            </a:r>
            <a:r>
              <a:rPr lang="es-MX" altLang="es-CO" sz="2400" b="0" u="none" baseline="30000" dirty="0"/>
              <a:t>0</a:t>
            </a:r>
            <a:endParaRPr lang="es-MX" altLang="es-CO" sz="2400" u="none" dirty="0"/>
          </a:p>
        </p:txBody>
      </p:sp>
      <p:sp>
        <p:nvSpPr>
          <p:cNvPr id="36" name="Text Box 44">
            <a:extLst>
              <a:ext uri="{FF2B5EF4-FFF2-40B4-BE49-F238E27FC236}">
                <a16:creationId xmlns:a16="http://schemas.microsoft.com/office/drawing/2014/main" id="{A26F22D6-A1D8-6730-8D0D-AB7EB0E68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197" y="3334791"/>
            <a:ext cx="40211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u="none" dirty="0" err="1"/>
              <a:t>W</a:t>
            </a:r>
            <a:r>
              <a:rPr lang="es-MX" altLang="es-CO" sz="2400" b="0" u="none" baseline="-25000" dirty="0" err="1"/>
              <a:t>x</a:t>
            </a:r>
            <a:r>
              <a:rPr lang="es-MX" altLang="es-CO" sz="2400" b="0" u="none" dirty="0"/>
              <a:t> = 0;   </a:t>
            </a:r>
            <a:r>
              <a:rPr lang="es-MX" altLang="es-CO" sz="2400" b="0" u="none" dirty="0" err="1"/>
              <a:t>W</a:t>
            </a:r>
            <a:r>
              <a:rPr lang="es-MX" altLang="es-CO" sz="2400" b="0" u="none" baseline="-25000" dirty="0" err="1"/>
              <a:t>y</a:t>
            </a:r>
            <a:r>
              <a:rPr lang="es-MX" altLang="es-CO" sz="2400" b="0" u="none" dirty="0"/>
              <a:t> = -400 N</a:t>
            </a:r>
            <a:endParaRPr lang="es-MX" altLang="es-CO" sz="2400" u="none" dirty="0"/>
          </a:p>
        </p:txBody>
      </p:sp>
    </p:spTree>
    <p:extLst>
      <p:ext uri="{BB962C8B-B14F-4D97-AF65-F5344CB8AC3E}">
        <p14:creationId xmlns:p14="http://schemas.microsoft.com/office/powerpoint/2010/main" val="15461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DDF5A-0426-9422-8A24-B3B8A3CF9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45B23E4-D398-5922-5455-2D42B1E1B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762" y="0"/>
            <a:ext cx="7848600" cy="708026"/>
          </a:xfrm>
          <a:noFill/>
          <a:ln/>
        </p:spPr>
        <p:txBody>
          <a:bodyPr>
            <a:normAutofit/>
          </a:bodyPr>
          <a:lstStyle/>
          <a:p>
            <a:r>
              <a:rPr lang="es-MX" altLang="es-CO" sz="2400" u="sng" dirty="0"/>
              <a:t>Ejemplo (cont.)</a:t>
            </a:r>
            <a:r>
              <a:rPr lang="es-MX" altLang="es-CO" sz="2400" dirty="0">
                <a:solidFill>
                  <a:schemeClr val="tx1"/>
                </a:solidFill>
              </a:rPr>
              <a:t> Encontrar la tensión en </a:t>
            </a:r>
            <a:r>
              <a:rPr lang="es-MX" altLang="es-CO" sz="2400" i="1" dirty="0">
                <a:solidFill>
                  <a:schemeClr val="tx1"/>
                </a:solidFill>
              </a:rPr>
              <a:t>A</a:t>
            </a:r>
            <a:r>
              <a:rPr lang="es-MX" altLang="es-CO" sz="2400" dirty="0">
                <a:solidFill>
                  <a:schemeClr val="tx1"/>
                </a:solidFill>
              </a:rPr>
              <a:t> y </a:t>
            </a:r>
            <a:r>
              <a:rPr lang="es-MX" altLang="es-CO" sz="2400" i="1" dirty="0">
                <a:solidFill>
                  <a:schemeClr val="tx1"/>
                </a:solidFill>
              </a:rPr>
              <a:t>B</a:t>
            </a:r>
            <a:r>
              <a:rPr lang="es-MX" altLang="es-CO" sz="2400" dirty="0">
                <a:solidFill>
                  <a:schemeClr val="tx1"/>
                </a:solidFill>
              </a:rPr>
              <a:t>.</a:t>
            </a:r>
            <a:endParaRPr lang="es-MX" altLang="es-CO" sz="2400" u="sng" dirty="0"/>
          </a:p>
        </p:txBody>
      </p:sp>
      <p:grpSp>
        <p:nvGrpSpPr>
          <p:cNvPr id="3" name="Group 45">
            <a:extLst>
              <a:ext uri="{FF2B5EF4-FFF2-40B4-BE49-F238E27FC236}">
                <a16:creationId xmlns:a16="http://schemas.microsoft.com/office/drawing/2014/main" id="{0B266552-D33C-F2D6-000B-4438B40FD6CA}"/>
              </a:ext>
            </a:extLst>
          </p:cNvPr>
          <p:cNvGrpSpPr>
            <a:grpSpLocks/>
          </p:cNvGrpSpPr>
          <p:nvPr/>
        </p:nvGrpSpPr>
        <p:grpSpPr bwMode="auto">
          <a:xfrm>
            <a:off x="1769242" y="1269891"/>
            <a:ext cx="8362950" cy="2927350"/>
            <a:chOff x="308" y="596"/>
            <a:chExt cx="5268" cy="1844"/>
          </a:xfrm>
        </p:grpSpPr>
        <p:sp>
          <p:nvSpPr>
            <p:cNvPr id="4" name="Rectangle 8">
              <a:extLst>
                <a:ext uri="{FF2B5EF4-FFF2-40B4-BE49-F238E27FC236}">
                  <a16:creationId xmlns:a16="http://schemas.microsoft.com/office/drawing/2014/main" id="{B7312C20-CAA6-8365-4993-066C6496F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596"/>
              <a:ext cx="5268" cy="1844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1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5" name="Group 38">
              <a:extLst>
                <a:ext uri="{FF2B5EF4-FFF2-40B4-BE49-F238E27FC236}">
                  <a16:creationId xmlns:a16="http://schemas.microsoft.com/office/drawing/2014/main" id="{B586EF7C-959A-A33C-A3D8-A262C8C8B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" y="696"/>
              <a:ext cx="1911" cy="1642"/>
              <a:chOff x="643" y="799"/>
              <a:chExt cx="1911" cy="1642"/>
            </a:xfrm>
          </p:grpSpPr>
          <p:sp>
            <p:nvSpPr>
              <p:cNvPr id="6" name="Line 9">
                <a:extLst>
                  <a:ext uri="{FF2B5EF4-FFF2-40B4-BE49-F238E27FC236}">
                    <a16:creationId xmlns:a16="http://schemas.microsoft.com/office/drawing/2014/main" id="{DF7480FA-99E7-0A91-E29C-6FC042D01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3" y="1633"/>
                <a:ext cx="191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0EB70CC4-FFBC-D7AF-49D6-8A4330C68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810"/>
                <a:ext cx="0" cy="157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8" name="Line 11">
                <a:extLst>
                  <a:ext uri="{FF2B5EF4-FFF2-40B4-BE49-F238E27FC236}">
                    <a16:creationId xmlns:a16="http://schemas.microsoft.com/office/drawing/2014/main" id="{72DA045E-6598-91F5-EDD2-F71969DB73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9" y="799"/>
                <a:ext cx="597" cy="834"/>
              </a:xfrm>
              <a:prstGeom prst="line">
                <a:avLst/>
              </a:prstGeom>
              <a:noFill/>
              <a:ln w="571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9" name="Line 12">
                <a:extLst>
                  <a:ext uri="{FF2B5EF4-FFF2-40B4-BE49-F238E27FC236}">
                    <a16:creationId xmlns:a16="http://schemas.microsoft.com/office/drawing/2014/main" id="{208C9955-AC7B-0521-16F1-1C05A1320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82" y="1216"/>
                <a:ext cx="717" cy="417"/>
              </a:xfrm>
              <a:prstGeom prst="line">
                <a:avLst/>
              </a:prstGeom>
              <a:noFill/>
              <a:ln w="571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0" name="Text Box 13">
                <a:extLst>
                  <a:ext uri="{FF2B5EF4-FFF2-40B4-BE49-F238E27FC236}">
                    <a16:creationId xmlns:a16="http://schemas.microsoft.com/office/drawing/2014/main" id="{0845AD37-5CAA-1F4F-8398-264E62978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1183"/>
                <a:ext cx="279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b="0" i="1" u="none" dirty="0">
                    <a:solidFill>
                      <a:srgbClr val="FFFF00"/>
                    </a:solidFill>
                  </a:rPr>
                  <a:t>A</a:t>
                </a:r>
              </a:p>
            </p:txBody>
          </p:sp>
          <p:sp>
            <p:nvSpPr>
              <p:cNvPr id="11" name="Text Box 14">
                <a:extLst>
                  <a:ext uri="{FF2B5EF4-FFF2-40B4-BE49-F238E27FC236}">
                    <a16:creationId xmlns:a16="http://schemas.microsoft.com/office/drawing/2014/main" id="{7784B285-CCA3-9416-9FB8-43E640284B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8" y="986"/>
                <a:ext cx="27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b="0" i="1" u="none" dirty="0">
                    <a:solidFill>
                      <a:srgbClr val="FFFF00"/>
                    </a:solidFill>
                  </a:rPr>
                  <a:t>B</a:t>
                </a:r>
              </a:p>
            </p:txBody>
          </p:sp>
          <p:sp>
            <p:nvSpPr>
              <p:cNvPr id="12" name="Line 15">
                <a:extLst>
                  <a:ext uri="{FF2B5EF4-FFF2-40B4-BE49-F238E27FC236}">
                    <a16:creationId xmlns:a16="http://schemas.microsoft.com/office/drawing/2014/main" id="{17AD5CB0-D7C2-22E1-8267-A4D1739B6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99" y="1633"/>
                <a:ext cx="0" cy="667"/>
              </a:xfrm>
              <a:prstGeom prst="line">
                <a:avLst/>
              </a:prstGeom>
              <a:noFill/>
              <a:ln w="571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B6D0D3DD-932F-32E9-1408-01097CE0D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2" y="2095"/>
                <a:ext cx="113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b="0" u="none">
                    <a:solidFill>
                      <a:srgbClr val="FFFF00"/>
                    </a:solidFill>
                  </a:rPr>
                  <a:t>W  400 N</a:t>
                </a:r>
              </a:p>
            </p:txBody>
          </p:sp>
          <p:grpSp>
            <p:nvGrpSpPr>
              <p:cNvPr id="14" name="Group 17">
                <a:extLst>
                  <a:ext uri="{FF2B5EF4-FFF2-40B4-BE49-F238E27FC236}">
                    <a16:creationId xmlns:a16="http://schemas.microsoft.com/office/drawing/2014/main" id="{E5C29374-ADCE-71C2-47A9-1BE5753D44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2" y="1404"/>
                <a:ext cx="1147" cy="279"/>
                <a:chOff x="2688" y="722"/>
                <a:chExt cx="1383" cy="321"/>
              </a:xfrm>
            </p:grpSpPr>
            <p:sp>
              <p:nvSpPr>
                <p:cNvPr id="25" name="Text Box 18">
                  <a:extLst>
                    <a:ext uri="{FF2B5EF4-FFF2-40B4-BE49-F238E27FC236}">
                      <a16:creationId xmlns:a16="http://schemas.microsoft.com/office/drawing/2014/main" id="{B0956E44-9163-BA27-5BF3-817DA2A664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88" y="756"/>
                  <a:ext cx="539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s-MX" altLang="es-CO" sz="2000" b="0" u="none"/>
                    <a:t>30</a:t>
                  </a:r>
                  <a:r>
                    <a:rPr lang="es-MX" altLang="es-CO" sz="2000" b="0" u="none" baseline="30000"/>
                    <a:t>0</a:t>
                  </a:r>
                  <a:endParaRPr lang="es-MX" altLang="es-CO" b="0" u="none"/>
                </a:p>
              </p:txBody>
            </p:sp>
            <p:sp>
              <p:nvSpPr>
                <p:cNvPr id="26" name="Text Box 19">
                  <a:extLst>
                    <a:ext uri="{FF2B5EF4-FFF2-40B4-BE49-F238E27FC236}">
                      <a16:creationId xmlns:a16="http://schemas.microsoft.com/office/drawing/2014/main" id="{E0A43416-78B3-7F97-E473-4EADA2556D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32" y="722"/>
                  <a:ext cx="539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s-MX" altLang="es-CO" sz="2000" b="0" u="none" dirty="0"/>
                    <a:t>60</a:t>
                  </a:r>
                  <a:r>
                    <a:rPr lang="es-MX" altLang="es-CO" sz="2000" b="0" u="none" baseline="30000" dirty="0"/>
                    <a:t>0</a:t>
                  </a:r>
                  <a:endParaRPr lang="es-MX" altLang="es-CO" b="0" u="none" dirty="0"/>
                </a:p>
              </p:txBody>
            </p:sp>
          </p:grpSp>
          <p:sp>
            <p:nvSpPr>
              <p:cNvPr id="15" name="Line 20">
                <a:extLst>
                  <a:ext uri="{FF2B5EF4-FFF2-40B4-BE49-F238E27FC236}">
                    <a16:creationId xmlns:a16="http://schemas.microsoft.com/office/drawing/2014/main" id="{1EB9F111-987A-1238-4B8C-F9BDBFDBB6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799"/>
                <a:ext cx="55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6" name="Line 21">
                <a:extLst>
                  <a:ext uri="{FF2B5EF4-FFF2-40B4-BE49-F238E27FC236}">
                    <a16:creationId xmlns:a16="http://schemas.microsoft.com/office/drawing/2014/main" id="{08899F4A-7E56-4A59-C525-B3E1B2396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1216"/>
                <a:ext cx="6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17" name="Group 22">
                <a:extLst>
                  <a:ext uri="{FF2B5EF4-FFF2-40B4-BE49-F238E27FC236}">
                    <a16:creationId xmlns:a16="http://schemas.microsoft.com/office/drawing/2014/main" id="{5ECF70CA-9834-312E-628F-B34A22C25D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1" y="1216"/>
                <a:ext cx="358" cy="417"/>
                <a:chOff x="3153" y="1305"/>
                <a:chExt cx="432" cy="480"/>
              </a:xfrm>
            </p:grpSpPr>
            <p:sp>
              <p:nvSpPr>
                <p:cNvPr id="23" name="Line 23">
                  <a:extLst>
                    <a:ext uri="{FF2B5EF4-FFF2-40B4-BE49-F238E27FC236}">
                      <a16:creationId xmlns:a16="http://schemas.microsoft.com/office/drawing/2014/main" id="{61986B57-9E91-EEFB-59D1-81C72D0CCB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8" y="1305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24" name="Text Box 24">
                  <a:extLst>
                    <a:ext uri="{FF2B5EF4-FFF2-40B4-BE49-F238E27FC236}">
                      <a16:creationId xmlns:a16="http://schemas.microsoft.com/office/drawing/2014/main" id="{72057B06-D0F7-956B-970A-783253AF97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53" y="1322"/>
                  <a:ext cx="432" cy="3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r>
                    <a:rPr lang="es-MX" altLang="es-CO" b="0" i="1" u="none" dirty="0"/>
                    <a:t>A</a:t>
                  </a:r>
                  <a:r>
                    <a:rPr lang="es-MX" altLang="es-CO" b="0" i="1" u="none" baseline="-25000" dirty="0"/>
                    <a:t>y</a:t>
                  </a:r>
                  <a:endParaRPr lang="es-MX" altLang="es-CO" b="0" u="none" dirty="0"/>
                </a:p>
              </p:txBody>
            </p:sp>
          </p:grpSp>
          <p:grpSp>
            <p:nvGrpSpPr>
              <p:cNvPr id="18" name="Group 25">
                <a:extLst>
                  <a:ext uri="{FF2B5EF4-FFF2-40B4-BE49-F238E27FC236}">
                    <a16:creationId xmlns:a16="http://schemas.microsoft.com/office/drawing/2014/main" id="{61CCD286-8E02-B76C-7BB7-0736B734EA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799"/>
                <a:ext cx="358" cy="834"/>
                <a:chOff x="4979" y="825"/>
                <a:chExt cx="432" cy="960"/>
              </a:xfrm>
            </p:grpSpPr>
            <p:sp>
              <p:nvSpPr>
                <p:cNvPr id="21" name="Line 26">
                  <a:extLst>
                    <a:ext uri="{FF2B5EF4-FFF2-40B4-BE49-F238E27FC236}">
                      <a16:creationId xmlns:a16="http://schemas.microsoft.com/office/drawing/2014/main" id="{C8BAE5F0-70AA-B30A-BD51-C2A1475CF3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92" y="825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22" name="Text Box 27">
                  <a:extLst>
                    <a:ext uri="{FF2B5EF4-FFF2-40B4-BE49-F238E27FC236}">
                      <a16:creationId xmlns:a16="http://schemas.microsoft.com/office/drawing/2014/main" id="{20E24307-3761-DE57-107E-B22B5E7109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79" y="1137"/>
                  <a:ext cx="432" cy="39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r>
                    <a:rPr lang="es-MX" altLang="es-CO" b="0" i="1" u="none"/>
                    <a:t>B</a:t>
                  </a:r>
                  <a:r>
                    <a:rPr lang="es-MX" altLang="es-CO" b="0" i="1" u="none" baseline="-25000"/>
                    <a:t>y</a:t>
                  </a:r>
                  <a:endParaRPr lang="es-MX" altLang="es-CO" b="0" u="none"/>
                </a:p>
              </p:txBody>
            </p:sp>
          </p:grpSp>
          <p:sp>
            <p:nvSpPr>
              <p:cNvPr id="19" name="Text Box 28">
                <a:extLst>
                  <a:ext uri="{FF2B5EF4-FFF2-40B4-BE49-F238E27FC236}">
                    <a16:creationId xmlns:a16="http://schemas.microsoft.com/office/drawing/2014/main" id="{C9B847B3-6B62-4675-BD56-17445267E4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0" y="1581"/>
                <a:ext cx="359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s-MX" altLang="es-CO" b="0" i="1" u="none"/>
                  <a:t>A</a:t>
                </a:r>
                <a:r>
                  <a:rPr lang="es-MX" altLang="es-CO" b="0" i="1" u="none" baseline="-25000"/>
                  <a:t>x</a:t>
                </a:r>
                <a:endParaRPr lang="es-MX" altLang="es-CO" b="0" u="none"/>
              </a:p>
            </p:txBody>
          </p:sp>
          <p:sp>
            <p:nvSpPr>
              <p:cNvPr id="20" name="Text Box 29">
                <a:extLst>
                  <a:ext uri="{FF2B5EF4-FFF2-40B4-BE49-F238E27FC236}">
                    <a16:creationId xmlns:a16="http://schemas.microsoft.com/office/drawing/2014/main" id="{914AD8CD-3F9A-3B75-3523-BD1C7D6D3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8" y="1611"/>
                <a:ext cx="358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s-MX" altLang="es-CO" b="0" i="1" u="none"/>
                  <a:t>B</a:t>
                </a:r>
                <a:r>
                  <a:rPr lang="es-MX" altLang="es-CO" b="0" i="1" u="none" baseline="-25000"/>
                  <a:t>x</a:t>
                </a:r>
                <a:endParaRPr lang="es-MX" altLang="es-CO" b="0" u="none"/>
              </a:p>
            </p:txBody>
          </p:sp>
        </p:grpSp>
      </p:grpSp>
      <p:graphicFrame>
        <p:nvGraphicFramePr>
          <p:cNvPr id="27" name="Object 42">
            <a:extLst>
              <a:ext uri="{FF2B5EF4-FFF2-40B4-BE49-F238E27FC236}">
                <a16:creationId xmlns:a16="http://schemas.microsoft.com/office/drawing/2014/main" id="{5D6EEA03-FCD8-3948-9C31-087192F81F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414741"/>
              </p:ext>
            </p:extLst>
          </p:nvPr>
        </p:nvGraphicFramePr>
        <p:xfrm>
          <a:off x="2429643" y="5274140"/>
          <a:ext cx="38100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19040" progId="Equation.DSMT4">
                  <p:embed/>
                </p:oleObj>
              </mc:Choice>
              <mc:Fallback>
                <p:oleObj name="Equation" r:id="rId6" imgW="1384200" imgH="419040" progId="Equation.DSMT4">
                  <p:embed/>
                  <p:pic>
                    <p:nvPicPr>
                      <p:cNvPr id="729130" name="Object 42">
                        <a:extLst>
                          <a:ext uri="{FF2B5EF4-FFF2-40B4-BE49-F238E27FC236}">
                            <a16:creationId xmlns:a16="http://schemas.microsoft.com/office/drawing/2014/main" id="{0D0329E5-74E2-FECC-BBA5-9D9EF68A0B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643" y="5274140"/>
                        <a:ext cx="3810000" cy="115411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43">
            <a:extLst>
              <a:ext uri="{FF2B5EF4-FFF2-40B4-BE49-F238E27FC236}">
                <a16:creationId xmlns:a16="http://schemas.microsoft.com/office/drawing/2014/main" id="{9C8E84F9-1759-81BC-F815-09FC466EA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062" y="5634146"/>
            <a:ext cx="2514600" cy="461665"/>
          </a:xfrm>
          <a:prstGeom prst="rect">
            <a:avLst/>
          </a:prstGeom>
          <a:solidFill>
            <a:srgbClr val="FFFFCC"/>
          </a:solidFill>
          <a:ln w="2857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>
                <a:solidFill>
                  <a:srgbClr val="000000"/>
                </a:solidFill>
                <a:latin typeface="Times New Roman" panose="02020603050405020304" pitchFamily="18" charset="0"/>
              </a:rPr>
              <a:t>B </a:t>
            </a:r>
            <a:r>
              <a:rPr lang="es-MX" altLang="es-CO" sz="2400" b="0" i="1" u="none">
                <a:solidFill>
                  <a:srgbClr val="000000"/>
                </a:solidFill>
              </a:rPr>
              <a:t>= </a:t>
            </a:r>
            <a:r>
              <a:rPr lang="es-MX" altLang="es-CO" sz="2400" b="0" u="none">
                <a:solidFill>
                  <a:srgbClr val="000000"/>
                </a:solidFill>
              </a:rPr>
              <a:t>1.732</a:t>
            </a:r>
            <a:r>
              <a:rPr lang="es-MX" altLang="es-CO" sz="2400" b="0" i="1" u="none">
                <a:solidFill>
                  <a:srgbClr val="000000"/>
                </a:solidFill>
              </a:rPr>
              <a:t> A</a:t>
            </a:r>
          </a:p>
        </p:txBody>
      </p:sp>
      <p:sp>
        <p:nvSpPr>
          <p:cNvPr id="29" name="Text Box 44">
            <a:extLst>
              <a:ext uri="{FF2B5EF4-FFF2-40B4-BE49-F238E27FC236}">
                <a16:creationId xmlns:a16="http://schemas.microsoft.com/office/drawing/2014/main" id="{C98F8AC2-B957-45AA-31F6-54CEB42CE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612" y="4320192"/>
            <a:ext cx="79787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u="none" dirty="0"/>
              <a:t>Primero resuelva la ecuación horizontal para </a:t>
            </a:r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en términos de la incógnita </a:t>
            </a:r>
            <a:r>
              <a:rPr lang="es-MX" altLang="es-CO" sz="2400" b="0" i="1" u="none" dirty="0"/>
              <a:t>A</a:t>
            </a:r>
            <a:r>
              <a:rPr lang="es-MX" altLang="es-CO" sz="2400" b="0" u="none" dirty="0"/>
              <a:t>:</a:t>
            </a:r>
          </a:p>
        </p:txBody>
      </p:sp>
      <p:sp>
        <p:nvSpPr>
          <p:cNvPr id="30" name="Text Box 50">
            <a:extLst>
              <a:ext uri="{FF2B5EF4-FFF2-40B4-BE49-F238E27FC236}">
                <a16:creationId xmlns:a16="http://schemas.microsoft.com/office/drawing/2014/main" id="{19E2FA7D-7C4F-CFC2-DBB3-3F135030B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030" y="1223854"/>
            <a:ext cx="4556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cos 60</a:t>
            </a:r>
            <a:r>
              <a:rPr lang="es-MX" altLang="es-CO" sz="2400" b="0" u="none" baseline="30000" dirty="0"/>
              <a:t>0</a:t>
            </a:r>
            <a:r>
              <a:rPr lang="es-MX" altLang="es-CO" sz="2400" b="0" u="none" dirty="0"/>
              <a:t> = </a:t>
            </a:r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cos 30</a:t>
            </a:r>
            <a:r>
              <a:rPr lang="es-MX" altLang="es-CO" sz="2400" b="0" u="none" baseline="30000" dirty="0"/>
              <a:t>0</a:t>
            </a:r>
            <a:endParaRPr lang="es-MX" altLang="es-CO" sz="2400" u="none" dirty="0"/>
          </a:p>
        </p:txBody>
      </p:sp>
      <p:sp>
        <p:nvSpPr>
          <p:cNvPr id="31" name="Text Box 51">
            <a:extLst>
              <a:ext uri="{FF2B5EF4-FFF2-40B4-BE49-F238E27FC236}">
                <a16:creationId xmlns:a16="http://schemas.microsoft.com/office/drawing/2014/main" id="{7F4F5D6E-57BF-A550-0585-6CD4F222D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442" y="1782654"/>
            <a:ext cx="520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/>
              <a:t>A</a:t>
            </a:r>
            <a:r>
              <a:rPr lang="es-MX" altLang="es-CO" sz="2400" b="0" u="none" dirty="0"/>
              <a:t> sen 30</a:t>
            </a:r>
            <a:r>
              <a:rPr lang="es-MX" altLang="es-CO" sz="2400" b="0" u="none" baseline="30000" dirty="0"/>
              <a:t>0</a:t>
            </a:r>
            <a:r>
              <a:rPr lang="es-MX" altLang="es-CO" sz="2400" b="0" u="none" dirty="0"/>
              <a:t> + </a:t>
            </a:r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sen 60</a:t>
            </a:r>
            <a:r>
              <a:rPr lang="es-MX" altLang="es-CO" sz="2400" b="0" u="none" baseline="30000" dirty="0"/>
              <a:t>0 </a:t>
            </a:r>
            <a:r>
              <a:rPr lang="es-MX" altLang="es-CO" sz="2400" b="0" u="none" dirty="0"/>
              <a:t>= 400 N </a:t>
            </a:r>
            <a:endParaRPr lang="es-MX" altLang="es-CO" sz="2400" u="none" dirty="0"/>
          </a:p>
        </p:txBody>
      </p:sp>
      <p:sp>
        <p:nvSpPr>
          <p:cNvPr id="32" name="Rectangle 52">
            <a:extLst>
              <a:ext uri="{FF2B5EF4-FFF2-40B4-BE49-F238E27FC236}">
                <a16:creationId xmlns:a16="http://schemas.microsoft.com/office/drawing/2014/main" id="{B5D675E1-9482-72AA-2839-F5054F338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930" y="2493854"/>
            <a:ext cx="4306887" cy="147637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3" name="Text Box 53">
            <a:extLst>
              <a:ext uri="{FF2B5EF4-FFF2-40B4-BE49-F238E27FC236}">
                <a16:creationId xmlns:a16="http://schemas.microsoft.com/office/drawing/2014/main" id="{1207C9CB-0C6D-1201-722F-14CA357AB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655" y="2728804"/>
            <a:ext cx="53673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u="none" dirty="0"/>
              <a:t>Ahora resuelva para </a:t>
            </a:r>
            <a:r>
              <a:rPr lang="es-MX" altLang="es-CO" sz="2400" b="0" i="1" u="none" dirty="0"/>
              <a:t>A </a:t>
            </a:r>
            <a:r>
              <a:rPr lang="es-MX" altLang="es-CO" sz="2400" b="0" u="none" dirty="0"/>
              <a:t>y </a:t>
            </a:r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:</a:t>
            </a:r>
            <a:r>
              <a:rPr lang="es-MX" altLang="es-CO" sz="2400" b="0" i="1" u="none" dirty="0"/>
              <a:t> </a:t>
            </a:r>
            <a:r>
              <a:rPr lang="es-MX" altLang="es-CO" sz="2400" b="0" u="none" dirty="0"/>
              <a:t>dos ecuaciones y dos incógnitas.</a:t>
            </a:r>
            <a:endParaRPr lang="es-MX" altLang="es-CO" sz="2400" u="none" dirty="0"/>
          </a:p>
        </p:txBody>
      </p:sp>
    </p:spTree>
    <p:extLst>
      <p:ext uri="{BB962C8B-B14F-4D97-AF65-F5344CB8AC3E}">
        <p14:creationId xmlns:p14="http://schemas.microsoft.com/office/powerpoint/2010/main" val="80648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8" grpId="0" animBg="1"/>
      <p:bldP spid="29" grpId="0"/>
      <p:bldP spid="30" grpId="0"/>
      <p:bldP spid="31" grpId="0"/>
      <p:bldP spid="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F0A7A-8DD6-8A95-E298-CDF12A01E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9D502FF-D38F-D223-25DF-DAF1146642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383" y="78850"/>
            <a:ext cx="7848600" cy="788987"/>
          </a:xfrm>
          <a:noFill/>
          <a:ln/>
        </p:spPr>
        <p:txBody>
          <a:bodyPr>
            <a:normAutofit/>
          </a:bodyPr>
          <a:lstStyle/>
          <a:p>
            <a:r>
              <a:rPr lang="es-MX" altLang="es-CO" sz="2400" u="sng" dirty="0"/>
              <a:t>Ejemplo (cont.)</a:t>
            </a:r>
            <a:r>
              <a:rPr lang="es-MX" altLang="es-CO" sz="2400" dirty="0"/>
              <a:t> </a:t>
            </a:r>
            <a:r>
              <a:rPr lang="es-MX" altLang="es-CO" sz="2400" dirty="0">
                <a:solidFill>
                  <a:schemeClr val="tx1"/>
                </a:solidFill>
              </a:rPr>
              <a:t>  Encontrar la tensión </a:t>
            </a:r>
            <a:r>
              <a:rPr lang="es-MX" altLang="es-CO" sz="2400" i="1" dirty="0">
                <a:solidFill>
                  <a:schemeClr val="tx1"/>
                </a:solidFill>
              </a:rPr>
              <a:t>A</a:t>
            </a:r>
            <a:r>
              <a:rPr lang="es-MX" altLang="es-CO" sz="2400" dirty="0">
                <a:solidFill>
                  <a:schemeClr val="tx1"/>
                </a:solidFill>
              </a:rPr>
              <a:t> y </a:t>
            </a:r>
            <a:r>
              <a:rPr lang="es-MX" altLang="es-CO" sz="2400" i="1" dirty="0">
                <a:solidFill>
                  <a:schemeClr val="tx1"/>
                </a:solidFill>
              </a:rPr>
              <a:t>B</a:t>
            </a:r>
            <a:r>
              <a:rPr lang="es-MX" altLang="es-CO" sz="2400" dirty="0">
                <a:solidFill>
                  <a:schemeClr val="tx1"/>
                </a:solidFill>
              </a:rPr>
              <a:t>. </a:t>
            </a:r>
            <a:endParaRPr lang="es-MX" altLang="es-CO" sz="2400" u="sng" dirty="0"/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E1597E91-F6DE-A74F-6A27-AC747FBF2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007" y="4633804"/>
            <a:ext cx="5486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 dirty="0"/>
              <a:t>A </a:t>
            </a:r>
            <a:r>
              <a:rPr lang="es-MX" altLang="es-CO" sz="2400" b="0" u="none" dirty="0"/>
              <a:t>sen</a:t>
            </a:r>
            <a:r>
              <a:rPr lang="es-MX" altLang="es-CO" sz="2400" b="0" i="1" u="none" dirty="0"/>
              <a:t> </a:t>
            </a:r>
            <a:r>
              <a:rPr lang="es-MX" altLang="es-CO" sz="2400" b="0" u="none" dirty="0"/>
              <a:t>30</a:t>
            </a:r>
            <a:r>
              <a:rPr lang="es-MX" altLang="es-CO" sz="2400" b="0" u="none" baseline="30000" dirty="0"/>
              <a:t>0</a:t>
            </a:r>
            <a:r>
              <a:rPr lang="es-MX" altLang="es-CO" sz="2400" b="0" i="1" u="none" dirty="0"/>
              <a:t> + B </a:t>
            </a:r>
            <a:r>
              <a:rPr lang="es-MX" altLang="es-CO" sz="2400" b="0" u="none" dirty="0"/>
              <a:t>sen</a:t>
            </a:r>
            <a:r>
              <a:rPr lang="es-MX" altLang="es-CO" sz="2400" b="0" i="1" u="none" dirty="0"/>
              <a:t> </a:t>
            </a:r>
            <a:r>
              <a:rPr lang="es-MX" altLang="es-CO" sz="2400" b="0" u="none" dirty="0"/>
              <a:t>60</a:t>
            </a:r>
            <a:r>
              <a:rPr lang="es-MX" altLang="es-CO" sz="2400" b="0" u="none" baseline="30000" dirty="0"/>
              <a:t>0</a:t>
            </a:r>
            <a:r>
              <a:rPr lang="es-MX" altLang="es-CO" sz="2400" b="0" u="none" dirty="0"/>
              <a:t> = 400 N</a:t>
            </a:r>
            <a:endParaRPr lang="es-MX" altLang="es-CO" sz="2400" b="0" i="1" u="none" dirty="0"/>
          </a:p>
        </p:txBody>
      </p:sp>
      <p:sp>
        <p:nvSpPr>
          <p:cNvPr id="4" name="Text Box 25">
            <a:extLst>
              <a:ext uri="{FF2B5EF4-FFF2-40B4-BE49-F238E27FC236}">
                <a16:creationId xmlns:a16="http://schemas.microsoft.com/office/drawing/2014/main" id="{621A37D2-C30C-4BBC-E2D5-0EFD9067E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2170" y="4633804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 dirty="0"/>
              <a:t>B = </a:t>
            </a:r>
            <a:r>
              <a:rPr lang="es-MX" altLang="es-CO" sz="2400" b="0" u="none" dirty="0"/>
              <a:t>1.732</a:t>
            </a:r>
            <a:r>
              <a:rPr lang="es-MX" altLang="es-CO" sz="2400" b="0" i="1" u="none" dirty="0"/>
              <a:t> A</a:t>
            </a: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D7E0B3F9-12E8-9895-B8E7-A2452F56C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920" y="5206891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 dirty="0"/>
              <a:t>A </a:t>
            </a:r>
            <a:r>
              <a:rPr lang="es-MX" altLang="es-CO" sz="2400" b="0" u="none" dirty="0"/>
              <a:t>sen</a:t>
            </a:r>
            <a:r>
              <a:rPr lang="es-MX" altLang="es-CO" sz="2400" b="0" i="1" u="none" dirty="0"/>
              <a:t> </a:t>
            </a:r>
            <a:r>
              <a:rPr lang="es-MX" altLang="es-CO" sz="2400" b="0" u="none" dirty="0"/>
              <a:t>30</a:t>
            </a:r>
            <a:r>
              <a:rPr lang="es-MX" altLang="es-CO" sz="2400" b="0" u="none" baseline="30000" dirty="0"/>
              <a:t>0 </a:t>
            </a:r>
            <a:r>
              <a:rPr lang="es-MX" altLang="es-CO" sz="2400" b="0" i="1" u="none" dirty="0"/>
              <a:t>+ </a:t>
            </a:r>
            <a:r>
              <a:rPr lang="es-MX" altLang="es-CO" sz="2400" b="0" u="none" dirty="0"/>
              <a:t>(1.732 A) sen 60</a:t>
            </a:r>
            <a:r>
              <a:rPr lang="es-MX" altLang="es-CO" sz="2400" b="0" u="none" baseline="30000" dirty="0"/>
              <a:t>0</a:t>
            </a:r>
            <a:r>
              <a:rPr lang="es-MX" altLang="es-CO" sz="2400" b="0" i="1" u="none" dirty="0"/>
              <a:t> </a:t>
            </a:r>
            <a:r>
              <a:rPr lang="es-MX" altLang="es-CO" sz="2400" b="0" u="none" dirty="0"/>
              <a:t>= 400 N</a:t>
            </a:r>
          </a:p>
        </p:txBody>
      </p:sp>
      <p:sp>
        <p:nvSpPr>
          <p:cNvPr id="6" name="Text Box 27">
            <a:extLst>
              <a:ext uri="{FF2B5EF4-FFF2-40B4-BE49-F238E27FC236}">
                <a16:creationId xmlns:a16="http://schemas.microsoft.com/office/drawing/2014/main" id="{A39882DF-CEBD-9216-E970-C2AF3006E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407" y="5959366"/>
            <a:ext cx="480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u="none" dirty="0"/>
              <a:t>0.500 </a:t>
            </a:r>
            <a:r>
              <a:rPr lang="es-MX" altLang="es-CO" sz="2400" b="0" i="1" u="none" dirty="0"/>
              <a:t>A</a:t>
            </a:r>
            <a:r>
              <a:rPr lang="es-MX" altLang="es-CO" sz="2400" b="0" u="none" dirty="0"/>
              <a:t> + 1.50 </a:t>
            </a:r>
            <a:r>
              <a:rPr lang="es-MX" altLang="es-CO" sz="2400" b="0" i="1" u="none" dirty="0"/>
              <a:t>A</a:t>
            </a:r>
            <a:r>
              <a:rPr lang="es-MX" altLang="es-CO" sz="2400" b="0" u="none" dirty="0"/>
              <a:t> = 400 N</a:t>
            </a:r>
          </a:p>
        </p:txBody>
      </p:sp>
      <p:sp>
        <p:nvSpPr>
          <p:cNvPr id="7" name="Text Box 28">
            <a:extLst>
              <a:ext uri="{FF2B5EF4-FFF2-40B4-BE49-F238E27FC236}">
                <a16:creationId xmlns:a16="http://schemas.microsoft.com/office/drawing/2014/main" id="{9D7FB9E6-CC55-EE10-7BB7-2DDB0285C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2207" y="5959366"/>
            <a:ext cx="2362200" cy="461665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>
                <a:solidFill>
                  <a:srgbClr val="000000"/>
                </a:solidFill>
              </a:rPr>
              <a:t>A = </a:t>
            </a:r>
            <a:r>
              <a:rPr lang="es-MX" altLang="es-CO" sz="2400" b="0" u="none">
                <a:solidFill>
                  <a:srgbClr val="000000"/>
                </a:solidFill>
              </a:rPr>
              <a:t>200 N</a:t>
            </a:r>
            <a:endParaRPr lang="es-MX" altLang="es-CO" sz="2400" b="0" i="1" u="none">
              <a:solidFill>
                <a:srgbClr val="000000"/>
              </a:solidFill>
            </a:endParaRPr>
          </a:p>
        </p:txBody>
      </p:sp>
      <p:grpSp>
        <p:nvGrpSpPr>
          <p:cNvPr id="8" name="Group 61">
            <a:extLst>
              <a:ext uri="{FF2B5EF4-FFF2-40B4-BE49-F238E27FC236}">
                <a16:creationId xmlns:a16="http://schemas.microsoft.com/office/drawing/2014/main" id="{0185AA4A-578E-F494-6AA1-4DE8CBCBFC00}"/>
              </a:ext>
            </a:extLst>
          </p:cNvPr>
          <p:cNvGrpSpPr>
            <a:grpSpLocks/>
          </p:cNvGrpSpPr>
          <p:nvPr/>
        </p:nvGrpSpPr>
        <p:grpSpPr bwMode="auto">
          <a:xfrm>
            <a:off x="1907245" y="1314341"/>
            <a:ext cx="7848600" cy="3200400"/>
            <a:chOff x="384" y="624"/>
            <a:chExt cx="4944" cy="2016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A2E30178-CCB2-51E5-5E00-117A28E11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624"/>
              <a:ext cx="4944" cy="201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Line 34">
              <a:extLst>
                <a:ext uri="{FF2B5EF4-FFF2-40B4-BE49-F238E27FC236}">
                  <a16:creationId xmlns:a16="http://schemas.microsoft.com/office/drawing/2014/main" id="{4DB87F0A-A041-FA8D-9FB7-B2B5BCB619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" y="1641"/>
              <a:ext cx="19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35">
              <a:extLst>
                <a:ext uri="{FF2B5EF4-FFF2-40B4-BE49-F238E27FC236}">
                  <a16:creationId xmlns:a16="http://schemas.microsoft.com/office/drawing/2014/main" id="{89233AF7-892F-B3DC-1D58-63C7D1C2D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7" y="818"/>
              <a:ext cx="0" cy="15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36">
              <a:extLst>
                <a:ext uri="{FF2B5EF4-FFF2-40B4-BE49-F238E27FC236}">
                  <a16:creationId xmlns:a16="http://schemas.microsoft.com/office/drawing/2014/main" id="{362A6C56-EFCD-3EF4-C11F-825E03E3E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7" y="807"/>
              <a:ext cx="597" cy="834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37">
              <a:extLst>
                <a:ext uri="{FF2B5EF4-FFF2-40B4-BE49-F238E27FC236}">
                  <a16:creationId xmlns:a16="http://schemas.microsoft.com/office/drawing/2014/main" id="{48E8EC01-F1D2-2C48-2B1E-2F340BE2E9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0" y="1224"/>
              <a:ext cx="717" cy="417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Text Box 38">
              <a:extLst>
                <a:ext uri="{FF2B5EF4-FFF2-40B4-BE49-F238E27FC236}">
                  <a16:creationId xmlns:a16="http://schemas.microsoft.com/office/drawing/2014/main" id="{93F4AA33-B9B3-93D6-A5A7-8D911C098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8" y="1192"/>
              <a:ext cx="27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i="1" u="none" dirty="0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15" name="Text Box 39">
              <a:extLst>
                <a:ext uri="{FF2B5EF4-FFF2-40B4-BE49-F238E27FC236}">
                  <a16:creationId xmlns:a16="http://schemas.microsoft.com/office/drawing/2014/main" id="{1AC6DA4A-ABD3-F037-B17C-5A3276CEE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6" y="1004"/>
              <a:ext cx="27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i="1" u="none" dirty="0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16" name="Line 40">
              <a:extLst>
                <a:ext uri="{FF2B5EF4-FFF2-40B4-BE49-F238E27FC236}">
                  <a16:creationId xmlns:a16="http://schemas.microsoft.com/office/drawing/2014/main" id="{FFB3E4E8-B08F-38D9-C45B-B6A7D4D7D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7" y="1641"/>
              <a:ext cx="0" cy="667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41">
              <a:extLst>
                <a:ext uri="{FF2B5EF4-FFF2-40B4-BE49-F238E27FC236}">
                  <a16:creationId xmlns:a16="http://schemas.microsoft.com/office/drawing/2014/main" id="{87E80627-599C-44B4-E2D0-BA32A16D8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011"/>
              <a:ext cx="74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b="0" u="none">
                  <a:solidFill>
                    <a:srgbClr val="FFFF00"/>
                  </a:solidFill>
                </a:rPr>
                <a:t>400 N</a:t>
              </a:r>
            </a:p>
          </p:txBody>
        </p:sp>
        <p:grpSp>
          <p:nvGrpSpPr>
            <p:cNvPr id="18" name="Group 42">
              <a:extLst>
                <a:ext uri="{FF2B5EF4-FFF2-40B4-BE49-F238E27FC236}">
                  <a16:creationId xmlns:a16="http://schemas.microsoft.com/office/drawing/2014/main" id="{49DFC47D-8358-EBC0-CD53-F124685EAC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9" y="1431"/>
              <a:ext cx="1139" cy="260"/>
              <a:chOff x="2688" y="744"/>
              <a:chExt cx="1374" cy="299"/>
            </a:xfrm>
          </p:grpSpPr>
          <p:sp>
            <p:nvSpPr>
              <p:cNvPr id="29" name="Text Box 43">
                <a:extLst>
                  <a:ext uri="{FF2B5EF4-FFF2-40B4-BE49-F238E27FC236}">
                    <a16:creationId xmlns:a16="http://schemas.microsoft.com/office/drawing/2014/main" id="{C950D96A-1BC1-4925-0D48-D4829C997E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756"/>
                <a:ext cx="539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b="0" u="none" dirty="0"/>
                  <a:t>30</a:t>
                </a:r>
                <a:r>
                  <a:rPr lang="es-MX" altLang="es-CO" sz="2000" b="0" u="none" baseline="30000" dirty="0"/>
                  <a:t>0</a:t>
                </a:r>
                <a:endParaRPr lang="es-MX" altLang="es-CO" b="0" u="none" dirty="0"/>
              </a:p>
            </p:txBody>
          </p:sp>
          <p:sp>
            <p:nvSpPr>
              <p:cNvPr id="30" name="Text Box 44">
                <a:extLst>
                  <a:ext uri="{FF2B5EF4-FFF2-40B4-BE49-F238E27FC236}">
                    <a16:creationId xmlns:a16="http://schemas.microsoft.com/office/drawing/2014/main" id="{F37E4B4E-1B7C-CC46-2AA2-769EC208D5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3" y="744"/>
                <a:ext cx="539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b="0" u="none" dirty="0"/>
                  <a:t>60</a:t>
                </a:r>
                <a:r>
                  <a:rPr lang="es-MX" altLang="es-CO" sz="2000" b="0" u="none" baseline="30000" dirty="0"/>
                  <a:t>0</a:t>
                </a:r>
                <a:endParaRPr lang="es-MX" altLang="es-CO" b="0" u="none" dirty="0"/>
              </a:p>
            </p:txBody>
          </p:sp>
        </p:grpSp>
        <p:sp>
          <p:nvSpPr>
            <p:cNvPr id="19" name="Line 45">
              <a:extLst>
                <a:ext uri="{FF2B5EF4-FFF2-40B4-BE49-F238E27FC236}">
                  <a16:creationId xmlns:a16="http://schemas.microsoft.com/office/drawing/2014/main" id="{8542060D-850B-0915-45D7-FF0B03593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7" y="807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Line 46">
              <a:extLst>
                <a:ext uri="{FF2B5EF4-FFF2-40B4-BE49-F238E27FC236}">
                  <a16:creationId xmlns:a16="http://schemas.microsoft.com/office/drawing/2014/main" id="{AA7EBEC0-8722-E8A6-E136-C89201633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0" y="1224"/>
              <a:ext cx="6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21" name="Group 47">
              <a:extLst>
                <a:ext uri="{FF2B5EF4-FFF2-40B4-BE49-F238E27FC236}">
                  <a16:creationId xmlns:a16="http://schemas.microsoft.com/office/drawing/2014/main" id="{4C056D7A-53AA-0402-F9D9-256BEB27A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" y="1206"/>
              <a:ext cx="358" cy="434"/>
              <a:chOff x="3094" y="1285"/>
              <a:chExt cx="432" cy="500"/>
            </a:xfrm>
          </p:grpSpPr>
          <p:sp>
            <p:nvSpPr>
              <p:cNvPr id="27" name="Line 48">
                <a:extLst>
                  <a:ext uri="{FF2B5EF4-FFF2-40B4-BE49-F238E27FC236}">
                    <a16:creationId xmlns:a16="http://schemas.microsoft.com/office/drawing/2014/main" id="{E2E0E8EA-F80E-332F-4C9B-7499576DC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30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8" name="Text Box 49">
                <a:extLst>
                  <a:ext uri="{FF2B5EF4-FFF2-40B4-BE49-F238E27FC236}">
                    <a16:creationId xmlns:a16="http://schemas.microsoft.com/office/drawing/2014/main" id="{3CE9E2C8-CDF1-65D7-C2A2-85E3CE099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4" y="1285"/>
                <a:ext cx="432" cy="3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s-MX" altLang="es-CO" b="0" i="1" u="none" dirty="0"/>
                  <a:t>A</a:t>
                </a:r>
                <a:r>
                  <a:rPr lang="es-MX" altLang="es-CO" b="0" i="1" u="none" baseline="-25000" dirty="0"/>
                  <a:t>y</a:t>
                </a:r>
                <a:endParaRPr lang="es-MX" altLang="es-CO" b="0" u="none" dirty="0"/>
              </a:p>
            </p:txBody>
          </p:sp>
        </p:grpSp>
        <p:grpSp>
          <p:nvGrpSpPr>
            <p:cNvPr id="22" name="Group 50">
              <a:extLst>
                <a:ext uri="{FF2B5EF4-FFF2-40B4-BE49-F238E27FC236}">
                  <a16:creationId xmlns:a16="http://schemas.microsoft.com/office/drawing/2014/main" id="{36803253-45A8-C592-2BCC-25ADD2F6C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6" y="807"/>
              <a:ext cx="358" cy="834"/>
              <a:chOff x="4982" y="825"/>
              <a:chExt cx="432" cy="960"/>
            </a:xfrm>
          </p:grpSpPr>
          <p:sp>
            <p:nvSpPr>
              <p:cNvPr id="25" name="Line 51">
                <a:extLst>
                  <a:ext uri="{FF2B5EF4-FFF2-40B4-BE49-F238E27FC236}">
                    <a16:creationId xmlns:a16="http://schemas.microsoft.com/office/drawing/2014/main" id="{2B6B1108-423B-B3AA-4FD4-F4DE39E25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825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6" name="Text Box 52">
                <a:extLst>
                  <a:ext uri="{FF2B5EF4-FFF2-40B4-BE49-F238E27FC236}">
                    <a16:creationId xmlns:a16="http://schemas.microsoft.com/office/drawing/2014/main" id="{D4623729-BE57-C56C-AF13-67D5BC35D2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2" y="1136"/>
                <a:ext cx="432" cy="3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s-MX" altLang="es-CO" b="0" i="1" u="none" dirty="0" err="1"/>
                  <a:t>B</a:t>
                </a:r>
                <a:r>
                  <a:rPr lang="es-MX" altLang="es-CO" b="0" i="1" u="none" baseline="-25000" dirty="0" err="1"/>
                  <a:t>y</a:t>
                </a:r>
                <a:endParaRPr lang="es-MX" altLang="es-CO" b="0" u="none" dirty="0"/>
              </a:p>
            </p:txBody>
          </p:sp>
        </p:grpSp>
        <p:sp>
          <p:nvSpPr>
            <p:cNvPr id="23" name="Text Box 53">
              <a:extLst>
                <a:ext uri="{FF2B5EF4-FFF2-40B4-BE49-F238E27FC236}">
                  <a16:creationId xmlns:a16="http://schemas.microsoft.com/office/drawing/2014/main" id="{0B4A432E-938B-2D8F-766A-EC7FBC10E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" y="1619"/>
              <a:ext cx="35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/>
                <a:t>A</a:t>
              </a:r>
              <a:r>
                <a:rPr lang="es-MX" altLang="es-CO" b="0" i="1" u="none" baseline="-25000"/>
                <a:t>x</a:t>
              </a:r>
              <a:endParaRPr lang="es-MX" altLang="es-CO" b="0" u="none"/>
            </a:p>
          </p:txBody>
        </p:sp>
        <p:sp>
          <p:nvSpPr>
            <p:cNvPr id="24" name="Text Box 54">
              <a:extLst>
                <a:ext uri="{FF2B5EF4-FFF2-40B4-BE49-F238E27FC236}">
                  <a16:creationId xmlns:a16="http://schemas.microsoft.com/office/drawing/2014/main" id="{312734F1-650B-4E3F-6D0D-B62D11D24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5" y="1589"/>
              <a:ext cx="35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 dirty="0" err="1"/>
                <a:t>B</a:t>
              </a:r>
              <a:r>
                <a:rPr lang="es-MX" altLang="es-CO" b="0" i="1" u="none" baseline="-25000" dirty="0" err="1"/>
                <a:t>x</a:t>
              </a:r>
              <a:endParaRPr lang="es-MX" altLang="es-CO" b="0" u="none" dirty="0"/>
            </a:p>
          </p:txBody>
        </p:sp>
      </p:grpSp>
      <p:grpSp>
        <p:nvGrpSpPr>
          <p:cNvPr id="31" name="Group 60">
            <a:extLst>
              <a:ext uri="{FF2B5EF4-FFF2-40B4-BE49-F238E27FC236}">
                <a16:creationId xmlns:a16="http://schemas.microsoft.com/office/drawing/2014/main" id="{0B48C514-17E4-317D-E90E-0CE964158015}"/>
              </a:ext>
            </a:extLst>
          </p:cNvPr>
          <p:cNvGrpSpPr>
            <a:grpSpLocks/>
          </p:cNvGrpSpPr>
          <p:nvPr/>
        </p:nvGrpSpPr>
        <p:grpSpPr bwMode="auto">
          <a:xfrm>
            <a:off x="3459820" y="3982929"/>
            <a:ext cx="3436937" cy="457200"/>
            <a:chOff x="1375" y="2499"/>
            <a:chExt cx="2165" cy="288"/>
          </a:xfrm>
        </p:grpSpPr>
        <p:sp>
          <p:nvSpPr>
            <p:cNvPr id="32" name="Line 56">
              <a:extLst>
                <a:ext uri="{FF2B5EF4-FFF2-40B4-BE49-F238E27FC236}">
                  <a16:creationId xmlns:a16="http://schemas.microsoft.com/office/drawing/2014/main" id="{BE8B2C4B-B0D6-BC14-FA43-2FB3F5371D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5" y="2508"/>
              <a:ext cx="176" cy="27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3" name="Line 57">
              <a:extLst>
                <a:ext uri="{FF2B5EF4-FFF2-40B4-BE49-F238E27FC236}">
                  <a16:creationId xmlns:a16="http://schemas.microsoft.com/office/drawing/2014/main" id="{84DC222F-AB4B-DCE8-96DB-EB9B2A72D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2" y="2499"/>
              <a:ext cx="171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4" name="Line 58">
              <a:extLst>
                <a:ext uri="{FF2B5EF4-FFF2-40B4-BE49-F238E27FC236}">
                  <a16:creationId xmlns:a16="http://schemas.microsoft.com/office/drawing/2014/main" id="{18D43AE7-B048-902E-F597-D69C40688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1" y="2500"/>
              <a:ext cx="289" cy="26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sp>
        <p:nvSpPr>
          <p:cNvPr id="35" name="Text Box 62">
            <a:extLst>
              <a:ext uri="{FF2B5EF4-FFF2-40B4-BE49-F238E27FC236}">
                <a16:creationId xmlns:a16="http://schemas.microsoft.com/office/drawing/2014/main" id="{F78315D8-A710-075D-DD58-F72E039B4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632" y="1265129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i="1" u="none" dirty="0"/>
              <a:t>B = </a:t>
            </a:r>
            <a:r>
              <a:rPr lang="es-MX" altLang="es-CO" sz="2400" b="0" u="none" dirty="0"/>
              <a:t>1.732</a:t>
            </a:r>
            <a:r>
              <a:rPr lang="es-MX" altLang="es-CO" sz="2400" b="0" i="1" u="none" dirty="0"/>
              <a:t> A</a:t>
            </a:r>
            <a:endParaRPr lang="es-MX" altLang="es-CO" sz="2400" u="none" dirty="0"/>
          </a:p>
        </p:txBody>
      </p:sp>
      <p:sp>
        <p:nvSpPr>
          <p:cNvPr id="36" name="Text Box 63">
            <a:extLst>
              <a:ext uri="{FF2B5EF4-FFF2-40B4-BE49-F238E27FC236}">
                <a16:creationId xmlns:a16="http://schemas.microsoft.com/office/drawing/2014/main" id="{97261E7D-3FBB-1829-4D39-3133BB33A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7182" y="1815991"/>
            <a:ext cx="44751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u="none" dirty="0"/>
              <a:t>Ahora use trigonometría:</a:t>
            </a:r>
            <a:endParaRPr lang="es-MX" altLang="es-CO" sz="2400" u="none" dirty="0"/>
          </a:p>
        </p:txBody>
      </p:sp>
      <p:sp>
        <p:nvSpPr>
          <p:cNvPr id="37" name="Text Box 64">
            <a:extLst>
              <a:ext uri="{FF2B5EF4-FFF2-40B4-BE49-F238E27FC236}">
                <a16:creationId xmlns:a16="http://schemas.microsoft.com/office/drawing/2014/main" id="{AD75A194-0940-E905-69F6-A63C96F00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870" y="2453521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s-MX" altLang="es-CO" sz="2400" b="0" i="1" u="none" dirty="0"/>
              <a:t>A</a:t>
            </a:r>
            <a:r>
              <a:rPr lang="es-MX" altLang="es-CO" sz="2400" b="0" i="1" u="none" baseline="-25000" dirty="0"/>
              <a:t>y</a:t>
            </a:r>
            <a:r>
              <a:rPr lang="es-MX" altLang="es-CO" sz="2400" b="0" i="1" u="none" dirty="0"/>
              <a:t> </a:t>
            </a:r>
            <a:r>
              <a:rPr lang="es-MX" altLang="es-CO" sz="2400" b="0" u="none" dirty="0"/>
              <a:t>+  </a:t>
            </a:r>
            <a:r>
              <a:rPr lang="es-MX" altLang="es-CO" sz="2400" b="0" i="1" u="none" dirty="0" err="1"/>
              <a:t>B</a:t>
            </a:r>
            <a:r>
              <a:rPr lang="es-MX" altLang="es-CO" sz="2400" b="0" i="1" u="none" baseline="-25000" dirty="0" err="1"/>
              <a:t>y</a:t>
            </a:r>
            <a:r>
              <a:rPr lang="es-MX" altLang="es-CO" sz="2400" b="0" i="1" u="none" dirty="0"/>
              <a:t> = </a:t>
            </a:r>
            <a:r>
              <a:rPr lang="es-MX" altLang="es-CO" sz="2400" b="0" u="none" dirty="0"/>
              <a:t>400 N</a:t>
            </a:r>
            <a:endParaRPr lang="es-MX" altLang="es-CO" sz="2400" u="none" dirty="0"/>
          </a:p>
        </p:txBody>
      </p:sp>
      <p:sp>
        <p:nvSpPr>
          <p:cNvPr id="38" name="Text Box 65">
            <a:extLst>
              <a:ext uri="{FF2B5EF4-FFF2-40B4-BE49-F238E27FC236}">
                <a16:creationId xmlns:a16="http://schemas.microsoft.com/office/drawing/2014/main" id="{80204714-F7F8-EBF8-9B2B-D9C54375F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7407" y="3197116"/>
            <a:ext cx="520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b="0" u="none" dirty="0"/>
              <a:t>A sen 60</a:t>
            </a:r>
            <a:r>
              <a:rPr lang="es-MX" altLang="es-CO" sz="2400" b="0" u="none" baseline="30000" dirty="0"/>
              <a:t>0</a:t>
            </a:r>
            <a:r>
              <a:rPr lang="es-MX" altLang="es-CO" sz="2400" b="0" u="none" dirty="0"/>
              <a:t> + </a:t>
            </a:r>
            <a:r>
              <a:rPr lang="es-MX" altLang="es-CO" sz="2400" b="0" i="1" u="none" dirty="0"/>
              <a:t>B </a:t>
            </a:r>
            <a:r>
              <a:rPr lang="es-MX" altLang="es-CO" sz="2400" b="0" u="none" dirty="0"/>
              <a:t>sen 60</a:t>
            </a:r>
            <a:r>
              <a:rPr lang="es-MX" altLang="es-CO" sz="2400" b="0" u="none" baseline="30000" dirty="0"/>
              <a:t>0 </a:t>
            </a:r>
            <a:r>
              <a:rPr lang="es-MX" altLang="es-CO" sz="2400" b="0" u="none" dirty="0"/>
              <a:t>= 400 N </a:t>
            </a:r>
            <a:endParaRPr lang="es-MX" altLang="es-CO" sz="2400" u="none" dirty="0"/>
          </a:p>
        </p:txBody>
      </p:sp>
    </p:spTree>
    <p:extLst>
      <p:ext uri="{BB962C8B-B14F-4D97-AF65-F5344CB8AC3E}">
        <p14:creationId xmlns:p14="http://schemas.microsoft.com/office/powerpoint/2010/main" val="24321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/>
      <p:bldP spid="4" grpId="0"/>
      <p:bldP spid="5" grpId="0"/>
      <p:bldP spid="6" grpId="0"/>
      <p:bldP spid="7" grpId="0" animBg="1"/>
      <p:bldP spid="35" grpId="0"/>
      <p:bldP spid="36" grpId="0"/>
      <p:bldP spid="37" grpId="0"/>
      <p:bldP spid="3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78CA5-C245-D069-696C-8571368C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2">
            <a:extLst>
              <a:ext uri="{FF2B5EF4-FFF2-40B4-BE49-F238E27FC236}">
                <a16:creationId xmlns:a16="http://schemas.microsoft.com/office/drawing/2014/main" id="{E6F9AE62-8C5E-7A25-7411-0F0DF1303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675" y="1262063"/>
            <a:ext cx="8186738" cy="3140075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E9D054-5E41-BAEC-8BDD-0884FD835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1700" y="0"/>
            <a:ext cx="7848600" cy="825501"/>
          </a:xfrm>
          <a:noFill/>
          <a:ln/>
        </p:spPr>
        <p:txBody>
          <a:bodyPr>
            <a:normAutofit/>
          </a:bodyPr>
          <a:lstStyle/>
          <a:p>
            <a:r>
              <a:rPr lang="es-MX" altLang="es-CO" sz="2400" u="sng"/>
              <a:t>Ejemplo 3 (cont.)</a:t>
            </a:r>
            <a:r>
              <a:rPr lang="es-MX" altLang="es-CO" sz="2400"/>
              <a:t> </a:t>
            </a:r>
            <a:r>
              <a:rPr lang="es-MX" altLang="es-CO" sz="2400">
                <a:solidFill>
                  <a:schemeClr val="tx1"/>
                </a:solidFill>
              </a:rPr>
              <a:t>  Encontrar </a:t>
            </a:r>
            <a:r>
              <a:rPr lang="es-MX" altLang="es-CO" sz="2400" i="1">
                <a:solidFill>
                  <a:schemeClr val="tx1"/>
                </a:solidFill>
              </a:rPr>
              <a:t>B</a:t>
            </a:r>
            <a:r>
              <a:rPr lang="es-MX" altLang="es-CO" sz="2400">
                <a:solidFill>
                  <a:schemeClr val="tx1"/>
                </a:solidFill>
              </a:rPr>
              <a:t> con </a:t>
            </a:r>
            <a:r>
              <a:rPr lang="es-MX" altLang="es-CO" sz="2400" i="1">
                <a:solidFill>
                  <a:schemeClr val="tx1"/>
                </a:solidFill>
              </a:rPr>
              <a:t>A</a:t>
            </a:r>
            <a:r>
              <a:rPr lang="es-MX" altLang="es-CO" sz="2400">
                <a:solidFill>
                  <a:schemeClr val="tx1"/>
                </a:solidFill>
              </a:rPr>
              <a:t> = 200 N.</a:t>
            </a:r>
            <a:endParaRPr lang="es-MX" altLang="es-CO" sz="2400" u="sng"/>
          </a:p>
        </p:txBody>
      </p:sp>
      <p:sp>
        <p:nvSpPr>
          <p:cNvPr id="4" name="Text Box 24">
            <a:extLst>
              <a:ext uri="{FF2B5EF4-FFF2-40B4-BE49-F238E27FC236}">
                <a16:creationId xmlns:a16="http://schemas.microsoft.com/office/drawing/2014/main" id="{838EA23A-C8B1-93AE-B408-215BF4764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4419600"/>
            <a:ext cx="8739187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 dirty="0"/>
              <a:t>Las tensiones en las cuerdas son:  A = </a:t>
            </a:r>
            <a:r>
              <a:rPr lang="es-MX" altLang="es-CO" sz="2400" b="0" u="none" dirty="0"/>
              <a:t>200 N </a:t>
            </a:r>
            <a:r>
              <a:rPr lang="es-MX" altLang="es-CO" sz="2400" b="0" i="1" u="none" dirty="0"/>
              <a:t>y B = </a:t>
            </a:r>
            <a:r>
              <a:rPr lang="es-MX" altLang="es-CO" sz="2400" b="0" u="none" dirty="0"/>
              <a:t>346 N</a:t>
            </a:r>
            <a:endParaRPr lang="es-MX" altLang="es-CO" sz="2400" b="0" i="1" u="none" dirty="0"/>
          </a:p>
        </p:txBody>
      </p:sp>
      <p:sp>
        <p:nvSpPr>
          <p:cNvPr id="5" name="Text Box 25">
            <a:extLst>
              <a:ext uri="{FF2B5EF4-FFF2-40B4-BE49-F238E27FC236}">
                <a16:creationId xmlns:a16="http://schemas.microsoft.com/office/drawing/2014/main" id="{AD5466D8-50A9-19F2-A5FC-48490C59B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00" y="5105400"/>
            <a:ext cx="9486900" cy="83099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MX" altLang="es-CO" sz="2400" b="0" u="none" dirty="0"/>
              <a:t>Este problema se hace mucho más simple si nota que el ángulo entre los vectores </a:t>
            </a:r>
            <a:r>
              <a:rPr lang="es-MX" altLang="es-CO" sz="2400" b="0" i="1" u="none" dirty="0"/>
              <a:t>B</a:t>
            </a:r>
            <a:r>
              <a:rPr lang="es-MX" altLang="es-CO" sz="2400" b="0" u="none" dirty="0"/>
              <a:t> y </a:t>
            </a:r>
            <a:r>
              <a:rPr lang="es-MX" altLang="es-CO" sz="2400" b="0" i="1" u="none" dirty="0"/>
              <a:t>A</a:t>
            </a:r>
            <a:r>
              <a:rPr lang="es-MX" altLang="es-CO" sz="2400" b="0" u="none" dirty="0"/>
              <a:t> es 90</a:t>
            </a:r>
            <a:r>
              <a:rPr lang="es-MX" altLang="es-CO" sz="2400" b="0" u="none" baseline="30000" dirty="0"/>
              <a:t>0 </a:t>
            </a:r>
            <a:r>
              <a:rPr lang="es-MX" altLang="es-CO" sz="2400" b="0" u="none" dirty="0"/>
              <a:t>y rota los ejes </a:t>
            </a:r>
            <a:r>
              <a:rPr lang="es-MX" altLang="es-CO" sz="2400" b="0" i="1" u="none" dirty="0"/>
              <a:t>x</a:t>
            </a:r>
            <a:r>
              <a:rPr lang="es-MX" altLang="es-CO" sz="2400" b="0" u="none" dirty="0"/>
              <a:t> y </a:t>
            </a:r>
            <a:r>
              <a:rPr lang="es-MX" altLang="es-CO" sz="2400" b="0" i="1" u="none" dirty="0" err="1"/>
              <a:t>y</a:t>
            </a:r>
            <a:r>
              <a:rPr lang="es-MX" altLang="es-CO" sz="2400" b="0" u="none" dirty="0"/>
              <a:t> </a:t>
            </a:r>
          </a:p>
        </p:txBody>
      </p:sp>
      <p:sp>
        <p:nvSpPr>
          <p:cNvPr id="6" name="Text Box 26">
            <a:extLst>
              <a:ext uri="{FF2B5EF4-FFF2-40B4-BE49-F238E27FC236}">
                <a16:creationId xmlns:a16="http://schemas.microsoft.com/office/drawing/2014/main" id="{E0A7773F-79F2-5202-C32A-76D93204D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63" y="2120900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 dirty="0"/>
              <a:t>B = </a:t>
            </a:r>
            <a:r>
              <a:rPr lang="es-MX" altLang="es-CO" sz="2400" b="0" u="none" dirty="0"/>
              <a:t>1.732</a:t>
            </a:r>
            <a:r>
              <a:rPr lang="es-MX" altLang="es-CO" sz="2400" b="0" i="1" u="none" dirty="0"/>
              <a:t> A</a:t>
            </a:r>
          </a:p>
        </p:txBody>
      </p:sp>
      <p:sp>
        <p:nvSpPr>
          <p:cNvPr id="7" name="Text Box 27">
            <a:extLst>
              <a:ext uri="{FF2B5EF4-FFF2-40B4-BE49-F238E27FC236}">
                <a16:creationId xmlns:a16="http://schemas.microsoft.com/office/drawing/2014/main" id="{16767EFD-123B-B4E7-1EDD-203F6238D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563" y="1435100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/>
              <a:t>A = </a:t>
            </a:r>
            <a:r>
              <a:rPr lang="es-MX" altLang="es-CO" sz="2400" b="0" u="none"/>
              <a:t>200 N</a:t>
            </a:r>
            <a:endParaRPr lang="es-MX" altLang="es-CO" sz="2400" b="0" i="1" u="none"/>
          </a:p>
        </p:txBody>
      </p:sp>
      <p:sp>
        <p:nvSpPr>
          <p:cNvPr id="8" name="Text Box 28">
            <a:extLst>
              <a:ext uri="{FF2B5EF4-FFF2-40B4-BE49-F238E27FC236}">
                <a16:creationId xmlns:a16="http://schemas.microsoft.com/office/drawing/2014/main" id="{4FAC0225-1592-15BA-3D44-D028DC231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2882900"/>
            <a:ext cx="3581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/>
              <a:t>B = </a:t>
            </a:r>
            <a:r>
              <a:rPr lang="es-MX" altLang="es-CO" sz="2400" b="0" u="none"/>
              <a:t>1.732(400 N)</a:t>
            </a:r>
          </a:p>
        </p:txBody>
      </p:sp>
      <p:sp>
        <p:nvSpPr>
          <p:cNvPr id="9" name="Text Box 29">
            <a:extLst>
              <a:ext uri="{FF2B5EF4-FFF2-40B4-BE49-F238E27FC236}">
                <a16:creationId xmlns:a16="http://schemas.microsoft.com/office/drawing/2014/main" id="{08D877A2-1C15-1CD0-0771-12EE076E2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6963" y="3568700"/>
            <a:ext cx="20288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b="0" i="1" u="none" dirty="0"/>
              <a:t>B = </a:t>
            </a:r>
            <a:r>
              <a:rPr lang="es-MX" altLang="es-CO" sz="2400" b="0" u="none" dirty="0"/>
              <a:t>346 N</a:t>
            </a:r>
            <a:endParaRPr lang="es-MX" altLang="es-CO" sz="2400" b="0" i="1" u="none" dirty="0"/>
          </a:p>
        </p:txBody>
      </p:sp>
      <p:grpSp>
        <p:nvGrpSpPr>
          <p:cNvPr id="10" name="Group 30">
            <a:extLst>
              <a:ext uri="{FF2B5EF4-FFF2-40B4-BE49-F238E27FC236}">
                <a16:creationId xmlns:a16="http://schemas.microsoft.com/office/drawing/2014/main" id="{EDF20B7D-2324-525D-F7FD-D87B095C34EB}"/>
              </a:ext>
            </a:extLst>
          </p:cNvPr>
          <p:cNvGrpSpPr>
            <a:grpSpLocks/>
          </p:cNvGrpSpPr>
          <p:nvPr/>
        </p:nvGrpSpPr>
        <p:grpSpPr bwMode="auto">
          <a:xfrm>
            <a:off x="1900238" y="1550988"/>
            <a:ext cx="3222625" cy="2606675"/>
            <a:chOff x="524" y="799"/>
            <a:chExt cx="2030" cy="1642"/>
          </a:xfrm>
        </p:grpSpPr>
        <p:sp>
          <p:nvSpPr>
            <p:cNvPr id="11" name="Line 31">
              <a:extLst>
                <a:ext uri="{FF2B5EF4-FFF2-40B4-BE49-F238E27FC236}">
                  <a16:creationId xmlns:a16="http://schemas.microsoft.com/office/drawing/2014/main" id="{38575E06-AF86-D990-8344-8D91D0F65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" y="1633"/>
              <a:ext cx="19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32">
              <a:extLst>
                <a:ext uri="{FF2B5EF4-FFF2-40B4-BE49-F238E27FC236}">
                  <a16:creationId xmlns:a16="http://schemas.microsoft.com/office/drawing/2014/main" id="{2D45EC58-174E-E9C8-7A7E-431A8A67D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9" y="810"/>
              <a:ext cx="0" cy="15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33">
              <a:extLst>
                <a:ext uri="{FF2B5EF4-FFF2-40B4-BE49-F238E27FC236}">
                  <a16:creationId xmlns:a16="http://schemas.microsoft.com/office/drawing/2014/main" id="{15C21E93-2514-777F-2168-135252A51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9" y="799"/>
              <a:ext cx="597" cy="834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Line 34">
              <a:extLst>
                <a:ext uri="{FF2B5EF4-FFF2-40B4-BE49-F238E27FC236}">
                  <a16:creationId xmlns:a16="http://schemas.microsoft.com/office/drawing/2014/main" id="{6B8E0AA6-FB08-F5EE-7C95-9768490ECA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2" y="1216"/>
              <a:ext cx="717" cy="417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Text Box 35">
              <a:extLst>
                <a:ext uri="{FF2B5EF4-FFF2-40B4-BE49-F238E27FC236}">
                  <a16:creationId xmlns:a16="http://schemas.microsoft.com/office/drawing/2014/main" id="{281D20ED-8DE3-2085-B3CB-3AE229203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" y="1153"/>
              <a:ext cx="27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>
                  <a:solidFill>
                    <a:srgbClr val="FFFF00"/>
                  </a:solidFill>
                </a:rPr>
                <a:t>A</a:t>
              </a:r>
              <a:endParaRPr lang="es-MX" altLang="es-CO" b="0" u="none"/>
            </a:p>
          </p:txBody>
        </p:sp>
        <p:sp>
          <p:nvSpPr>
            <p:cNvPr id="16" name="Text Box 36">
              <a:extLst>
                <a:ext uri="{FF2B5EF4-FFF2-40B4-BE49-F238E27FC236}">
                  <a16:creationId xmlns:a16="http://schemas.microsoft.com/office/drawing/2014/main" id="{E302D04D-7C8D-CB9E-F17B-555B377D6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" y="986"/>
              <a:ext cx="27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>
                  <a:solidFill>
                    <a:srgbClr val="FFFF00"/>
                  </a:solidFill>
                </a:rPr>
                <a:t>B</a:t>
              </a:r>
              <a:endParaRPr lang="es-MX" altLang="es-CO" b="0" u="none"/>
            </a:p>
          </p:txBody>
        </p:sp>
        <p:sp>
          <p:nvSpPr>
            <p:cNvPr id="17" name="Line 37">
              <a:extLst>
                <a:ext uri="{FF2B5EF4-FFF2-40B4-BE49-F238E27FC236}">
                  <a16:creationId xmlns:a16="http://schemas.microsoft.com/office/drawing/2014/main" id="{84F8B49B-57F9-252F-B253-AAD8461EB8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9" y="1633"/>
              <a:ext cx="0" cy="667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Text Box 38">
              <a:extLst>
                <a:ext uri="{FF2B5EF4-FFF2-40B4-BE49-F238E27FC236}">
                  <a16:creationId xmlns:a16="http://schemas.microsoft.com/office/drawing/2014/main" id="{54328E48-5FC1-F891-8DF7-BB4DF0ECD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2095"/>
              <a:ext cx="113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u="none">
                  <a:solidFill>
                    <a:srgbClr val="FFFF00"/>
                  </a:solidFill>
                </a:rPr>
                <a:t>W  400 N</a:t>
              </a:r>
              <a:endParaRPr lang="es-MX" altLang="es-CO" b="0" u="none"/>
            </a:p>
          </p:txBody>
        </p:sp>
        <p:grpSp>
          <p:nvGrpSpPr>
            <p:cNvPr id="19" name="Group 39">
              <a:extLst>
                <a:ext uri="{FF2B5EF4-FFF2-40B4-BE49-F238E27FC236}">
                  <a16:creationId xmlns:a16="http://schemas.microsoft.com/office/drawing/2014/main" id="{A17436D9-CF9B-C48A-9CED-975C0532A9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" y="1412"/>
              <a:ext cx="1088" cy="270"/>
              <a:chOff x="2688" y="732"/>
              <a:chExt cx="1312" cy="311"/>
            </a:xfrm>
          </p:grpSpPr>
          <p:sp>
            <p:nvSpPr>
              <p:cNvPr id="30" name="Text Box 40">
                <a:extLst>
                  <a:ext uri="{FF2B5EF4-FFF2-40B4-BE49-F238E27FC236}">
                    <a16:creationId xmlns:a16="http://schemas.microsoft.com/office/drawing/2014/main" id="{59AFA5BE-797B-0963-7311-67B880650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756"/>
                <a:ext cx="539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b="0" u="none"/>
                  <a:t>30</a:t>
                </a:r>
                <a:r>
                  <a:rPr lang="es-MX" altLang="es-CO" sz="2000" b="0" u="none" baseline="30000"/>
                  <a:t>0</a:t>
                </a:r>
                <a:endParaRPr lang="es-MX" altLang="es-CO" b="0" u="none"/>
              </a:p>
            </p:txBody>
          </p:sp>
          <p:sp>
            <p:nvSpPr>
              <p:cNvPr id="31" name="Text Box 41">
                <a:extLst>
                  <a:ext uri="{FF2B5EF4-FFF2-40B4-BE49-F238E27FC236}">
                    <a16:creationId xmlns:a16="http://schemas.microsoft.com/office/drawing/2014/main" id="{E6E79AA3-2D9C-0319-14B6-5AFDBE6E2B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1" y="732"/>
                <a:ext cx="539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b="0" u="none"/>
                  <a:t>60</a:t>
                </a:r>
                <a:r>
                  <a:rPr lang="es-MX" altLang="es-CO" sz="2000" b="0" u="none" baseline="30000"/>
                  <a:t>0</a:t>
                </a:r>
                <a:endParaRPr lang="es-MX" altLang="es-CO" b="0" u="none"/>
              </a:p>
            </p:txBody>
          </p:sp>
        </p:grpSp>
        <p:sp>
          <p:nvSpPr>
            <p:cNvPr id="20" name="Line 42">
              <a:extLst>
                <a:ext uri="{FF2B5EF4-FFF2-40B4-BE49-F238E27FC236}">
                  <a16:creationId xmlns:a16="http://schemas.microsoft.com/office/drawing/2014/main" id="{1FA9F97E-A2A3-5937-B86F-89C6C06C3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9" y="799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Line 43">
              <a:extLst>
                <a:ext uri="{FF2B5EF4-FFF2-40B4-BE49-F238E27FC236}">
                  <a16:creationId xmlns:a16="http://schemas.microsoft.com/office/drawing/2014/main" id="{DE185174-BE0A-5532-75E7-48802199D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1216"/>
              <a:ext cx="6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22" name="Group 44">
              <a:extLst>
                <a:ext uri="{FF2B5EF4-FFF2-40B4-BE49-F238E27FC236}">
                  <a16:creationId xmlns:a16="http://schemas.microsoft.com/office/drawing/2014/main" id="{89B9E10B-529F-3E88-85E7-C49B5526C9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" y="1216"/>
              <a:ext cx="358" cy="417"/>
              <a:chOff x="2976" y="1305"/>
              <a:chExt cx="432" cy="480"/>
            </a:xfrm>
          </p:grpSpPr>
          <p:sp>
            <p:nvSpPr>
              <p:cNvPr id="28" name="Line 45">
                <a:extLst>
                  <a:ext uri="{FF2B5EF4-FFF2-40B4-BE49-F238E27FC236}">
                    <a16:creationId xmlns:a16="http://schemas.microsoft.com/office/drawing/2014/main" id="{73717727-2DC8-99E4-3F8C-547CBC3CC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30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9" name="Text Box 46">
                <a:extLst>
                  <a:ext uri="{FF2B5EF4-FFF2-40B4-BE49-F238E27FC236}">
                    <a16:creationId xmlns:a16="http://schemas.microsoft.com/office/drawing/2014/main" id="{10B2F5A7-485C-CC61-6712-9F6DA52062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308"/>
                <a:ext cx="432" cy="3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s-MX" altLang="es-CO" b="0" i="1" u="none"/>
                  <a:t>A</a:t>
                </a:r>
                <a:r>
                  <a:rPr lang="es-MX" altLang="es-CO" b="0" i="1" u="none" baseline="-25000"/>
                  <a:t>y</a:t>
                </a:r>
                <a:endParaRPr lang="es-MX" altLang="es-CO" b="0" u="none"/>
              </a:p>
            </p:txBody>
          </p:sp>
        </p:grpSp>
        <p:grpSp>
          <p:nvGrpSpPr>
            <p:cNvPr id="23" name="Group 47">
              <a:extLst>
                <a:ext uri="{FF2B5EF4-FFF2-40B4-BE49-F238E27FC236}">
                  <a16:creationId xmlns:a16="http://schemas.microsoft.com/office/drawing/2014/main" id="{5E1B15CC-8CE7-48AC-2EFB-8C5F8DBFFA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7" y="799"/>
              <a:ext cx="358" cy="834"/>
              <a:chOff x="4945" y="825"/>
              <a:chExt cx="432" cy="960"/>
            </a:xfrm>
          </p:grpSpPr>
          <p:sp>
            <p:nvSpPr>
              <p:cNvPr id="26" name="Line 48">
                <a:extLst>
                  <a:ext uri="{FF2B5EF4-FFF2-40B4-BE49-F238E27FC236}">
                    <a16:creationId xmlns:a16="http://schemas.microsoft.com/office/drawing/2014/main" id="{37B42678-335C-BD61-EF9B-7B8F6A50E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825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Text Box 49">
                <a:extLst>
                  <a:ext uri="{FF2B5EF4-FFF2-40B4-BE49-F238E27FC236}">
                    <a16:creationId xmlns:a16="http://schemas.microsoft.com/office/drawing/2014/main" id="{4570A08D-E4E5-950F-7D35-BEB99C2046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5" y="1136"/>
                <a:ext cx="432" cy="3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s-MX" altLang="es-CO" b="0" i="1" u="none"/>
                  <a:t>B</a:t>
                </a:r>
                <a:r>
                  <a:rPr lang="es-MX" altLang="es-CO" b="0" i="1" u="none" baseline="-25000"/>
                  <a:t>y</a:t>
                </a:r>
                <a:endParaRPr lang="es-MX" altLang="es-CO" b="0" u="none"/>
              </a:p>
            </p:txBody>
          </p:sp>
        </p:grpSp>
        <p:sp>
          <p:nvSpPr>
            <p:cNvPr id="24" name="Text Box 50">
              <a:extLst>
                <a:ext uri="{FF2B5EF4-FFF2-40B4-BE49-F238E27FC236}">
                  <a16:creationId xmlns:a16="http://schemas.microsoft.com/office/drawing/2014/main" id="{659FA97F-AA77-8F1F-490B-520F943F7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1" y="1611"/>
              <a:ext cx="35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/>
                <a:t>A</a:t>
              </a:r>
              <a:r>
                <a:rPr lang="es-MX" altLang="es-CO" b="0" i="1" u="none" baseline="-25000"/>
                <a:t>x</a:t>
              </a:r>
              <a:endParaRPr lang="es-MX" altLang="es-CO" b="0" u="none"/>
            </a:p>
          </p:txBody>
        </p:sp>
        <p:sp>
          <p:nvSpPr>
            <p:cNvPr id="25" name="Text Box 51">
              <a:extLst>
                <a:ext uri="{FF2B5EF4-FFF2-40B4-BE49-F238E27FC236}">
                  <a16:creationId xmlns:a16="http://schemas.microsoft.com/office/drawing/2014/main" id="{8B756435-D4C5-DF5B-ADA9-7E1FF52A7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1611"/>
              <a:ext cx="35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s-MX" altLang="es-CO" b="0" i="1" u="none"/>
                <a:t>B</a:t>
              </a:r>
              <a:r>
                <a:rPr lang="es-MX" altLang="es-CO" b="0" i="1" u="none" baseline="-25000"/>
                <a:t>x</a:t>
              </a:r>
              <a:endParaRPr lang="es-MX" altLang="es-CO" b="0" u="none"/>
            </a:p>
          </p:txBody>
        </p:sp>
      </p:grpSp>
    </p:spTree>
    <p:extLst>
      <p:ext uri="{BB962C8B-B14F-4D97-AF65-F5344CB8AC3E}">
        <p14:creationId xmlns:p14="http://schemas.microsoft.com/office/powerpoint/2010/main" val="64284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 advAuto="0"/>
      <p:bldP spid="4" grpId="0" autoUpdateAnimBg="0"/>
      <p:bldP spid="5" grpId="0" animBg="1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40F44-99C1-BE01-5E15-7947A62CE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17133E-2F9D-B7A4-C3F3-A22C0CFFC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3240" y="-10428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Equilibrio traslacional</a:t>
            </a:r>
          </a:p>
        </p:txBody>
      </p:sp>
      <p:sp>
        <p:nvSpPr>
          <p:cNvPr id="3" name="Text Box 19">
            <a:extLst>
              <a:ext uri="{FF2B5EF4-FFF2-40B4-BE49-F238E27FC236}">
                <a16:creationId xmlns:a16="http://schemas.microsoft.com/office/drawing/2014/main" id="{BBAB65F6-3320-638D-2A92-4734A8B3E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824" y="3855136"/>
            <a:ext cx="80502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1" dirty="0"/>
              <a:t>La rapidez lineal no cambia con el tiempo. No hay fuerza resultante y por tanto aceleración cero. Existe equilibrio traslacional.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10E9D65-1A5E-F180-9C76-03A19A92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1090" y="1735028"/>
            <a:ext cx="990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3C6FDBD1-704C-11BB-5390-59F47E042BC0}"/>
              </a:ext>
            </a:extLst>
          </p:cNvPr>
          <p:cNvGrpSpPr>
            <a:grpSpLocks/>
          </p:cNvGrpSpPr>
          <p:nvPr/>
        </p:nvGrpSpPr>
        <p:grpSpPr bwMode="auto">
          <a:xfrm>
            <a:off x="2348515" y="1132572"/>
            <a:ext cx="7072312" cy="2362200"/>
            <a:chOff x="781" y="1209"/>
            <a:chExt cx="4455" cy="1488"/>
          </a:xfrm>
        </p:grpSpPr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9223A7EC-C14D-5677-F821-6A30A1002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1209"/>
              <a:ext cx="4455" cy="1488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graphicFrame>
          <p:nvGraphicFramePr>
            <p:cNvPr id="7" name="Object 9">
              <a:extLst>
                <a:ext uri="{FF2B5EF4-FFF2-40B4-BE49-F238E27FC236}">
                  <a16:creationId xmlns:a16="http://schemas.microsoft.com/office/drawing/2014/main" id="{F9D0736C-6A33-28A7-C2A7-08789997E7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6" y="1743"/>
            <a:ext cx="100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6545160" imgH="1706400" progId="MS_ClipArt_Gallery.2">
                    <p:embed/>
                  </p:oleObj>
                </mc:Choice>
                <mc:Fallback>
                  <p:oleObj name="Clip" r:id="rId5" imgW="6545160" imgH="1706400" progId="MS_ClipArt_Gallery.2">
                    <p:embed/>
                    <p:pic>
                      <p:nvPicPr>
                        <p:cNvPr id="657417" name="Object 9">
                          <a:extLst>
                            <a:ext uri="{FF2B5EF4-FFF2-40B4-BE49-F238E27FC236}">
                              <a16:creationId xmlns:a16="http://schemas.microsoft.com/office/drawing/2014/main" id="{B79BADFC-BCB3-4E32-3947-AB127CC847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1743"/>
                          <a:ext cx="100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0">
              <a:extLst>
                <a:ext uri="{FF2B5EF4-FFF2-40B4-BE49-F238E27FC236}">
                  <a16:creationId xmlns:a16="http://schemas.microsoft.com/office/drawing/2014/main" id="{EDA96D6C-A16D-26FA-3DE9-9309F92370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0" y="1732"/>
            <a:ext cx="100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6545160" imgH="1706400" progId="MS_ClipArt_Gallery.2">
                    <p:embed/>
                  </p:oleObj>
                </mc:Choice>
                <mc:Fallback>
                  <p:oleObj name="Clip" r:id="rId5" imgW="6545160" imgH="1706400" progId="MS_ClipArt_Gallery.2">
                    <p:embed/>
                    <p:pic>
                      <p:nvPicPr>
                        <p:cNvPr id="657418" name="Object 10">
                          <a:extLst>
                            <a:ext uri="{FF2B5EF4-FFF2-40B4-BE49-F238E27FC236}">
                              <a16:creationId xmlns:a16="http://schemas.microsoft.com/office/drawing/2014/main" id="{E393079B-D29C-B885-7AD6-F9A196679B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0" y="1732"/>
                          <a:ext cx="100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304432AC-CD35-373D-BC27-9B7E276A2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002"/>
              <a:ext cx="1598" cy="13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A6CEF58C-1CEA-4814-3DCC-8E1B1C0F1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2" y="1992"/>
              <a:ext cx="1951" cy="1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3AC30EC3-F388-2C4B-73F5-EC69C1DF4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4" y="1304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1">
                  <a:solidFill>
                    <a:srgbClr val="000000"/>
                  </a:solidFill>
                </a:rPr>
                <a:t>Auto en reposo</a:t>
              </a:r>
            </a:p>
          </p:txBody>
        </p:sp>
        <p:grpSp>
          <p:nvGrpSpPr>
            <p:cNvPr id="12" name="Group 15">
              <a:extLst>
                <a:ext uri="{FF2B5EF4-FFF2-40B4-BE49-F238E27FC236}">
                  <a16:creationId xmlns:a16="http://schemas.microsoft.com/office/drawing/2014/main" id="{5E075D67-CA4A-3C69-E06A-3E09654D8C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3" y="1770"/>
              <a:ext cx="443" cy="138"/>
              <a:chOff x="3279" y="1905"/>
              <a:chExt cx="443" cy="138"/>
            </a:xfrm>
          </p:grpSpPr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BA3EC744-C7E4-2118-8FFF-C9FF8B87CB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9" y="1905"/>
                <a:ext cx="2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9B74E353-278D-0FF5-0223-EE51D23B4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5" y="1974"/>
                <a:ext cx="2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FC1CEBC1-1952-4636-7E69-8AC5F5E3D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1" y="2043"/>
                <a:ext cx="2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05ED8D46-F7C7-A952-A4A0-BB9C20952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3" y="1289"/>
              <a:ext cx="19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1">
                  <a:solidFill>
                    <a:srgbClr val="000000"/>
                  </a:solidFill>
                </a:rPr>
                <a:t>Rapidez constante</a:t>
              </a:r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C60538C-66C0-D378-6A39-E265E581C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2319"/>
              <a:ext cx="309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s-MX" altLang="es-CO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s-MX" altLang="es-CO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 = 0; </a:t>
              </a:r>
              <a:r>
                <a:rPr lang="es-MX" altLang="es-CO" sz="2800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r>
                <a:rPr lang="es-MX" altLang="es-CO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F = 0; No hay cambio en </a:t>
              </a:r>
              <a:r>
                <a:rPr lang="es-MX" altLang="es-CO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endParaRPr lang="es-MX" altLang="es-CO"/>
            </a:p>
          </p:txBody>
        </p:sp>
      </p:grpSp>
    </p:spTree>
    <p:extLst>
      <p:ext uri="{BB962C8B-B14F-4D97-AF65-F5344CB8AC3E}">
        <p14:creationId xmlns:p14="http://schemas.microsoft.com/office/powerpoint/2010/main" val="282656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0D0EB8-F38F-09C9-DBCD-50219012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1E7B9C3-2C74-26FD-E5B7-4BFAADB99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28345" y="128752"/>
            <a:ext cx="7315200" cy="809625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Equilibrio rotacional</a:t>
            </a: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0D5C8B09-3D10-368A-BCF7-6B0FD55A9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269" y="4089565"/>
            <a:ext cx="86710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MX" altLang="es-CO" sz="2400" i="1" dirty="0"/>
              <a:t>La rapidez angular no cambia con el tiempo. No hay momento de torsión resultante y, por tanto, cero cambio en velocidad rotacional. Existe equilibrio rotacional.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45D6D4-5CBE-ECA8-5D93-AC8184A8D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8745" y="1452727"/>
            <a:ext cx="990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5" name="AutoShape 23">
            <a:extLst>
              <a:ext uri="{FF2B5EF4-FFF2-40B4-BE49-F238E27FC236}">
                <a16:creationId xmlns:a16="http://schemas.microsoft.com/office/drawing/2014/main" id="{4B7ECFDB-99DF-AEDB-1D72-79E6BE9830C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757120" y="3114840"/>
            <a:ext cx="4541838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O"/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5C679FEA-3ADC-4619-5B80-0B245BF2DFAA}"/>
              </a:ext>
            </a:extLst>
          </p:cNvPr>
          <p:cNvGrpSpPr>
            <a:grpSpLocks/>
          </p:cNvGrpSpPr>
          <p:nvPr/>
        </p:nvGrpSpPr>
        <p:grpSpPr bwMode="auto">
          <a:xfrm>
            <a:off x="2476007" y="1024102"/>
            <a:ext cx="7072312" cy="2573338"/>
            <a:chOff x="781" y="932"/>
            <a:chExt cx="4455" cy="1621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2011CC76-DE99-5DB7-3391-DD82AF869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932"/>
              <a:ext cx="4455" cy="1621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E54F6625-4193-CFC3-124C-C415A1E9F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8" y="998"/>
              <a:ext cx="16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1">
                  <a:solidFill>
                    <a:srgbClr val="000000"/>
                  </a:solidFill>
                </a:rPr>
                <a:t>Rueda en reposo</a:t>
              </a:r>
            </a:p>
          </p:txBody>
        </p:sp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9D4028FE-143F-9B2C-B74C-6108A9A5C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3" y="992"/>
              <a:ext cx="19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1">
                  <a:solidFill>
                    <a:srgbClr val="000000"/>
                  </a:solidFill>
                </a:rPr>
                <a:t>Rotación constante</a:t>
              </a:r>
            </a:p>
          </p:txBody>
        </p:sp>
        <p:pic>
          <p:nvPicPr>
            <p:cNvPr id="10" name="Picture 17">
              <a:extLst>
                <a:ext uri="{FF2B5EF4-FFF2-40B4-BE49-F238E27FC236}">
                  <a16:creationId xmlns:a16="http://schemas.microsoft.com/office/drawing/2014/main" id="{118B78F7-EE02-79EF-686B-A7026FF34F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6" y="1332"/>
              <a:ext cx="700" cy="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8">
              <a:extLst>
                <a:ext uri="{FF2B5EF4-FFF2-40B4-BE49-F238E27FC236}">
                  <a16:creationId xmlns:a16="http://schemas.microsoft.com/office/drawing/2014/main" id="{B0730814-7FD5-777A-2C81-3D4250D4F8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9" y="1348"/>
              <a:ext cx="700" cy="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Arc 19">
              <a:extLst>
                <a:ext uri="{FF2B5EF4-FFF2-40B4-BE49-F238E27FC236}">
                  <a16:creationId xmlns:a16="http://schemas.microsoft.com/office/drawing/2014/main" id="{53316319-B100-3A6C-825E-A5A783576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1316"/>
              <a:ext cx="310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Arc 20">
              <a:extLst>
                <a:ext uri="{FF2B5EF4-FFF2-40B4-BE49-F238E27FC236}">
                  <a16:creationId xmlns:a16="http://schemas.microsoft.com/office/drawing/2014/main" id="{2DDB8AF8-EA8E-82FD-0159-1033B4C7BCB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596" y="1758"/>
              <a:ext cx="310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913F48FE-7475-0B10-AB71-44A964726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" y="2152"/>
              <a:ext cx="320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s-MX" altLang="es-CO" sz="2900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r>
                <a:rPr lang="es-MX" altLang="es-CO" sz="2900" i="1">
                  <a:solidFill>
                    <a:srgbClr val="000000"/>
                  </a:solidFill>
                  <a:latin typeface="Symbol" panose="05050102010706020507" pitchFamily="18" charset="2"/>
                </a:rPr>
                <a:t>t</a:t>
              </a:r>
              <a:r>
                <a:rPr lang="es-MX" altLang="es-CO" sz="2900">
                  <a:solidFill>
                    <a:srgbClr val="000000"/>
                  </a:solidFill>
                  <a:latin typeface="Symbol" panose="05050102010706020507" pitchFamily="18" charset="2"/>
                </a:rPr>
                <a:t> = 0; </a:t>
              </a:r>
              <a:r>
                <a:rPr lang="es-MX" altLang="es-CO" sz="2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hay cambio en </a:t>
              </a:r>
              <a:r>
                <a:rPr lang="es-MX" altLang="es-CO" sz="2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rotación</a:t>
              </a:r>
              <a:endParaRPr lang="es-MX" altLang="es-CO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688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0EF7D-8CD6-40E9-E742-9BD83018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06708F6-C58C-611D-8CBC-CB2D6968C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152838"/>
            <a:ext cx="7315200" cy="828675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Equilibrio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58B30DF-8821-051F-E82D-3BD8CA50750C}"/>
              </a:ext>
            </a:extLst>
          </p:cNvPr>
          <p:cNvSpPr txBox="1">
            <a:spLocks noChangeArrowheads="1"/>
          </p:cNvSpPr>
          <p:nvPr/>
        </p:nvSpPr>
        <p:spPr>
          <a:xfrm>
            <a:off x="2438400" y="1165664"/>
            <a:ext cx="7723188" cy="806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altLang="es-CO" sz="2400" dirty="0"/>
              <a:t>Se dice que un objeto está en equilibrio si y sólo si no hay fuerza resultante ni momento de torsión resultante.</a:t>
            </a:r>
            <a:endParaRPr lang="es-MX" altLang="es-CO" sz="2400" i="1" dirty="0"/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C494EA4D-CDF7-B0CB-E493-96F63D42E382}"/>
              </a:ext>
            </a:extLst>
          </p:cNvPr>
          <p:cNvGrpSpPr>
            <a:grpSpLocks/>
          </p:cNvGrpSpPr>
          <p:nvPr/>
        </p:nvGrpSpPr>
        <p:grpSpPr bwMode="auto">
          <a:xfrm>
            <a:off x="3063874" y="2678549"/>
            <a:ext cx="6818313" cy="898525"/>
            <a:chOff x="898" y="2041"/>
            <a:chExt cx="4295" cy="566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6034EF0C-ADF2-BCAD-FAFA-C396E89CC0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8" y="2099"/>
            <a:ext cx="2615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07880" imgH="253800" progId="Equation.DSMT4">
                    <p:embed/>
                  </p:oleObj>
                </mc:Choice>
                <mc:Fallback>
                  <p:oleObj name="Equation" r:id="rId4" imgW="1307880" imgH="253800" progId="Equation.DSMT4">
                    <p:embed/>
                    <p:pic>
                      <p:nvPicPr>
                        <p:cNvPr id="632836" name="Object 4">
                          <a:extLst>
                            <a:ext uri="{FF2B5EF4-FFF2-40B4-BE49-F238E27FC236}">
                              <a16:creationId xmlns:a16="http://schemas.microsoft.com/office/drawing/2014/main" id="{60D29AC1-33A6-D4F6-09E0-5279D3F0F2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" y="2099"/>
                          <a:ext cx="2615" cy="508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317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B2E355DA-82B9-8CB0-2BE8-B6209FD53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" y="2041"/>
              <a:ext cx="153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/>
                <a:t>Primera condición:</a:t>
              </a:r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FBB218E3-39FA-D4D4-BAFF-0A2542153FD0}"/>
              </a:ext>
            </a:extLst>
          </p:cNvPr>
          <p:cNvGrpSpPr>
            <a:grpSpLocks/>
          </p:cNvGrpSpPr>
          <p:nvPr/>
        </p:nvGrpSpPr>
        <p:grpSpPr bwMode="auto">
          <a:xfrm>
            <a:off x="3063874" y="4215246"/>
            <a:ext cx="4365625" cy="1193808"/>
            <a:chOff x="910" y="2917"/>
            <a:chExt cx="2750" cy="631"/>
          </a:xfrm>
        </p:grpSpPr>
        <p:graphicFrame>
          <p:nvGraphicFramePr>
            <p:cNvPr id="8" name="Object 6">
              <a:extLst>
                <a:ext uri="{FF2B5EF4-FFF2-40B4-BE49-F238E27FC236}">
                  <a16:creationId xmlns:a16="http://schemas.microsoft.com/office/drawing/2014/main" id="{66AD6B43-7BE2-C7E6-E7F3-9223043516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3" y="3041"/>
            <a:ext cx="1067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33160" imgH="253800" progId="Equation.DSMT4">
                    <p:embed/>
                  </p:oleObj>
                </mc:Choice>
                <mc:Fallback>
                  <p:oleObj name="Equation" r:id="rId6" imgW="533160" imgH="253800" progId="Equation.DSMT4">
                    <p:embed/>
                    <p:pic>
                      <p:nvPicPr>
                        <p:cNvPr id="632838" name="Object 6">
                          <a:extLst>
                            <a:ext uri="{FF2B5EF4-FFF2-40B4-BE49-F238E27FC236}">
                              <a16:creationId xmlns:a16="http://schemas.microsoft.com/office/drawing/2014/main" id="{D5CADE06-3F45-BBE0-AD86-41E294ACDC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" y="3041"/>
                          <a:ext cx="1067" cy="507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317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D01534B2-949A-3D3D-382A-4B00280F7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" y="2917"/>
              <a:ext cx="153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/>
                <a:t>Segunda condición: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175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48E52A-2864-8375-6F46-4247413D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9B0500F-1921-A2FC-E1F4-F45305CB9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2612" y="235498"/>
            <a:ext cx="11493055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Ejemplo:</a:t>
            </a:r>
            <a:r>
              <a:rPr lang="es-MX" altLang="es-CO" sz="2400" dirty="0"/>
              <a:t>  Encuentre las fuerzas ejercidas por los soportes </a:t>
            </a:r>
            <a:r>
              <a:rPr lang="es-MX" altLang="es-CO" sz="2400" i="1" dirty="0"/>
              <a:t>A</a:t>
            </a:r>
            <a:r>
              <a:rPr lang="es-MX" altLang="es-CO" sz="2400" dirty="0"/>
              <a:t> y </a:t>
            </a:r>
            <a:r>
              <a:rPr lang="es-MX" altLang="es-CO" sz="2400" i="1" dirty="0"/>
              <a:t>B</a:t>
            </a:r>
            <a:r>
              <a:rPr lang="es-MX" altLang="es-CO" sz="2400" dirty="0"/>
              <a:t>. Desprecie el peso de la pluma de 10 m.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B181716-43EC-B024-C9CB-C2F6D5365CFC}"/>
              </a:ext>
            </a:extLst>
          </p:cNvPr>
          <p:cNvGrpSpPr>
            <a:grpSpLocks/>
          </p:cNvGrpSpPr>
          <p:nvPr/>
        </p:nvGrpSpPr>
        <p:grpSpPr bwMode="auto">
          <a:xfrm>
            <a:off x="5796018" y="1795276"/>
            <a:ext cx="4179888" cy="1600200"/>
            <a:chOff x="2688" y="1200"/>
            <a:chExt cx="2633" cy="1008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27B7416-0ACF-AA28-B81F-EA38ECBEF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440"/>
              <a:ext cx="2256" cy="9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91DBA4B1-0268-BFB2-90BE-76E05C539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632"/>
              <a:ext cx="336" cy="28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0502DB71-64BE-B159-CD33-88F3BB4294C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320" y="1632"/>
              <a:ext cx="384" cy="28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684D53A8-C556-726A-CE6F-6D7E695B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36"/>
              <a:ext cx="144" cy="52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7A9B7799-7AA3-10BF-B017-1A0819140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536"/>
              <a:ext cx="144" cy="52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9691F5DF-0229-D9A6-19E3-7239C7BF4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92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/>
                <a:t>40 N</a:t>
              </a:r>
              <a:endParaRPr kumimoji="0" lang="es-MX" altLang="es-CO" i="1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2FE3D441-7ABA-0736-BED4-CDB4653D8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92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/>
                <a:t>80 N</a:t>
              </a:r>
              <a:endParaRPr kumimoji="0" lang="es-MX" altLang="es-CO" i="1" dirty="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49CA5A3F-1154-063C-4A48-023771145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B41B4F02-379D-6A88-AB33-4011175BD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53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E7DB6A45-45B9-00BA-2D18-C3F089179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2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3210C443-829E-C586-C220-131906A4C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2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034D5E2-5525-79F9-303E-BD6418D22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7C34425D-5364-10AB-E4A8-4672C57AC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813D2FD2-F601-B809-EFD1-E248041F7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7" y="120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/>
                <a:t>2 m</a:t>
              </a:r>
              <a:endParaRPr kumimoji="0" lang="es-MX" altLang="es-CO" sz="2400" i="1" dirty="0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A1E12F59-5946-EBE3-C6A3-444D7E845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120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/>
                <a:t>3 m</a:t>
              </a:r>
              <a:endParaRPr kumimoji="0" lang="es-MX" altLang="es-CO" sz="2400" i="1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B5C1D9EB-B2AC-E23E-68C1-2B49D7759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20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/>
                <a:t>7 m</a:t>
              </a:r>
              <a:endParaRPr kumimoji="0" lang="es-MX" altLang="es-CO" sz="2400" i="1"/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A69B3C0F-7AEC-798D-2584-B26ABB8D9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1509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 dirty="0"/>
                <a:t>A</a:t>
              </a: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BAD719A9-11CF-75FD-B1A5-84B2F46AC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5" y="1530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 dirty="0"/>
                <a:t>B</a:t>
              </a:r>
            </a:p>
          </p:txBody>
        </p:sp>
      </p:grpSp>
      <p:sp>
        <p:nvSpPr>
          <p:cNvPr id="22" name="Text Box 22">
            <a:extLst>
              <a:ext uri="{FF2B5EF4-FFF2-40B4-BE49-F238E27FC236}">
                <a16:creationId xmlns:a16="http://schemas.microsoft.com/office/drawing/2014/main" id="{ED93E538-FEF9-CF91-C22B-C3FEDB5DB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924" y="2218712"/>
            <a:ext cx="3276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Dibuje diagrama de cuerpo libre</a:t>
            </a:r>
          </a:p>
        </p:txBody>
      </p:sp>
      <p:sp>
        <p:nvSpPr>
          <p:cNvPr id="23" name="Text Box 41">
            <a:extLst>
              <a:ext uri="{FF2B5EF4-FFF2-40B4-BE49-F238E27FC236}">
                <a16:creationId xmlns:a16="http://schemas.microsoft.com/office/drawing/2014/main" id="{7E46B935-BBD2-9F4B-6607-9E858AE2B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724" y="3426373"/>
            <a:ext cx="4114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i="1"/>
              <a:t>Equilibrio rotacional:</a:t>
            </a:r>
          </a:p>
        </p:txBody>
      </p:sp>
      <p:sp>
        <p:nvSpPr>
          <p:cNvPr id="24" name="Text Box 42">
            <a:extLst>
              <a:ext uri="{FF2B5EF4-FFF2-40B4-BE49-F238E27FC236}">
                <a16:creationId xmlns:a16="http://schemas.microsoft.com/office/drawing/2014/main" id="{97D32FEA-C497-5E9E-A854-A6C102931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724" y="4276112"/>
            <a:ext cx="3886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Elija eje en el punto de fuerza desconocida.</a:t>
            </a:r>
          </a:p>
        </p:txBody>
      </p:sp>
      <p:sp>
        <p:nvSpPr>
          <p:cNvPr id="25" name="Text Box 43">
            <a:extLst>
              <a:ext uri="{FF2B5EF4-FFF2-40B4-BE49-F238E27FC236}">
                <a16:creationId xmlns:a16="http://schemas.microsoft.com/office/drawing/2014/main" id="{44956BEC-8BF6-D164-0107-E50F0ACEC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149" y="5611716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En A por ejemplo.</a:t>
            </a:r>
          </a:p>
        </p:txBody>
      </p:sp>
      <p:sp>
        <p:nvSpPr>
          <p:cNvPr id="26" name="Line 40">
            <a:extLst>
              <a:ext uri="{FF2B5EF4-FFF2-40B4-BE49-F238E27FC236}">
                <a16:creationId xmlns:a16="http://schemas.microsoft.com/office/drawing/2014/main" id="{3788E18A-7EDC-B6AD-89F6-1D849401D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4837" y="2969173"/>
            <a:ext cx="838200" cy="914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ffectLst>
            <a:outerShdw dist="107763" dir="81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grpSp>
        <p:nvGrpSpPr>
          <p:cNvPr id="27" name="Group 53">
            <a:extLst>
              <a:ext uri="{FF2B5EF4-FFF2-40B4-BE49-F238E27FC236}">
                <a16:creationId xmlns:a16="http://schemas.microsoft.com/office/drawing/2014/main" id="{2117CE7B-565B-61CA-C300-B87F80A45345}"/>
              </a:ext>
            </a:extLst>
          </p:cNvPr>
          <p:cNvGrpSpPr>
            <a:grpSpLocks/>
          </p:cNvGrpSpPr>
          <p:nvPr/>
        </p:nvGrpSpPr>
        <p:grpSpPr bwMode="auto">
          <a:xfrm>
            <a:off x="5993524" y="3959773"/>
            <a:ext cx="4127500" cy="1752600"/>
            <a:chOff x="2832" y="2544"/>
            <a:chExt cx="2600" cy="1104"/>
          </a:xfrm>
        </p:grpSpPr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2B69DE08-08F5-9C7C-A967-6E22D94BD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928"/>
              <a:ext cx="2256" cy="48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Text Box 25">
              <a:extLst>
                <a:ext uri="{FF2B5EF4-FFF2-40B4-BE49-F238E27FC236}">
                  <a16:creationId xmlns:a16="http://schemas.microsoft.com/office/drawing/2014/main" id="{2A556391-1BE5-5E0C-854C-4D4ACEED3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36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/>
                <a:t>40 N</a:t>
              </a:r>
              <a:endParaRPr kumimoji="0" lang="es-MX" altLang="es-CO" i="1"/>
            </a:p>
          </p:txBody>
        </p: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69AAF1AC-E785-8430-3BB9-95E485F7B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312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/>
                <a:t>80 N</a:t>
              </a:r>
              <a:endParaRPr kumimoji="0" lang="es-MX" altLang="es-CO" i="1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0128D76C-2EF7-07C3-EFBC-ED2BD040ED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97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1B485B93-1FA5-C3FA-A476-A03240AED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97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FEB23557-E369-D456-03CA-55058435A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54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48A45FCE-DE4A-2716-7EC6-558B93F38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54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1DB401E0-E685-7E7C-646D-782B9ABF3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59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Line 32">
              <a:extLst>
                <a:ext uri="{FF2B5EF4-FFF2-40B4-BE49-F238E27FC236}">
                  <a16:creationId xmlns:a16="http://schemas.microsoft.com/office/drawing/2014/main" id="{60CDCAE5-396E-8AB0-242C-2D4883121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54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Text Box 33">
              <a:extLst>
                <a:ext uri="{FF2B5EF4-FFF2-40B4-BE49-F238E27FC236}">
                  <a16:creationId xmlns:a16="http://schemas.microsoft.com/office/drawing/2014/main" id="{7013BBCE-C2DF-AA9C-ACEC-FCA762229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64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/>
                <a:t>2 m</a:t>
              </a:r>
              <a:endParaRPr kumimoji="0" lang="es-MX" altLang="es-CO" sz="2400" i="1"/>
            </a:p>
          </p:txBody>
        </p:sp>
        <p:sp>
          <p:nvSpPr>
            <p:cNvPr id="38" name="Text Box 34">
              <a:extLst>
                <a:ext uri="{FF2B5EF4-FFF2-40B4-BE49-F238E27FC236}">
                  <a16:creationId xmlns:a16="http://schemas.microsoft.com/office/drawing/2014/main" id="{684F0C15-A0D4-7AF1-11F2-9F9CCF3AD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64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/>
                <a:t>3 m</a:t>
              </a:r>
              <a:endParaRPr kumimoji="0" lang="es-MX" altLang="es-CO" sz="2400" i="1"/>
            </a:p>
          </p:txBody>
        </p:sp>
        <p:sp>
          <p:nvSpPr>
            <p:cNvPr id="39" name="Text Box 35">
              <a:extLst>
                <a:ext uri="{FF2B5EF4-FFF2-40B4-BE49-F238E27FC236}">
                  <a16:creationId xmlns:a16="http://schemas.microsoft.com/office/drawing/2014/main" id="{DB724B34-DF18-C5AB-E29D-9E7C6E91B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64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/>
                <a:t>7 m</a:t>
              </a:r>
              <a:endParaRPr kumimoji="0" lang="es-MX" altLang="es-CO" sz="2400" i="1"/>
            </a:p>
          </p:txBody>
        </p:sp>
        <p:sp>
          <p:nvSpPr>
            <p:cNvPr id="40" name="Text Box 36">
              <a:extLst>
                <a:ext uri="{FF2B5EF4-FFF2-40B4-BE49-F238E27FC236}">
                  <a16:creationId xmlns:a16="http://schemas.microsoft.com/office/drawing/2014/main" id="{FF7C4753-7D17-CD4C-C16A-3ED9ADBD6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2693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 dirty="0"/>
                <a:t>A</a:t>
              </a:r>
            </a:p>
          </p:txBody>
        </p:sp>
        <p:sp>
          <p:nvSpPr>
            <p:cNvPr id="41" name="Text Box 37">
              <a:extLst>
                <a:ext uri="{FF2B5EF4-FFF2-40B4-BE49-F238E27FC236}">
                  <a16:creationId xmlns:a16="http://schemas.microsoft.com/office/drawing/2014/main" id="{44410540-56EB-D0D4-CE78-276884A24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6" y="2708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 dirty="0"/>
                <a:t>B</a:t>
              </a:r>
            </a:p>
          </p:txBody>
        </p:sp>
        <p:sp>
          <p:nvSpPr>
            <p:cNvPr id="42" name="Line 38">
              <a:extLst>
                <a:ext uri="{FF2B5EF4-FFF2-40B4-BE49-F238E27FC236}">
                  <a16:creationId xmlns:a16="http://schemas.microsoft.com/office/drawing/2014/main" id="{90473DC0-E041-2A31-A5EA-9EA0F33D5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3" name="Line 39">
              <a:extLst>
                <a:ext uri="{FF2B5EF4-FFF2-40B4-BE49-F238E27FC236}">
                  <a16:creationId xmlns:a16="http://schemas.microsoft.com/office/drawing/2014/main" id="{D300157E-C196-2934-DB4F-EA73401BC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44" name="Group 44">
              <a:extLst>
                <a:ext uri="{FF2B5EF4-FFF2-40B4-BE49-F238E27FC236}">
                  <a16:creationId xmlns:a16="http://schemas.microsoft.com/office/drawing/2014/main" id="{A3D3AFBE-835B-162A-D596-A564E2366F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8" y="2881"/>
              <a:ext cx="144" cy="144"/>
              <a:chOff x="3696" y="3552"/>
              <a:chExt cx="144" cy="144"/>
            </a:xfrm>
          </p:grpSpPr>
          <p:sp>
            <p:nvSpPr>
              <p:cNvPr id="45" name="Oval 45">
                <a:extLst>
                  <a:ext uri="{FF2B5EF4-FFF2-40B4-BE49-F238E27FC236}">
                    <a16:creationId xmlns:a16="http://schemas.microsoft.com/office/drawing/2014/main" id="{66D396E2-644A-A55F-3EBF-7FC13F9CF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552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6" name="Line 46">
                <a:extLst>
                  <a:ext uri="{FF2B5EF4-FFF2-40B4-BE49-F238E27FC236}">
                    <a16:creationId xmlns:a16="http://schemas.microsoft.com/office/drawing/2014/main" id="{88C994A8-5950-E833-FF7C-AD8848732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96" y="3552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7" name="Line 47">
                <a:extLst>
                  <a:ext uri="{FF2B5EF4-FFF2-40B4-BE49-F238E27FC236}">
                    <a16:creationId xmlns:a16="http://schemas.microsoft.com/office/drawing/2014/main" id="{CBAF674D-D9BD-BE07-1908-F78EDFB63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96" y="3552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grpSp>
        <p:nvGrpSpPr>
          <p:cNvPr id="48" name="Group 51">
            <a:extLst>
              <a:ext uri="{FF2B5EF4-FFF2-40B4-BE49-F238E27FC236}">
                <a16:creationId xmlns:a16="http://schemas.microsoft.com/office/drawing/2014/main" id="{88D332B3-11A8-D092-89D9-5140F8F8FB7B}"/>
              </a:ext>
            </a:extLst>
          </p:cNvPr>
          <p:cNvGrpSpPr>
            <a:grpSpLocks/>
          </p:cNvGrpSpPr>
          <p:nvPr/>
        </p:nvGrpSpPr>
        <p:grpSpPr bwMode="auto">
          <a:xfrm>
            <a:off x="5985587" y="4729711"/>
            <a:ext cx="1814512" cy="1141412"/>
            <a:chOff x="2827" y="3029"/>
            <a:chExt cx="1143" cy="719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87C198F9-1AC4-B0E1-930B-59D800380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3029"/>
              <a:ext cx="1143" cy="719"/>
            </a:xfrm>
            <a:custGeom>
              <a:avLst/>
              <a:gdLst>
                <a:gd name="T0" fmla="*/ 0 w 1143"/>
                <a:gd name="T1" fmla="*/ 719 h 719"/>
                <a:gd name="T2" fmla="*/ 957 w 1143"/>
                <a:gd name="T3" fmla="*/ 595 h 719"/>
                <a:gd name="T4" fmla="*/ 1116 w 1143"/>
                <a:gd name="T5" fmla="*/ 205 h 719"/>
                <a:gd name="T6" fmla="*/ 904 w 1143"/>
                <a:gd name="T7" fmla="*/ 28 h 719"/>
                <a:gd name="T8" fmla="*/ 957 w 1143"/>
                <a:gd name="T9" fmla="*/ 37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3" h="719">
                  <a:moveTo>
                    <a:pt x="0" y="719"/>
                  </a:moveTo>
                  <a:cubicBezTo>
                    <a:pt x="385" y="700"/>
                    <a:pt x="771" y="681"/>
                    <a:pt x="957" y="595"/>
                  </a:cubicBezTo>
                  <a:cubicBezTo>
                    <a:pt x="1143" y="509"/>
                    <a:pt x="1125" y="299"/>
                    <a:pt x="1116" y="205"/>
                  </a:cubicBezTo>
                  <a:cubicBezTo>
                    <a:pt x="1107" y="111"/>
                    <a:pt x="930" y="56"/>
                    <a:pt x="904" y="28"/>
                  </a:cubicBezTo>
                  <a:cubicBezTo>
                    <a:pt x="878" y="0"/>
                    <a:pt x="954" y="38"/>
                    <a:pt x="957" y="37"/>
                  </a:cubicBezTo>
                </a:path>
              </a:pathLst>
            </a:custGeom>
            <a:noFill/>
            <a:ln w="3810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20A1BC63-DEDD-659B-18B7-377861CAD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04" y="3031"/>
              <a:ext cx="133" cy="88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53717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2" grpId="0" autoUpdateAnimBg="0"/>
      <p:bldP spid="23" grpId="0" autoUpdateAnimBg="0"/>
      <p:bldP spid="24" grpId="0" autoUpdateAnimBg="0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B8FFE-4879-C96A-75D3-D5C4B6A2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1">
            <a:extLst>
              <a:ext uri="{FF2B5EF4-FFF2-40B4-BE49-F238E27FC236}">
                <a16:creationId xmlns:a16="http://schemas.microsoft.com/office/drawing/2014/main" id="{FA5984E7-91AF-C38A-BC34-AC76897CA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418" y="428716"/>
            <a:ext cx="350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u="sng" dirty="0"/>
              <a:t>Ejemplo (cont.)</a:t>
            </a:r>
            <a:endParaRPr kumimoji="0" lang="es-MX" altLang="es-CO" sz="2400" i="1" dirty="0"/>
          </a:p>
        </p:txBody>
      </p:sp>
      <p:grpSp>
        <p:nvGrpSpPr>
          <p:cNvPr id="3" name="Group 104">
            <a:extLst>
              <a:ext uri="{FF2B5EF4-FFF2-40B4-BE49-F238E27FC236}">
                <a16:creationId xmlns:a16="http://schemas.microsoft.com/office/drawing/2014/main" id="{A34FC8DC-EAB9-005C-FB89-6F7589AC3285}"/>
              </a:ext>
            </a:extLst>
          </p:cNvPr>
          <p:cNvGrpSpPr>
            <a:grpSpLocks/>
          </p:cNvGrpSpPr>
          <p:nvPr/>
        </p:nvGrpSpPr>
        <p:grpSpPr bwMode="auto">
          <a:xfrm>
            <a:off x="5882618" y="536794"/>
            <a:ext cx="4570413" cy="4356100"/>
            <a:chOff x="2701" y="351"/>
            <a:chExt cx="2879" cy="274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0504CA-FECE-7220-8F85-BB46F88DD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51"/>
              <a:ext cx="2688" cy="2744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22">
              <a:extLst>
                <a:ext uri="{FF2B5EF4-FFF2-40B4-BE49-F238E27FC236}">
                  <a16:creationId xmlns:a16="http://schemas.microsoft.com/office/drawing/2014/main" id="{F7B3004E-4C3C-358D-436F-8BDFBCA69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939"/>
              <a:ext cx="2169" cy="39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Text Box 23">
              <a:extLst>
                <a:ext uri="{FF2B5EF4-FFF2-40B4-BE49-F238E27FC236}">
                  <a16:creationId xmlns:a16="http://schemas.microsoft.com/office/drawing/2014/main" id="{FE51C7CA-32B6-F55E-19D7-9B74DFBE9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1271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40 N</a:t>
              </a:r>
              <a:endParaRPr kumimoji="0" lang="es-MX" altLang="es-CO" i="1">
                <a:solidFill>
                  <a:srgbClr val="000000"/>
                </a:solidFill>
              </a:endParaRPr>
            </a:p>
          </p:txBody>
        </p:sp>
        <p:sp>
          <p:nvSpPr>
            <p:cNvPr id="7" name="Text Box 24">
              <a:extLst>
                <a:ext uri="{FF2B5EF4-FFF2-40B4-BE49-F238E27FC236}">
                  <a16:creationId xmlns:a16="http://schemas.microsoft.com/office/drawing/2014/main" id="{3A2F6B02-4527-7E80-87FA-9671F7710E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2" y="1231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80 N</a:t>
              </a:r>
              <a:endParaRPr kumimoji="0" lang="es-MX" altLang="es-CO" i="1"/>
            </a:p>
          </p:txBody>
        </p:sp>
        <p:sp>
          <p:nvSpPr>
            <p:cNvPr id="8" name="Line 25">
              <a:extLst>
                <a:ext uri="{FF2B5EF4-FFF2-40B4-BE49-F238E27FC236}">
                  <a16:creationId xmlns:a16="http://schemas.microsoft.com/office/drawing/2014/main" id="{7EB08F9E-EDAA-B53A-8E68-838F9B915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978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26">
              <a:extLst>
                <a:ext uri="{FF2B5EF4-FFF2-40B4-BE49-F238E27FC236}">
                  <a16:creationId xmlns:a16="http://schemas.microsoft.com/office/drawing/2014/main" id="{1DEBA9C7-0B07-9EBA-4300-25DFD24CB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3" y="978"/>
              <a:ext cx="0" cy="27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1D8225F0-2CF3-60A7-A9A5-A84C89730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622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28">
              <a:extLst>
                <a:ext uri="{FF2B5EF4-FFF2-40B4-BE49-F238E27FC236}">
                  <a16:creationId xmlns:a16="http://schemas.microsoft.com/office/drawing/2014/main" id="{B2A2F156-9E07-221C-2022-981E410A7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622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29">
              <a:extLst>
                <a:ext uri="{FF2B5EF4-FFF2-40B4-BE49-F238E27FC236}">
                  <a16:creationId xmlns:a16="http://schemas.microsoft.com/office/drawing/2014/main" id="{76915DD3-98D0-DE22-504F-BA10DE076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3" y="661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30">
              <a:extLst>
                <a:ext uri="{FF2B5EF4-FFF2-40B4-BE49-F238E27FC236}">
                  <a16:creationId xmlns:a16="http://schemas.microsoft.com/office/drawing/2014/main" id="{35F4216B-25B3-B2BF-7318-2BDA76F80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62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Text Box 31">
              <a:extLst>
                <a:ext uri="{FF2B5EF4-FFF2-40B4-BE49-F238E27FC236}">
                  <a16:creationId xmlns:a16="http://schemas.microsoft.com/office/drawing/2014/main" id="{FB814811-6CA2-5A49-5DA2-85A82374F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676"/>
              <a:ext cx="4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2 m</a:t>
              </a:r>
              <a:endParaRPr kumimoji="0" lang="es-MX" altLang="es-CO" sz="2400" i="1"/>
            </a:p>
          </p:txBody>
        </p:sp>
        <p:sp>
          <p:nvSpPr>
            <p:cNvPr id="15" name="Text Box 32">
              <a:extLst>
                <a:ext uri="{FF2B5EF4-FFF2-40B4-BE49-F238E27FC236}">
                  <a16:creationId xmlns:a16="http://schemas.microsoft.com/office/drawing/2014/main" id="{662DA6C6-9F94-AA7F-17DF-2400355AE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5" y="676"/>
              <a:ext cx="4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3 m</a:t>
              </a:r>
              <a:endParaRPr kumimoji="0" lang="es-MX" altLang="es-CO" sz="2400" i="1"/>
            </a:p>
          </p:txBody>
        </p:sp>
        <p:sp>
          <p:nvSpPr>
            <p:cNvPr id="16" name="Text Box 33">
              <a:extLst>
                <a:ext uri="{FF2B5EF4-FFF2-40B4-BE49-F238E27FC236}">
                  <a16:creationId xmlns:a16="http://schemas.microsoft.com/office/drawing/2014/main" id="{C5D56CE9-27EC-C2E5-8A3C-E4EBF2574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676"/>
              <a:ext cx="4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7 m</a:t>
              </a:r>
              <a:endParaRPr kumimoji="0" lang="es-MX" altLang="es-CO" sz="2400" i="1"/>
            </a:p>
          </p:txBody>
        </p:sp>
        <p:sp>
          <p:nvSpPr>
            <p:cNvPr id="17" name="Text Box 34">
              <a:extLst>
                <a:ext uri="{FF2B5EF4-FFF2-40B4-BE49-F238E27FC236}">
                  <a16:creationId xmlns:a16="http://schemas.microsoft.com/office/drawing/2014/main" id="{0B533AE5-E506-B83B-77A8-F64A2726C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" y="552"/>
              <a:ext cx="27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A</a:t>
              </a:r>
              <a:endParaRPr kumimoji="0" lang="es-MX" altLang="es-CO" i="1"/>
            </a:p>
          </p:txBody>
        </p:sp>
        <p:sp>
          <p:nvSpPr>
            <p:cNvPr id="18" name="Text Box 35">
              <a:extLst>
                <a:ext uri="{FF2B5EF4-FFF2-40B4-BE49-F238E27FC236}">
                  <a16:creationId xmlns:a16="http://schemas.microsoft.com/office/drawing/2014/main" id="{DB838CBF-FDCE-786F-BA26-80E5CB107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" y="473"/>
              <a:ext cx="323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B</a:t>
              </a:r>
              <a:endParaRPr kumimoji="0" lang="es-MX" altLang="es-CO" i="1"/>
            </a:p>
          </p:txBody>
        </p:sp>
        <p:sp>
          <p:nvSpPr>
            <p:cNvPr id="19" name="Line 36">
              <a:extLst>
                <a:ext uri="{FF2B5EF4-FFF2-40B4-BE49-F238E27FC236}">
                  <a16:creationId xmlns:a16="http://schemas.microsoft.com/office/drawing/2014/main" id="{744F6034-5651-419F-7F3E-C63BE1E60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978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Line 37">
              <a:extLst>
                <a:ext uri="{FF2B5EF4-FFF2-40B4-BE49-F238E27FC236}">
                  <a16:creationId xmlns:a16="http://schemas.microsoft.com/office/drawing/2014/main" id="{9A3E83CB-7850-76F1-1211-B12B83080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978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Oval 38">
              <a:extLst>
                <a:ext uri="{FF2B5EF4-FFF2-40B4-BE49-F238E27FC236}">
                  <a16:creationId xmlns:a16="http://schemas.microsoft.com/office/drawing/2014/main" id="{562700A7-85BD-56D3-C032-2EA35D7B7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905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Line 39">
              <a:extLst>
                <a:ext uri="{FF2B5EF4-FFF2-40B4-BE49-F238E27FC236}">
                  <a16:creationId xmlns:a16="http://schemas.microsoft.com/office/drawing/2014/main" id="{0B9A7438-5A0E-411B-0C17-957B05211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9" y="905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Line 40">
              <a:extLst>
                <a:ext uri="{FF2B5EF4-FFF2-40B4-BE49-F238E27FC236}">
                  <a16:creationId xmlns:a16="http://schemas.microsoft.com/office/drawing/2014/main" id="{2395F75F-1F9C-4284-65F1-8A07A88F84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49" y="905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Text Box 53">
              <a:extLst>
                <a:ext uri="{FF2B5EF4-FFF2-40B4-BE49-F238E27FC236}">
                  <a16:creationId xmlns:a16="http://schemas.microsoft.com/office/drawing/2014/main" id="{D72EFAF5-6783-DCDF-4C65-DB061E969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1" y="1535"/>
              <a:ext cx="267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Los momentos de torsión en torno al eje </a:t>
              </a:r>
              <a:r>
                <a:rPr lang="es-MX" altLang="es-CO" sz="2400" dirty="0" err="1">
                  <a:solidFill>
                    <a:srgbClr val="000000"/>
                  </a:solidFill>
                </a:rPr>
                <a:t>cmr</a:t>
              </a:r>
              <a:r>
                <a:rPr lang="es-MX" altLang="es-CO" sz="2400" dirty="0">
                  <a:solidFill>
                    <a:srgbClr val="000000"/>
                  </a:solidFill>
                </a:rPr>
                <a:t> son iguales a las de mr.</a:t>
              </a:r>
            </a:p>
          </p:txBody>
        </p:sp>
        <p:sp>
          <p:nvSpPr>
            <p:cNvPr id="25" name="Line 55">
              <a:extLst>
                <a:ext uri="{FF2B5EF4-FFF2-40B4-BE49-F238E27FC236}">
                  <a16:creationId xmlns:a16="http://schemas.microsoft.com/office/drawing/2014/main" id="{4A8E6077-7716-B305-501E-52AABF690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86" y="1090"/>
              <a:ext cx="266" cy="5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grpSp>
          <p:nvGrpSpPr>
            <p:cNvPr id="26" name="Group 96">
              <a:extLst>
                <a:ext uri="{FF2B5EF4-FFF2-40B4-BE49-F238E27FC236}">
                  <a16:creationId xmlns:a16="http://schemas.microsoft.com/office/drawing/2014/main" id="{B1EFAA9B-070A-A48D-4A15-91F88ECAAC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9" y="2245"/>
              <a:ext cx="1166" cy="738"/>
              <a:chOff x="3229" y="2237"/>
              <a:chExt cx="1166" cy="738"/>
            </a:xfrm>
          </p:grpSpPr>
          <p:grpSp>
            <p:nvGrpSpPr>
              <p:cNvPr id="42" name="Group 79">
                <a:extLst>
                  <a:ext uri="{FF2B5EF4-FFF2-40B4-BE49-F238E27FC236}">
                    <a16:creationId xmlns:a16="http://schemas.microsoft.com/office/drawing/2014/main" id="{83483607-D46C-3EA5-C6CA-6CDC1370FB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8" y="2237"/>
                <a:ext cx="416" cy="415"/>
                <a:chOff x="2967" y="3310"/>
                <a:chExt cx="642" cy="641"/>
              </a:xfrm>
            </p:grpSpPr>
            <p:sp>
              <p:nvSpPr>
                <p:cNvPr id="44" name="Oval 80">
                  <a:extLst>
                    <a:ext uri="{FF2B5EF4-FFF2-40B4-BE49-F238E27FC236}">
                      <a16:creationId xmlns:a16="http://schemas.microsoft.com/office/drawing/2014/main" id="{7212DB54-EB49-3A82-B074-1BB52CFBD1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3215" y="3562"/>
                  <a:ext cx="170" cy="17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45" name="Line 81">
                  <a:extLst>
                    <a:ext uri="{FF2B5EF4-FFF2-40B4-BE49-F238E27FC236}">
                      <a16:creationId xmlns:a16="http://schemas.microsoft.com/office/drawing/2014/main" id="{79603569-3BCA-CD95-58BC-B2B8FC4C5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39" y="3584"/>
                  <a:ext cx="113" cy="11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46" name="Line 82">
                  <a:extLst>
                    <a:ext uri="{FF2B5EF4-FFF2-40B4-BE49-F238E27FC236}">
                      <a16:creationId xmlns:a16="http://schemas.microsoft.com/office/drawing/2014/main" id="{1E87CD66-9577-B2E9-E384-7B378017F1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42" y="3592"/>
                  <a:ext cx="113" cy="11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grpSp>
              <p:nvGrpSpPr>
                <p:cNvPr id="47" name="Group 83">
                  <a:extLst>
                    <a:ext uri="{FF2B5EF4-FFF2-40B4-BE49-F238E27FC236}">
                      <a16:creationId xmlns:a16="http://schemas.microsoft.com/office/drawing/2014/main" id="{D9C12979-9632-DF6C-6041-7965F32A3E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4857572">
                  <a:off x="2967" y="3310"/>
                  <a:ext cx="641" cy="642"/>
                  <a:chOff x="3357" y="2298"/>
                  <a:chExt cx="641" cy="642"/>
                </a:xfrm>
              </p:grpSpPr>
              <p:sp>
                <p:nvSpPr>
                  <p:cNvPr id="48" name="Arc 84">
                    <a:extLst>
                      <a:ext uri="{FF2B5EF4-FFF2-40B4-BE49-F238E27FC236}">
                        <a16:creationId xmlns:a16="http://schemas.microsoft.com/office/drawing/2014/main" id="{E2D9EE4C-C7F6-A709-E1B5-ABDA13228D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68" y="2615"/>
                    <a:ext cx="317" cy="317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s-CO"/>
                  </a:p>
                </p:txBody>
              </p:sp>
              <p:sp>
                <p:nvSpPr>
                  <p:cNvPr id="49" name="Arc 85">
                    <a:extLst>
                      <a:ext uri="{FF2B5EF4-FFF2-40B4-BE49-F238E27FC236}">
                        <a16:creationId xmlns:a16="http://schemas.microsoft.com/office/drawing/2014/main" id="{973E63CA-79CD-B197-2EDE-4961D1A5CB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357" y="2623"/>
                    <a:ext cx="317" cy="317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s-CO"/>
                  </a:p>
                </p:txBody>
              </p:sp>
              <p:sp>
                <p:nvSpPr>
                  <p:cNvPr id="50" name="Arc 86">
                    <a:extLst>
                      <a:ext uri="{FF2B5EF4-FFF2-40B4-BE49-F238E27FC236}">
                        <a16:creationId xmlns:a16="http://schemas.microsoft.com/office/drawing/2014/main" id="{522775EE-E750-EA30-7712-C70A5FD17E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81" y="2298"/>
                    <a:ext cx="317" cy="317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  <a:headEnd type="triangle" w="med" len="med"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s-CO"/>
                  </a:p>
                </p:txBody>
              </p:sp>
            </p:grpSp>
          </p:grpSp>
          <p:sp>
            <p:nvSpPr>
              <p:cNvPr id="43" name="Text Box 87">
                <a:extLst>
                  <a:ext uri="{FF2B5EF4-FFF2-40B4-BE49-F238E27FC236}">
                    <a16:creationId xmlns:a16="http://schemas.microsoft.com/office/drawing/2014/main" id="{40B15425-0053-B8C6-6003-29E35943E4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9" y="2687"/>
                <a:ext cx="116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sz="2400" i="1" dirty="0" err="1">
                    <a:solidFill>
                      <a:srgbClr val="000000"/>
                    </a:solidFill>
                  </a:rPr>
                  <a:t>cmr</a:t>
                </a:r>
                <a:r>
                  <a:rPr kumimoji="0" lang="es-MX" altLang="es-CO" sz="2400" dirty="0">
                    <a:solidFill>
                      <a:srgbClr val="000000"/>
                    </a:solidFill>
                  </a:rPr>
                  <a:t> (+)</a:t>
                </a:r>
                <a:endParaRPr kumimoji="0" lang="es-MX" altLang="es-CO" i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7" name="Group 97">
              <a:extLst>
                <a:ext uri="{FF2B5EF4-FFF2-40B4-BE49-F238E27FC236}">
                  <a16:creationId xmlns:a16="http://schemas.microsoft.com/office/drawing/2014/main" id="{17FBEC02-2504-2308-C686-87B0C6AAD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2" y="2189"/>
              <a:ext cx="1178" cy="818"/>
              <a:chOff x="4168" y="2162"/>
              <a:chExt cx="1178" cy="818"/>
            </a:xfrm>
          </p:grpSpPr>
          <p:grpSp>
            <p:nvGrpSpPr>
              <p:cNvPr id="34" name="Group 88">
                <a:extLst>
                  <a:ext uri="{FF2B5EF4-FFF2-40B4-BE49-F238E27FC236}">
                    <a16:creationId xmlns:a16="http://schemas.microsoft.com/office/drawing/2014/main" id="{6FEA8833-1069-5693-213A-55AD3A41A9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12" y="2162"/>
                <a:ext cx="426" cy="462"/>
                <a:chOff x="1725" y="3008"/>
                <a:chExt cx="634" cy="688"/>
              </a:xfrm>
            </p:grpSpPr>
            <p:sp>
              <p:nvSpPr>
                <p:cNvPr id="36" name="Oval 89">
                  <a:extLst>
                    <a:ext uri="{FF2B5EF4-FFF2-40B4-BE49-F238E27FC236}">
                      <a16:creationId xmlns:a16="http://schemas.microsoft.com/office/drawing/2014/main" id="{C6AC5D28-C53C-4B63-DAB0-7A251AB0F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1948" y="3284"/>
                  <a:ext cx="172" cy="17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7" name="Line 90">
                  <a:extLst>
                    <a:ext uri="{FF2B5EF4-FFF2-40B4-BE49-F238E27FC236}">
                      <a16:creationId xmlns:a16="http://schemas.microsoft.com/office/drawing/2014/main" id="{DC1E6A0B-3B37-84E4-EDF8-FA8501B339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2" y="3306"/>
                  <a:ext cx="114" cy="11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8" name="Line 91">
                  <a:extLst>
                    <a:ext uri="{FF2B5EF4-FFF2-40B4-BE49-F238E27FC236}">
                      <a16:creationId xmlns:a16="http://schemas.microsoft.com/office/drawing/2014/main" id="{AF5722C7-25F9-9901-A580-81952251C1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75" y="3314"/>
                  <a:ext cx="114" cy="11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9" name="Arc 92">
                  <a:extLst>
                    <a:ext uri="{FF2B5EF4-FFF2-40B4-BE49-F238E27FC236}">
                      <a16:creationId xmlns:a16="http://schemas.microsoft.com/office/drawing/2014/main" id="{7FB425BA-E239-F555-31B7-05BED5004A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742428" flipV="1">
                  <a:off x="2040" y="3070"/>
                  <a:ext cx="317" cy="32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40" name="Arc 93">
                  <a:extLst>
                    <a:ext uri="{FF2B5EF4-FFF2-40B4-BE49-F238E27FC236}">
                      <a16:creationId xmlns:a16="http://schemas.microsoft.com/office/drawing/2014/main" id="{225DE6DA-488E-3A8D-4B95-B8DBC2080E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4857572" flipH="1" flipV="1">
                  <a:off x="1999" y="3377"/>
                  <a:ext cx="317" cy="321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41" name="Arc 94">
                  <a:extLst>
                    <a:ext uri="{FF2B5EF4-FFF2-40B4-BE49-F238E27FC236}">
                      <a16:creationId xmlns:a16="http://schemas.microsoft.com/office/drawing/2014/main" id="{6ECBFDE2-4B38-FF5E-E2BE-1A21917301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4857572">
                  <a:off x="1726" y="3007"/>
                  <a:ext cx="317" cy="32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  <p:sp>
            <p:nvSpPr>
              <p:cNvPr id="35" name="Text Box 95">
                <a:extLst>
                  <a:ext uri="{FF2B5EF4-FFF2-40B4-BE49-F238E27FC236}">
                    <a16:creationId xmlns:a16="http://schemas.microsoft.com/office/drawing/2014/main" id="{C366F12F-4C00-AF51-9205-94FC5C2C36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8" y="2692"/>
                <a:ext cx="117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0" lang="es-MX" altLang="es-CO" sz="2400" i="1" dirty="0" err="1">
                    <a:solidFill>
                      <a:srgbClr val="000000"/>
                    </a:solidFill>
                  </a:rPr>
                  <a:t>mr</a:t>
                </a:r>
                <a:r>
                  <a:rPr kumimoji="0" lang="es-MX" altLang="es-CO" sz="2400" i="1" dirty="0">
                    <a:solidFill>
                      <a:srgbClr val="000000"/>
                    </a:solidFill>
                  </a:rPr>
                  <a:t> </a:t>
                </a:r>
                <a:r>
                  <a:rPr kumimoji="0" lang="es-MX" altLang="es-CO" sz="2400" dirty="0">
                    <a:solidFill>
                      <a:srgbClr val="000000"/>
                    </a:solidFill>
                  </a:rPr>
                  <a:t>(-)</a:t>
                </a:r>
                <a:endParaRPr kumimoji="0" lang="es-MX" altLang="es-CO" i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8" name="Line 98">
              <a:extLst>
                <a:ext uri="{FF2B5EF4-FFF2-40B4-BE49-F238E27FC236}">
                  <a16:creationId xmlns:a16="http://schemas.microsoft.com/office/drawing/2014/main" id="{A3DDCC4E-30BB-AC39-82FB-44C9D6192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241"/>
              <a:ext cx="0" cy="7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29" name="Line 99">
              <a:extLst>
                <a:ext uri="{FF2B5EF4-FFF2-40B4-BE49-F238E27FC236}">
                  <a16:creationId xmlns:a16="http://schemas.microsoft.com/office/drawing/2014/main" id="{5DD6C318-C9BE-E8DE-92A0-2F548C47F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2241"/>
              <a:ext cx="0" cy="7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0" name="Line 100">
              <a:extLst>
                <a:ext uri="{FF2B5EF4-FFF2-40B4-BE49-F238E27FC236}">
                  <a16:creationId xmlns:a16="http://schemas.microsoft.com/office/drawing/2014/main" id="{B2000C13-4F55-1AE9-CD91-9E3C185C6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2" y="2248"/>
              <a:ext cx="0" cy="7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1" name="Line 101">
              <a:extLst>
                <a:ext uri="{FF2B5EF4-FFF2-40B4-BE49-F238E27FC236}">
                  <a16:creationId xmlns:a16="http://schemas.microsoft.com/office/drawing/2014/main" id="{459992B3-2658-ABDE-1CF7-CFEB6A621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8" y="2246"/>
              <a:ext cx="0" cy="7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2" name="Line 102">
              <a:extLst>
                <a:ext uri="{FF2B5EF4-FFF2-40B4-BE49-F238E27FC236}">
                  <a16:creationId xmlns:a16="http://schemas.microsoft.com/office/drawing/2014/main" id="{12CB2F73-A3DE-2928-FEC9-6EA66517F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7" y="2526"/>
              <a:ext cx="1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3" name="Line 103">
              <a:extLst>
                <a:ext uri="{FF2B5EF4-FFF2-40B4-BE49-F238E27FC236}">
                  <a16:creationId xmlns:a16="http://schemas.microsoft.com/office/drawing/2014/main" id="{99904885-C40D-2AC5-8D42-23CC554B9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4" y="2586"/>
              <a:ext cx="1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51" name="Group 113">
            <a:extLst>
              <a:ext uri="{FF2B5EF4-FFF2-40B4-BE49-F238E27FC236}">
                <a16:creationId xmlns:a16="http://schemas.microsoft.com/office/drawing/2014/main" id="{27E2F678-0B77-779D-575F-BBE956A590DB}"/>
              </a:ext>
            </a:extLst>
          </p:cNvPr>
          <p:cNvGrpSpPr>
            <a:grpSpLocks/>
          </p:cNvGrpSpPr>
          <p:nvPr/>
        </p:nvGrpSpPr>
        <p:grpSpPr bwMode="auto">
          <a:xfrm>
            <a:off x="2099606" y="1078132"/>
            <a:ext cx="3643312" cy="3738563"/>
            <a:chOff x="399" y="699"/>
            <a:chExt cx="2295" cy="2355"/>
          </a:xfrm>
        </p:grpSpPr>
        <p:sp>
          <p:nvSpPr>
            <p:cNvPr id="52" name="Text Box 49">
              <a:extLst>
                <a:ext uri="{FF2B5EF4-FFF2-40B4-BE49-F238E27FC236}">
                  <a16:creationId xmlns:a16="http://schemas.microsoft.com/office/drawing/2014/main" id="{33110426-EAAA-C7F4-F36B-A2785EB38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" y="1125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</a:rPr>
                <a:t>S</a:t>
              </a:r>
              <a:r>
                <a:rPr kumimoji="0" lang="es-MX" altLang="es-CO" sz="2400" i="1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</a:rPr>
                <a:t>t</a:t>
              </a:r>
              <a:r>
                <a:rPr kumimoji="0" lang="es-MX" altLang="es-CO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(</a:t>
              </a:r>
              <a:r>
                <a:rPr kumimoji="0" lang="es-MX" altLang="es-CO" sz="2400" i="1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cmr</a:t>
              </a:r>
              <a:r>
                <a:rPr kumimoji="0" lang="es-MX" altLang="es-CO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) = </a:t>
              </a:r>
              <a:r>
                <a:rPr kumimoji="0" lang="es-MX" altLang="es-CO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</a:rPr>
                <a:t>S</a:t>
              </a:r>
              <a:r>
                <a:rPr kumimoji="0" lang="es-MX" altLang="es-CO" sz="2400" i="1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</a:rPr>
                <a:t>t</a:t>
              </a:r>
              <a:r>
                <a:rPr kumimoji="0" lang="es-MX" altLang="es-CO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(</a:t>
              </a:r>
              <a:r>
                <a:rPr kumimoji="0" lang="es-MX" altLang="es-CO" sz="2400" i="1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mr</a:t>
              </a:r>
              <a:r>
                <a:rPr kumimoji="0" lang="es-MX" altLang="es-CO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)</a:t>
              </a:r>
              <a:r>
                <a:rPr kumimoji="0" lang="es-MX" altLang="es-CO" sz="2400" i="1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F7F58076-0950-6F3B-A31E-D2392C776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" y="699"/>
              <a:ext cx="22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/>
                <a:t>Nota: Cuando aplique</a:t>
              </a: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21214A39-03D6-CCF4-6731-08A38E7A6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1489"/>
              <a:ext cx="2215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dirty="0"/>
                <a:t>sólo necesita las magnitudes absolutas (positivas) de cada momento de torsión.</a:t>
              </a:r>
            </a:p>
          </p:txBody>
        </p:sp>
        <p:grpSp>
          <p:nvGrpSpPr>
            <p:cNvPr id="55" name="Group 112">
              <a:extLst>
                <a:ext uri="{FF2B5EF4-FFF2-40B4-BE49-F238E27FC236}">
                  <a16:creationId xmlns:a16="http://schemas.microsoft.com/office/drawing/2014/main" id="{A7B95816-08D7-89E2-FEEE-094F910DE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" y="2685"/>
              <a:ext cx="1817" cy="369"/>
              <a:chOff x="441" y="2685"/>
              <a:chExt cx="1817" cy="369"/>
            </a:xfrm>
          </p:grpSpPr>
          <p:sp>
            <p:nvSpPr>
              <p:cNvPr id="56" name="Text Box 105">
                <a:extLst>
                  <a:ext uri="{FF2B5EF4-FFF2-40B4-BE49-F238E27FC236}">
                    <a16:creationId xmlns:a16="http://schemas.microsoft.com/office/drawing/2014/main" id="{84419C1B-70A7-53E5-2DE8-F0ABB41D5F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" y="2696"/>
                <a:ext cx="181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i="1" dirty="0">
                    <a:sym typeface="Symbol" panose="05050102010706020507" pitchFamily="18" charset="2"/>
                  </a:rPr>
                  <a:t></a:t>
                </a:r>
                <a:r>
                  <a:rPr lang="es-MX" altLang="es-CO" sz="2400" dirty="0">
                    <a:sym typeface="Symbol" panose="05050102010706020507" pitchFamily="18" charset="2"/>
                  </a:rPr>
                  <a:t> </a:t>
                </a:r>
                <a:r>
                  <a:rPr lang="es-MX" altLang="es-CO" sz="2400" dirty="0"/>
                  <a:t>(+) = </a:t>
                </a:r>
                <a:r>
                  <a:rPr lang="es-MX" altLang="es-CO" sz="2400" i="1" dirty="0">
                    <a:sym typeface="Symbol" panose="05050102010706020507" pitchFamily="18" charset="2"/>
                  </a:rPr>
                  <a:t></a:t>
                </a:r>
                <a:r>
                  <a:rPr lang="es-MX" altLang="es-CO" sz="2400" dirty="0"/>
                  <a:t> (-)</a:t>
                </a:r>
              </a:p>
            </p:txBody>
          </p:sp>
          <p:sp>
            <p:nvSpPr>
              <p:cNvPr id="57" name="Line 106">
                <a:extLst>
                  <a:ext uri="{FF2B5EF4-FFF2-40B4-BE49-F238E27FC236}">
                    <a16:creationId xmlns:a16="http://schemas.microsoft.com/office/drawing/2014/main" id="{3E275F51-CF6D-F71E-988C-12932E170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6" y="2716"/>
                <a:ext cx="0" cy="3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58" name="Line 107">
                <a:extLst>
                  <a:ext uri="{FF2B5EF4-FFF2-40B4-BE49-F238E27FC236}">
                    <a16:creationId xmlns:a16="http://schemas.microsoft.com/office/drawing/2014/main" id="{6BA412E1-89AF-4B55-9859-FAA6367BC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1" y="2685"/>
                <a:ext cx="0" cy="3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59" name="Line 108">
                <a:extLst>
                  <a:ext uri="{FF2B5EF4-FFF2-40B4-BE49-F238E27FC236}">
                    <a16:creationId xmlns:a16="http://schemas.microsoft.com/office/drawing/2014/main" id="{55EC8F88-9CC3-492A-A1E5-5D828D97B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" y="2716"/>
                <a:ext cx="0" cy="3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0" name="Line 109">
                <a:extLst>
                  <a:ext uri="{FF2B5EF4-FFF2-40B4-BE49-F238E27FC236}">
                    <a16:creationId xmlns:a16="http://schemas.microsoft.com/office/drawing/2014/main" id="{88B8FE1A-C0FE-9ED0-9D9F-187F48B0A6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7" y="2735"/>
                <a:ext cx="0" cy="3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61" name="Text Box 111">
            <a:extLst>
              <a:ext uri="{FF2B5EF4-FFF2-40B4-BE49-F238E27FC236}">
                <a16:creationId xmlns:a16="http://schemas.microsoft.com/office/drawing/2014/main" id="{61ABCD29-68E0-F317-BF9B-DBC4CC5A6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0881" y="5218550"/>
            <a:ext cx="8308975" cy="830997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r>
              <a:rPr lang="es-MX" altLang="es-CO" sz="2400"/>
              <a:t>En esencia, se dice que los momentos de torsión están balanceados en torno a un eje elegido.</a:t>
            </a:r>
          </a:p>
        </p:txBody>
      </p:sp>
    </p:spTree>
    <p:extLst>
      <p:ext uri="{BB962C8B-B14F-4D97-AF65-F5344CB8AC3E}">
        <p14:creationId xmlns:p14="http://schemas.microsoft.com/office/powerpoint/2010/main" val="295067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EAC44-3EE9-8EAE-FAC7-5788F9A5D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2385E6F-97CA-907B-F082-62BFC97EF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2666" y="26988"/>
            <a:ext cx="38100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400" u="sng" dirty="0"/>
              <a:t>Ejemplo (cont.)</a:t>
            </a:r>
            <a:endParaRPr lang="es-MX" altLang="es-CO" sz="2400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E4E4270-C9FE-565D-56DE-0EDC43548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04" y="1644005"/>
            <a:ext cx="434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t</a:t>
            </a:r>
            <a:r>
              <a:rPr kumimoji="0" lang="es-MX" altLang="es-CO" sz="2400" i="1" dirty="0">
                <a:latin typeface="Symbol" panose="05050102010706020507" pitchFamily="18" charset="2"/>
              </a:rPr>
              <a:t> </a:t>
            </a:r>
            <a:r>
              <a:rPr kumimoji="0" lang="es-MX" altLang="es-CO" sz="2400" dirty="0">
                <a:latin typeface="Symbol" panose="05050102010706020507" pitchFamily="18" charset="2"/>
              </a:rPr>
              <a:t>= </a:t>
            </a:r>
            <a:r>
              <a:rPr kumimoji="0" lang="es-MX" altLang="es-CO" sz="2400" i="1" dirty="0"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latin typeface="Symbol" panose="05050102010706020507" pitchFamily="18" charset="2"/>
              </a:rPr>
              <a:t>1</a:t>
            </a:r>
            <a:r>
              <a:rPr kumimoji="0" lang="es-MX" altLang="es-CO" sz="2400" dirty="0">
                <a:latin typeface="Symbol" panose="05050102010706020507" pitchFamily="18" charset="2"/>
              </a:rPr>
              <a:t> + </a:t>
            </a:r>
            <a:r>
              <a:rPr kumimoji="0" lang="es-MX" altLang="es-CO" sz="2400" i="1" dirty="0"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latin typeface="Symbol" panose="05050102010706020507" pitchFamily="18" charset="2"/>
              </a:rPr>
              <a:t>2</a:t>
            </a:r>
            <a:r>
              <a:rPr kumimoji="0" lang="es-MX" altLang="es-CO" sz="2400" dirty="0">
                <a:latin typeface="Symbol" panose="05050102010706020507" pitchFamily="18" charset="2"/>
              </a:rPr>
              <a:t> + </a:t>
            </a:r>
            <a:r>
              <a:rPr kumimoji="0" lang="es-MX" altLang="es-CO" sz="2400" i="1" dirty="0"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latin typeface="Symbol" panose="05050102010706020507" pitchFamily="18" charset="2"/>
              </a:rPr>
              <a:t>3</a:t>
            </a:r>
            <a:r>
              <a:rPr kumimoji="0" lang="es-MX" altLang="es-CO" sz="2400" i="1" dirty="0">
                <a:latin typeface="Symbol" panose="05050102010706020507" pitchFamily="18" charset="2"/>
              </a:rPr>
              <a:t> </a:t>
            </a:r>
            <a:r>
              <a:rPr kumimoji="0" lang="es-MX" altLang="es-CO" sz="2400" dirty="0">
                <a:latin typeface="Symbol" panose="05050102010706020507" pitchFamily="18" charset="2"/>
              </a:rPr>
              <a:t>+ </a:t>
            </a:r>
            <a:r>
              <a:rPr kumimoji="0" lang="es-MX" altLang="es-CO" sz="2400" i="1" dirty="0">
                <a:latin typeface="Symbol" panose="05050102010706020507" pitchFamily="18" charset="2"/>
              </a:rPr>
              <a:t>t</a:t>
            </a:r>
            <a:r>
              <a:rPr kumimoji="0" lang="es-MX" altLang="es-CO" sz="2400" baseline="-25000" dirty="0">
                <a:latin typeface="Symbol" panose="05050102010706020507" pitchFamily="18" charset="2"/>
              </a:rPr>
              <a:t>4</a:t>
            </a:r>
            <a:r>
              <a:rPr kumimoji="0" lang="es-MX" altLang="es-CO" sz="2400" dirty="0">
                <a:latin typeface="Symbol" panose="05050102010706020507" pitchFamily="18" charset="2"/>
              </a:rPr>
              <a:t> = 0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0118CAE-2126-FA84-B3D1-4555AB310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504" y="1158230"/>
            <a:ext cx="4114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Equilibrio rotacional: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00F1C64B-0EAB-D4A3-8556-4CB681C5C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9029" y="2197100"/>
            <a:ext cx="990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i="1" dirty="0"/>
              <a:t>o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6C6CBBA-934C-CD58-D68D-01A97D925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504" y="2813993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t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(</a:t>
            </a:r>
            <a:r>
              <a:rPr kumimoji="0" lang="es-MX" altLang="es-CO" sz="2400" i="1" dirty="0" err="1">
                <a:latin typeface="Times New Roman" panose="02020603050405020304" pitchFamily="18" charset="0"/>
              </a:rPr>
              <a:t>cmr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) = </a:t>
            </a:r>
            <a:r>
              <a:rPr kumimoji="0" lang="es-MX" altLang="es-CO" sz="2400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t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(</a:t>
            </a:r>
            <a:r>
              <a:rPr kumimoji="0" lang="es-MX" altLang="es-CO" sz="2400" i="1" dirty="0" err="1">
                <a:latin typeface="Times New Roman" panose="02020603050405020304" pitchFamily="18" charset="0"/>
              </a:rPr>
              <a:t>mr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7" name="Text Box 50">
            <a:extLst>
              <a:ext uri="{FF2B5EF4-FFF2-40B4-BE49-F238E27FC236}">
                <a16:creationId xmlns:a16="http://schemas.microsoft.com/office/drawing/2014/main" id="{6F9C63AE-C019-9CFE-50FC-5B3734091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042" y="3518843"/>
            <a:ext cx="4114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Con respecto al eje A:</a:t>
            </a:r>
          </a:p>
        </p:txBody>
      </p:sp>
      <p:sp>
        <p:nvSpPr>
          <p:cNvPr id="8" name="Text Box 51">
            <a:extLst>
              <a:ext uri="{FF2B5EF4-FFF2-40B4-BE49-F238E27FC236}">
                <a16:creationId xmlns:a16="http://schemas.microsoft.com/office/drawing/2014/main" id="{F4A06E42-1155-EE83-D7FF-7D57DEF68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942" y="4387205"/>
            <a:ext cx="8096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kumimoji="0" lang="es-MX" altLang="es-CO" sz="2400" i="1" dirty="0"/>
              <a:t>Momentos de torsión CMR:	 fuerzas B y </a:t>
            </a:r>
            <a:r>
              <a:rPr kumimoji="0" lang="es-MX" altLang="es-CO" sz="2400" dirty="0"/>
              <a:t>40 N</a:t>
            </a:r>
            <a:r>
              <a:rPr kumimoji="0" lang="es-MX" altLang="es-CO" sz="2400" i="1" dirty="0"/>
              <a:t>.  </a:t>
            </a:r>
          </a:p>
        </p:txBody>
      </p:sp>
      <p:sp>
        <p:nvSpPr>
          <p:cNvPr id="9" name="Text Box 52">
            <a:extLst>
              <a:ext uri="{FF2B5EF4-FFF2-40B4-BE49-F238E27FC236}">
                <a16:creationId xmlns:a16="http://schemas.microsoft.com/office/drawing/2014/main" id="{ED0EC3C6-F37B-1A42-9173-7A14F6B4E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342" y="5225405"/>
            <a:ext cx="79311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kumimoji="0" lang="es-MX" altLang="es-CO" sz="2400" i="1" dirty="0"/>
              <a:t>Momentos de torsión MR: fuerza de </a:t>
            </a:r>
            <a:r>
              <a:rPr kumimoji="0" lang="es-MX" altLang="es-CO" sz="2400" dirty="0"/>
              <a:t>80 N</a:t>
            </a:r>
            <a:r>
              <a:rPr kumimoji="0" lang="es-MX" altLang="es-CO" sz="2400" i="1" dirty="0"/>
              <a:t>.  </a:t>
            </a:r>
          </a:p>
        </p:txBody>
      </p:sp>
      <p:grpSp>
        <p:nvGrpSpPr>
          <p:cNvPr id="10" name="Group 100">
            <a:extLst>
              <a:ext uri="{FF2B5EF4-FFF2-40B4-BE49-F238E27FC236}">
                <a16:creationId xmlns:a16="http://schemas.microsoft.com/office/drawing/2014/main" id="{5601CADD-3D77-3ADC-85EB-67BB7F1A5886}"/>
              </a:ext>
            </a:extLst>
          </p:cNvPr>
          <p:cNvGrpSpPr>
            <a:grpSpLocks/>
          </p:cNvGrpSpPr>
          <p:nvPr/>
        </p:nvGrpSpPr>
        <p:grpSpPr bwMode="auto">
          <a:xfrm>
            <a:off x="6393192" y="568325"/>
            <a:ext cx="4267200" cy="3429000"/>
            <a:chOff x="2905" y="646"/>
            <a:chExt cx="2688" cy="2160"/>
          </a:xfrm>
        </p:grpSpPr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707A5025-090A-CAD7-A678-93B4AC6E6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646"/>
              <a:ext cx="2688" cy="216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6B8C36-7939-9FAF-203C-FA9C4B9C4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5" y="1006"/>
              <a:ext cx="2131" cy="7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6DDD516-3B50-E2D2-00E8-FD5536CD0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" y="1153"/>
              <a:ext cx="317" cy="2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AutoShape 13">
              <a:extLst>
                <a:ext uri="{FF2B5EF4-FFF2-40B4-BE49-F238E27FC236}">
                  <a16:creationId xmlns:a16="http://schemas.microsoft.com/office/drawing/2014/main" id="{F70A4758-A281-DBA3-DED2-F5FF89FF4F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494" y="1153"/>
              <a:ext cx="363" cy="22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AutoShape 14">
              <a:extLst>
                <a:ext uri="{FF2B5EF4-FFF2-40B4-BE49-F238E27FC236}">
                  <a16:creationId xmlns:a16="http://schemas.microsoft.com/office/drawing/2014/main" id="{6ABCC092-DA6E-DA92-C392-D3C3094E5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5" y="1080"/>
              <a:ext cx="136" cy="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AutoShape 15">
              <a:extLst>
                <a:ext uri="{FF2B5EF4-FFF2-40B4-BE49-F238E27FC236}">
                  <a16:creationId xmlns:a16="http://schemas.microsoft.com/office/drawing/2014/main" id="{A38679F6-0D37-12DB-2593-6012F8E1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080"/>
              <a:ext cx="136" cy="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A47C7B94-353E-F4B2-1C29-88ABBE096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3" y="1340"/>
              <a:ext cx="6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40 N</a:t>
              </a:r>
              <a:endParaRPr kumimoji="0" lang="es-MX" altLang="es-CO" i="1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14D33E83-1B31-7CCD-E8D2-254658283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1341"/>
              <a:ext cx="6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80 N</a:t>
              </a:r>
              <a:endParaRPr kumimoji="0" lang="es-MX" altLang="es-CO" i="1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0231AC27-4E86-24B3-0800-DFBABE881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0" y="1043"/>
              <a:ext cx="0" cy="1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3606C96-4D08-A67A-8FCF-4B19F20E4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6" y="1080"/>
              <a:ext cx="0" cy="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08D15B4A-BF0C-1E48-A6EA-39D5D8F445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8" y="823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ECC0F1DE-5C99-ACAC-3B3C-67D7B6C2E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0" y="823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8202DE4D-2ED2-E733-C97C-75D6D41C5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6" y="860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93DB25CA-2C77-0CA9-CE6A-5469C7D52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0" y="860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A5F6408D-86AD-3869-72E4-BB5C0B5E0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" y="791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2 m</a:t>
              </a:r>
              <a:endParaRPr kumimoji="0" lang="es-MX" altLang="es-CO" sz="2400" i="1"/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702CF3B7-2B71-05A9-630E-F1768C0B9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7" y="791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3 m</a:t>
              </a:r>
              <a:endParaRPr kumimoji="0" lang="es-MX" altLang="es-CO" sz="2400" i="1"/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FA209B46-DE12-8185-C5DB-1C01D99DB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790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7 m</a:t>
              </a:r>
              <a:endParaRPr kumimoji="0" lang="es-MX" altLang="es-CO" sz="2400" i="1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DDE5C80A-4414-8EB6-E0D5-76863737D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7" y="1112"/>
              <a:ext cx="27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A</a:t>
              </a:r>
              <a:endParaRPr kumimoji="0" lang="es-MX" altLang="es-CO" i="1"/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7C162613-2263-D1A7-1E93-CC77257CB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" y="1112"/>
              <a:ext cx="3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B</a:t>
              </a:r>
              <a:endParaRPr kumimoji="0" lang="es-MX" altLang="es-CO" i="1"/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31DCD425-0168-25CB-D670-7B23E36DE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072"/>
              <a:ext cx="2169" cy="39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79558959-5992-01AF-D32B-BB76F58DE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" y="2404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40 N</a:t>
              </a:r>
              <a:endParaRPr kumimoji="0" lang="es-MX" altLang="es-CO" i="1">
                <a:solidFill>
                  <a:srgbClr val="000000"/>
                </a:solidFill>
              </a:endParaRP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A7C32001-9C06-7836-0113-8D144A11D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2364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80 N</a:t>
              </a:r>
              <a:endParaRPr kumimoji="0" lang="es-MX" altLang="es-CO" i="1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2ACC73F8-6A88-B248-461F-295EA5AE1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111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C457A95F-81DD-81E4-7E4B-29E7D92A5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2111"/>
              <a:ext cx="0" cy="27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8D0B3C64-8A90-1230-2A23-EBBA14CE7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1" y="1755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78715664-B158-3B9F-5B00-0F1ED9F86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3" y="1755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370579FB-EE53-F938-1719-F9F12A087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794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80AFD290-2280-FF4B-7F50-46B93B5AF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755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97F474F1-B57B-7B4F-442B-7607AD0D1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1809"/>
              <a:ext cx="4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2 m</a:t>
              </a:r>
              <a:endParaRPr kumimoji="0" lang="es-MX" altLang="es-CO" sz="2400" i="1"/>
            </a:p>
          </p:txBody>
        </p:sp>
        <p:sp>
          <p:nvSpPr>
            <p:cNvPr id="40" name="Text Box 40">
              <a:extLst>
                <a:ext uri="{FF2B5EF4-FFF2-40B4-BE49-F238E27FC236}">
                  <a16:creationId xmlns:a16="http://schemas.microsoft.com/office/drawing/2014/main" id="{90607FDC-9FE1-A117-D407-471BD6638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9" y="1809"/>
              <a:ext cx="4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3 m</a:t>
              </a:r>
              <a:endParaRPr kumimoji="0" lang="es-MX" altLang="es-CO" sz="2400" i="1"/>
            </a:p>
          </p:txBody>
        </p:sp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D7EAF12C-7DC4-86BA-AE52-C27EE3AC5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" y="1809"/>
              <a:ext cx="4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7 m</a:t>
              </a:r>
              <a:endParaRPr kumimoji="0" lang="es-MX" altLang="es-CO" sz="2400" i="1"/>
            </a:p>
          </p:txBody>
        </p:sp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48F7C1A7-DE23-6265-1149-676D3C1DF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1" y="1685"/>
              <a:ext cx="27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A</a:t>
              </a:r>
              <a:endParaRPr kumimoji="0" lang="es-MX" altLang="es-CO" i="1"/>
            </a:p>
          </p:txBody>
        </p:sp>
        <p:sp>
          <p:nvSpPr>
            <p:cNvPr id="43" name="Text Box 43">
              <a:extLst>
                <a:ext uri="{FF2B5EF4-FFF2-40B4-BE49-F238E27FC236}">
                  <a16:creationId xmlns:a16="http://schemas.microsoft.com/office/drawing/2014/main" id="{F80FD5C0-4AAA-3212-33CE-255807ABE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4" y="1606"/>
              <a:ext cx="323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B</a:t>
              </a:r>
              <a:endParaRPr kumimoji="0" lang="es-MX" altLang="es-CO" i="1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D90406C6-C1FC-E7B4-AD20-C8A49A116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1" y="2111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17AF4FC0-A482-F6A2-5E3E-DA33C9AF7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3" y="2111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6" name="Oval 47">
              <a:extLst>
                <a:ext uri="{FF2B5EF4-FFF2-40B4-BE49-F238E27FC236}">
                  <a16:creationId xmlns:a16="http://schemas.microsoft.com/office/drawing/2014/main" id="{2830C740-E2C2-2BAC-EE26-DE22E6CBB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3" y="2038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7" name="Line 48">
              <a:extLst>
                <a:ext uri="{FF2B5EF4-FFF2-40B4-BE49-F238E27FC236}">
                  <a16:creationId xmlns:a16="http://schemas.microsoft.com/office/drawing/2014/main" id="{1D2FFC2B-ADAF-B7A9-6CCA-64DC1C1585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3" y="2038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05C53FB8-75FD-005D-5C36-A3C3B61B27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73" y="2038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9" name="Line 54">
              <a:extLst>
                <a:ext uri="{FF2B5EF4-FFF2-40B4-BE49-F238E27FC236}">
                  <a16:creationId xmlns:a16="http://schemas.microsoft.com/office/drawing/2014/main" id="{5ABC8471-53AD-C080-4F97-A9D239A95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01" y="1755"/>
              <a:ext cx="0" cy="305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50" name="Group 77">
              <a:extLst>
                <a:ext uri="{FF2B5EF4-FFF2-40B4-BE49-F238E27FC236}">
                  <a16:creationId xmlns:a16="http://schemas.microsoft.com/office/drawing/2014/main" id="{73FDF85F-F019-907C-AE54-AD28F0AA40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9" y="1889"/>
              <a:ext cx="407" cy="446"/>
              <a:chOff x="697" y="3089"/>
              <a:chExt cx="407" cy="446"/>
            </a:xfrm>
          </p:grpSpPr>
          <p:sp>
            <p:nvSpPr>
              <p:cNvPr id="67" name="Oval 78">
                <a:extLst>
                  <a:ext uri="{FF2B5EF4-FFF2-40B4-BE49-F238E27FC236}">
                    <a16:creationId xmlns:a16="http://schemas.microsoft.com/office/drawing/2014/main" id="{C157211D-4683-DEAA-0B5E-3B3F34B00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841" y="3268"/>
                <a:ext cx="110" cy="11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8" name="Line 79">
                <a:extLst>
                  <a:ext uri="{FF2B5EF4-FFF2-40B4-BE49-F238E27FC236}">
                    <a16:creationId xmlns:a16="http://schemas.microsoft.com/office/drawing/2014/main" id="{86419536-64F7-F6AF-9CCD-2404F0F33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6" y="3282"/>
                <a:ext cx="73" cy="74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9" name="Line 80">
                <a:extLst>
                  <a:ext uri="{FF2B5EF4-FFF2-40B4-BE49-F238E27FC236}">
                    <a16:creationId xmlns:a16="http://schemas.microsoft.com/office/drawing/2014/main" id="{3A53AC20-CB8B-3984-46B2-F6CF5CB86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8" y="3288"/>
                <a:ext cx="73" cy="73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70" name="Arc 81">
                <a:extLst>
                  <a:ext uri="{FF2B5EF4-FFF2-40B4-BE49-F238E27FC236}">
                    <a16:creationId xmlns:a16="http://schemas.microsoft.com/office/drawing/2014/main" id="{7D5053BA-07EC-7C37-9810-E188B7730504}"/>
                  </a:ext>
                </a:extLst>
              </p:cNvPr>
              <p:cNvSpPr>
                <a:spLocks/>
              </p:cNvSpPr>
              <p:nvPr/>
            </p:nvSpPr>
            <p:spPr bwMode="auto">
              <a:xfrm rot="16742428" flipV="1">
                <a:off x="898" y="3130"/>
                <a:ext cx="206" cy="2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71" name="Arc 82">
                <a:extLst>
                  <a:ext uri="{FF2B5EF4-FFF2-40B4-BE49-F238E27FC236}">
                    <a16:creationId xmlns:a16="http://schemas.microsoft.com/office/drawing/2014/main" id="{83ACDABA-E7FB-E75E-772E-DD2C1B6701FE}"/>
                  </a:ext>
                </a:extLst>
              </p:cNvPr>
              <p:cNvSpPr>
                <a:spLocks/>
              </p:cNvSpPr>
              <p:nvPr/>
            </p:nvSpPr>
            <p:spPr bwMode="auto">
              <a:xfrm rot="-4857572" flipH="1" flipV="1">
                <a:off x="873" y="3330"/>
                <a:ext cx="205" cy="20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72" name="Arc 83">
                <a:extLst>
                  <a:ext uri="{FF2B5EF4-FFF2-40B4-BE49-F238E27FC236}">
                    <a16:creationId xmlns:a16="http://schemas.microsoft.com/office/drawing/2014/main" id="{3662630E-5770-66E8-9FD8-9E75A00F976E}"/>
                  </a:ext>
                </a:extLst>
              </p:cNvPr>
              <p:cNvSpPr>
                <a:spLocks/>
              </p:cNvSpPr>
              <p:nvPr/>
            </p:nvSpPr>
            <p:spPr bwMode="auto">
              <a:xfrm rot="-4857572">
                <a:off x="697" y="3089"/>
                <a:ext cx="205" cy="20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51" name="Line 84">
              <a:extLst>
                <a:ext uri="{FF2B5EF4-FFF2-40B4-BE49-F238E27FC236}">
                  <a16:creationId xmlns:a16="http://schemas.microsoft.com/office/drawing/2014/main" id="{C249224C-C40B-62DD-28AF-F49CF6A78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2088"/>
              <a:ext cx="0" cy="37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52" name="Group 85">
              <a:extLst>
                <a:ext uri="{FF2B5EF4-FFF2-40B4-BE49-F238E27FC236}">
                  <a16:creationId xmlns:a16="http://schemas.microsoft.com/office/drawing/2014/main" id="{4477D6C8-3FD4-23C0-18AF-8C0E5D4120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7" y="1886"/>
              <a:ext cx="407" cy="446"/>
              <a:chOff x="697" y="3089"/>
              <a:chExt cx="407" cy="446"/>
            </a:xfrm>
          </p:grpSpPr>
          <p:sp>
            <p:nvSpPr>
              <p:cNvPr id="61" name="Oval 86">
                <a:extLst>
                  <a:ext uri="{FF2B5EF4-FFF2-40B4-BE49-F238E27FC236}">
                    <a16:creationId xmlns:a16="http://schemas.microsoft.com/office/drawing/2014/main" id="{38956690-A3C9-DB81-CCAC-1C96A579C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841" y="3268"/>
                <a:ext cx="110" cy="11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2" name="Line 87">
                <a:extLst>
                  <a:ext uri="{FF2B5EF4-FFF2-40B4-BE49-F238E27FC236}">
                    <a16:creationId xmlns:a16="http://schemas.microsoft.com/office/drawing/2014/main" id="{0E7A0464-21C7-740E-050A-8715824532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6" y="3282"/>
                <a:ext cx="73" cy="74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3" name="Line 88">
                <a:extLst>
                  <a:ext uri="{FF2B5EF4-FFF2-40B4-BE49-F238E27FC236}">
                    <a16:creationId xmlns:a16="http://schemas.microsoft.com/office/drawing/2014/main" id="{671016BB-32DE-D440-12B7-8C036E88D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8" y="3288"/>
                <a:ext cx="73" cy="73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4" name="Arc 89">
                <a:extLst>
                  <a:ext uri="{FF2B5EF4-FFF2-40B4-BE49-F238E27FC236}">
                    <a16:creationId xmlns:a16="http://schemas.microsoft.com/office/drawing/2014/main" id="{92BB8135-5EB7-C130-002F-009BEF2B6E69}"/>
                  </a:ext>
                </a:extLst>
              </p:cNvPr>
              <p:cNvSpPr>
                <a:spLocks/>
              </p:cNvSpPr>
              <p:nvPr/>
            </p:nvSpPr>
            <p:spPr bwMode="auto">
              <a:xfrm rot="16742428" flipV="1">
                <a:off x="898" y="3130"/>
                <a:ext cx="206" cy="2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5" name="Arc 90">
                <a:extLst>
                  <a:ext uri="{FF2B5EF4-FFF2-40B4-BE49-F238E27FC236}">
                    <a16:creationId xmlns:a16="http://schemas.microsoft.com/office/drawing/2014/main" id="{680980FB-D0F7-B7A6-7947-7043D92E1072}"/>
                  </a:ext>
                </a:extLst>
              </p:cNvPr>
              <p:cNvSpPr>
                <a:spLocks/>
              </p:cNvSpPr>
              <p:nvPr/>
            </p:nvSpPr>
            <p:spPr bwMode="auto">
              <a:xfrm rot="-4857572" flipH="1" flipV="1">
                <a:off x="873" y="3330"/>
                <a:ext cx="205" cy="20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6" name="Arc 91">
                <a:extLst>
                  <a:ext uri="{FF2B5EF4-FFF2-40B4-BE49-F238E27FC236}">
                    <a16:creationId xmlns:a16="http://schemas.microsoft.com/office/drawing/2014/main" id="{F425D04C-81E3-DD30-E7D4-6A802A4ABD65}"/>
                  </a:ext>
                </a:extLst>
              </p:cNvPr>
              <p:cNvSpPr>
                <a:spLocks/>
              </p:cNvSpPr>
              <p:nvPr/>
            </p:nvSpPr>
            <p:spPr bwMode="auto">
              <a:xfrm rot="-4857572">
                <a:off x="697" y="3089"/>
                <a:ext cx="205" cy="20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53" name="Line 92">
              <a:extLst>
                <a:ext uri="{FF2B5EF4-FFF2-40B4-BE49-F238E27FC236}">
                  <a16:creationId xmlns:a16="http://schemas.microsoft.com/office/drawing/2014/main" id="{79F554D2-4AE0-73A8-FCCD-B27586B61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2083"/>
              <a:ext cx="0" cy="37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54" name="Group 93">
              <a:extLst>
                <a:ext uri="{FF2B5EF4-FFF2-40B4-BE49-F238E27FC236}">
                  <a16:creationId xmlns:a16="http://schemas.microsoft.com/office/drawing/2014/main" id="{67591285-F5B9-C4E6-7DE4-9E49E0334F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4" y="1875"/>
              <a:ext cx="426" cy="462"/>
              <a:chOff x="1544" y="3030"/>
              <a:chExt cx="426" cy="462"/>
            </a:xfrm>
          </p:grpSpPr>
          <p:sp>
            <p:nvSpPr>
              <p:cNvPr id="55" name="Oval 94">
                <a:extLst>
                  <a:ext uri="{FF2B5EF4-FFF2-40B4-BE49-F238E27FC236}">
                    <a16:creationId xmlns:a16="http://schemas.microsoft.com/office/drawing/2014/main" id="{90EBDEF5-FA6F-1F8C-BB87-B4808B00A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694" y="3215"/>
                <a:ext cx="115" cy="11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56" name="Line 95">
                <a:extLst>
                  <a:ext uri="{FF2B5EF4-FFF2-40B4-BE49-F238E27FC236}">
                    <a16:creationId xmlns:a16="http://schemas.microsoft.com/office/drawing/2014/main" id="{2604F359-95F6-29D0-4B77-B436A83A9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0" y="3230"/>
                <a:ext cx="77" cy="7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57" name="Line 96">
                <a:extLst>
                  <a:ext uri="{FF2B5EF4-FFF2-40B4-BE49-F238E27FC236}">
                    <a16:creationId xmlns:a16="http://schemas.microsoft.com/office/drawing/2014/main" id="{E16825A7-78A0-FE7E-870E-9B46F883A6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12" y="3235"/>
                <a:ext cx="77" cy="7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58" name="Arc 97">
                <a:extLst>
                  <a:ext uri="{FF2B5EF4-FFF2-40B4-BE49-F238E27FC236}">
                    <a16:creationId xmlns:a16="http://schemas.microsoft.com/office/drawing/2014/main" id="{8B7C2B39-272B-FFAD-1030-BEFD1F72E91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742428" flipV="1">
                <a:off x="1756" y="3071"/>
                <a:ext cx="213" cy="21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59" name="Arc 98">
                <a:extLst>
                  <a:ext uri="{FF2B5EF4-FFF2-40B4-BE49-F238E27FC236}">
                    <a16:creationId xmlns:a16="http://schemas.microsoft.com/office/drawing/2014/main" id="{D6020752-9C79-9120-DA9C-6E4598A1635E}"/>
                  </a:ext>
                </a:extLst>
              </p:cNvPr>
              <p:cNvSpPr>
                <a:spLocks/>
              </p:cNvSpPr>
              <p:nvPr/>
            </p:nvSpPr>
            <p:spPr bwMode="auto">
              <a:xfrm rot="-4857572" flipH="1" flipV="1">
                <a:off x="1728" y="3278"/>
                <a:ext cx="213" cy="21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0" name="Arc 99">
                <a:extLst>
                  <a:ext uri="{FF2B5EF4-FFF2-40B4-BE49-F238E27FC236}">
                    <a16:creationId xmlns:a16="http://schemas.microsoft.com/office/drawing/2014/main" id="{9278F8C8-91A7-B6F1-180F-73220EEA9492}"/>
                  </a:ext>
                </a:extLst>
              </p:cNvPr>
              <p:cNvSpPr>
                <a:spLocks/>
              </p:cNvSpPr>
              <p:nvPr/>
            </p:nvSpPr>
            <p:spPr bwMode="auto">
              <a:xfrm rot="-4857572">
                <a:off x="1545" y="3029"/>
                <a:ext cx="213" cy="21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73" name="Text Box 101">
            <a:extLst>
              <a:ext uri="{FF2B5EF4-FFF2-40B4-BE49-F238E27FC236}">
                <a16:creationId xmlns:a16="http://schemas.microsoft.com/office/drawing/2014/main" id="{DB2B04C4-9A86-A797-D277-2663CCE88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710" y="5777854"/>
            <a:ext cx="7215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kumimoji="0" lang="es-MX" altLang="es-CO" sz="2400" i="1"/>
              <a:t>Se ignora la fuerza A : ni cmr ni mr </a:t>
            </a:r>
          </a:p>
        </p:txBody>
      </p:sp>
    </p:spTree>
    <p:extLst>
      <p:ext uri="{BB962C8B-B14F-4D97-AF65-F5344CB8AC3E}">
        <p14:creationId xmlns:p14="http://schemas.microsoft.com/office/powerpoint/2010/main" val="59383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73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6D79A-01CE-26EF-9998-4FBD5A041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6">
            <a:extLst>
              <a:ext uri="{FF2B5EF4-FFF2-40B4-BE49-F238E27FC236}">
                <a16:creationId xmlns:a16="http://schemas.microsoft.com/office/drawing/2014/main" id="{F8268800-3EC7-2F05-8E45-F1F06D575C62}"/>
              </a:ext>
            </a:extLst>
          </p:cNvPr>
          <p:cNvGrpSpPr>
            <a:grpSpLocks/>
          </p:cNvGrpSpPr>
          <p:nvPr/>
        </p:nvGrpSpPr>
        <p:grpSpPr bwMode="auto">
          <a:xfrm>
            <a:off x="5423831" y="337371"/>
            <a:ext cx="4267200" cy="3429000"/>
            <a:chOff x="2781" y="431"/>
            <a:chExt cx="2688" cy="2160"/>
          </a:xfrm>
        </p:grpSpPr>
        <p:sp>
          <p:nvSpPr>
            <p:cNvPr id="3" name="Rectangle 28">
              <a:extLst>
                <a:ext uri="{FF2B5EF4-FFF2-40B4-BE49-F238E27FC236}">
                  <a16:creationId xmlns:a16="http://schemas.microsoft.com/office/drawing/2014/main" id="{EB475ECD-861F-7300-F926-21266EC3C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" y="431"/>
              <a:ext cx="2688" cy="216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" name="Rectangle 29">
              <a:extLst>
                <a:ext uri="{FF2B5EF4-FFF2-40B4-BE49-F238E27FC236}">
                  <a16:creationId xmlns:a16="http://schemas.microsoft.com/office/drawing/2014/main" id="{D97ABA71-6240-4408-A0A9-F83A45F06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791"/>
              <a:ext cx="2131" cy="7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Oval 30">
              <a:extLst>
                <a:ext uri="{FF2B5EF4-FFF2-40B4-BE49-F238E27FC236}">
                  <a16:creationId xmlns:a16="http://schemas.microsoft.com/office/drawing/2014/main" id="{7851B1D5-D97B-CC6C-D350-4BF971E86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" y="938"/>
              <a:ext cx="317" cy="2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AutoShape 31">
              <a:extLst>
                <a:ext uri="{FF2B5EF4-FFF2-40B4-BE49-F238E27FC236}">
                  <a16:creationId xmlns:a16="http://schemas.microsoft.com/office/drawing/2014/main" id="{767D430F-5505-6FA6-0C31-C7C4A482D7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370" y="938"/>
              <a:ext cx="363" cy="22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AutoShape 32">
              <a:extLst>
                <a:ext uri="{FF2B5EF4-FFF2-40B4-BE49-F238E27FC236}">
                  <a16:creationId xmlns:a16="http://schemas.microsoft.com/office/drawing/2014/main" id="{467E7845-8670-0317-6EA8-F1CA8EC00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" y="865"/>
              <a:ext cx="136" cy="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AutoShape 33">
              <a:extLst>
                <a:ext uri="{FF2B5EF4-FFF2-40B4-BE49-F238E27FC236}">
                  <a16:creationId xmlns:a16="http://schemas.microsoft.com/office/drawing/2014/main" id="{3CFC2212-E9C6-0B95-6614-A1AC83067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865"/>
              <a:ext cx="136" cy="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Text Box 34">
              <a:extLst>
                <a:ext uri="{FF2B5EF4-FFF2-40B4-BE49-F238E27FC236}">
                  <a16:creationId xmlns:a16="http://schemas.microsoft.com/office/drawing/2014/main" id="{72F0247E-0CE8-EF13-FB90-06DD4094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1125"/>
              <a:ext cx="6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40 N</a:t>
              </a:r>
              <a:endParaRPr kumimoji="0" lang="es-MX" altLang="es-CO" i="1"/>
            </a:p>
          </p:txBody>
        </p:sp>
        <p:sp>
          <p:nvSpPr>
            <p:cNvPr id="10" name="Text Box 35">
              <a:extLst>
                <a:ext uri="{FF2B5EF4-FFF2-40B4-BE49-F238E27FC236}">
                  <a16:creationId xmlns:a16="http://schemas.microsoft.com/office/drawing/2014/main" id="{F1F9C77A-BBFD-BFE7-90B0-9D45662F4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1" y="1126"/>
              <a:ext cx="6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80 N</a:t>
              </a:r>
              <a:endParaRPr kumimoji="0" lang="es-MX" altLang="es-CO" i="1"/>
            </a:p>
          </p:txBody>
        </p:sp>
        <p:sp>
          <p:nvSpPr>
            <p:cNvPr id="11" name="Line 36">
              <a:extLst>
                <a:ext uri="{FF2B5EF4-FFF2-40B4-BE49-F238E27FC236}">
                  <a16:creationId xmlns:a16="http://schemas.microsoft.com/office/drawing/2014/main" id="{D1D49EB0-9509-322D-98F4-3E45DD7A8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828"/>
              <a:ext cx="0" cy="1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37">
              <a:extLst>
                <a:ext uri="{FF2B5EF4-FFF2-40B4-BE49-F238E27FC236}">
                  <a16:creationId xmlns:a16="http://schemas.microsoft.com/office/drawing/2014/main" id="{5E712935-6009-3A56-2EBF-EBB4FA9E3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2" y="865"/>
              <a:ext cx="0" cy="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38">
              <a:extLst>
                <a:ext uri="{FF2B5EF4-FFF2-40B4-BE49-F238E27FC236}">
                  <a16:creationId xmlns:a16="http://schemas.microsoft.com/office/drawing/2014/main" id="{D90CB64E-2B00-3EC3-C6FC-3CE5C65FE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4" y="608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Line 39">
              <a:extLst>
                <a:ext uri="{FF2B5EF4-FFF2-40B4-BE49-F238E27FC236}">
                  <a16:creationId xmlns:a16="http://schemas.microsoft.com/office/drawing/2014/main" id="{23F9E710-CAAC-25EF-7929-73503B7B8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6" y="608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Line 40">
              <a:extLst>
                <a:ext uri="{FF2B5EF4-FFF2-40B4-BE49-F238E27FC236}">
                  <a16:creationId xmlns:a16="http://schemas.microsoft.com/office/drawing/2014/main" id="{83F5FD96-02E0-5E7F-0C2E-24547D0C7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2" y="645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41">
              <a:extLst>
                <a:ext uri="{FF2B5EF4-FFF2-40B4-BE49-F238E27FC236}">
                  <a16:creationId xmlns:a16="http://schemas.microsoft.com/office/drawing/2014/main" id="{807FC35E-B29E-51B4-30CD-20C327073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645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42">
              <a:extLst>
                <a:ext uri="{FF2B5EF4-FFF2-40B4-BE49-F238E27FC236}">
                  <a16:creationId xmlns:a16="http://schemas.microsoft.com/office/drawing/2014/main" id="{F17FF5D1-3469-A5FD-CC26-C24E2E3F8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5" y="576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2 m</a:t>
              </a:r>
              <a:endParaRPr kumimoji="0" lang="es-MX" altLang="es-CO" sz="2400" i="1"/>
            </a:p>
          </p:txBody>
        </p:sp>
        <p:sp>
          <p:nvSpPr>
            <p:cNvPr id="18" name="Text Box 43">
              <a:extLst>
                <a:ext uri="{FF2B5EF4-FFF2-40B4-BE49-F238E27FC236}">
                  <a16:creationId xmlns:a16="http://schemas.microsoft.com/office/drawing/2014/main" id="{A0F88C54-3883-99A8-7C56-BE432A81D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576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3 m</a:t>
              </a:r>
              <a:endParaRPr kumimoji="0" lang="es-MX" altLang="es-CO" sz="2400" i="1"/>
            </a:p>
          </p:txBody>
        </p:sp>
        <p:sp>
          <p:nvSpPr>
            <p:cNvPr id="19" name="Text Box 44">
              <a:extLst>
                <a:ext uri="{FF2B5EF4-FFF2-40B4-BE49-F238E27FC236}">
                  <a16:creationId xmlns:a16="http://schemas.microsoft.com/office/drawing/2014/main" id="{018E0B17-EB17-E77E-11B1-8D41A4897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575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7 m</a:t>
              </a:r>
              <a:endParaRPr kumimoji="0" lang="es-MX" altLang="es-CO" sz="2400" i="1"/>
            </a:p>
          </p:txBody>
        </p:sp>
        <p:sp>
          <p:nvSpPr>
            <p:cNvPr id="20" name="Text Box 45">
              <a:extLst>
                <a:ext uri="{FF2B5EF4-FFF2-40B4-BE49-F238E27FC236}">
                  <a16:creationId xmlns:a16="http://schemas.microsoft.com/office/drawing/2014/main" id="{7FAE18FF-5218-8E44-097E-9DA471972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897"/>
              <a:ext cx="27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A</a:t>
              </a:r>
              <a:endParaRPr kumimoji="0" lang="es-MX" altLang="es-CO" i="1"/>
            </a:p>
          </p:txBody>
        </p:sp>
        <p:sp>
          <p:nvSpPr>
            <p:cNvPr id="21" name="Text Box 46">
              <a:extLst>
                <a:ext uri="{FF2B5EF4-FFF2-40B4-BE49-F238E27FC236}">
                  <a16:creationId xmlns:a16="http://schemas.microsoft.com/office/drawing/2014/main" id="{EA84423C-369C-F3BA-6B1D-F5C932F7B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9" y="897"/>
              <a:ext cx="3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B</a:t>
              </a:r>
              <a:endParaRPr kumimoji="0" lang="es-MX" altLang="es-CO" i="1"/>
            </a:p>
          </p:txBody>
        </p:sp>
        <p:sp>
          <p:nvSpPr>
            <p:cNvPr id="22" name="Rectangle 47">
              <a:extLst>
                <a:ext uri="{FF2B5EF4-FFF2-40B4-BE49-F238E27FC236}">
                  <a16:creationId xmlns:a16="http://schemas.microsoft.com/office/drawing/2014/main" id="{A9F34DF0-618E-9A6E-739B-46CF46EBE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1857"/>
              <a:ext cx="2169" cy="39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Text Box 48">
              <a:extLst>
                <a:ext uri="{FF2B5EF4-FFF2-40B4-BE49-F238E27FC236}">
                  <a16:creationId xmlns:a16="http://schemas.microsoft.com/office/drawing/2014/main" id="{71FC00E8-AC5C-2D56-4443-D62A50C63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2189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40 N</a:t>
              </a:r>
              <a:endParaRPr kumimoji="0" lang="es-MX" altLang="es-CO" i="1">
                <a:solidFill>
                  <a:srgbClr val="000000"/>
                </a:solidFill>
              </a:endParaRPr>
            </a:p>
          </p:txBody>
        </p:sp>
        <p:sp>
          <p:nvSpPr>
            <p:cNvPr id="24" name="Text Box 49">
              <a:extLst>
                <a:ext uri="{FF2B5EF4-FFF2-40B4-BE49-F238E27FC236}">
                  <a16:creationId xmlns:a16="http://schemas.microsoft.com/office/drawing/2014/main" id="{B2E9E7E2-EF6C-F4D4-3197-5480FC9DA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2" y="2149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80 N</a:t>
              </a:r>
              <a:endParaRPr kumimoji="0" lang="es-MX" altLang="es-CO" i="1"/>
            </a:p>
          </p:txBody>
        </p:sp>
        <p:sp>
          <p:nvSpPr>
            <p:cNvPr id="25" name="Line 50">
              <a:extLst>
                <a:ext uri="{FF2B5EF4-FFF2-40B4-BE49-F238E27FC236}">
                  <a16:creationId xmlns:a16="http://schemas.microsoft.com/office/drawing/2014/main" id="{AC97861F-4130-24DD-CEA0-F4FB70239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1896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Line 51">
              <a:extLst>
                <a:ext uri="{FF2B5EF4-FFF2-40B4-BE49-F238E27FC236}">
                  <a16:creationId xmlns:a16="http://schemas.microsoft.com/office/drawing/2014/main" id="{44589B93-FF92-333F-D26E-472DB8949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3" y="1896"/>
              <a:ext cx="0" cy="27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Line 52">
              <a:extLst>
                <a:ext uri="{FF2B5EF4-FFF2-40B4-BE49-F238E27FC236}">
                  <a16:creationId xmlns:a16="http://schemas.microsoft.com/office/drawing/2014/main" id="{C6B22C1F-E420-24A4-7435-13022C54D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1540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Line 53">
              <a:extLst>
                <a:ext uri="{FF2B5EF4-FFF2-40B4-BE49-F238E27FC236}">
                  <a16:creationId xmlns:a16="http://schemas.microsoft.com/office/drawing/2014/main" id="{5BFF7345-DEB0-C960-4CAE-0A87F6DAE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540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Line 54">
              <a:extLst>
                <a:ext uri="{FF2B5EF4-FFF2-40B4-BE49-F238E27FC236}">
                  <a16:creationId xmlns:a16="http://schemas.microsoft.com/office/drawing/2014/main" id="{8B8DE6D2-9B2C-447A-E64E-73B616B51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3" y="1579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Line 55">
              <a:extLst>
                <a:ext uri="{FF2B5EF4-FFF2-40B4-BE49-F238E27FC236}">
                  <a16:creationId xmlns:a16="http://schemas.microsoft.com/office/drawing/2014/main" id="{AD300C50-812F-2881-BBB6-3FAC390DF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1540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Text Box 56">
              <a:extLst>
                <a:ext uri="{FF2B5EF4-FFF2-40B4-BE49-F238E27FC236}">
                  <a16:creationId xmlns:a16="http://schemas.microsoft.com/office/drawing/2014/main" id="{72DF1798-3D3B-5501-0475-2A7BA4E29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1594"/>
              <a:ext cx="4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2 m</a:t>
              </a:r>
              <a:endParaRPr kumimoji="0" lang="es-MX" altLang="es-CO" sz="2400" i="1"/>
            </a:p>
          </p:txBody>
        </p:sp>
        <p:sp>
          <p:nvSpPr>
            <p:cNvPr id="32" name="Text Box 57">
              <a:extLst>
                <a:ext uri="{FF2B5EF4-FFF2-40B4-BE49-F238E27FC236}">
                  <a16:creationId xmlns:a16="http://schemas.microsoft.com/office/drawing/2014/main" id="{9502C543-83E7-1363-0749-0A44585D2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5" y="1594"/>
              <a:ext cx="4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3 m</a:t>
              </a:r>
              <a:endParaRPr kumimoji="0" lang="es-MX" altLang="es-CO" sz="2400" i="1"/>
            </a:p>
          </p:txBody>
        </p:sp>
        <p:sp>
          <p:nvSpPr>
            <p:cNvPr id="33" name="Text Box 58">
              <a:extLst>
                <a:ext uri="{FF2B5EF4-FFF2-40B4-BE49-F238E27FC236}">
                  <a16:creationId xmlns:a16="http://schemas.microsoft.com/office/drawing/2014/main" id="{A85CB8BF-1C83-968A-999A-0668D90E2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1594"/>
              <a:ext cx="4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7 m</a:t>
              </a:r>
              <a:endParaRPr kumimoji="0" lang="es-MX" altLang="es-CO" sz="2400" i="1"/>
            </a:p>
          </p:txBody>
        </p:sp>
        <p:sp>
          <p:nvSpPr>
            <p:cNvPr id="34" name="Text Box 59">
              <a:extLst>
                <a:ext uri="{FF2B5EF4-FFF2-40B4-BE49-F238E27FC236}">
                  <a16:creationId xmlns:a16="http://schemas.microsoft.com/office/drawing/2014/main" id="{CB8C365B-A7D4-3423-C703-682616EF6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" y="1470"/>
              <a:ext cx="27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A</a:t>
              </a:r>
              <a:endParaRPr kumimoji="0" lang="es-MX" altLang="es-CO" i="1"/>
            </a:p>
          </p:txBody>
        </p:sp>
        <p:sp>
          <p:nvSpPr>
            <p:cNvPr id="35" name="Text Box 60">
              <a:extLst>
                <a:ext uri="{FF2B5EF4-FFF2-40B4-BE49-F238E27FC236}">
                  <a16:creationId xmlns:a16="http://schemas.microsoft.com/office/drawing/2014/main" id="{78C37CA4-AB1D-DDC6-745F-5B541C105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" y="1391"/>
              <a:ext cx="323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B</a:t>
              </a:r>
              <a:endParaRPr kumimoji="0" lang="es-MX" altLang="es-CO" i="1"/>
            </a:p>
          </p:txBody>
        </p:sp>
        <p:sp>
          <p:nvSpPr>
            <p:cNvPr id="36" name="Line 61">
              <a:extLst>
                <a:ext uri="{FF2B5EF4-FFF2-40B4-BE49-F238E27FC236}">
                  <a16:creationId xmlns:a16="http://schemas.microsoft.com/office/drawing/2014/main" id="{EF2DD8D8-3E11-9C95-8CEC-31A62784B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1896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Line 62">
              <a:extLst>
                <a:ext uri="{FF2B5EF4-FFF2-40B4-BE49-F238E27FC236}">
                  <a16:creationId xmlns:a16="http://schemas.microsoft.com/office/drawing/2014/main" id="{6DAEFA1D-20AE-15F0-E574-575E144C3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6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8" name="Oval 63">
              <a:extLst>
                <a:ext uri="{FF2B5EF4-FFF2-40B4-BE49-F238E27FC236}">
                  <a16:creationId xmlns:a16="http://schemas.microsoft.com/office/drawing/2014/main" id="{8D758F0B-6018-14A5-EAE2-996F772A7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1823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9" name="Line 64">
              <a:extLst>
                <a:ext uri="{FF2B5EF4-FFF2-40B4-BE49-F238E27FC236}">
                  <a16:creationId xmlns:a16="http://schemas.microsoft.com/office/drawing/2014/main" id="{A3BE842F-8A05-457E-8688-B4EC23B2A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9" y="1823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0" name="Line 65">
              <a:extLst>
                <a:ext uri="{FF2B5EF4-FFF2-40B4-BE49-F238E27FC236}">
                  <a16:creationId xmlns:a16="http://schemas.microsoft.com/office/drawing/2014/main" id="{69AA7CE0-0729-84AA-AEAF-0B3FF29FFF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49" y="1823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41" name="Text Box 66">
            <a:extLst>
              <a:ext uri="{FF2B5EF4-FFF2-40B4-BE49-F238E27FC236}">
                <a16:creationId xmlns:a16="http://schemas.microsoft.com/office/drawing/2014/main" id="{078EFF5D-7207-0426-8A68-A0249981D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333" y="253257"/>
            <a:ext cx="350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u="sng" dirty="0"/>
              <a:t>Ejemplo (cont.)</a:t>
            </a:r>
            <a:endParaRPr kumimoji="0" lang="es-MX" altLang="es-CO" sz="2400" i="1" dirty="0"/>
          </a:p>
        </p:txBody>
      </p:sp>
      <p:sp>
        <p:nvSpPr>
          <p:cNvPr id="42" name="Text Box 67">
            <a:extLst>
              <a:ext uri="{FF2B5EF4-FFF2-40B4-BE49-F238E27FC236}">
                <a16:creationId xmlns:a16="http://schemas.microsoft.com/office/drawing/2014/main" id="{90C78B1A-2CF2-70D3-0A7D-BBBD67DAB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2193" y="909043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>
                <a:latin typeface="Times New Roman" panose="02020603050405020304" pitchFamily="18" charset="0"/>
              </a:rPr>
              <a:t>Primero:  </a:t>
            </a:r>
            <a:r>
              <a:rPr kumimoji="0" lang="es-MX" altLang="es-CO" sz="2400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t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(</a:t>
            </a:r>
            <a:r>
              <a:rPr kumimoji="0" lang="es-MX" altLang="es-CO" sz="2400" i="1" dirty="0" err="1">
                <a:latin typeface="Times New Roman" panose="02020603050405020304" pitchFamily="18" charset="0"/>
              </a:rPr>
              <a:t>cmr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3" name="Text Box 68">
            <a:extLst>
              <a:ext uri="{FF2B5EF4-FFF2-40B4-BE49-F238E27FC236}">
                <a16:creationId xmlns:a16="http://schemas.microsoft.com/office/drawing/2014/main" id="{9BCF20B1-FFE4-390A-6688-D94BD84A6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131" y="1668638"/>
            <a:ext cx="3341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>
                <a:latin typeface="Symbol" panose="05050102010706020507" pitchFamily="18" charset="2"/>
              </a:rPr>
              <a:t>t</a:t>
            </a:r>
            <a:r>
              <a:rPr kumimoji="0" lang="es-MX" altLang="es-CO" sz="2400" i="1" baseline="-25000" dirty="0">
                <a:latin typeface="Times New Roman" panose="02020603050405020304" pitchFamily="18" charset="0"/>
              </a:rPr>
              <a:t>1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 = B </a:t>
            </a:r>
            <a:r>
              <a:rPr kumimoji="0" lang="es-MX" altLang="es-CO" sz="2400" dirty="0">
                <a:latin typeface="Times New Roman" panose="02020603050405020304" pitchFamily="18" charset="0"/>
              </a:rPr>
              <a:t>(10 m)</a:t>
            </a:r>
            <a:endParaRPr kumimoji="0" lang="es-MX" altLang="es-CO" sz="2400" i="1" dirty="0">
              <a:latin typeface="Symbol" panose="05050102010706020507" pitchFamily="18" charset="2"/>
            </a:endParaRPr>
          </a:p>
        </p:txBody>
      </p:sp>
      <p:sp>
        <p:nvSpPr>
          <p:cNvPr id="44" name="Text Box 69">
            <a:extLst>
              <a:ext uri="{FF2B5EF4-FFF2-40B4-BE49-F238E27FC236}">
                <a16:creationId xmlns:a16="http://schemas.microsoft.com/office/drawing/2014/main" id="{135745C8-6274-51E8-1054-D7524D8E9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531" y="2552360"/>
            <a:ext cx="294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49263" indent="-44926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356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i="1" dirty="0">
                <a:latin typeface="Symbol" panose="05050102010706020507" pitchFamily="18" charset="2"/>
              </a:rPr>
              <a:t>t</a:t>
            </a:r>
            <a:r>
              <a:rPr kumimoji="0" lang="es-MX" altLang="es-CO" i="1" baseline="-25000" dirty="0"/>
              <a:t>2</a:t>
            </a:r>
            <a:r>
              <a:rPr kumimoji="0" lang="es-MX" altLang="es-CO" i="1" dirty="0"/>
              <a:t> = </a:t>
            </a:r>
            <a:r>
              <a:rPr kumimoji="0" lang="es-MX" altLang="es-CO" dirty="0"/>
              <a:t>(40 N)</a:t>
            </a:r>
            <a:r>
              <a:rPr kumimoji="0" lang="es-MX" altLang="es-CO" i="1" dirty="0"/>
              <a:t> </a:t>
            </a:r>
            <a:r>
              <a:rPr kumimoji="0" lang="es-MX" altLang="es-CO" dirty="0"/>
              <a:t>(2 m) = 80 </a:t>
            </a:r>
            <a:r>
              <a:rPr kumimoji="0" lang="es-MX" altLang="es-CO" dirty="0" err="1"/>
              <a:t>N</a:t>
            </a:r>
            <a:r>
              <a:rPr kumimoji="0" lang="es-MX" altLang="es-CO" dirty="0" err="1">
                <a:sym typeface="Symbol" panose="05050102010706020507" pitchFamily="18" charset="2"/>
              </a:rPr>
              <a:t></a:t>
            </a:r>
            <a:r>
              <a:rPr kumimoji="0" lang="es-MX" altLang="es-CO" dirty="0" err="1"/>
              <a:t>m</a:t>
            </a:r>
            <a:endParaRPr kumimoji="0" lang="es-MX" altLang="es-CO" i="1" dirty="0">
              <a:latin typeface="Symbol" panose="05050102010706020507" pitchFamily="18" charset="2"/>
            </a:endParaRPr>
          </a:p>
        </p:txBody>
      </p:sp>
      <p:sp>
        <p:nvSpPr>
          <p:cNvPr id="45" name="Text Box 70">
            <a:extLst>
              <a:ext uri="{FF2B5EF4-FFF2-40B4-BE49-F238E27FC236}">
                <a16:creationId xmlns:a16="http://schemas.microsoft.com/office/drawing/2014/main" id="{AD53480B-E5CE-4BAA-5FAC-CEAAD4CE3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006" y="4119738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>
                <a:latin typeface="Times New Roman" panose="02020603050405020304" pitchFamily="18" charset="0"/>
              </a:rPr>
              <a:t>A continuación:  </a:t>
            </a:r>
            <a:r>
              <a:rPr kumimoji="0" lang="es-MX" altLang="es-CO" sz="2400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t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(</a:t>
            </a:r>
            <a:r>
              <a:rPr kumimoji="0" lang="es-MX" altLang="es-CO" sz="2400" i="1" dirty="0" err="1">
                <a:latin typeface="Times New Roman" panose="02020603050405020304" pitchFamily="18" charset="0"/>
              </a:rPr>
              <a:t>mr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6" name="Text Box 71">
            <a:extLst>
              <a:ext uri="{FF2B5EF4-FFF2-40B4-BE49-F238E27FC236}">
                <a16:creationId xmlns:a16="http://schemas.microsoft.com/office/drawing/2014/main" id="{A976841D-7E6A-14A2-2CD0-F3B22B950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2193" y="5097638"/>
            <a:ext cx="38401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49263" indent="-44926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356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s-MX" altLang="es-CO" i="1" dirty="0">
                <a:latin typeface="Symbol" panose="05050102010706020507" pitchFamily="18" charset="2"/>
              </a:rPr>
              <a:t>t</a:t>
            </a:r>
            <a:r>
              <a:rPr kumimoji="0" lang="es-MX" altLang="es-CO" i="1" baseline="-25000" dirty="0"/>
              <a:t>3</a:t>
            </a:r>
            <a:r>
              <a:rPr kumimoji="0" lang="es-MX" altLang="es-CO" i="1" dirty="0"/>
              <a:t> = </a:t>
            </a:r>
            <a:r>
              <a:rPr kumimoji="0" lang="es-MX" altLang="es-CO" dirty="0"/>
              <a:t>(80 N)</a:t>
            </a:r>
            <a:r>
              <a:rPr kumimoji="0" lang="es-MX" altLang="es-CO" i="1" dirty="0"/>
              <a:t> </a:t>
            </a:r>
            <a:r>
              <a:rPr kumimoji="0" lang="es-MX" altLang="es-CO" dirty="0"/>
              <a:t>(7 m) = 560 </a:t>
            </a:r>
            <a:r>
              <a:rPr kumimoji="0" lang="es-MX" altLang="es-CO" dirty="0" err="1"/>
              <a:t>N</a:t>
            </a:r>
            <a:r>
              <a:rPr kumimoji="0" lang="es-MX" altLang="es-CO" dirty="0" err="1">
                <a:sym typeface="Symbol" panose="05050102010706020507" pitchFamily="18" charset="2"/>
              </a:rPr>
              <a:t></a:t>
            </a:r>
            <a:r>
              <a:rPr kumimoji="0" lang="es-MX" altLang="es-CO" dirty="0" err="1"/>
              <a:t>m</a:t>
            </a:r>
            <a:endParaRPr kumimoji="0" lang="es-MX" altLang="es-CO" i="1" dirty="0">
              <a:latin typeface="Symbol" panose="05050102010706020507" pitchFamily="18" charset="2"/>
            </a:endParaRPr>
          </a:p>
        </p:txBody>
      </p:sp>
      <p:sp>
        <p:nvSpPr>
          <p:cNvPr id="47" name="Rectangle 72">
            <a:extLst>
              <a:ext uri="{FF2B5EF4-FFF2-40B4-BE49-F238E27FC236}">
                <a16:creationId xmlns:a16="http://schemas.microsoft.com/office/drawing/2014/main" id="{746A4AE3-8D5D-89FD-31A8-5B2FC814E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1406" y="3947346"/>
            <a:ext cx="107950" cy="1851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48" name="Text Box 73">
            <a:extLst>
              <a:ext uri="{FF2B5EF4-FFF2-40B4-BE49-F238E27FC236}">
                <a16:creationId xmlns:a16="http://schemas.microsoft.com/office/drawing/2014/main" id="{CA1CB5B3-ECE6-EA4C-224F-43A05AF31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6581" y="4699820"/>
            <a:ext cx="5064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B </a:t>
            </a:r>
            <a:r>
              <a:rPr kumimoji="0" lang="es-MX" altLang="es-CO" sz="2400" dirty="0"/>
              <a:t>(10 m) + 80 </a:t>
            </a:r>
            <a:r>
              <a:rPr kumimoji="0" lang="es-MX" altLang="es-CO" sz="2400" dirty="0" err="1"/>
              <a:t>N</a:t>
            </a:r>
            <a:r>
              <a:rPr kumimoji="0" lang="es-MX" altLang="es-CO" sz="2400" dirty="0" err="1">
                <a:sym typeface="Symbol" panose="05050102010706020507" pitchFamily="18" charset="2"/>
              </a:rPr>
              <a:t></a:t>
            </a:r>
            <a:r>
              <a:rPr kumimoji="0" lang="es-MX" altLang="es-CO" sz="2400" dirty="0" err="1"/>
              <a:t>m</a:t>
            </a:r>
            <a:r>
              <a:rPr kumimoji="0" lang="es-MX" altLang="es-CO" sz="2400" dirty="0"/>
              <a:t> = 560 </a:t>
            </a:r>
            <a:r>
              <a:rPr kumimoji="0" lang="es-MX" altLang="es-CO" sz="2400" dirty="0" err="1"/>
              <a:t>N</a:t>
            </a:r>
            <a:r>
              <a:rPr kumimoji="0" lang="es-MX" altLang="es-CO" sz="2400" dirty="0" err="1">
                <a:sym typeface="Symbol" panose="05050102010706020507" pitchFamily="18" charset="2"/>
              </a:rPr>
              <a:t></a:t>
            </a:r>
            <a:r>
              <a:rPr kumimoji="0" lang="es-MX" altLang="es-CO" sz="2400" dirty="0" err="1"/>
              <a:t>m</a:t>
            </a:r>
            <a:endParaRPr kumimoji="0" lang="es-MX" altLang="es-CO" sz="2400" i="1" dirty="0"/>
          </a:p>
        </p:txBody>
      </p:sp>
      <p:sp>
        <p:nvSpPr>
          <p:cNvPr id="49" name="Text Box 74">
            <a:extLst>
              <a:ext uri="{FF2B5EF4-FFF2-40B4-BE49-F238E27FC236}">
                <a16:creationId xmlns:a16="http://schemas.microsoft.com/office/drawing/2014/main" id="{6D43CBA9-D885-643B-6AEF-128CE4F61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2918" y="4002263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t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(</a:t>
            </a:r>
            <a:r>
              <a:rPr kumimoji="0" lang="es-MX" altLang="es-CO" sz="2400" i="1" dirty="0" err="1">
                <a:latin typeface="Times New Roman" panose="02020603050405020304" pitchFamily="18" charset="0"/>
              </a:rPr>
              <a:t>cmr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) = </a:t>
            </a:r>
            <a:r>
              <a:rPr kumimoji="0" lang="es-MX" altLang="es-CO" sz="2400" dirty="0" err="1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 err="1">
                <a:latin typeface="Symbol" panose="05050102010706020507" pitchFamily="18" charset="2"/>
              </a:rPr>
              <a:t>t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(</a:t>
            </a:r>
            <a:r>
              <a:rPr kumimoji="0" lang="es-MX" altLang="es-CO" sz="2400" i="1" dirty="0" err="1">
                <a:latin typeface="Times New Roman" panose="02020603050405020304" pitchFamily="18" charset="0"/>
              </a:rPr>
              <a:t>mr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50" name="Text Box 75">
            <a:extLst>
              <a:ext uri="{FF2B5EF4-FFF2-40B4-BE49-F238E27FC236}">
                <a16:creationId xmlns:a16="http://schemas.microsoft.com/office/drawing/2014/main" id="{2F5F21D4-9559-8CB0-1A10-2B102E18D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6168" y="5415803"/>
            <a:ext cx="2030413" cy="55399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r>
              <a:rPr kumimoji="0" lang="es-MX" altLang="es-CO" sz="2400" i="1" dirty="0">
                <a:solidFill>
                  <a:srgbClr val="000000"/>
                </a:solidFill>
              </a:rPr>
              <a:t>B = </a:t>
            </a:r>
            <a:r>
              <a:rPr kumimoji="0" lang="es-MX" altLang="es-CO" sz="2400" dirty="0">
                <a:solidFill>
                  <a:srgbClr val="000000"/>
                </a:solidFill>
              </a:rPr>
              <a:t>48.0 N</a:t>
            </a:r>
            <a:endParaRPr kumimoji="0" lang="es-MX" altLang="es-CO" sz="2400" i="1" dirty="0"/>
          </a:p>
        </p:txBody>
      </p:sp>
    </p:spTree>
    <p:extLst>
      <p:ext uri="{BB962C8B-B14F-4D97-AF65-F5344CB8AC3E}">
        <p14:creationId xmlns:p14="http://schemas.microsoft.com/office/powerpoint/2010/main" val="364236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utoUpdateAnimBg="0"/>
      <p:bldP spid="42" grpId="0" autoUpdateAnimBg="0"/>
      <p:bldP spid="43" grpId="0" autoUpdateAnimBg="0"/>
      <p:bldP spid="44" grpId="0" autoUpdateAnimBg="0"/>
      <p:bldP spid="45" grpId="0" autoUpdateAnimBg="0"/>
      <p:bldP spid="46" grpId="0" autoUpdateAnimBg="0"/>
      <p:bldP spid="48" grpId="0" autoUpdateAnimBg="0"/>
      <p:bldP spid="49" grpId="0" autoUpdateAnimBg="0"/>
      <p:bldP spid="50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AE2AF-43B0-EDAB-99C4-A8B24B6D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8323DEDC-DD31-227F-874C-5B992B454EEC}"/>
              </a:ext>
            </a:extLst>
          </p:cNvPr>
          <p:cNvGrpSpPr>
            <a:grpSpLocks/>
          </p:cNvGrpSpPr>
          <p:nvPr/>
        </p:nvGrpSpPr>
        <p:grpSpPr bwMode="auto">
          <a:xfrm>
            <a:off x="5881031" y="463496"/>
            <a:ext cx="4267200" cy="3429000"/>
            <a:chOff x="2781" y="431"/>
            <a:chExt cx="2688" cy="216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D896BFA-4042-0FEC-A29D-075DBB08D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" y="431"/>
              <a:ext cx="2688" cy="216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02918CE9-A365-7043-1F0F-260EE7186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791"/>
              <a:ext cx="2131" cy="7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F40BB08B-EA16-09C3-5A23-9B838D2C0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" y="938"/>
              <a:ext cx="317" cy="2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64207CED-5381-3498-C375-D7486FF6F5D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370" y="938"/>
              <a:ext cx="363" cy="22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9FD84FD3-C051-7333-2DF5-813D083B8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" y="865"/>
              <a:ext cx="136" cy="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7D09E80B-2456-3AAE-465F-7D4D804E2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865"/>
              <a:ext cx="136" cy="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43FAE897-7AB2-5EA8-0D0A-444C2EF90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1125"/>
              <a:ext cx="6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40 N</a:t>
              </a:r>
              <a:endParaRPr kumimoji="0" lang="es-MX" altLang="es-CO" i="1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8A7EF130-B178-1428-01F9-57F71E009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1" y="1126"/>
              <a:ext cx="6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80 N</a:t>
              </a:r>
              <a:endParaRPr kumimoji="0" lang="es-MX" altLang="es-CO" i="1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6E4483F5-60F6-E2B7-B45A-2E682FB69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828"/>
              <a:ext cx="0" cy="1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FEDAFD82-0C5F-648F-7380-D2A5DFFC7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2" y="865"/>
              <a:ext cx="0" cy="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5CFE73FF-FDAB-537C-C30A-3B6EA2986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4" y="608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82854D0B-0F58-4531-03B9-7E542701A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6" y="608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A65915F-3D86-F958-EE4F-3DB6E060A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2" y="645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440296CD-50BF-578E-FA1B-78B2704D7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645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5004F79-F3EC-EF23-EDFC-6308CE015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5" y="576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2 m</a:t>
              </a:r>
              <a:endParaRPr kumimoji="0" lang="es-MX" altLang="es-CO" sz="2400" i="1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03C5F653-6591-0AE0-9791-21956295D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576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3 m</a:t>
              </a:r>
              <a:endParaRPr kumimoji="0" lang="es-MX" altLang="es-CO" sz="2400" i="1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DBD9EB73-1731-5EA5-1F8C-2CA80AF77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575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7 m</a:t>
              </a:r>
              <a:endParaRPr kumimoji="0" lang="es-MX" altLang="es-CO" sz="2400" i="1"/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FD83748D-4155-A17E-1AE3-3AB3FB94E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897"/>
              <a:ext cx="27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A</a:t>
              </a:r>
              <a:endParaRPr kumimoji="0" lang="es-MX" altLang="es-CO" i="1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C50A848D-6CED-EDFF-C286-30FADE1E7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9" y="897"/>
              <a:ext cx="3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B</a:t>
              </a:r>
              <a:endParaRPr kumimoji="0" lang="es-MX" altLang="es-CO" i="1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C676715B-22AA-A59E-F5C1-D12D093B0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1857"/>
              <a:ext cx="2169" cy="39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BC0596D5-CCE1-9D1C-7C01-9398F786A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2189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40 N</a:t>
              </a:r>
              <a:endParaRPr kumimoji="0" lang="es-MX" altLang="es-CO" i="1">
                <a:solidFill>
                  <a:srgbClr val="000000"/>
                </a:solidFill>
              </a:endParaRP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341446F5-75B7-1021-1A6A-833396990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2" y="2149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80 N</a:t>
              </a:r>
              <a:endParaRPr kumimoji="0" lang="es-MX" altLang="es-CO" i="1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2508AFE9-C901-C8AB-7373-8209602D0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1896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08CA1E08-8827-3C6F-8FEC-59444B23F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3" y="1896"/>
              <a:ext cx="0" cy="27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7A6B882B-C6D6-84C6-4E26-FD14A8DC5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1540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387DCF4D-23FB-4D74-EB14-95E02576E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540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01383ED8-746C-8636-2BDE-8941F7AE5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3" y="1579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E3993C4F-F8DA-B787-44D4-703AF8056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1540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E05FFFDA-B49E-9EE7-77D9-50BAFB9FF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1594"/>
              <a:ext cx="4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2 m</a:t>
              </a:r>
              <a:endParaRPr kumimoji="0" lang="es-MX" altLang="es-CO" sz="2400" i="1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5FCCDE16-6518-DBA8-EE1F-26A504C13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5" y="1594"/>
              <a:ext cx="4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3 m</a:t>
              </a:r>
              <a:endParaRPr kumimoji="0" lang="es-MX" altLang="es-CO" sz="2400" i="1"/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9BDA9807-6C49-B8B8-2FC3-C3E79F3E0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1594"/>
              <a:ext cx="4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7 m</a:t>
              </a:r>
              <a:endParaRPr kumimoji="0" lang="es-MX" altLang="es-CO" sz="2400" i="1"/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B318EA2C-1BDA-9B36-2113-AC34C2F68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" y="1470"/>
              <a:ext cx="27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A</a:t>
              </a:r>
              <a:endParaRPr kumimoji="0" lang="es-MX" altLang="es-CO" i="1"/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707B6902-A2E3-4212-ED21-334BAB07C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" y="1391"/>
              <a:ext cx="323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0000"/>
                  </a:solidFill>
                </a:rPr>
                <a:t>B</a:t>
              </a:r>
              <a:endParaRPr kumimoji="0" lang="es-MX" altLang="es-CO" i="1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FC6AF4C4-2382-66DF-16F1-3C818D536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1896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7C8CA396-BF43-915C-248B-7643A28F14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6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8" name="Oval 38">
              <a:extLst>
                <a:ext uri="{FF2B5EF4-FFF2-40B4-BE49-F238E27FC236}">
                  <a16:creationId xmlns:a16="http://schemas.microsoft.com/office/drawing/2014/main" id="{D23B0A84-4A5B-DE58-83AE-28B136C86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1823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38E0F218-AB70-B326-3476-ECD886307E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9" y="1823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F0EFFBBB-586D-DD17-CB91-60B519C7F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49" y="1823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41" name="Text Box 41">
            <a:extLst>
              <a:ext uri="{FF2B5EF4-FFF2-40B4-BE49-F238E27FC236}">
                <a16:creationId xmlns:a16="http://schemas.microsoft.com/office/drawing/2014/main" id="{36CFFB1D-30DD-010A-3490-522DF8165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414" y="341556"/>
            <a:ext cx="350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u="sng" dirty="0"/>
              <a:t>Ejemplo (cont.)</a:t>
            </a:r>
            <a:endParaRPr kumimoji="0" lang="es-MX" altLang="es-CO" sz="2400" i="1" dirty="0"/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9EEBCB72-DD65-DC64-B80F-E966D78B1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418" y="3210019"/>
            <a:ext cx="3863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F (arriba) = </a:t>
            </a:r>
            <a:r>
              <a:rPr kumimoji="0" lang="es-MX" altLang="es-CO" sz="2400" dirty="0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F (abajo) </a:t>
            </a:r>
          </a:p>
        </p:txBody>
      </p:sp>
      <p:sp>
        <p:nvSpPr>
          <p:cNvPr id="43" name="Rectangle 47">
            <a:extLst>
              <a:ext uri="{FF2B5EF4-FFF2-40B4-BE49-F238E27FC236}">
                <a16:creationId xmlns:a16="http://schemas.microsoft.com/office/drawing/2014/main" id="{626D2B6A-A5D2-0366-1AB5-60AADDB75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606" y="4073471"/>
            <a:ext cx="107950" cy="1851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E906972D-3ABD-28ED-7C94-5EEA61E3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9619" y="4760214"/>
            <a:ext cx="4743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A + 48 N = 120 N</a:t>
            </a: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id="{0D47A3C2-6BB2-8895-40FC-F397B1718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8443" y="5432390"/>
            <a:ext cx="2030413" cy="55399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91440" bIns="91440" anchor="ctr">
            <a:spAutoFit/>
          </a:bodyPr>
          <a:lstStyle/>
          <a:p>
            <a:r>
              <a:rPr kumimoji="0" lang="es-MX" altLang="es-CO" sz="2400" i="1" dirty="0">
                <a:solidFill>
                  <a:srgbClr val="000000"/>
                </a:solidFill>
              </a:rPr>
              <a:t>A = </a:t>
            </a:r>
            <a:r>
              <a:rPr kumimoji="0" lang="es-MX" altLang="es-CO" sz="2400" dirty="0">
                <a:solidFill>
                  <a:srgbClr val="000000"/>
                </a:solidFill>
              </a:rPr>
              <a:t>72.0 N</a:t>
            </a:r>
            <a:endParaRPr kumimoji="0" lang="es-MX" altLang="es-CO" sz="2400" i="1" dirty="0"/>
          </a:p>
        </p:txBody>
      </p:sp>
      <p:sp>
        <p:nvSpPr>
          <p:cNvPr id="46" name="Text Box 51">
            <a:extLst>
              <a:ext uri="{FF2B5EF4-FFF2-40B4-BE49-F238E27FC236}">
                <a16:creationId xmlns:a16="http://schemas.microsoft.com/office/drawing/2014/main" id="{C6A7FAE6-3780-65C0-A56A-522471EB7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793" y="1332801"/>
            <a:ext cx="31829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Equilibrio traslacional</a:t>
            </a:r>
          </a:p>
        </p:txBody>
      </p:sp>
      <p:sp>
        <p:nvSpPr>
          <p:cNvPr id="47" name="Text Box 53">
            <a:extLst>
              <a:ext uri="{FF2B5EF4-FFF2-40B4-BE49-F238E27FC236}">
                <a16:creationId xmlns:a16="http://schemas.microsoft.com/office/drawing/2014/main" id="{7C399BD9-2C32-C1BB-9C96-879C32AF3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603" y="2066439"/>
            <a:ext cx="2386011" cy="553998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tIns="91440" bIns="91440" anchor="ctr">
            <a:spAutoFit/>
          </a:bodyPr>
          <a:lstStyle/>
          <a:p>
            <a:r>
              <a:rPr lang="es-MX" altLang="es-CO" sz="2400" dirty="0" err="1">
                <a:solidFill>
                  <a:srgbClr val="000000"/>
                </a:solidFill>
                <a:latin typeface="Symbol" panose="05050102010706020507" pitchFamily="18" charset="2"/>
              </a:rPr>
              <a:t>S</a:t>
            </a:r>
            <a:r>
              <a:rPr lang="es-MX" altLang="es-CO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s-MX" altLang="es-CO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s-MX" altLang="es-CO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= 0;</a:t>
            </a:r>
            <a:r>
              <a:rPr lang="es-MX" altLang="es-CO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s-MX" altLang="es-CO" sz="2400" dirty="0" err="1">
                <a:solidFill>
                  <a:srgbClr val="000000"/>
                </a:solidFill>
                <a:latin typeface="Symbol" panose="05050102010706020507" pitchFamily="18" charset="2"/>
              </a:rPr>
              <a:t>S</a:t>
            </a:r>
            <a:r>
              <a:rPr lang="es-MX" altLang="es-CO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s-MX" altLang="es-CO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s-MX" altLang="es-CO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s-MX" altLang="es-C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= 0</a:t>
            </a:r>
            <a:endParaRPr lang="es-MX" altLang="es-CO" sz="2400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Text Box 54">
            <a:extLst>
              <a:ext uri="{FF2B5EF4-FFF2-40B4-BE49-F238E27FC236}">
                <a16:creationId xmlns:a16="http://schemas.microsoft.com/office/drawing/2014/main" id="{F79A9269-EA13-9D63-EE7F-74EB9159D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943" y="4345082"/>
            <a:ext cx="36131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A + B = </a:t>
            </a:r>
            <a:r>
              <a:rPr kumimoji="0" lang="es-MX" altLang="es-CO" sz="2400" dirty="0"/>
              <a:t>40 N + 80 N</a:t>
            </a:r>
            <a:endParaRPr kumimoji="0" lang="es-MX" altLang="es-CO" sz="2400" i="1" dirty="0"/>
          </a:p>
        </p:txBody>
      </p:sp>
      <p:sp>
        <p:nvSpPr>
          <p:cNvPr id="49" name="Text Box 55">
            <a:extLst>
              <a:ext uri="{FF2B5EF4-FFF2-40B4-BE49-F238E27FC236}">
                <a16:creationId xmlns:a16="http://schemas.microsoft.com/office/drawing/2014/main" id="{DD690F13-FAB6-18B3-35BA-5936E801E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793" y="5247724"/>
            <a:ext cx="2984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A + B = </a:t>
            </a:r>
            <a:r>
              <a:rPr kumimoji="0" lang="es-MX" altLang="es-CO" sz="2400" dirty="0"/>
              <a:t>120 N</a:t>
            </a:r>
            <a:endParaRPr kumimoji="0" lang="es-MX" altLang="es-CO" sz="2400" i="1" dirty="0"/>
          </a:p>
        </p:txBody>
      </p:sp>
      <p:sp>
        <p:nvSpPr>
          <p:cNvPr id="50" name="Text Box 56">
            <a:extLst>
              <a:ext uri="{FF2B5EF4-FFF2-40B4-BE49-F238E27FC236}">
                <a16:creationId xmlns:a16="http://schemas.microsoft.com/office/drawing/2014/main" id="{06BE5CEC-7345-247E-9CE3-BFC169E6F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1356" y="4176013"/>
            <a:ext cx="4668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Recuerde que B = </a:t>
            </a:r>
            <a:r>
              <a:rPr kumimoji="0" lang="es-MX" altLang="es-CO" sz="2400" dirty="0"/>
              <a:t>48.0</a:t>
            </a:r>
            <a:r>
              <a:rPr kumimoji="0" lang="es-MX" altLang="es-CO" sz="2400" i="1" dirty="0"/>
              <a:t> </a:t>
            </a:r>
            <a:r>
              <a:rPr kumimoji="0" lang="es-MX" altLang="es-CO" sz="2400" dirty="0"/>
              <a:t>N</a:t>
            </a:r>
            <a:endParaRPr kumimoji="0" lang="es-MX" altLang="es-CO" sz="2400" i="1" dirty="0"/>
          </a:p>
        </p:txBody>
      </p:sp>
    </p:spTree>
    <p:extLst>
      <p:ext uri="{BB962C8B-B14F-4D97-AF65-F5344CB8AC3E}">
        <p14:creationId xmlns:p14="http://schemas.microsoft.com/office/powerpoint/2010/main" val="113737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 autoUpdateAnimBg="0" advAuto="0"/>
      <p:bldP spid="42" grpId="0" autoUpdateAnimBg="0"/>
      <p:bldP spid="44" grpId="0" autoUpdateAnimBg="0"/>
      <p:bldP spid="45" grpId="0" animBg="1" autoUpdateAnimBg="0"/>
      <p:bldP spid="46" grpId="0" autoUpdateAnimBg="0"/>
      <p:bldP spid="47" grpId="0" animBg="1" autoUpdateAnimBg="0"/>
      <p:bldP spid="48" grpId="0" build="p" autoUpdateAnimBg="0"/>
      <p:bldP spid="49" grpId="0" autoUpdateAnimBg="0"/>
      <p:bldP spid="50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77CD5-763F-2C45-AD17-6F174E9A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47186-EF0C-E521-7193-633F48724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5831" y="186067"/>
            <a:ext cx="7315200" cy="626904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Centro de gravedad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75CC37B-0501-BEAD-AAFD-0B4389684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854" y="879040"/>
            <a:ext cx="78343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i="1" dirty="0"/>
              <a:t>El centro de gravedad de un objeto es el punto donde se puede considerar que actúa todo el peso de un objeto con el propósito de tratar las fuerzas y momentos de torsión que afectan al objeto.</a:t>
            </a:r>
          </a:p>
        </p:txBody>
      </p:sp>
      <p:grpSp>
        <p:nvGrpSpPr>
          <p:cNvPr id="4" name="Group 32">
            <a:extLst>
              <a:ext uri="{FF2B5EF4-FFF2-40B4-BE49-F238E27FC236}">
                <a16:creationId xmlns:a16="http://schemas.microsoft.com/office/drawing/2014/main" id="{4BDE6F9A-071B-8707-FA13-E51570FB2762}"/>
              </a:ext>
            </a:extLst>
          </p:cNvPr>
          <p:cNvGrpSpPr>
            <a:grpSpLocks/>
          </p:cNvGrpSpPr>
          <p:nvPr/>
        </p:nvGrpSpPr>
        <p:grpSpPr bwMode="auto">
          <a:xfrm>
            <a:off x="2801718" y="2929211"/>
            <a:ext cx="2062163" cy="2084388"/>
            <a:chOff x="581" y="2219"/>
            <a:chExt cx="1299" cy="131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C5BF0B6-A018-8764-BD57-6CC5CAAD738F}"/>
                </a:ext>
              </a:extLst>
            </p:cNvPr>
            <p:cNvSpPr>
              <a:spLocks/>
            </p:cNvSpPr>
            <p:nvPr/>
          </p:nvSpPr>
          <p:spPr bwMode="auto">
            <a:xfrm rot="766525">
              <a:off x="581" y="2649"/>
              <a:ext cx="889" cy="678"/>
            </a:xfrm>
            <a:custGeom>
              <a:avLst/>
              <a:gdLst>
                <a:gd name="T0" fmla="*/ 260 w 889"/>
                <a:gd name="T1" fmla="*/ 203 h 678"/>
                <a:gd name="T2" fmla="*/ 328 w 889"/>
                <a:gd name="T3" fmla="*/ 180 h 678"/>
                <a:gd name="T4" fmla="*/ 362 w 889"/>
                <a:gd name="T5" fmla="*/ 169 h 678"/>
                <a:gd name="T6" fmla="*/ 475 w 889"/>
                <a:gd name="T7" fmla="*/ 79 h 678"/>
                <a:gd name="T8" fmla="*/ 577 w 889"/>
                <a:gd name="T9" fmla="*/ 22 h 678"/>
                <a:gd name="T10" fmla="*/ 600 w 889"/>
                <a:gd name="T11" fmla="*/ 90 h 678"/>
                <a:gd name="T12" fmla="*/ 668 w 889"/>
                <a:gd name="T13" fmla="*/ 158 h 678"/>
                <a:gd name="T14" fmla="*/ 758 w 889"/>
                <a:gd name="T15" fmla="*/ 146 h 678"/>
                <a:gd name="T16" fmla="*/ 804 w 889"/>
                <a:gd name="T17" fmla="*/ 79 h 678"/>
                <a:gd name="T18" fmla="*/ 871 w 889"/>
                <a:gd name="T19" fmla="*/ 90 h 678"/>
                <a:gd name="T20" fmla="*/ 883 w 889"/>
                <a:gd name="T21" fmla="*/ 169 h 678"/>
                <a:gd name="T22" fmla="*/ 871 w 889"/>
                <a:gd name="T23" fmla="*/ 373 h 678"/>
                <a:gd name="T24" fmla="*/ 770 w 889"/>
                <a:gd name="T25" fmla="*/ 577 h 678"/>
                <a:gd name="T26" fmla="*/ 713 w 889"/>
                <a:gd name="T27" fmla="*/ 633 h 678"/>
                <a:gd name="T28" fmla="*/ 577 w 889"/>
                <a:gd name="T29" fmla="*/ 644 h 678"/>
                <a:gd name="T30" fmla="*/ 543 w 889"/>
                <a:gd name="T31" fmla="*/ 667 h 678"/>
                <a:gd name="T32" fmla="*/ 509 w 889"/>
                <a:gd name="T33" fmla="*/ 565 h 678"/>
                <a:gd name="T34" fmla="*/ 543 w 889"/>
                <a:gd name="T35" fmla="*/ 543 h 678"/>
                <a:gd name="T36" fmla="*/ 611 w 889"/>
                <a:gd name="T37" fmla="*/ 452 h 678"/>
                <a:gd name="T38" fmla="*/ 475 w 889"/>
                <a:gd name="T39" fmla="*/ 418 h 678"/>
                <a:gd name="T40" fmla="*/ 294 w 889"/>
                <a:gd name="T41" fmla="*/ 384 h 678"/>
                <a:gd name="T42" fmla="*/ 0 w 889"/>
                <a:gd name="T43" fmla="*/ 373 h 678"/>
                <a:gd name="T44" fmla="*/ 136 w 889"/>
                <a:gd name="T45" fmla="*/ 282 h 678"/>
                <a:gd name="T46" fmla="*/ 271 w 889"/>
                <a:gd name="T47" fmla="*/ 192 h 678"/>
                <a:gd name="T48" fmla="*/ 260 w 889"/>
                <a:gd name="T49" fmla="*/ 203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89" h="678">
                  <a:moveTo>
                    <a:pt x="260" y="203"/>
                  </a:moveTo>
                  <a:cubicBezTo>
                    <a:pt x="283" y="195"/>
                    <a:pt x="305" y="188"/>
                    <a:pt x="328" y="180"/>
                  </a:cubicBezTo>
                  <a:cubicBezTo>
                    <a:pt x="339" y="176"/>
                    <a:pt x="362" y="169"/>
                    <a:pt x="362" y="169"/>
                  </a:cubicBezTo>
                  <a:cubicBezTo>
                    <a:pt x="401" y="139"/>
                    <a:pt x="440" y="113"/>
                    <a:pt x="475" y="79"/>
                  </a:cubicBezTo>
                  <a:cubicBezTo>
                    <a:pt x="503" y="0"/>
                    <a:pt x="488" y="8"/>
                    <a:pt x="577" y="22"/>
                  </a:cubicBezTo>
                  <a:cubicBezTo>
                    <a:pt x="585" y="45"/>
                    <a:pt x="583" y="73"/>
                    <a:pt x="600" y="90"/>
                  </a:cubicBezTo>
                  <a:cubicBezTo>
                    <a:pt x="623" y="113"/>
                    <a:pt x="668" y="158"/>
                    <a:pt x="668" y="158"/>
                  </a:cubicBezTo>
                  <a:cubicBezTo>
                    <a:pt x="698" y="154"/>
                    <a:pt x="732" y="161"/>
                    <a:pt x="758" y="146"/>
                  </a:cubicBezTo>
                  <a:cubicBezTo>
                    <a:pt x="781" y="132"/>
                    <a:pt x="804" y="79"/>
                    <a:pt x="804" y="79"/>
                  </a:cubicBezTo>
                  <a:cubicBezTo>
                    <a:pt x="826" y="83"/>
                    <a:pt x="856" y="73"/>
                    <a:pt x="871" y="90"/>
                  </a:cubicBezTo>
                  <a:cubicBezTo>
                    <a:pt x="889" y="110"/>
                    <a:pt x="883" y="142"/>
                    <a:pt x="883" y="169"/>
                  </a:cubicBezTo>
                  <a:cubicBezTo>
                    <a:pt x="883" y="237"/>
                    <a:pt x="877" y="305"/>
                    <a:pt x="871" y="373"/>
                  </a:cubicBezTo>
                  <a:cubicBezTo>
                    <a:pt x="864" y="445"/>
                    <a:pt x="814" y="524"/>
                    <a:pt x="770" y="577"/>
                  </a:cubicBezTo>
                  <a:cubicBezTo>
                    <a:pt x="752" y="599"/>
                    <a:pt x="746" y="627"/>
                    <a:pt x="713" y="633"/>
                  </a:cubicBezTo>
                  <a:cubicBezTo>
                    <a:pt x="668" y="642"/>
                    <a:pt x="622" y="640"/>
                    <a:pt x="577" y="644"/>
                  </a:cubicBezTo>
                  <a:cubicBezTo>
                    <a:pt x="566" y="652"/>
                    <a:pt x="557" y="665"/>
                    <a:pt x="543" y="667"/>
                  </a:cubicBezTo>
                  <a:cubicBezTo>
                    <a:pt x="472" y="678"/>
                    <a:pt x="490" y="614"/>
                    <a:pt x="509" y="565"/>
                  </a:cubicBezTo>
                  <a:cubicBezTo>
                    <a:pt x="514" y="552"/>
                    <a:pt x="532" y="550"/>
                    <a:pt x="543" y="543"/>
                  </a:cubicBezTo>
                  <a:cubicBezTo>
                    <a:pt x="571" y="501"/>
                    <a:pt x="596" y="500"/>
                    <a:pt x="611" y="452"/>
                  </a:cubicBezTo>
                  <a:cubicBezTo>
                    <a:pt x="588" y="359"/>
                    <a:pt x="620" y="425"/>
                    <a:pt x="475" y="418"/>
                  </a:cubicBezTo>
                  <a:cubicBezTo>
                    <a:pt x="414" y="415"/>
                    <a:pt x="355" y="388"/>
                    <a:pt x="294" y="384"/>
                  </a:cubicBezTo>
                  <a:cubicBezTo>
                    <a:pt x="196" y="378"/>
                    <a:pt x="98" y="377"/>
                    <a:pt x="0" y="373"/>
                  </a:cubicBezTo>
                  <a:cubicBezTo>
                    <a:pt x="21" y="309"/>
                    <a:pt x="75" y="298"/>
                    <a:pt x="136" y="282"/>
                  </a:cubicBezTo>
                  <a:cubicBezTo>
                    <a:pt x="185" y="250"/>
                    <a:pt x="229" y="236"/>
                    <a:pt x="271" y="192"/>
                  </a:cubicBezTo>
                  <a:cubicBezTo>
                    <a:pt x="275" y="188"/>
                    <a:pt x="264" y="199"/>
                    <a:pt x="260" y="203"/>
                  </a:cubicBezTo>
                  <a:close/>
                </a:path>
              </a:pathLst>
            </a:custGeom>
            <a:solidFill>
              <a:srgbClr val="00B0F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6B5CB0A-892E-3564-255D-53099A133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2219"/>
              <a:ext cx="1245" cy="9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F2FEF9B-4B13-187E-35BD-C20600AAE7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3" y="2910"/>
              <a:ext cx="144" cy="144"/>
              <a:chOff x="3549" y="1823"/>
              <a:chExt cx="144" cy="144"/>
            </a:xfrm>
          </p:grpSpPr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4471028E-391D-E834-B45E-6C01B6EF8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9" y="1823"/>
                <a:ext cx="144" cy="144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1" name="Line 9">
                <a:extLst>
                  <a:ext uri="{FF2B5EF4-FFF2-40B4-BE49-F238E27FC236}">
                    <a16:creationId xmlns:a16="http://schemas.microsoft.com/office/drawing/2014/main" id="{3E3E29E9-00BF-5A72-1ADC-32433822FD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49" y="1823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BD2BFD14-BFB2-F1A0-28CF-190199C3E9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9" y="1823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8" name="Line 25">
              <a:extLst>
                <a:ext uri="{FF2B5EF4-FFF2-40B4-BE49-F238E27FC236}">
                  <a16:creationId xmlns:a16="http://schemas.microsoft.com/office/drawing/2014/main" id="{890444EC-3C0B-5B12-6BE5-8D769AD1A9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" y="2321"/>
              <a:ext cx="0" cy="5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28">
              <a:extLst>
                <a:ext uri="{FF2B5EF4-FFF2-40B4-BE49-F238E27FC236}">
                  <a16:creationId xmlns:a16="http://schemas.microsoft.com/office/drawing/2014/main" id="{5F02BFA8-9A55-9762-5BD6-CA9E3F078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6" y="2876"/>
              <a:ext cx="0" cy="6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13" name="Group 33">
            <a:extLst>
              <a:ext uri="{FF2B5EF4-FFF2-40B4-BE49-F238E27FC236}">
                <a16:creationId xmlns:a16="http://schemas.microsoft.com/office/drawing/2014/main" id="{333BC62A-B0D4-48D4-9C68-AFAC8756B78E}"/>
              </a:ext>
            </a:extLst>
          </p:cNvPr>
          <p:cNvGrpSpPr>
            <a:grpSpLocks/>
          </p:cNvGrpSpPr>
          <p:nvPr/>
        </p:nvGrpSpPr>
        <p:grpSpPr bwMode="auto">
          <a:xfrm>
            <a:off x="8024593" y="2913336"/>
            <a:ext cx="1976438" cy="2063750"/>
            <a:chOff x="3884" y="2241"/>
            <a:chExt cx="1245" cy="1300"/>
          </a:xfrm>
        </p:grpSpPr>
        <p:grpSp>
          <p:nvGrpSpPr>
            <p:cNvPr id="14" name="Group 22">
              <a:extLst>
                <a:ext uri="{FF2B5EF4-FFF2-40B4-BE49-F238E27FC236}">
                  <a16:creationId xmlns:a16="http://schemas.microsoft.com/office/drawing/2014/main" id="{CF4DD74F-7FD7-E324-0D75-B2757ACAC6CD}"/>
                </a:ext>
              </a:extLst>
            </p:cNvPr>
            <p:cNvGrpSpPr>
              <a:grpSpLocks/>
            </p:cNvGrpSpPr>
            <p:nvPr/>
          </p:nvGrpSpPr>
          <p:grpSpPr bwMode="auto">
            <a:xfrm rot="-3872380">
              <a:off x="4046" y="2758"/>
              <a:ext cx="889" cy="678"/>
              <a:chOff x="4069" y="2949"/>
              <a:chExt cx="889" cy="678"/>
            </a:xfrm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999CD201-58DD-52E0-0013-157B6B9C8326}"/>
                  </a:ext>
                </a:extLst>
              </p:cNvPr>
              <p:cNvSpPr>
                <a:spLocks/>
              </p:cNvSpPr>
              <p:nvPr/>
            </p:nvSpPr>
            <p:spPr bwMode="auto">
              <a:xfrm rot="-462935">
                <a:off x="4069" y="2949"/>
                <a:ext cx="889" cy="678"/>
              </a:xfrm>
              <a:custGeom>
                <a:avLst/>
                <a:gdLst>
                  <a:gd name="T0" fmla="*/ 260 w 889"/>
                  <a:gd name="T1" fmla="*/ 203 h 678"/>
                  <a:gd name="T2" fmla="*/ 328 w 889"/>
                  <a:gd name="T3" fmla="*/ 180 h 678"/>
                  <a:gd name="T4" fmla="*/ 362 w 889"/>
                  <a:gd name="T5" fmla="*/ 169 h 678"/>
                  <a:gd name="T6" fmla="*/ 475 w 889"/>
                  <a:gd name="T7" fmla="*/ 79 h 678"/>
                  <a:gd name="T8" fmla="*/ 577 w 889"/>
                  <a:gd name="T9" fmla="*/ 22 h 678"/>
                  <a:gd name="T10" fmla="*/ 600 w 889"/>
                  <a:gd name="T11" fmla="*/ 90 h 678"/>
                  <a:gd name="T12" fmla="*/ 668 w 889"/>
                  <a:gd name="T13" fmla="*/ 158 h 678"/>
                  <a:gd name="T14" fmla="*/ 758 w 889"/>
                  <a:gd name="T15" fmla="*/ 146 h 678"/>
                  <a:gd name="T16" fmla="*/ 804 w 889"/>
                  <a:gd name="T17" fmla="*/ 79 h 678"/>
                  <a:gd name="T18" fmla="*/ 871 w 889"/>
                  <a:gd name="T19" fmla="*/ 90 h 678"/>
                  <a:gd name="T20" fmla="*/ 883 w 889"/>
                  <a:gd name="T21" fmla="*/ 169 h 678"/>
                  <a:gd name="T22" fmla="*/ 871 w 889"/>
                  <a:gd name="T23" fmla="*/ 373 h 678"/>
                  <a:gd name="T24" fmla="*/ 770 w 889"/>
                  <a:gd name="T25" fmla="*/ 577 h 678"/>
                  <a:gd name="T26" fmla="*/ 713 w 889"/>
                  <a:gd name="T27" fmla="*/ 633 h 678"/>
                  <a:gd name="T28" fmla="*/ 577 w 889"/>
                  <a:gd name="T29" fmla="*/ 644 h 678"/>
                  <a:gd name="T30" fmla="*/ 543 w 889"/>
                  <a:gd name="T31" fmla="*/ 667 h 678"/>
                  <a:gd name="T32" fmla="*/ 509 w 889"/>
                  <a:gd name="T33" fmla="*/ 565 h 678"/>
                  <a:gd name="T34" fmla="*/ 543 w 889"/>
                  <a:gd name="T35" fmla="*/ 543 h 678"/>
                  <a:gd name="T36" fmla="*/ 611 w 889"/>
                  <a:gd name="T37" fmla="*/ 452 h 678"/>
                  <a:gd name="T38" fmla="*/ 475 w 889"/>
                  <a:gd name="T39" fmla="*/ 418 h 678"/>
                  <a:gd name="T40" fmla="*/ 294 w 889"/>
                  <a:gd name="T41" fmla="*/ 384 h 678"/>
                  <a:gd name="T42" fmla="*/ 0 w 889"/>
                  <a:gd name="T43" fmla="*/ 373 h 678"/>
                  <a:gd name="T44" fmla="*/ 136 w 889"/>
                  <a:gd name="T45" fmla="*/ 282 h 678"/>
                  <a:gd name="T46" fmla="*/ 271 w 889"/>
                  <a:gd name="T47" fmla="*/ 192 h 678"/>
                  <a:gd name="T48" fmla="*/ 260 w 889"/>
                  <a:gd name="T49" fmla="*/ 203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89" h="678">
                    <a:moveTo>
                      <a:pt x="260" y="203"/>
                    </a:moveTo>
                    <a:cubicBezTo>
                      <a:pt x="283" y="195"/>
                      <a:pt x="305" y="188"/>
                      <a:pt x="328" y="180"/>
                    </a:cubicBezTo>
                    <a:cubicBezTo>
                      <a:pt x="339" y="176"/>
                      <a:pt x="362" y="169"/>
                      <a:pt x="362" y="169"/>
                    </a:cubicBezTo>
                    <a:cubicBezTo>
                      <a:pt x="401" y="139"/>
                      <a:pt x="440" y="113"/>
                      <a:pt x="475" y="79"/>
                    </a:cubicBezTo>
                    <a:cubicBezTo>
                      <a:pt x="503" y="0"/>
                      <a:pt x="488" y="8"/>
                      <a:pt x="577" y="22"/>
                    </a:cubicBezTo>
                    <a:cubicBezTo>
                      <a:pt x="585" y="45"/>
                      <a:pt x="583" y="73"/>
                      <a:pt x="600" y="90"/>
                    </a:cubicBezTo>
                    <a:cubicBezTo>
                      <a:pt x="623" y="113"/>
                      <a:pt x="668" y="158"/>
                      <a:pt x="668" y="158"/>
                    </a:cubicBezTo>
                    <a:cubicBezTo>
                      <a:pt x="698" y="154"/>
                      <a:pt x="732" y="161"/>
                      <a:pt x="758" y="146"/>
                    </a:cubicBezTo>
                    <a:cubicBezTo>
                      <a:pt x="781" y="132"/>
                      <a:pt x="804" y="79"/>
                      <a:pt x="804" y="79"/>
                    </a:cubicBezTo>
                    <a:cubicBezTo>
                      <a:pt x="826" y="83"/>
                      <a:pt x="856" y="73"/>
                      <a:pt x="871" y="90"/>
                    </a:cubicBezTo>
                    <a:cubicBezTo>
                      <a:pt x="889" y="110"/>
                      <a:pt x="883" y="142"/>
                      <a:pt x="883" y="169"/>
                    </a:cubicBezTo>
                    <a:cubicBezTo>
                      <a:pt x="883" y="237"/>
                      <a:pt x="877" y="305"/>
                      <a:pt x="871" y="373"/>
                    </a:cubicBezTo>
                    <a:cubicBezTo>
                      <a:pt x="864" y="445"/>
                      <a:pt x="814" y="524"/>
                      <a:pt x="770" y="577"/>
                    </a:cubicBezTo>
                    <a:cubicBezTo>
                      <a:pt x="752" y="599"/>
                      <a:pt x="746" y="627"/>
                      <a:pt x="713" y="633"/>
                    </a:cubicBezTo>
                    <a:cubicBezTo>
                      <a:pt x="668" y="642"/>
                      <a:pt x="622" y="640"/>
                      <a:pt x="577" y="644"/>
                    </a:cubicBezTo>
                    <a:cubicBezTo>
                      <a:pt x="566" y="652"/>
                      <a:pt x="557" y="665"/>
                      <a:pt x="543" y="667"/>
                    </a:cubicBezTo>
                    <a:cubicBezTo>
                      <a:pt x="472" y="678"/>
                      <a:pt x="490" y="614"/>
                      <a:pt x="509" y="565"/>
                    </a:cubicBezTo>
                    <a:cubicBezTo>
                      <a:pt x="514" y="552"/>
                      <a:pt x="532" y="550"/>
                      <a:pt x="543" y="543"/>
                    </a:cubicBezTo>
                    <a:cubicBezTo>
                      <a:pt x="571" y="501"/>
                      <a:pt x="596" y="500"/>
                      <a:pt x="611" y="452"/>
                    </a:cubicBezTo>
                    <a:cubicBezTo>
                      <a:pt x="588" y="359"/>
                      <a:pt x="620" y="425"/>
                      <a:pt x="475" y="418"/>
                    </a:cubicBezTo>
                    <a:cubicBezTo>
                      <a:pt x="414" y="415"/>
                      <a:pt x="355" y="388"/>
                      <a:pt x="294" y="384"/>
                    </a:cubicBezTo>
                    <a:cubicBezTo>
                      <a:pt x="196" y="378"/>
                      <a:pt x="98" y="377"/>
                      <a:pt x="0" y="373"/>
                    </a:cubicBezTo>
                    <a:cubicBezTo>
                      <a:pt x="21" y="309"/>
                      <a:pt x="75" y="298"/>
                      <a:pt x="136" y="282"/>
                    </a:cubicBezTo>
                    <a:cubicBezTo>
                      <a:pt x="185" y="250"/>
                      <a:pt x="229" y="236"/>
                      <a:pt x="271" y="192"/>
                    </a:cubicBezTo>
                    <a:cubicBezTo>
                      <a:pt x="275" y="188"/>
                      <a:pt x="264" y="199"/>
                      <a:pt x="260" y="203"/>
                    </a:cubicBezTo>
                    <a:close/>
                  </a:path>
                </a:pathLst>
              </a:custGeom>
              <a:solidFill>
                <a:srgbClr val="00B0F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19" name="Group 17">
                <a:extLst>
                  <a:ext uri="{FF2B5EF4-FFF2-40B4-BE49-F238E27FC236}">
                    <a16:creationId xmlns:a16="http://schemas.microsoft.com/office/drawing/2014/main" id="{75A727EC-B039-5226-C7CC-C028CFA0AA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8" y="3232"/>
                <a:ext cx="144" cy="144"/>
                <a:chOff x="3549" y="1823"/>
                <a:chExt cx="144" cy="144"/>
              </a:xfrm>
            </p:grpSpPr>
            <p:sp>
              <p:nvSpPr>
                <p:cNvPr id="20" name="Oval 18">
                  <a:extLst>
                    <a:ext uri="{FF2B5EF4-FFF2-40B4-BE49-F238E27FC236}">
                      <a16:creationId xmlns:a16="http://schemas.microsoft.com/office/drawing/2014/main" id="{3F1147A7-47D1-55B2-2D2F-063232F684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9" y="1823"/>
                  <a:ext cx="144" cy="144"/>
                </a:xfrm>
                <a:prstGeom prst="ellipse">
                  <a:avLst/>
                </a:prstGeom>
                <a:solidFill>
                  <a:srgbClr val="00FF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21" name="Line 19">
                  <a:extLst>
                    <a:ext uri="{FF2B5EF4-FFF2-40B4-BE49-F238E27FC236}">
                      <a16:creationId xmlns:a16="http://schemas.microsoft.com/office/drawing/2014/main" id="{294C4FE1-2C6D-6D91-F900-4E57A6672F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22" name="Line 20">
                  <a:extLst>
                    <a:ext uri="{FF2B5EF4-FFF2-40B4-BE49-F238E27FC236}">
                      <a16:creationId xmlns:a16="http://schemas.microsoft.com/office/drawing/2014/main" id="{6F9BAFE4-2E56-CF08-BA4F-A1E5011409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77A65A28-6867-10F9-68EC-ABEDC6CE3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241"/>
              <a:ext cx="1245" cy="9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EDBE53D7-239D-935F-DA51-BE57A6154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17" y="2332"/>
              <a:ext cx="0" cy="3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Line 29">
              <a:extLst>
                <a:ext uri="{FF2B5EF4-FFF2-40B4-BE49-F238E27FC236}">
                  <a16:creationId xmlns:a16="http://schemas.microsoft.com/office/drawing/2014/main" id="{BE5305A3-BDD4-7C7B-57F9-68018C941A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791"/>
              <a:ext cx="0" cy="6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23" name="Group 34">
            <a:extLst>
              <a:ext uri="{FF2B5EF4-FFF2-40B4-BE49-F238E27FC236}">
                <a16:creationId xmlns:a16="http://schemas.microsoft.com/office/drawing/2014/main" id="{0DADCAF3-A77C-763E-9BD7-5C583F792006}"/>
              </a:ext>
            </a:extLst>
          </p:cNvPr>
          <p:cNvGrpSpPr>
            <a:grpSpLocks/>
          </p:cNvGrpSpPr>
          <p:nvPr/>
        </p:nvGrpSpPr>
        <p:grpSpPr bwMode="auto">
          <a:xfrm>
            <a:off x="5541743" y="2935561"/>
            <a:ext cx="1976438" cy="1897063"/>
            <a:chOff x="2307" y="2235"/>
            <a:chExt cx="1245" cy="1195"/>
          </a:xfrm>
        </p:grpSpPr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57987E63-21EB-DF64-ED62-246AD30E9983}"/>
                </a:ext>
              </a:extLst>
            </p:cNvPr>
            <p:cNvGrpSpPr>
              <a:grpSpLocks/>
            </p:cNvGrpSpPr>
            <p:nvPr/>
          </p:nvGrpSpPr>
          <p:grpSpPr bwMode="auto">
            <a:xfrm rot="5390286">
              <a:off x="2522" y="2643"/>
              <a:ext cx="889" cy="678"/>
              <a:chOff x="2587" y="2959"/>
              <a:chExt cx="889" cy="678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4AD3779-9F68-4C12-AF44-0EFCA7AA5F93}"/>
                  </a:ext>
                </a:extLst>
              </p:cNvPr>
              <p:cNvSpPr>
                <a:spLocks/>
              </p:cNvSpPr>
              <p:nvPr/>
            </p:nvSpPr>
            <p:spPr bwMode="auto">
              <a:xfrm rot="-462935">
                <a:off x="2587" y="2959"/>
                <a:ext cx="889" cy="678"/>
              </a:xfrm>
              <a:custGeom>
                <a:avLst/>
                <a:gdLst>
                  <a:gd name="T0" fmla="*/ 260 w 889"/>
                  <a:gd name="T1" fmla="*/ 203 h 678"/>
                  <a:gd name="T2" fmla="*/ 328 w 889"/>
                  <a:gd name="T3" fmla="*/ 180 h 678"/>
                  <a:gd name="T4" fmla="*/ 362 w 889"/>
                  <a:gd name="T5" fmla="*/ 169 h 678"/>
                  <a:gd name="T6" fmla="*/ 475 w 889"/>
                  <a:gd name="T7" fmla="*/ 79 h 678"/>
                  <a:gd name="T8" fmla="*/ 577 w 889"/>
                  <a:gd name="T9" fmla="*/ 22 h 678"/>
                  <a:gd name="T10" fmla="*/ 600 w 889"/>
                  <a:gd name="T11" fmla="*/ 90 h 678"/>
                  <a:gd name="T12" fmla="*/ 668 w 889"/>
                  <a:gd name="T13" fmla="*/ 158 h 678"/>
                  <a:gd name="T14" fmla="*/ 758 w 889"/>
                  <a:gd name="T15" fmla="*/ 146 h 678"/>
                  <a:gd name="T16" fmla="*/ 804 w 889"/>
                  <a:gd name="T17" fmla="*/ 79 h 678"/>
                  <a:gd name="T18" fmla="*/ 871 w 889"/>
                  <a:gd name="T19" fmla="*/ 90 h 678"/>
                  <a:gd name="T20" fmla="*/ 883 w 889"/>
                  <a:gd name="T21" fmla="*/ 169 h 678"/>
                  <a:gd name="T22" fmla="*/ 871 w 889"/>
                  <a:gd name="T23" fmla="*/ 373 h 678"/>
                  <a:gd name="T24" fmla="*/ 770 w 889"/>
                  <a:gd name="T25" fmla="*/ 577 h 678"/>
                  <a:gd name="T26" fmla="*/ 713 w 889"/>
                  <a:gd name="T27" fmla="*/ 633 h 678"/>
                  <a:gd name="T28" fmla="*/ 577 w 889"/>
                  <a:gd name="T29" fmla="*/ 644 h 678"/>
                  <a:gd name="T30" fmla="*/ 543 w 889"/>
                  <a:gd name="T31" fmla="*/ 667 h 678"/>
                  <a:gd name="T32" fmla="*/ 509 w 889"/>
                  <a:gd name="T33" fmla="*/ 565 h 678"/>
                  <a:gd name="T34" fmla="*/ 543 w 889"/>
                  <a:gd name="T35" fmla="*/ 543 h 678"/>
                  <a:gd name="T36" fmla="*/ 611 w 889"/>
                  <a:gd name="T37" fmla="*/ 452 h 678"/>
                  <a:gd name="T38" fmla="*/ 475 w 889"/>
                  <a:gd name="T39" fmla="*/ 418 h 678"/>
                  <a:gd name="T40" fmla="*/ 294 w 889"/>
                  <a:gd name="T41" fmla="*/ 384 h 678"/>
                  <a:gd name="T42" fmla="*/ 0 w 889"/>
                  <a:gd name="T43" fmla="*/ 373 h 678"/>
                  <a:gd name="T44" fmla="*/ 136 w 889"/>
                  <a:gd name="T45" fmla="*/ 282 h 678"/>
                  <a:gd name="T46" fmla="*/ 271 w 889"/>
                  <a:gd name="T47" fmla="*/ 192 h 678"/>
                  <a:gd name="T48" fmla="*/ 260 w 889"/>
                  <a:gd name="T49" fmla="*/ 203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89" h="678">
                    <a:moveTo>
                      <a:pt x="260" y="203"/>
                    </a:moveTo>
                    <a:cubicBezTo>
                      <a:pt x="283" y="195"/>
                      <a:pt x="305" y="188"/>
                      <a:pt x="328" y="180"/>
                    </a:cubicBezTo>
                    <a:cubicBezTo>
                      <a:pt x="339" y="176"/>
                      <a:pt x="362" y="169"/>
                      <a:pt x="362" y="169"/>
                    </a:cubicBezTo>
                    <a:cubicBezTo>
                      <a:pt x="401" y="139"/>
                      <a:pt x="440" y="113"/>
                      <a:pt x="475" y="79"/>
                    </a:cubicBezTo>
                    <a:cubicBezTo>
                      <a:pt x="503" y="0"/>
                      <a:pt x="488" y="8"/>
                      <a:pt x="577" y="22"/>
                    </a:cubicBezTo>
                    <a:cubicBezTo>
                      <a:pt x="585" y="45"/>
                      <a:pt x="583" y="73"/>
                      <a:pt x="600" y="90"/>
                    </a:cubicBezTo>
                    <a:cubicBezTo>
                      <a:pt x="623" y="113"/>
                      <a:pt x="668" y="158"/>
                      <a:pt x="668" y="158"/>
                    </a:cubicBezTo>
                    <a:cubicBezTo>
                      <a:pt x="698" y="154"/>
                      <a:pt x="732" y="161"/>
                      <a:pt x="758" y="146"/>
                    </a:cubicBezTo>
                    <a:cubicBezTo>
                      <a:pt x="781" y="132"/>
                      <a:pt x="804" y="79"/>
                      <a:pt x="804" y="79"/>
                    </a:cubicBezTo>
                    <a:cubicBezTo>
                      <a:pt x="826" y="83"/>
                      <a:pt x="856" y="73"/>
                      <a:pt x="871" y="90"/>
                    </a:cubicBezTo>
                    <a:cubicBezTo>
                      <a:pt x="889" y="110"/>
                      <a:pt x="883" y="142"/>
                      <a:pt x="883" y="169"/>
                    </a:cubicBezTo>
                    <a:cubicBezTo>
                      <a:pt x="883" y="237"/>
                      <a:pt x="877" y="305"/>
                      <a:pt x="871" y="373"/>
                    </a:cubicBezTo>
                    <a:cubicBezTo>
                      <a:pt x="864" y="445"/>
                      <a:pt x="814" y="524"/>
                      <a:pt x="770" y="577"/>
                    </a:cubicBezTo>
                    <a:cubicBezTo>
                      <a:pt x="752" y="599"/>
                      <a:pt x="746" y="627"/>
                      <a:pt x="713" y="633"/>
                    </a:cubicBezTo>
                    <a:cubicBezTo>
                      <a:pt x="668" y="642"/>
                      <a:pt x="622" y="640"/>
                      <a:pt x="577" y="644"/>
                    </a:cubicBezTo>
                    <a:cubicBezTo>
                      <a:pt x="566" y="652"/>
                      <a:pt x="557" y="665"/>
                      <a:pt x="543" y="667"/>
                    </a:cubicBezTo>
                    <a:cubicBezTo>
                      <a:pt x="472" y="678"/>
                      <a:pt x="490" y="614"/>
                      <a:pt x="509" y="565"/>
                    </a:cubicBezTo>
                    <a:cubicBezTo>
                      <a:pt x="514" y="552"/>
                      <a:pt x="532" y="550"/>
                      <a:pt x="543" y="543"/>
                    </a:cubicBezTo>
                    <a:cubicBezTo>
                      <a:pt x="571" y="501"/>
                      <a:pt x="596" y="500"/>
                      <a:pt x="611" y="452"/>
                    </a:cubicBezTo>
                    <a:cubicBezTo>
                      <a:pt x="588" y="359"/>
                      <a:pt x="620" y="425"/>
                      <a:pt x="475" y="418"/>
                    </a:cubicBezTo>
                    <a:cubicBezTo>
                      <a:pt x="414" y="415"/>
                      <a:pt x="355" y="388"/>
                      <a:pt x="294" y="384"/>
                    </a:cubicBezTo>
                    <a:cubicBezTo>
                      <a:pt x="196" y="378"/>
                      <a:pt x="98" y="377"/>
                      <a:pt x="0" y="373"/>
                    </a:cubicBezTo>
                    <a:cubicBezTo>
                      <a:pt x="21" y="309"/>
                      <a:pt x="75" y="298"/>
                      <a:pt x="136" y="282"/>
                    </a:cubicBezTo>
                    <a:cubicBezTo>
                      <a:pt x="185" y="250"/>
                      <a:pt x="229" y="236"/>
                      <a:pt x="271" y="192"/>
                    </a:cubicBezTo>
                    <a:cubicBezTo>
                      <a:pt x="275" y="188"/>
                      <a:pt x="264" y="199"/>
                      <a:pt x="260" y="203"/>
                    </a:cubicBezTo>
                    <a:close/>
                  </a:path>
                </a:pathLst>
              </a:custGeom>
              <a:solidFill>
                <a:srgbClr val="00B0F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29" name="Group 12">
                <a:extLst>
                  <a:ext uri="{FF2B5EF4-FFF2-40B4-BE49-F238E27FC236}">
                    <a16:creationId xmlns:a16="http://schemas.microsoft.com/office/drawing/2014/main" id="{FB0114F7-0EF3-B856-FAA3-ADCF19734E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6" y="3220"/>
                <a:ext cx="144" cy="144"/>
                <a:chOff x="3549" y="1823"/>
                <a:chExt cx="144" cy="144"/>
              </a:xfrm>
            </p:grpSpPr>
            <p:sp>
              <p:nvSpPr>
                <p:cNvPr id="30" name="Oval 13">
                  <a:extLst>
                    <a:ext uri="{FF2B5EF4-FFF2-40B4-BE49-F238E27FC236}">
                      <a16:creationId xmlns:a16="http://schemas.microsoft.com/office/drawing/2014/main" id="{8499309A-9313-0594-3F93-9703BAADDE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9" y="1823"/>
                  <a:ext cx="144" cy="144"/>
                </a:xfrm>
                <a:prstGeom prst="ellipse">
                  <a:avLst/>
                </a:prstGeom>
                <a:solidFill>
                  <a:srgbClr val="00FF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1" name="Line 14">
                  <a:extLst>
                    <a:ext uri="{FF2B5EF4-FFF2-40B4-BE49-F238E27FC236}">
                      <a16:creationId xmlns:a16="http://schemas.microsoft.com/office/drawing/2014/main" id="{F0EE7861-AB87-C6EC-EEC5-9F3CE9161F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2" name="Line 15">
                  <a:extLst>
                    <a:ext uri="{FF2B5EF4-FFF2-40B4-BE49-F238E27FC236}">
                      <a16:creationId xmlns:a16="http://schemas.microsoft.com/office/drawing/2014/main" id="{AD672684-CCAE-4E8B-46C3-0058B70D36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D983C05E-E07D-EEFC-14CD-FAE82AA0A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7" y="2235"/>
              <a:ext cx="1245" cy="9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8B8B5150-E74F-DC8B-FE4B-E671BE530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2321"/>
              <a:ext cx="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2DD5DF4A-F176-0359-C125-296124C4D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2774"/>
              <a:ext cx="0" cy="6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33" name="Text Box 31">
            <a:extLst>
              <a:ext uri="{FF2B5EF4-FFF2-40B4-BE49-F238E27FC236}">
                <a16:creationId xmlns:a16="http://schemas.microsoft.com/office/drawing/2014/main" id="{4604A8E9-A850-D2D8-DC87-7AA737CEB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962" y="5219953"/>
            <a:ext cx="84248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i="1" dirty="0"/>
              <a:t>La fuerza de soporte única tiene línea de acción que pasa a través del c. g. en cualquier orientación.</a:t>
            </a:r>
            <a:endParaRPr kumimoji="0" lang="es-MX" altLang="es-CO" i="1" dirty="0"/>
          </a:p>
        </p:txBody>
      </p:sp>
    </p:spTree>
    <p:extLst>
      <p:ext uri="{BB962C8B-B14F-4D97-AF65-F5344CB8AC3E}">
        <p14:creationId xmlns:p14="http://schemas.microsoft.com/office/powerpoint/2010/main" val="66630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33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D47E5-67CD-0016-3EE8-71572CE8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E63ACD2-E3BC-590F-B4E1-F3811D66E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78289" y="227670"/>
            <a:ext cx="7315200" cy="627062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Ejemplos de centro de gravedad</a:t>
            </a:r>
          </a:p>
        </p:txBody>
      </p:sp>
      <p:grpSp>
        <p:nvGrpSpPr>
          <p:cNvPr id="3" name="Group 41">
            <a:extLst>
              <a:ext uri="{FF2B5EF4-FFF2-40B4-BE49-F238E27FC236}">
                <a16:creationId xmlns:a16="http://schemas.microsoft.com/office/drawing/2014/main" id="{DB6B97D6-C6A4-587F-FFC3-B93895CBCDF8}"/>
              </a:ext>
            </a:extLst>
          </p:cNvPr>
          <p:cNvGrpSpPr>
            <a:grpSpLocks/>
          </p:cNvGrpSpPr>
          <p:nvPr/>
        </p:nvGrpSpPr>
        <p:grpSpPr bwMode="auto">
          <a:xfrm>
            <a:off x="2762414" y="1120666"/>
            <a:ext cx="7727950" cy="3756025"/>
            <a:chOff x="487" y="984"/>
            <a:chExt cx="4868" cy="2366"/>
          </a:xfrm>
        </p:grpSpPr>
        <p:sp>
          <p:nvSpPr>
            <p:cNvPr id="4" name="Rectangle 39">
              <a:extLst>
                <a:ext uri="{FF2B5EF4-FFF2-40B4-BE49-F238E27FC236}">
                  <a16:creationId xmlns:a16="http://schemas.microsoft.com/office/drawing/2014/main" id="{E2739FD9-A197-B315-C27A-B67CC48C1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984"/>
              <a:ext cx="4868" cy="236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5" name="Group 32">
              <a:extLst>
                <a:ext uri="{FF2B5EF4-FFF2-40B4-BE49-F238E27FC236}">
                  <a16:creationId xmlns:a16="http://schemas.microsoft.com/office/drawing/2014/main" id="{EEB883C8-202B-CFB0-910B-E7384D76E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4" y="1336"/>
              <a:ext cx="1812" cy="144"/>
              <a:chOff x="724" y="1336"/>
              <a:chExt cx="1812" cy="144"/>
            </a:xfrm>
          </p:grpSpPr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F172D852-B1CC-001F-BD7A-31A7A3F7C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1336"/>
                <a:ext cx="1812" cy="12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32" name="Group 12">
                <a:extLst>
                  <a:ext uri="{FF2B5EF4-FFF2-40B4-BE49-F238E27FC236}">
                    <a16:creationId xmlns:a16="http://schemas.microsoft.com/office/drawing/2014/main" id="{2533CCDE-72F1-FD32-01F9-0A7C62EB90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1" y="1336"/>
                <a:ext cx="144" cy="144"/>
                <a:chOff x="3549" y="1823"/>
                <a:chExt cx="144" cy="144"/>
              </a:xfrm>
            </p:grpSpPr>
            <p:sp>
              <p:nvSpPr>
                <p:cNvPr id="33" name="Oval 13">
                  <a:extLst>
                    <a:ext uri="{FF2B5EF4-FFF2-40B4-BE49-F238E27FC236}">
                      <a16:creationId xmlns:a16="http://schemas.microsoft.com/office/drawing/2014/main" id="{EE707FDD-AAB0-6884-C873-6624BCD8F3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9" y="1823"/>
                  <a:ext cx="144" cy="144"/>
                </a:xfrm>
                <a:prstGeom prst="ellipse">
                  <a:avLst/>
                </a:prstGeom>
                <a:solidFill>
                  <a:srgbClr val="00FF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4" name="Line 14">
                  <a:extLst>
                    <a:ext uri="{FF2B5EF4-FFF2-40B4-BE49-F238E27FC236}">
                      <a16:creationId xmlns:a16="http://schemas.microsoft.com/office/drawing/2014/main" id="{0A75CFB5-201C-5FB7-ADF6-CD3FD1E49F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5" name="Line 15">
                  <a:extLst>
                    <a:ext uri="{FF2B5EF4-FFF2-40B4-BE49-F238E27FC236}">
                      <a16:creationId xmlns:a16="http://schemas.microsoft.com/office/drawing/2014/main" id="{685B34E3-1448-F9CC-AE33-AF2017DAC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grpSp>
          <p:nvGrpSpPr>
            <p:cNvPr id="6" name="Group 36">
              <a:extLst>
                <a:ext uri="{FF2B5EF4-FFF2-40B4-BE49-F238E27FC236}">
                  <a16:creationId xmlns:a16="http://schemas.microsoft.com/office/drawing/2014/main" id="{C870FE31-3613-05BF-D8C2-781C557AC7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9" y="1347"/>
              <a:ext cx="1336" cy="690"/>
              <a:chOff x="3339" y="1347"/>
              <a:chExt cx="1336" cy="690"/>
            </a:xfrm>
          </p:grpSpPr>
          <p:sp>
            <p:nvSpPr>
              <p:cNvPr id="25" name="Rectangle 7">
                <a:extLst>
                  <a:ext uri="{FF2B5EF4-FFF2-40B4-BE49-F238E27FC236}">
                    <a16:creationId xmlns:a16="http://schemas.microsoft.com/office/drawing/2014/main" id="{959BC483-F436-71D2-D947-29A47B7CE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347"/>
                <a:ext cx="13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6" name="Rectangle 8">
                <a:extLst>
                  <a:ext uri="{FF2B5EF4-FFF2-40B4-BE49-F238E27FC236}">
                    <a16:creationId xmlns:a16="http://schemas.microsoft.com/office/drawing/2014/main" id="{96E2A5F8-336B-7F91-94BA-1E52D4425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9" y="1483"/>
                <a:ext cx="125" cy="55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27" name="Group 16">
                <a:extLst>
                  <a:ext uri="{FF2B5EF4-FFF2-40B4-BE49-F238E27FC236}">
                    <a16:creationId xmlns:a16="http://schemas.microsoft.com/office/drawing/2014/main" id="{34DB0BC2-D1F8-3020-4A1C-6480881594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8" y="1533"/>
                <a:ext cx="144" cy="144"/>
                <a:chOff x="3549" y="1823"/>
                <a:chExt cx="144" cy="144"/>
              </a:xfrm>
            </p:grpSpPr>
            <p:sp>
              <p:nvSpPr>
                <p:cNvPr id="28" name="Oval 17">
                  <a:extLst>
                    <a:ext uri="{FF2B5EF4-FFF2-40B4-BE49-F238E27FC236}">
                      <a16:creationId xmlns:a16="http://schemas.microsoft.com/office/drawing/2014/main" id="{999FCC73-B10D-4258-96DD-75A6B85D2B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9" y="1823"/>
                  <a:ext cx="144" cy="144"/>
                </a:xfrm>
                <a:prstGeom prst="ellipse">
                  <a:avLst/>
                </a:prstGeom>
                <a:solidFill>
                  <a:srgbClr val="00FF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29" name="Line 18">
                  <a:extLst>
                    <a:ext uri="{FF2B5EF4-FFF2-40B4-BE49-F238E27FC236}">
                      <a16:creationId xmlns:a16="http://schemas.microsoft.com/office/drawing/2014/main" id="{0212A02B-8D70-5575-E462-A83561C2BC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30" name="Line 19">
                  <a:extLst>
                    <a:ext uri="{FF2B5EF4-FFF2-40B4-BE49-F238E27FC236}">
                      <a16:creationId xmlns:a16="http://schemas.microsoft.com/office/drawing/2014/main" id="{B874179F-0436-2CA0-3060-110A115209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grpSp>
          <p:nvGrpSpPr>
            <p:cNvPr id="7" name="Group 33">
              <a:extLst>
                <a:ext uri="{FF2B5EF4-FFF2-40B4-BE49-F238E27FC236}">
                  <a16:creationId xmlns:a16="http://schemas.microsoft.com/office/drawing/2014/main" id="{E06A0FAE-8B26-F6FB-16D0-B6AD1260E8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3" y="2218"/>
              <a:ext cx="871" cy="1030"/>
              <a:chOff x="883" y="2444"/>
              <a:chExt cx="871" cy="1030"/>
            </a:xfrm>
          </p:grpSpPr>
          <p:sp>
            <p:nvSpPr>
              <p:cNvPr id="20" name="AutoShape 6">
                <a:extLst>
                  <a:ext uri="{FF2B5EF4-FFF2-40B4-BE49-F238E27FC236}">
                    <a16:creationId xmlns:a16="http://schemas.microsoft.com/office/drawing/2014/main" id="{1DAEA043-20D3-FD28-4D36-A92FD3E46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" y="2444"/>
                <a:ext cx="871" cy="1030"/>
              </a:xfrm>
              <a:custGeom>
                <a:avLst/>
                <a:gdLst>
                  <a:gd name="G0" fmla="+- 3447 0 0"/>
                  <a:gd name="G1" fmla="+- 21600 0 3447"/>
                  <a:gd name="G2" fmla="+- 21600 0 3447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447" y="10800"/>
                    </a:moveTo>
                    <a:cubicBezTo>
                      <a:pt x="3447" y="14861"/>
                      <a:pt x="6739" y="18153"/>
                      <a:pt x="10800" y="18153"/>
                    </a:cubicBezTo>
                    <a:cubicBezTo>
                      <a:pt x="14861" y="18153"/>
                      <a:pt x="18153" y="14861"/>
                      <a:pt x="18153" y="10800"/>
                    </a:cubicBezTo>
                    <a:cubicBezTo>
                      <a:pt x="18153" y="6739"/>
                      <a:pt x="14861" y="3447"/>
                      <a:pt x="10800" y="3447"/>
                    </a:cubicBezTo>
                    <a:cubicBezTo>
                      <a:pt x="6739" y="3447"/>
                      <a:pt x="3447" y="6739"/>
                      <a:pt x="3447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6553456-DA6D-C2B1-C376-EE66B44264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0" y="2887"/>
                <a:ext cx="144" cy="144"/>
                <a:chOff x="3549" y="1823"/>
                <a:chExt cx="144" cy="144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585FEC4-6462-6C17-CC91-F67DCE794A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9" y="1823"/>
                  <a:ext cx="144" cy="144"/>
                </a:xfrm>
                <a:prstGeom prst="ellipse">
                  <a:avLst/>
                </a:prstGeom>
                <a:solidFill>
                  <a:srgbClr val="00FF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23" name="Line 22">
                  <a:extLst>
                    <a:ext uri="{FF2B5EF4-FFF2-40B4-BE49-F238E27FC236}">
                      <a16:creationId xmlns:a16="http://schemas.microsoft.com/office/drawing/2014/main" id="{D535F17D-5B7D-3BEA-34BA-7A4C4E1E03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24" name="Line 23">
                  <a:extLst>
                    <a:ext uri="{FF2B5EF4-FFF2-40B4-BE49-F238E27FC236}">
                      <a16:creationId xmlns:a16="http://schemas.microsoft.com/office/drawing/2014/main" id="{51A65C0C-0762-2C0F-F855-1E3C4D9D72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grpSp>
          <p:nvGrpSpPr>
            <p:cNvPr id="8" name="Group 34">
              <a:extLst>
                <a:ext uri="{FF2B5EF4-FFF2-40B4-BE49-F238E27FC236}">
                  <a16:creationId xmlns:a16="http://schemas.microsoft.com/office/drawing/2014/main" id="{CE74DA58-A45B-75C1-4202-CAA30FE458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7" y="2399"/>
              <a:ext cx="1302" cy="589"/>
              <a:chOff x="2297" y="2625"/>
              <a:chExt cx="1302" cy="589"/>
            </a:xfrm>
          </p:grpSpPr>
          <p:sp>
            <p:nvSpPr>
              <p:cNvPr id="15" name="AutoShape 10">
                <a:extLst>
                  <a:ext uri="{FF2B5EF4-FFF2-40B4-BE49-F238E27FC236}">
                    <a16:creationId xmlns:a16="http://schemas.microsoft.com/office/drawing/2014/main" id="{A1747BA9-03F4-8F7A-97B3-29003F0F3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" y="2625"/>
                <a:ext cx="1302" cy="589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16" name="Group 24">
                <a:extLst>
                  <a:ext uri="{FF2B5EF4-FFF2-40B4-BE49-F238E27FC236}">
                    <a16:creationId xmlns:a16="http://schemas.microsoft.com/office/drawing/2014/main" id="{50284870-C948-AF56-D8F4-21A5677945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4" y="2970"/>
                <a:ext cx="144" cy="144"/>
                <a:chOff x="3549" y="1823"/>
                <a:chExt cx="144" cy="144"/>
              </a:xfrm>
            </p:grpSpPr>
            <p:sp>
              <p:nvSpPr>
                <p:cNvPr id="17" name="Oval 25">
                  <a:extLst>
                    <a:ext uri="{FF2B5EF4-FFF2-40B4-BE49-F238E27FC236}">
                      <a16:creationId xmlns:a16="http://schemas.microsoft.com/office/drawing/2014/main" id="{D30682E2-D436-92CD-FBCB-FB68898E90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9" y="1823"/>
                  <a:ext cx="144" cy="144"/>
                </a:xfrm>
                <a:prstGeom prst="ellipse">
                  <a:avLst/>
                </a:prstGeom>
                <a:solidFill>
                  <a:srgbClr val="00FF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18" name="Line 26">
                  <a:extLst>
                    <a:ext uri="{FF2B5EF4-FFF2-40B4-BE49-F238E27FC236}">
                      <a16:creationId xmlns:a16="http://schemas.microsoft.com/office/drawing/2014/main" id="{5DA8D9BB-79F7-6521-09BF-48655A56AF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19" name="Line 27">
                  <a:extLst>
                    <a:ext uri="{FF2B5EF4-FFF2-40B4-BE49-F238E27FC236}">
                      <a16:creationId xmlns:a16="http://schemas.microsoft.com/office/drawing/2014/main" id="{2DE1E4B7-9B81-A818-9A89-C0C3FC284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  <p:grpSp>
          <p:nvGrpSpPr>
            <p:cNvPr id="9" name="Group 35">
              <a:extLst>
                <a:ext uri="{FF2B5EF4-FFF2-40B4-BE49-F238E27FC236}">
                  <a16:creationId xmlns:a16="http://schemas.microsoft.com/office/drawing/2014/main" id="{38BCA0F4-C4A5-009E-905D-5CD85AE2A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2" y="2162"/>
              <a:ext cx="827" cy="1087"/>
              <a:chOff x="3882" y="2388"/>
              <a:chExt cx="827" cy="108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D003E09C-1D67-0E63-6B01-EF885E6CE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2388"/>
                <a:ext cx="827" cy="1087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grpSp>
            <p:nvGrpSpPr>
              <p:cNvPr id="11" name="Group 28">
                <a:extLst>
                  <a:ext uri="{FF2B5EF4-FFF2-40B4-BE49-F238E27FC236}">
                    <a16:creationId xmlns:a16="http://schemas.microsoft.com/office/drawing/2014/main" id="{A05DF37D-A19C-4DEB-428D-0891A1AF0E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05" y="2750"/>
                <a:ext cx="144" cy="144"/>
                <a:chOff x="3549" y="1823"/>
                <a:chExt cx="144" cy="144"/>
              </a:xfrm>
            </p:grpSpPr>
            <p:sp>
              <p:nvSpPr>
                <p:cNvPr id="12" name="Oval 29">
                  <a:extLst>
                    <a:ext uri="{FF2B5EF4-FFF2-40B4-BE49-F238E27FC236}">
                      <a16:creationId xmlns:a16="http://schemas.microsoft.com/office/drawing/2014/main" id="{1F7CECF9-BC96-4440-5A79-8ACDB6AA3D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9" y="1823"/>
                  <a:ext cx="144" cy="144"/>
                </a:xfrm>
                <a:prstGeom prst="ellipse">
                  <a:avLst/>
                </a:prstGeom>
                <a:solidFill>
                  <a:srgbClr val="00FF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13" name="Line 30">
                  <a:extLst>
                    <a:ext uri="{FF2B5EF4-FFF2-40B4-BE49-F238E27FC236}">
                      <a16:creationId xmlns:a16="http://schemas.microsoft.com/office/drawing/2014/main" id="{E3E7AEBA-AAF8-2909-D339-28A6E22B47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  <p:sp>
              <p:nvSpPr>
                <p:cNvPr id="14" name="Line 31">
                  <a:extLst>
                    <a:ext uri="{FF2B5EF4-FFF2-40B4-BE49-F238E27FC236}">
                      <a16:creationId xmlns:a16="http://schemas.microsoft.com/office/drawing/2014/main" id="{FBC900B0-2131-4DFF-B7BB-6AB30272D3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49" y="1823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s-CO"/>
                </a:p>
              </p:txBody>
            </p:sp>
          </p:grpSp>
        </p:grpSp>
      </p:grpSp>
      <p:sp>
        <p:nvSpPr>
          <p:cNvPr id="36" name="Text Box 40">
            <a:extLst>
              <a:ext uri="{FF2B5EF4-FFF2-40B4-BE49-F238E27FC236}">
                <a16:creationId xmlns:a16="http://schemas.microsoft.com/office/drawing/2014/main" id="{3050BCAF-C376-A8DE-E9A1-F23D86DBF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414" y="5142625"/>
            <a:ext cx="7807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i="1" dirty="0"/>
              <a:t>Nota: El centro de gravedad no siempre está adentro del material.</a:t>
            </a:r>
          </a:p>
        </p:txBody>
      </p:sp>
    </p:spTree>
    <p:extLst>
      <p:ext uri="{BB962C8B-B14F-4D97-AF65-F5344CB8AC3E}">
        <p14:creationId xmlns:p14="http://schemas.microsoft.com/office/powerpoint/2010/main" val="233478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6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B167E-01DE-23D5-3A1F-6303A5A5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31AC07-1E42-EB3D-A1DC-FFA4E8CA3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720" y="135814"/>
            <a:ext cx="11603418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Ejemplo:</a:t>
            </a:r>
            <a:r>
              <a:rPr lang="es-MX" altLang="es-CO" sz="2400" dirty="0"/>
              <a:t> </a:t>
            </a:r>
            <a:r>
              <a:rPr lang="es-MX" altLang="es-CO" sz="2400" dirty="0">
                <a:solidFill>
                  <a:schemeClr val="tx1"/>
                </a:solidFill>
              </a:rPr>
              <a:t>Encuentre el centro de gravedad del aparato que se muestra abajo. Desprecie el peso de las barras conectoras.</a:t>
            </a:r>
            <a:endParaRPr lang="es-MX" altLang="es-CO" sz="2400" dirty="0"/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0DDAFE4F-B636-80A4-77D3-6EF781E4F335}"/>
              </a:ext>
            </a:extLst>
          </p:cNvPr>
          <p:cNvGrpSpPr>
            <a:grpSpLocks/>
          </p:cNvGrpSpPr>
          <p:nvPr/>
        </p:nvGrpSpPr>
        <p:grpSpPr bwMode="auto">
          <a:xfrm>
            <a:off x="6070326" y="1929689"/>
            <a:ext cx="3987799" cy="1806575"/>
            <a:chOff x="3113" y="1080"/>
            <a:chExt cx="2512" cy="1138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C423BE2C-721E-990A-40CE-8C3A546D4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1574"/>
              <a:ext cx="2015" cy="47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DA2EEE28-073C-F6BE-4938-8447DACFF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370"/>
              <a:ext cx="600" cy="45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F4B39E16-D4BD-6945-34FC-7228B6031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" y="1466"/>
              <a:ext cx="374" cy="2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9EDE984F-E6CE-7F03-E413-C07CEA35B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3" y="1528"/>
              <a:ext cx="215" cy="1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0A3BEF16-8077-46AA-5DAE-0AA71AC5C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7" y="1884"/>
              <a:ext cx="6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/>
                <a:t>30 N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7477517B-670D-69CC-B15B-4A19CC8BB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4" y="1864"/>
              <a:ext cx="6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/>
                <a:t>10 N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4AB07BBD-016B-57EA-DDC5-A1181F60E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7" y="1846"/>
              <a:ext cx="6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/>
                <a:t>5 N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0CB1B26A-C09F-D12B-A5BD-B60A6B03E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7" y="1630"/>
              <a:ext cx="0" cy="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D7661CBC-56B8-6DA2-4CA5-C735205059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9" y="1591"/>
              <a:ext cx="1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9C087CEC-F0B6-492D-28DC-F14CABFEE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5" y="1629"/>
              <a:ext cx="0" cy="3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6BAB3D88-7F31-BB8A-813D-D62253E9B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6" y="1097"/>
              <a:ext cx="10" cy="1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2923A2DA-F96D-C93C-191B-DBCFEE892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0" y="1126"/>
              <a:ext cx="11" cy="1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B25E86F9-28F9-F405-85C5-1927300F7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2" y="1080"/>
              <a:ext cx="10" cy="1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E73C0813-301C-5AE8-B740-4E8A8D5F2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1088"/>
              <a:ext cx="6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/>
                <a:t>4 m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E827AE4B-134E-6C63-06CF-B78C6AD2D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6" y="1095"/>
              <a:ext cx="6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sz="2400" dirty="0"/>
                <a:t>6 m</a:t>
              </a:r>
            </a:p>
          </p:txBody>
        </p:sp>
      </p:grpSp>
      <p:sp>
        <p:nvSpPr>
          <p:cNvPr id="19" name="Text Box 20">
            <a:extLst>
              <a:ext uri="{FF2B5EF4-FFF2-40B4-BE49-F238E27FC236}">
                <a16:creationId xmlns:a16="http://schemas.microsoft.com/office/drawing/2014/main" id="{72739128-A44C-235B-D970-1E402B11C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115" y="1582026"/>
            <a:ext cx="42179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0" lang="es-MX" altLang="es-CO" sz="2400" i="1" dirty="0"/>
              <a:t>El centro de gravedad es el punto donde una sola fuerza F hacia arriba balanceará el sistema.</a:t>
            </a: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74D084BD-ABDB-716E-AECF-7272533DE9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54627" y="1582026"/>
            <a:ext cx="0" cy="11842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21" name="Group 31">
            <a:extLst>
              <a:ext uri="{FF2B5EF4-FFF2-40B4-BE49-F238E27FC236}">
                <a16:creationId xmlns:a16="http://schemas.microsoft.com/office/drawing/2014/main" id="{902F1FC4-934F-E320-B42B-01DB80423CE8}"/>
              </a:ext>
            </a:extLst>
          </p:cNvPr>
          <p:cNvGrpSpPr>
            <a:grpSpLocks/>
          </p:cNvGrpSpPr>
          <p:nvPr/>
        </p:nvGrpSpPr>
        <p:grpSpPr bwMode="auto">
          <a:xfrm>
            <a:off x="6519589" y="1324851"/>
            <a:ext cx="754063" cy="549275"/>
            <a:chOff x="3362" y="914"/>
            <a:chExt cx="475" cy="346"/>
          </a:xfrm>
        </p:grpSpPr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C5C41892-1356-C2B3-2D4B-C6FA29B36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2" y="1211"/>
              <a:ext cx="475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39C9A081-B85F-63CA-6AF6-12BDAB0E5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" y="914"/>
              <a:ext cx="363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0" lang="es-MX" altLang="es-CO" i="1">
                  <a:solidFill>
                    <a:srgbClr val="00FF00"/>
                  </a:solidFill>
                </a:rPr>
                <a:t>x</a:t>
              </a:r>
            </a:p>
          </p:txBody>
        </p:sp>
      </p:grpSp>
      <p:sp>
        <p:nvSpPr>
          <p:cNvPr id="24" name="Text Box 24">
            <a:extLst>
              <a:ext uri="{FF2B5EF4-FFF2-40B4-BE49-F238E27FC236}">
                <a16:creationId xmlns:a16="http://schemas.microsoft.com/office/drawing/2014/main" id="{7AE123E3-F7E5-8F08-01FA-8BA21F746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678" y="3391797"/>
            <a:ext cx="40957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/>
            <a:r>
              <a:rPr kumimoji="0" lang="es-MX" altLang="es-CO" sz="2400" i="1" dirty="0"/>
              <a:t>Elija el eje a la izquierda, luego sume los momentos de torsión:</a:t>
            </a:r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FA01C3A5-5A99-9991-2431-C70628AB6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9827" y="4780194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>
                <a:latin typeface="Symbol" panose="05050102010706020507" pitchFamily="18" charset="2"/>
              </a:rPr>
              <a:t>S</a:t>
            </a:r>
            <a:r>
              <a:rPr kumimoji="0" lang="es-MX" altLang="es-CO" sz="2400" i="1">
                <a:latin typeface="Symbol" panose="05050102010706020507" pitchFamily="18" charset="2"/>
              </a:rPr>
              <a:t>t</a:t>
            </a:r>
            <a:r>
              <a:rPr kumimoji="0" lang="es-MX" altLang="es-CO" sz="2400" i="1">
                <a:latin typeface="Times New Roman" panose="02020603050405020304" pitchFamily="18" charset="0"/>
              </a:rPr>
              <a:t>(cmr) = </a:t>
            </a:r>
            <a:r>
              <a:rPr kumimoji="0" lang="es-MX" altLang="es-CO" sz="2400">
                <a:latin typeface="Symbol" panose="05050102010706020507" pitchFamily="18" charset="2"/>
              </a:rPr>
              <a:t>S</a:t>
            </a:r>
            <a:r>
              <a:rPr kumimoji="0" lang="es-MX" altLang="es-CO" sz="2400" i="1">
                <a:latin typeface="Symbol" panose="05050102010706020507" pitchFamily="18" charset="2"/>
              </a:rPr>
              <a:t>t</a:t>
            </a:r>
            <a:r>
              <a:rPr kumimoji="0" lang="es-MX" altLang="es-CO" sz="2400" i="1">
                <a:latin typeface="Times New Roman" panose="02020603050405020304" pitchFamily="18" charset="0"/>
              </a:rPr>
              <a:t>(mr) 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D5F0023F-D43C-4C3A-2A98-C6B7799622AA}"/>
              </a:ext>
            </a:extLst>
          </p:cNvPr>
          <p:cNvGrpSpPr>
            <a:grpSpLocks/>
          </p:cNvGrpSpPr>
          <p:nvPr/>
        </p:nvGrpSpPr>
        <p:grpSpPr bwMode="auto">
          <a:xfrm>
            <a:off x="6421164" y="2586914"/>
            <a:ext cx="228600" cy="228600"/>
            <a:chOff x="3549" y="1823"/>
            <a:chExt cx="144" cy="144"/>
          </a:xfrm>
        </p:grpSpPr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EA85864C-A2BE-836F-03E7-33FF0C0E0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1823"/>
              <a:ext cx="144" cy="144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05E28596-14CA-BBD1-9C09-1E7DB5A26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9" y="1823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3C96474D-205B-87CB-90A3-0F6236D9F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49" y="1823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30" name="Text Box 30">
            <a:extLst>
              <a:ext uri="{FF2B5EF4-FFF2-40B4-BE49-F238E27FC236}">
                <a16:creationId xmlns:a16="http://schemas.microsoft.com/office/drawing/2014/main" id="{0DD08B0A-3694-BA2F-63C8-800871022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6064" y="1297864"/>
            <a:ext cx="5397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i="1">
                <a:solidFill>
                  <a:srgbClr val="00FF00"/>
                </a:solidFill>
              </a:rPr>
              <a:t>F</a:t>
            </a:r>
            <a:endParaRPr kumimoji="0" lang="es-MX" altLang="es-CO" i="1"/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21C47D4B-8AB1-9C10-3146-78B958F64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102" y="3896601"/>
            <a:ext cx="92075" cy="25336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E7A0A637-8728-F7C7-F60D-A79742E51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577" y="5298364"/>
            <a:ext cx="4618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F x = </a:t>
            </a:r>
            <a:r>
              <a:rPr kumimoji="0" lang="es-MX" altLang="es-CO" sz="2400" dirty="0"/>
              <a:t>(10 N)(4 m) + (5 N)(10 m)</a:t>
            </a:r>
            <a:endParaRPr kumimoji="0" lang="es-MX" altLang="es-CO" i="1" dirty="0"/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E5F11516-C2BC-216E-A7BA-BECAA936E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614" y="5717264"/>
            <a:ext cx="381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F x = </a:t>
            </a:r>
            <a:r>
              <a:rPr kumimoji="0" lang="es-MX" altLang="es-CO" sz="2400" dirty="0"/>
              <a:t>90.0 Nm</a:t>
            </a:r>
            <a:endParaRPr kumimoji="0" lang="es-MX" altLang="es-CO" sz="2400" i="1" dirty="0"/>
          </a:p>
        </p:txBody>
      </p:sp>
      <p:sp>
        <p:nvSpPr>
          <p:cNvPr id="34" name="Rectangle 35">
            <a:extLst>
              <a:ext uri="{FF2B5EF4-FFF2-40B4-BE49-F238E27FC236}">
                <a16:creationId xmlns:a16="http://schemas.microsoft.com/office/drawing/2014/main" id="{D75EA48D-AA85-DC41-F0ED-DA40D54BD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2464" y="3955339"/>
            <a:ext cx="325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s-MX" altLang="es-CO" sz="2400" i="1" dirty="0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F(arriba) = </a:t>
            </a:r>
            <a:r>
              <a:rPr kumimoji="0" lang="es-MX" altLang="es-CO" sz="2400" i="1" dirty="0">
                <a:latin typeface="Symbol" panose="05050102010706020507" pitchFamily="18" charset="2"/>
              </a:rPr>
              <a:t>S</a:t>
            </a:r>
            <a:r>
              <a:rPr kumimoji="0" lang="es-MX" altLang="es-CO" sz="2400" i="1" dirty="0">
                <a:latin typeface="Times New Roman" panose="02020603050405020304" pitchFamily="18" charset="0"/>
              </a:rPr>
              <a:t>F(abajo):</a:t>
            </a:r>
            <a:endParaRPr kumimoji="0" lang="es-MX" altLang="es-CO" i="1" dirty="0">
              <a:latin typeface="Times New Roman" panose="02020603050405020304" pitchFamily="18" charset="0"/>
            </a:endParaRPr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id="{CCD7A66D-522C-C2F2-005D-019CFFFAB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6913" y="4520489"/>
            <a:ext cx="366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i="1" dirty="0"/>
              <a:t>F = </a:t>
            </a:r>
            <a:r>
              <a:rPr kumimoji="0" lang="es-MX" altLang="es-CO" sz="2400" dirty="0"/>
              <a:t>30 N + 10 N + 5 N</a:t>
            </a:r>
            <a:endParaRPr kumimoji="0" lang="es-MX" altLang="es-CO" sz="2400" i="1" dirty="0"/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A63640C0-59A8-3639-2810-C162A48ED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876" y="5125272"/>
            <a:ext cx="334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s-MX" altLang="es-CO" sz="2400" dirty="0"/>
              <a:t>(45 N) </a:t>
            </a:r>
            <a:r>
              <a:rPr kumimoji="0" lang="es-MX" altLang="es-CO" sz="2400" i="1" dirty="0"/>
              <a:t>x</a:t>
            </a:r>
            <a:r>
              <a:rPr kumimoji="0" lang="es-MX" altLang="es-CO" sz="2400" dirty="0"/>
              <a:t> = 90 N</a:t>
            </a:r>
          </a:p>
        </p:txBody>
      </p:sp>
      <p:sp>
        <p:nvSpPr>
          <p:cNvPr id="37" name="Text Box 39">
            <a:extLst>
              <a:ext uri="{FF2B5EF4-FFF2-40B4-BE49-F238E27FC236}">
                <a16:creationId xmlns:a16="http://schemas.microsoft.com/office/drawing/2014/main" id="{8AD23E9E-F235-9FB1-5920-2F331B4B7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4469" y="5579351"/>
            <a:ext cx="1614488" cy="461665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r>
              <a:rPr kumimoji="0" lang="es-MX" altLang="es-CO" sz="2400" i="1">
                <a:solidFill>
                  <a:srgbClr val="000000"/>
                </a:solidFill>
              </a:rPr>
              <a:t>x = </a:t>
            </a:r>
            <a:r>
              <a:rPr kumimoji="0" lang="es-MX" altLang="es-CO" sz="2400">
                <a:solidFill>
                  <a:srgbClr val="000000"/>
                </a:solidFill>
              </a:rPr>
              <a:t>2.00 m</a:t>
            </a:r>
            <a:endParaRPr kumimoji="0" lang="es-MX" altLang="es-CO" sz="2400" i="1"/>
          </a:p>
        </p:txBody>
      </p:sp>
    </p:spTree>
    <p:extLst>
      <p:ext uri="{BB962C8B-B14F-4D97-AF65-F5344CB8AC3E}">
        <p14:creationId xmlns:p14="http://schemas.microsoft.com/office/powerpoint/2010/main" val="354861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9" grpId="0" build="p" autoUpdateAnimBg="0"/>
      <p:bldP spid="24" grpId="0" build="p" autoUpdateAnimBg="0"/>
      <p:bldP spid="25" grpId="0" build="p" autoUpdateAnimBg="0"/>
      <p:bldP spid="30" grpId="0" autoUpdateAnimBg="0"/>
      <p:bldP spid="32" grpId="0" build="p" autoUpdateAnimBg="0"/>
      <p:bldP spid="33" grpId="0" build="p" autoUpdateAnimBg="0"/>
      <p:bldP spid="34" grpId="0" build="p" autoUpdateAnimBg="0"/>
      <p:bldP spid="35" grpId="0" build="p" autoUpdateAnimBg="0"/>
      <p:bldP spid="36" grpId="0" build="p" autoUpdateAnimBg="0"/>
      <p:bldP spid="37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18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508</TotalTime>
  <Words>3616</Words>
  <Application>Microsoft Office PowerPoint</Application>
  <PresentationFormat>Panorámica</PresentationFormat>
  <Paragraphs>607</Paragraphs>
  <Slides>56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3</vt:i4>
      </vt:variant>
      <vt:variant>
        <vt:lpstr>Títulos de diapositiva</vt:lpstr>
      </vt:variant>
      <vt:variant>
        <vt:i4>56</vt:i4>
      </vt:variant>
    </vt:vector>
  </HeadingPairs>
  <TitlesOfParts>
    <vt:vector size="67" baseType="lpstr">
      <vt:lpstr>Aptos</vt:lpstr>
      <vt:lpstr>Aptos Display</vt:lpstr>
      <vt:lpstr>Arial</vt:lpstr>
      <vt:lpstr>Helvetica</vt:lpstr>
      <vt:lpstr>Symbol</vt:lpstr>
      <vt:lpstr>Tahoma</vt:lpstr>
      <vt:lpstr>Times New Roman</vt:lpstr>
      <vt:lpstr>Tema de Office</vt:lpstr>
      <vt:lpstr>MathType 4.0 Equation</vt:lpstr>
      <vt:lpstr>MathType 5.0 Equation</vt:lpstr>
      <vt:lpstr>Microsoft Clip Gallery</vt:lpstr>
      <vt:lpstr> Luis Enrique Mealla Sánchez enero – mayo 2026</vt:lpstr>
      <vt:lpstr>Segunda ley de Newton:</vt:lpstr>
      <vt:lpstr>Diagrama de vector fuerza</vt:lpstr>
      <vt:lpstr>Diagramas de cuerpo libre:</vt:lpstr>
      <vt:lpstr>Observe de nuevo el arreglo anterior</vt:lpstr>
      <vt:lpstr>Ejemplo. Dibuje un diagrama de cuerpo libre para el arreglo que se muestra a la izquierda. El asta es ligera y de peso despreciable.</vt:lpstr>
      <vt:lpstr>Fuerzas de fricción</vt:lpstr>
      <vt:lpstr>Fricción y fuerza normal</vt:lpstr>
      <vt:lpstr>Las fuerzas de fricción  son independientes del área.</vt:lpstr>
      <vt:lpstr>Las fuerzas de fricción son independientes de la temperatura, siempre que no ocurran variaciones químicas o estructurales.</vt:lpstr>
      <vt:lpstr>Las fuerzas de fricción  son independientes de la rapidez.</vt:lpstr>
      <vt:lpstr>La fuerza de fricción estática</vt:lpstr>
      <vt:lpstr>Movimiento constante o inminente</vt:lpstr>
      <vt:lpstr>Fricción y aceleración</vt:lpstr>
      <vt:lpstr>Ejemplo:  Si mk = 0.3 y ms = 0.5, ¿qué jalón horizontal P se requiere para apenas iniciar el movimiento de un bloque de 250-N?</vt:lpstr>
      <vt:lpstr>Ejemplo (cont.):  ms = 0.5, W = 250 N. Encontrar P  para superar fs (máx).  Aplique fricción estática.</vt:lpstr>
      <vt:lpstr>Ejemplo (cont.):  ms = 0.5, W = 250 N. Encontrar P  para superar fs (máx).  Ahora se conoce n = 250 N.</vt:lpstr>
      <vt:lpstr>Ejemplo (cont.):  Si mk = 0.3 y ms = 0.5, ¿qué jalón horizontal P se requiere para mover con rapidez constante? (Superar fricción cinética)</vt:lpstr>
      <vt:lpstr>La fuerza normal y el peso</vt:lpstr>
      <vt:lpstr>Presentación de PowerPoint</vt:lpstr>
      <vt:lpstr>Definición de momento de torsión</vt:lpstr>
      <vt:lpstr>El momento de torsión se determina por tres factores:</vt:lpstr>
      <vt:lpstr>Unidades para el momento de torsión</vt:lpstr>
      <vt:lpstr>Dirección del momento de torsión</vt:lpstr>
      <vt:lpstr>Convención de signos para el momento de torsión</vt:lpstr>
      <vt:lpstr>Línea de acción de una fuerza</vt:lpstr>
      <vt:lpstr>El brazo de momento</vt:lpstr>
      <vt:lpstr>Cálculo de momento de torsión</vt:lpstr>
      <vt:lpstr>Ejemplo:  Una fuerza de 80 N actúa en el extremo de una llave de 12 cm como se muestra. Encuentre el momento de torsión.</vt:lpstr>
      <vt:lpstr>Alternativo:  Una fuerza de 80 N actúa en el extremo de una llave de 12 cm como se muestra. Encuentre el momento de torsión.</vt:lpstr>
      <vt:lpstr>Cálculo del momento de torsión resultante</vt:lpstr>
      <vt:lpstr>Ejemplo:  Encuentre el momento de torsión resultante en torno al eje A para el arreglo que se muestra abajo:</vt:lpstr>
      <vt:lpstr>Ejemplo (cont.):  A continuación encuentre el momento de torsión debido a la fuerza de 30 N en torno al mismo eje A.</vt:lpstr>
      <vt:lpstr>Ejemplo (cont.):  Finalmente, considere el momento de torsión debido a la fuerza de 40 N.</vt:lpstr>
      <vt:lpstr>Ejemplo (conclusión):  Encuentre el momento de torsión resultante en torno al eje A para el arreglo que se muestra abajo:</vt:lpstr>
      <vt:lpstr>Equilibrio traslacional</vt:lpstr>
      <vt:lpstr>Equilibrio traslacional</vt:lpstr>
      <vt:lpstr>Estrategia para resolución de problemas</vt:lpstr>
      <vt:lpstr>Ejemplo. Encuentre la tensión en las cuerdas A y B.</vt:lpstr>
      <vt:lpstr>Ejemplo. Encuentre la tensión en las cuerdas A y B.</vt:lpstr>
      <vt:lpstr>Ejemplo. Encuentre la tensión en las cuerdas A y B.</vt:lpstr>
      <vt:lpstr>Ejemplo (cont.) Encontrar la tensión en A y B.</vt:lpstr>
      <vt:lpstr>Ejemplo (cont.)   Encontrar la tensión A y B. </vt:lpstr>
      <vt:lpstr>Ejemplo 3 (cont.)   Encontrar B con A = 200 N.</vt:lpstr>
      <vt:lpstr>Equilibrio traslacional</vt:lpstr>
      <vt:lpstr>Equilibrio rotacional</vt:lpstr>
      <vt:lpstr>Equilibrio</vt:lpstr>
      <vt:lpstr>Ejemplo:  Encuentre las fuerzas ejercidas por los soportes A y B. Desprecie el peso de la pluma de 10 m.</vt:lpstr>
      <vt:lpstr>Presentación de PowerPoint</vt:lpstr>
      <vt:lpstr>Ejemplo (cont.)</vt:lpstr>
      <vt:lpstr>Presentación de PowerPoint</vt:lpstr>
      <vt:lpstr>Presentación de PowerPoint</vt:lpstr>
      <vt:lpstr>Centro de gravedad</vt:lpstr>
      <vt:lpstr>Ejemplos de centro de gravedad</vt:lpstr>
      <vt:lpstr>Ejemplo: Encuentre el centro de gravedad del aparato que se muestra abajo. Desprecie el peso de las barras conectoras.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 CAROLINA VELASCO CALDERON</dc:creator>
  <cp:lastModifiedBy>LUIS ENRIQUE  MEALLA SANCHEZ</cp:lastModifiedBy>
  <cp:revision>41</cp:revision>
  <dcterms:created xsi:type="dcterms:W3CDTF">2024-07-29T16:18:31Z</dcterms:created>
  <dcterms:modified xsi:type="dcterms:W3CDTF">2026-04-05T23:31:40Z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67fb3e-ac31-4c8c-a672-17639f3ff98d_Enabled">
    <vt:lpwstr>true</vt:lpwstr>
  </property>
  <property fmtid="{D5CDD505-2E9C-101B-9397-08002B2CF9AE}" pid="3" name="MSIP_Label_cd67fb3e-ac31-4c8c-a672-17639f3ff98d_SetDate">
    <vt:lpwstr>2026-04-05T20:35:45Z</vt:lpwstr>
  </property>
  <property fmtid="{D5CDD505-2E9C-101B-9397-08002B2CF9AE}" pid="4" name="MSIP_Label_cd67fb3e-ac31-4c8c-a672-17639f3ff98d_Method">
    <vt:lpwstr>Standard</vt:lpwstr>
  </property>
  <property fmtid="{D5CDD505-2E9C-101B-9397-08002B2CF9AE}" pid="5" name="MSIP_Label_cd67fb3e-ac31-4c8c-a672-17639f3ff98d_Name">
    <vt:lpwstr>cédula</vt:lpwstr>
  </property>
  <property fmtid="{D5CDD505-2E9C-101B-9397-08002B2CF9AE}" pid="6" name="MSIP_Label_cd67fb3e-ac31-4c8c-a672-17639f3ff98d_SiteId">
    <vt:lpwstr>1e9aabe8-67f8-4f1c-a329-a754e92499ae</vt:lpwstr>
  </property>
  <property fmtid="{D5CDD505-2E9C-101B-9397-08002B2CF9AE}" pid="7" name="MSIP_Label_cd67fb3e-ac31-4c8c-a672-17639f3ff98d_ActionId">
    <vt:lpwstr>8d32a71c-ecb4-4760-8c0a-ac856a3a9d29</vt:lpwstr>
  </property>
  <property fmtid="{D5CDD505-2E9C-101B-9397-08002B2CF9AE}" pid="8" name="MSIP_Label_cd67fb3e-ac31-4c8c-a672-17639f3ff98d_ContentBits">
    <vt:lpwstr>0</vt:lpwstr>
  </property>
  <property fmtid="{D5CDD505-2E9C-101B-9397-08002B2CF9AE}" pid="9" name="MSIP_Label_cd67fb3e-ac31-4c8c-a672-17639f3ff98d_Tag">
    <vt:lpwstr>10, 3, 0, 1</vt:lpwstr>
  </property>
</Properties>
</file>