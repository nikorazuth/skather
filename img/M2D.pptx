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sldIdLst>
    <p:sldId id="256" r:id="rId2"/>
    <p:sldId id="268" r:id="rId3"/>
    <p:sldId id="269" r:id="rId4"/>
    <p:sldId id="270" r:id="rId5"/>
    <p:sldId id="271" r:id="rId6"/>
    <p:sldId id="272" r:id="rId7"/>
    <p:sldId id="273" r:id="rId8"/>
    <p:sldId id="274" r:id="rId9"/>
    <p:sldId id="275" r:id="rId10"/>
    <p:sldId id="276" r:id="rId11"/>
    <p:sldId id="277" r:id="rId12"/>
    <p:sldId id="278" r:id="rId13"/>
    <p:sldId id="279" r:id="rId14"/>
    <p:sldId id="280" r:id="rId15"/>
    <p:sldId id="281" r:id="rId16"/>
    <p:sldId id="282" r:id="rId17"/>
    <p:sldId id="283" r:id="rId18"/>
    <p:sldId id="284" r:id="rId19"/>
    <p:sldId id="260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30F2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535"/>
    <p:restoredTop sz="94626"/>
  </p:normalViewPr>
  <p:slideViewPr>
    <p:cSldViewPr snapToGrid="0">
      <p:cViewPr varScale="1">
        <p:scale>
          <a:sx n="68" d="100"/>
          <a:sy n="68" d="100"/>
        </p:scale>
        <p:origin x="71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10.wmf"/><Relationship Id="rId2" Type="http://schemas.openxmlformats.org/officeDocument/2006/relationships/image" Target="../media/image9.wmf"/><Relationship Id="rId1" Type="http://schemas.openxmlformats.org/officeDocument/2006/relationships/image" Target="../media/image8.w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12.wmf"/><Relationship Id="rId1" Type="http://schemas.openxmlformats.org/officeDocument/2006/relationships/image" Target="../media/image11.png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.wmf"/></Relationships>
</file>

<file path=ppt/drawings/_rels/vmlDrawing4.vml.rels><?xml version="1.0" encoding="UTF-8" standalone="yes"?>
<Relationships xmlns="http://schemas.openxmlformats.org/package/2006/relationships"><Relationship Id="rId2" Type="http://schemas.openxmlformats.org/officeDocument/2006/relationships/image" Target="../media/image8.wmf"/><Relationship Id="rId1" Type="http://schemas.openxmlformats.org/officeDocument/2006/relationships/image" Target="../media/image10.wmf"/></Relationships>
</file>

<file path=ppt/drawings/_rels/vmlDrawing5.vml.rels><?xml version="1.0" encoding="UTF-8" standalone="yes"?>
<Relationships xmlns="http://schemas.openxmlformats.org/package/2006/relationships"><Relationship Id="rId2" Type="http://schemas.openxmlformats.org/officeDocument/2006/relationships/image" Target="../media/image19.wmf"/><Relationship Id="rId1" Type="http://schemas.openxmlformats.org/officeDocument/2006/relationships/image" Target="../media/image18.wmf"/></Relationships>
</file>

<file path=ppt/drawings/_rels/vmlDrawing6.vml.rels><?xml version="1.0" encoding="UTF-8" standalone="yes"?>
<Relationships xmlns="http://schemas.openxmlformats.org/package/2006/relationships"><Relationship Id="rId2" Type="http://schemas.openxmlformats.org/officeDocument/2006/relationships/image" Target="../media/image21.wmf"/><Relationship Id="rId1" Type="http://schemas.openxmlformats.org/officeDocument/2006/relationships/image" Target="../media/image20.w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22.wmf"/></Relationships>
</file>

<file path=ppt/drawings/_rels/vmlDrawing8.vml.rels><?xml version="1.0" encoding="UTF-8" standalone="yes"?>
<Relationships xmlns="http://schemas.openxmlformats.org/package/2006/relationships"><Relationship Id="rId2" Type="http://schemas.openxmlformats.org/officeDocument/2006/relationships/image" Target="../media/image24.wmf"/><Relationship Id="rId1" Type="http://schemas.openxmlformats.org/officeDocument/2006/relationships/image" Target="../media/image23.wmf"/></Relationships>
</file>

<file path=ppt/drawings/_rels/vmlDrawing9.vml.rels><?xml version="1.0" encoding="UTF-8" standalone="yes"?>
<Relationships xmlns="http://schemas.openxmlformats.org/package/2006/relationships"><Relationship Id="rId3" Type="http://schemas.openxmlformats.org/officeDocument/2006/relationships/image" Target="../media/image28.wmf"/><Relationship Id="rId2" Type="http://schemas.openxmlformats.org/officeDocument/2006/relationships/image" Target="../media/image27.wmf"/><Relationship Id="rId1" Type="http://schemas.openxmlformats.org/officeDocument/2006/relationships/image" Target="../media/image26.w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24.w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MX"/>
              <a:t>Haz clic para editar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E7908B-2511-324D-860A-77FE7488EF5B}" type="datetimeFigureOut">
              <a:rPr lang="es-CO" smtClean="0"/>
              <a:t>22/10/2024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8235C6-B7AA-A44A-8C31-B61D46C9B51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7903878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E7908B-2511-324D-860A-77FE7488EF5B}" type="datetimeFigureOut">
              <a:rPr lang="es-CO" smtClean="0"/>
              <a:t>22/10/2024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8235C6-B7AA-A44A-8C31-B61D46C9B51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3199610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E7908B-2511-324D-860A-77FE7488EF5B}" type="datetimeFigureOut">
              <a:rPr lang="es-CO" smtClean="0"/>
              <a:t>22/10/2024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8235C6-B7AA-A44A-8C31-B61D46C9B51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293073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E7908B-2511-324D-860A-77FE7488EF5B}" type="datetimeFigureOut">
              <a:rPr lang="es-CO" smtClean="0"/>
              <a:t>22/10/2024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8235C6-B7AA-A44A-8C31-B61D46C9B51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9996503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E7908B-2511-324D-860A-77FE7488EF5B}" type="datetimeFigureOut">
              <a:rPr lang="es-CO" smtClean="0"/>
              <a:t>22/10/2024</a:t>
            </a:fld>
            <a:endParaRPr lang="es-CO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8235C6-B7AA-A44A-8C31-B61D46C9B51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0288760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E7908B-2511-324D-860A-77FE7488EF5B}" type="datetimeFigureOut">
              <a:rPr lang="es-CO" smtClean="0"/>
              <a:t>22/10/2024</a:t>
            </a:fld>
            <a:endParaRPr lang="es-C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8235C6-B7AA-A44A-8C31-B61D46C9B51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9093043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E7908B-2511-324D-860A-77FE7488EF5B}" type="datetimeFigureOut">
              <a:rPr lang="es-CO" smtClean="0"/>
              <a:t>22/10/2024</a:t>
            </a:fld>
            <a:endParaRPr lang="es-CO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8235C6-B7AA-A44A-8C31-B61D46C9B51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948235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E7908B-2511-324D-860A-77FE7488EF5B}" type="datetimeFigureOut">
              <a:rPr lang="es-CO" smtClean="0"/>
              <a:t>22/10/2024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8235C6-B7AA-A44A-8C31-B61D46C9B51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0692120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MX"/>
              <a:t>Haz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E7908B-2511-324D-860A-77FE7488EF5B}" type="datetimeFigureOut">
              <a:rPr lang="es-CO" smtClean="0"/>
              <a:t>22/10/2024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8235C6-B7AA-A44A-8C31-B61D46C9B51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7217199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E7908B-2511-324D-860A-77FE7488EF5B}" type="datetimeFigureOut">
              <a:rPr lang="es-CO" smtClean="0"/>
              <a:t>22/10/2024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8235C6-B7AA-A44A-8C31-B61D46C9B51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2941474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E7908B-2511-324D-860A-77FE7488EF5B}" type="datetimeFigureOut">
              <a:rPr lang="es-CO" smtClean="0"/>
              <a:t>22/10/2024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8235C6-B7AA-A44A-8C31-B61D46C9B51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012071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6E7908B-2511-324D-860A-77FE7488EF5B}" type="datetimeFigureOut">
              <a:rPr lang="es-CO" smtClean="0"/>
              <a:t>22/10/2024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E8235C6-B7AA-A44A-8C31-B61D46C9B51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124984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phet.colorado.edu/sims/html/projectile-motion/latest/projectile-motion_es.html" TargetMode="Externa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.bin"/><Relationship Id="rId3" Type="http://schemas.openxmlformats.org/officeDocument/2006/relationships/image" Target="../media/image2.jpg"/><Relationship Id="rId7" Type="http://schemas.openxmlformats.org/officeDocument/2006/relationships/image" Target="../media/image9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2.bin"/><Relationship Id="rId5" Type="http://schemas.openxmlformats.org/officeDocument/2006/relationships/image" Target="../media/image8.wmf"/><Relationship Id="rId4" Type="http://schemas.openxmlformats.org/officeDocument/2006/relationships/oleObject" Target="../embeddings/oleObject1.bin"/><Relationship Id="rId9" Type="http://schemas.openxmlformats.org/officeDocument/2006/relationships/image" Target="../media/image10.wmf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.bin"/><Relationship Id="rId3" Type="http://schemas.openxmlformats.org/officeDocument/2006/relationships/image" Target="../media/image2.jpg"/><Relationship Id="rId7" Type="http://schemas.openxmlformats.org/officeDocument/2006/relationships/image" Target="../media/image14.e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13.emf"/><Relationship Id="rId5" Type="http://schemas.openxmlformats.org/officeDocument/2006/relationships/image" Target="../media/image11.png"/><Relationship Id="rId4" Type="http://schemas.openxmlformats.org/officeDocument/2006/relationships/oleObject" Target="../embeddings/oleObject4.bin"/><Relationship Id="rId9" Type="http://schemas.openxmlformats.org/officeDocument/2006/relationships/image" Target="../media/image12.w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7" Type="http://schemas.openxmlformats.org/officeDocument/2006/relationships/image" Target="../media/image12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6" Type="http://schemas.openxmlformats.org/officeDocument/2006/relationships/oleObject" Target="../embeddings/oleObject6.bin"/><Relationship Id="rId5" Type="http://schemas.openxmlformats.org/officeDocument/2006/relationships/image" Target="../media/image14.emf"/><Relationship Id="rId4" Type="http://schemas.openxmlformats.org/officeDocument/2006/relationships/image" Target="../media/image15.e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7" Type="http://schemas.openxmlformats.org/officeDocument/2006/relationships/image" Target="../media/image8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6" Type="http://schemas.openxmlformats.org/officeDocument/2006/relationships/oleObject" Target="../embeddings/oleObject8.bin"/><Relationship Id="rId5" Type="http://schemas.openxmlformats.org/officeDocument/2006/relationships/image" Target="../media/image10.wmf"/><Relationship Id="rId4" Type="http://schemas.openxmlformats.org/officeDocument/2006/relationships/oleObject" Target="../embeddings/oleObject7.bin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educaplus.org/game/movimiento-circular-uniforme" TargetMode="Externa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7" Type="http://schemas.openxmlformats.org/officeDocument/2006/relationships/image" Target="../media/image19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6" Type="http://schemas.openxmlformats.org/officeDocument/2006/relationships/oleObject" Target="../embeddings/oleObject10.bin"/><Relationship Id="rId5" Type="http://schemas.openxmlformats.org/officeDocument/2006/relationships/image" Target="../media/image18.wmf"/><Relationship Id="rId4" Type="http://schemas.openxmlformats.org/officeDocument/2006/relationships/oleObject" Target="../embeddings/oleObject9.bin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7" Type="http://schemas.openxmlformats.org/officeDocument/2006/relationships/image" Target="../media/image21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6" Type="http://schemas.openxmlformats.org/officeDocument/2006/relationships/oleObject" Target="../embeddings/oleObject12.bin"/><Relationship Id="rId5" Type="http://schemas.openxmlformats.org/officeDocument/2006/relationships/image" Target="../media/image20.wmf"/><Relationship Id="rId4" Type="http://schemas.openxmlformats.org/officeDocument/2006/relationships/oleObject" Target="../embeddings/oleObject11.bin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5" Type="http://schemas.openxmlformats.org/officeDocument/2006/relationships/image" Target="../media/image22.wmf"/><Relationship Id="rId4" Type="http://schemas.openxmlformats.org/officeDocument/2006/relationships/oleObject" Target="../embeddings/oleObject13.bin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.jpg"/><Relationship Id="rId7" Type="http://schemas.openxmlformats.org/officeDocument/2006/relationships/image" Target="../media/image24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.vml"/><Relationship Id="rId6" Type="http://schemas.openxmlformats.org/officeDocument/2006/relationships/oleObject" Target="../embeddings/oleObject15.bin"/><Relationship Id="rId5" Type="http://schemas.openxmlformats.org/officeDocument/2006/relationships/image" Target="../media/image23.wmf"/><Relationship Id="rId4" Type="http://schemas.openxmlformats.org/officeDocument/2006/relationships/oleObject" Target="../embeddings/oleObject14.bin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8.bin"/><Relationship Id="rId3" Type="http://schemas.openxmlformats.org/officeDocument/2006/relationships/image" Target="../media/image2.jpg"/><Relationship Id="rId7" Type="http://schemas.openxmlformats.org/officeDocument/2006/relationships/image" Target="../media/image27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9.vml"/><Relationship Id="rId6" Type="http://schemas.openxmlformats.org/officeDocument/2006/relationships/oleObject" Target="../embeddings/oleObject17.bin"/><Relationship Id="rId5" Type="http://schemas.openxmlformats.org/officeDocument/2006/relationships/image" Target="../media/image26.wmf"/><Relationship Id="rId10" Type="http://schemas.openxmlformats.org/officeDocument/2006/relationships/hyperlink" Target="https://www.vascak.cz/data/android/physicsatschool/template.php?s=mech_kruznice&amp;l=es" TargetMode="External"/><Relationship Id="rId4" Type="http://schemas.openxmlformats.org/officeDocument/2006/relationships/oleObject" Target="../embeddings/oleObject16.bin"/><Relationship Id="rId9" Type="http://schemas.openxmlformats.org/officeDocument/2006/relationships/image" Target="../media/image28.wmf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0.vml"/><Relationship Id="rId5" Type="http://schemas.openxmlformats.org/officeDocument/2006/relationships/image" Target="../media/image24.wmf"/><Relationship Id="rId4" Type="http://schemas.openxmlformats.org/officeDocument/2006/relationships/oleObject" Target="../embeddings/oleObject19.bin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FE27CC1-4FD3-2994-9787-67BD00F7A0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81815" y="1122363"/>
            <a:ext cx="5820033" cy="2387600"/>
          </a:xfrm>
        </p:spPr>
        <p:txBody>
          <a:bodyPr/>
          <a:lstStyle/>
          <a:p>
            <a:r>
              <a:rPr kumimoji="0" lang="es-MX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ell MT" panose="02020503060305020303" pitchFamily="18" charset="0"/>
                <a:ea typeface="+mj-ea"/>
                <a:cs typeface="+mj-cs"/>
              </a:rPr>
              <a:t>Física Mecánica</a:t>
            </a:r>
            <a:br>
              <a:rPr kumimoji="0" lang="es-MX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ell MT" panose="02020503060305020303" pitchFamily="18" charset="0"/>
                <a:ea typeface="+mj-ea"/>
                <a:cs typeface="+mj-cs"/>
              </a:rPr>
            </a:br>
            <a:r>
              <a:rPr kumimoji="0" lang="es-MX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ell MT" panose="02020503060305020303" pitchFamily="18" charset="0"/>
                <a:ea typeface="+mj-ea"/>
                <a:cs typeface="+mj-cs"/>
              </a:rPr>
              <a:t>Movimiento en </a:t>
            </a:r>
            <a:r>
              <a:rPr kumimoji="0" lang="es-MX" sz="3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ell MT" panose="02020503060305020303" pitchFamily="18" charset="0"/>
                <a:ea typeface="+mj-ea"/>
                <a:cs typeface="+mj-cs"/>
              </a:rPr>
              <a:t>dos dimensiones</a:t>
            </a:r>
            <a:endParaRPr lang="es-CO" dirty="0">
              <a:solidFill>
                <a:srgbClr val="130F24"/>
              </a:solidFill>
              <a:latin typeface="Helvetica" pitchFamily="2" charset="0"/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A3EAEB7-1BBB-A97B-2137-1F4BF9829B4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81814" y="3744096"/>
            <a:ext cx="5820033" cy="1513703"/>
          </a:xfrm>
        </p:spPr>
        <p:txBody>
          <a:bodyPr/>
          <a:lstStyle/>
          <a:p>
            <a:r>
              <a:rPr lang="es-MX" sz="2400" dirty="0">
                <a:latin typeface="Bell MT" panose="02020503060305020303" pitchFamily="18" charset="0"/>
              </a:rPr>
              <a:t>Luis Enrique </a:t>
            </a:r>
            <a:r>
              <a:rPr lang="es-MX" sz="2400" dirty="0" err="1">
                <a:latin typeface="Bell MT" panose="02020503060305020303" pitchFamily="18" charset="0"/>
              </a:rPr>
              <a:t>Mealla</a:t>
            </a:r>
            <a:r>
              <a:rPr lang="es-MX" sz="2400" dirty="0">
                <a:latin typeface="Bell MT" panose="02020503060305020303" pitchFamily="18" charset="0"/>
              </a:rPr>
              <a:t> Sánchez</a:t>
            </a:r>
            <a:br>
              <a:rPr lang="es-MX" sz="2400" dirty="0">
                <a:latin typeface="Bell MT" panose="02020503060305020303" pitchFamily="18" charset="0"/>
              </a:rPr>
            </a:br>
            <a:r>
              <a:rPr lang="es-MX" sz="2400" dirty="0">
                <a:latin typeface="Bell MT" panose="02020503060305020303" pitchFamily="18" charset="0"/>
              </a:rPr>
              <a:t>septiembre – diciembre 2024</a:t>
            </a:r>
            <a:endParaRPr lang="es-CO" dirty="0">
              <a:solidFill>
                <a:srgbClr val="130F24"/>
              </a:solidFill>
              <a:latin typeface="Helvetic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388147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3 Título">
            <a:extLst>
              <a:ext uri="{FF2B5EF4-FFF2-40B4-BE49-F238E27FC236}">
                <a16:creationId xmlns:a16="http://schemas.microsoft.com/office/drawing/2014/main" id="{D1FD358E-E007-4058-88AE-313F96E94C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801" y="115888"/>
            <a:ext cx="8640233" cy="792162"/>
          </a:xfrm>
        </p:spPr>
        <p:txBody>
          <a:bodyPr>
            <a:normAutofit/>
          </a:bodyPr>
          <a:lstStyle/>
          <a:p>
            <a:r>
              <a:rPr lang="es-MX" sz="2400" dirty="0"/>
              <a:t>Movimiento en dos y tres dimensiones</a:t>
            </a:r>
            <a:endParaRPr lang="es-CO" sz="2400" dirty="0"/>
          </a:p>
        </p:txBody>
      </p:sp>
      <p:sp>
        <p:nvSpPr>
          <p:cNvPr id="7" name="12 Marcador de fecha">
            <a:extLst>
              <a:ext uri="{FF2B5EF4-FFF2-40B4-BE49-F238E27FC236}">
                <a16:creationId xmlns:a16="http://schemas.microsoft.com/office/drawing/2014/main" id="{0DB6F878-F669-48A6-864A-0574F46D7FBE}"/>
              </a:ext>
            </a:extLst>
          </p:cNvPr>
          <p:cNvSpPr txBox="1">
            <a:spLocks/>
          </p:cNvSpPr>
          <p:nvPr/>
        </p:nvSpPr>
        <p:spPr>
          <a:xfrm>
            <a:off x="2351584" y="1670128"/>
            <a:ext cx="8496300" cy="365125"/>
          </a:xfrm>
          <a:prstGeom prst="rect">
            <a:avLst/>
          </a:prstGeom>
        </p:spPr>
        <p:txBody>
          <a:bodyPr/>
          <a:lstStyle>
            <a:lvl1pPr algn="l">
              <a:defRPr sz="1600" b="1"/>
            </a:lvl1pPr>
          </a:lstStyle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s-CO" sz="16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ＭＳ Ｐゴシック" charset="-128"/>
              <a:cs typeface="+mn-cs"/>
            </a:endParaRP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7C1E4E5D-4E77-4C7B-BBA2-5393D4E07E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14537" y="2003043"/>
            <a:ext cx="8162925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36000" tIns="36000" rIns="36000" bIns="36000" numCol="1" anchor="ctr" anchorCtr="0" compatLnSpc="1">
            <a:prstTxWarp prst="textNoShape">
              <a:avLst/>
            </a:prstTxWarp>
          </a:bodyPr>
          <a:lstStyle>
            <a:lvl1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lang="es-ES_tradnl" sz="2000" b="1" kern="1200">
                <a:solidFill>
                  <a:schemeClr val="bg1"/>
                </a:solidFill>
                <a:latin typeface="+mj-lt"/>
                <a:ea typeface="ＭＳ Ｐゴシック" charset="-128"/>
                <a:cs typeface="ＭＳ Ｐゴシック" charset="-128"/>
              </a:defRPr>
            </a:lvl1pPr>
            <a:lvl2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Trebuchet MS" charset="0"/>
                <a:ea typeface="ＭＳ Ｐゴシック" charset="-128"/>
                <a:cs typeface="ＭＳ Ｐゴシック" charset="-128"/>
              </a:defRPr>
            </a:lvl2pPr>
            <a:lvl3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Trebuchet MS" charset="0"/>
                <a:ea typeface="ＭＳ Ｐゴシック" charset="-128"/>
                <a:cs typeface="ＭＳ Ｐゴシック" charset="-128"/>
              </a:defRPr>
            </a:lvl3pPr>
            <a:lvl4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Trebuchet MS" charset="0"/>
                <a:ea typeface="ＭＳ Ｐゴシック" charset="-128"/>
                <a:cs typeface="ＭＳ Ｐゴシック" charset="-128"/>
              </a:defRPr>
            </a:lvl4pPr>
            <a:lvl5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Trebuchet MS" charset="0"/>
                <a:ea typeface="ＭＳ Ｐゴシック" charset="-128"/>
                <a:cs typeface="ＭＳ Ｐゴシック" charset="-128"/>
              </a:defRPr>
            </a:lvl5pPr>
            <a:lvl6pPr marL="4572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Trebuchet MS" charset="0"/>
                <a:ea typeface="ＭＳ Ｐゴシック" charset="-128"/>
                <a:cs typeface="ＭＳ Ｐゴシック" charset="-128"/>
              </a:defRPr>
            </a:lvl6pPr>
            <a:lvl7pPr marL="9144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Trebuchet MS" charset="0"/>
                <a:ea typeface="ＭＳ Ｐゴシック" charset="-128"/>
                <a:cs typeface="ＭＳ Ｐゴシック" charset="-128"/>
              </a:defRPr>
            </a:lvl7pPr>
            <a:lvl8pPr marL="13716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Trebuchet MS" charset="0"/>
                <a:ea typeface="ＭＳ Ｐゴシック" charset="-128"/>
                <a:cs typeface="ＭＳ Ｐゴシック" charset="-128"/>
              </a:defRPr>
            </a:lvl8pPr>
            <a:lvl9pPr marL="18288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Trebuchet MS" charset="0"/>
                <a:ea typeface="ＭＳ Ｐゴシック" charset="-128"/>
                <a:cs typeface="ＭＳ Ｐゴシック" charset="-128"/>
              </a:defRPr>
            </a:lvl9pPr>
          </a:lstStyle>
          <a:p>
            <a:pPr fontAlgn="auto">
              <a:spcAft>
                <a:spcPts val="0"/>
              </a:spcAft>
              <a:defRPr/>
            </a:pPr>
            <a:r>
              <a:rPr lang="es-MX" b="0" dirty="0">
                <a:solidFill>
                  <a:schemeClr val="accent6">
                    <a:lumMod val="10000"/>
                  </a:schemeClr>
                </a:solidFill>
              </a:rPr>
              <a:t>Contenido</a:t>
            </a: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29AA9944-745E-4577-BB8D-80D3F8AB88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0995" y="1798256"/>
            <a:ext cx="3124200" cy="1933575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101F53F9-155C-403F-AB43-DB2BA0BE34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10995" y="3984034"/>
            <a:ext cx="3124200" cy="2093010"/>
          </a:xfrm>
          <a:prstGeom prst="rect">
            <a:avLst/>
          </a:prstGeom>
        </p:spPr>
      </p:pic>
      <p:sp>
        <p:nvSpPr>
          <p:cNvPr id="11" name="Rectangle 3">
            <a:extLst>
              <a:ext uri="{FF2B5EF4-FFF2-40B4-BE49-F238E27FC236}">
                <a16:creationId xmlns:a16="http://schemas.microsoft.com/office/drawing/2014/main" id="{5841CD1E-C30D-4B88-B882-940EB20CD505}"/>
              </a:ext>
            </a:extLst>
          </p:cNvPr>
          <p:cNvSpPr txBox="1">
            <a:spLocks noChangeArrowheads="1"/>
          </p:cNvSpPr>
          <p:nvPr/>
        </p:nvSpPr>
        <p:spPr>
          <a:xfrm>
            <a:off x="1488350" y="2873966"/>
            <a:ext cx="7902922" cy="4187825"/>
          </a:xfrm>
          <a:prstGeom prst="rect">
            <a:avLst/>
          </a:prstGeom>
        </p:spPr>
        <p:txBody>
          <a:bodyPr/>
          <a:lstStyle>
            <a:lvl1pPr marL="342900" indent="-3429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ＭＳ Ｐゴシック" charset="-128"/>
                <a:cs typeface="ＭＳ Ｐゴシック" charset="-128"/>
              </a:defRPr>
            </a:lvl1pPr>
            <a:lvl2pPr marL="742950" indent="-28575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Arial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2pPr>
            <a:lvl3pPr marL="1143000" indent="-2286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Arial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3pPr>
            <a:lvl4pPr marL="1600200" indent="-2286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Arial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4pPr>
            <a:lvl5pPr marL="2057400" indent="-2286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Arial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MX" altLang="es-ES" sz="2000" dirty="0">
                <a:solidFill>
                  <a:schemeClr val="accent6">
                    <a:lumMod val="10000"/>
                  </a:schemeClr>
                </a:solidFill>
              </a:rPr>
              <a:t>Aceleración constante</a:t>
            </a:r>
          </a:p>
          <a:p>
            <a:r>
              <a:rPr lang="es-MX" altLang="es-ES" sz="2000" dirty="0">
                <a:solidFill>
                  <a:schemeClr val="accent6">
                    <a:lumMod val="10000"/>
                  </a:schemeClr>
                </a:solidFill>
              </a:rPr>
              <a:t>Movimiento de proyectiles</a:t>
            </a:r>
          </a:p>
          <a:p>
            <a:r>
              <a:rPr lang="es-MX" altLang="es-ES" sz="2000" dirty="0">
                <a:solidFill>
                  <a:schemeClr val="accent6">
                    <a:lumMod val="10000"/>
                  </a:schemeClr>
                </a:solidFill>
              </a:rPr>
              <a:t>Movimiento circular</a:t>
            </a:r>
          </a:p>
          <a:p>
            <a:r>
              <a:rPr lang="es-MX" altLang="es-ES" sz="2000" dirty="0">
                <a:solidFill>
                  <a:schemeClr val="accent6">
                    <a:lumMod val="10000"/>
                  </a:schemeClr>
                </a:solidFill>
              </a:rPr>
              <a:t>Movimiento relativo</a:t>
            </a:r>
          </a:p>
        </p:txBody>
      </p:sp>
    </p:spTree>
    <p:extLst>
      <p:ext uri="{BB962C8B-B14F-4D97-AF65-F5344CB8AC3E}">
        <p14:creationId xmlns:p14="http://schemas.microsoft.com/office/powerpoint/2010/main" val="7964503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3 Título">
            <a:extLst>
              <a:ext uri="{FF2B5EF4-FFF2-40B4-BE49-F238E27FC236}">
                <a16:creationId xmlns:a16="http://schemas.microsoft.com/office/drawing/2014/main" id="{4D4B7897-8DC7-4570-B385-3A5634B8F3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801" y="115888"/>
            <a:ext cx="8640233" cy="792162"/>
          </a:xfrm>
        </p:spPr>
        <p:txBody>
          <a:bodyPr>
            <a:normAutofit/>
          </a:bodyPr>
          <a:lstStyle/>
          <a:p>
            <a:r>
              <a:rPr lang="es-ES_tradnl" altLang="es-ES" sz="2400" b="0" dirty="0"/>
              <a:t>Movimiento en dos dimensiones con a</a:t>
            </a:r>
            <a:r>
              <a:rPr lang="es-ES_tradnl" altLang="es-ES" sz="2400" b="0" dirty="0">
                <a:effectLst/>
              </a:rPr>
              <a:t>celeración constante</a:t>
            </a:r>
            <a:endParaRPr lang="es-CO" sz="2400" dirty="0"/>
          </a:p>
        </p:txBody>
      </p:sp>
      <p:sp>
        <p:nvSpPr>
          <p:cNvPr id="7" name="Text Box 4">
            <a:extLst>
              <a:ext uri="{FF2B5EF4-FFF2-40B4-BE49-F238E27FC236}">
                <a16:creationId xmlns:a16="http://schemas.microsoft.com/office/drawing/2014/main" id="{41CD08F0-F64E-413C-B3EB-E139E6931D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20094" y="1011522"/>
            <a:ext cx="8151812" cy="10618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ts val="25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 eaLnBrk="0" hangingPunct="0">
              <a:spcBef>
                <a:spcPts val="250"/>
              </a:spcBef>
              <a:buClr>
                <a:schemeClr val="accent1"/>
              </a:buClr>
              <a:buSzPct val="100000"/>
              <a:buFont typeface="Verdana" panose="020B0604030504040204" pitchFamily="34" charset="0"/>
              <a:buChar char="◦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 eaLnBrk="0" hangingPunct="0">
              <a:spcBef>
                <a:spcPts val="250"/>
              </a:spcBef>
              <a:buClr>
                <a:srgbClr val="ED3742"/>
              </a:buClr>
              <a:buSzPct val="100000"/>
              <a:buFont typeface="Wingdings 2" panose="05020102010507070707" pitchFamily="18" charset="2"/>
              <a:buChar char="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 eaLnBrk="0" hangingPunct="0">
              <a:spcBef>
                <a:spcPts val="225"/>
              </a:spcBef>
              <a:buClr>
                <a:srgbClr val="ED3742"/>
              </a:buClr>
              <a:buSzPct val="112000"/>
              <a:buFont typeface="Verdana" panose="020B0604030504040204" pitchFamily="34" charset="0"/>
              <a:buChar char="◦"/>
              <a:defRPr sz="19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 eaLnBrk="0" hangingPunct="0">
              <a:spcBef>
                <a:spcPts val="250"/>
              </a:spcBef>
              <a:buClr>
                <a:srgbClr val="4A85BF"/>
              </a:buClr>
              <a:buSzPct val="100000"/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ts val="250"/>
              </a:spcBef>
              <a:spcAft>
                <a:spcPct val="0"/>
              </a:spcAft>
              <a:buClr>
                <a:srgbClr val="4A85BF"/>
              </a:buClr>
              <a:buSzPct val="100000"/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ts val="250"/>
              </a:spcBef>
              <a:spcAft>
                <a:spcPct val="0"/>
              </a:spcAft>
              <a:buClr>
                <a:srgbClr val="4A85BF"/>
              </a:buClr>
              <a:buSzPct val="100000"/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ts val="250"/>
              </a:spcBef>
              <a:spcAft>
                <a:spcPct val="0"/>
              </a:spcAft>
              <a:buClr>
                <a:srgbClr val="4A85BF"/>
              </a:buClr>
              <a:buSzPct val="100000"/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ts val="250"/>
              </a:spcBef>
              <a:spcAft>
                <a:spcPct val="0"/>
              </a:spcAft>
              <a:buClr>
                <a:srgbClr val="4A85BF"/>
              </a:buClr>
              <a:buSzPct val="100000"/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s-ES_tradnl" altLang="es-ES" sz="1800" dirty="0">
                <a:solidFill>
                  <a:schemeClr val="accent6">
                    <a:lumMod val="10000"/>
                  </a:schemeClr>
                </a:solidFill>
                <a:latin typeface="+mj-lt"/>
              </a:rPr>
              <a:t>Las ecuaciones de cinemática para la aceleración constante en forma vectorial son:</a:t>
            </a:r>
          </a:p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s-ES_tradnl" altLang="es-ES" sz="1800" b="1" dirty="0">
                <a:solidFill>
                  <a:schemeClr val="accent6">
                    <a:lumMod val="10000"/>
                  </a:schemeClr>
                </a:solidFill>
                <a:latin typeface="+mj-lt"/>
              </a:rPr>
              <a:t>v</a:t>
            </a:r>
            <a:r>
              <a:rPr lang="es-ES_tradnl" altLang="es-ES" sz="1800" dirty="0">
                <a:solidFill>
                  <a:schemeClr val="accent6">
                    <a:lumMod val="10000"/>
                  </a:schemeClr>
                </a:solidFill>
                <a:latin typeface="+mj-lt"/>
              </a:rPr>
              <a:t> = </a:t>
            </a:r>
            <a:r>
              <a:rPr lang="es-ES_tradnl" altLang="es-ES" sz="1800" b="1" dirty="0">
                <a:solidFill>
                  <a:schemeClr val="accent6">
                    <a:lumMod val="10000"/>
                  </a:schemeClr>
                </a:solidFill>
                <a:latin typeface="+mj-lt"/>
              </a:rPr>
              <a:t>v</a:t>
            </a:r>
            <a:r>
              <a:rPr lang="es-ES_tradnl" altLang="es-ES" sz="1800" baseline="-25000" dirty="0">
                <a:solidFill>
                  <a:schemeClr val="accent6">
                    <a:lumMod val="10000"/>
                  </a:schemeClr>
                </a:solidFill>
                <a:latin typeface="+mj-lt"/>
              </a:rPr>
              <a:t>0</a:t>
            </a:r>
            <a:r>
              <a:rPr lang="es-ES_tradnl" altLang="es-ES" sz="1800" dirty="0">
                <a:solidFill>
                  <a:schemeClr val="accent6">
                    <a:lumMod val="10000"/>
                  </a:schemeClr>
                </a:solidFill>
                <a:latin typeface="+mj-lt"/>
              </a:rPr>
              <a:t> + </a:t>
            </a:r>
            <a:r>
              <a:rPr lang="es-ES_tradnl" altLang="es-ES" sz="1800" b="1" dirty="0">
                <a:solidFill>
                  <a:schemeClr val="accent6">
                    <a:lumMod val="10000"/>
                  </a:schemeClr>
                </a:solidFill>
                <a:latin typeface="+mj-lt"/>
              </a:rPr>
              <a:t>a</a:t>
            </a:r>
            <a:r>
              <a:rPr lang="es-ES_tradnl" altLang="es-ES" sz="1800" dirty="0">
                <a:solidFill>
                  <a:schemeClr val="accent6">
                    <a:lumMod val="10000"/>
                  </a:schemeClr>
                </a:solidFill>
                <a:latin typeface="+mj-lt"/>
              </a:rPr>
              <a:t> </a:t>
            </a:r>
            <a:r>
              <a:rPr lang="es-ES_tradnl" altLang="es-ES" sz="1800" i="1" dirty="0">
                <a:solidFill>
                  <a:schemeClr val="accent6">
                    <a:lumMod val="10000"/>
                  </a:schemeClr>
                </a:solidFill>
                <a:latin typeface="+mj-lt"/>
              </a:rPr>
              <a:t>t	               </a:t>
            </a:r>
            <a:r>
              <a:rPr lang="es-ES_tradnl" altLang="es-ES" sz="1800" b="1" dirty="0">
                <a:solidFill>
                  <a:schemeClr val="accent6">
                    <a:lumMod val="10000"/>
                  </a:schemeClr>
                </a:solidFill>
                <a:latin typeface="+mj-lt"/>
              </a:rPr>
              <a:t>r</a:t>
            </a:r>
            <a:r>
              <a:rPr lang="es-ES_tradnl" altLang="es-ES" sz="1800" dirty="0">
                <a:solidFill>
                  <a:schemeClr val="accent6">
                    <a:lumMod val="10000"/>
                  </a:schemeClr>
                </a:solidFill>
                <a:latin typeface="+mj-lt"/>
              </a:rPr>
              <a:t> = </a:t>
            </a:r>
            <a:r>
              <a:rPr lang="es-ES_tradnl" altLang="es-ES" sz="1800" b="1" dirty="0">
                <a:solidFill>
                  <a:schemeClr val="accent6">
                    <a:lumMod val="10000"/>
                  </a:schemeClr>
                </a:solidFill>
                <a:latin typeface="+mj-lt"/>
              </a:rPr>
              <a:t>r</a:t>
            </a:r>
            <a:r>
              <a:rPr lang="es-ES_tradnl" altLang="es-ES" sz="1800" baseline="-25000" dirty="0">
                <a:solidFill>
                  <a:schemeClr val="accent6">
                    <a:lumMod val="10000"/>
                  </a:schemeClr>
                </a:solidFill>
                <a:latin typeface="+mj-lt"/>
              </a:rPr>
              <a:t>0</a:t>
            </a:r>
            <a:r>
              <a:rPr lang="es-ES_tradnl" altLang="es-ES" sz="1800" dirty="0">
                <a:solidFill>
                  <a:schemeClr val="accent6">
                    <a:lumMod val="10000"/>
                  </a:schemeClr>
                </a:solidFill>
                <a:latin typeface="+mj-lt"/>
              </a:rPr>
              <a:t> + 1/2(</a:t>
            </a:r>
            <a:r>
              <a:rPr lang="es-ES_tradnl" altLang="es-ES" sz="1800" b="1" dirty="0">
                <a:solidFill>
                  <a:schemeClr val="accent6">
                    <a:lumMod val="10000"/>
                  </a:schemeClr>
                </a:solidFill>
                <a:latin typeface="+mj-lt"/>
              </a:rPr>
              <a:t>v </a:t>
            </a:r>
            <a:r>
              <a:rPr lang="es-ES_tradnl" altLang="es-ES" sz="1800" dirty="0">
                <a:solidFill>
                  <a:schemeClr val="accent6">
                    <a:lumMod val="10000"/>
                  </a:schemeClr>
                </a:solidFill>
                <a:latin typeface="+mj-lt"/>
              </a:rPr>
              <a:t>+</a:t>
            </a:r>
            <a:r>
              <a:rPr lang="es-ES_tradnl" altLang="es-ES" sz="1800" b="1" dirty="0">
                <a:solidFill>
                  <a:schemeClr val="accent6">
                    <a:lumMod val="10000"/>
                  </a:schemeClr>
                </a:solidFill>
                <a:latin typeface="+mj-lt"/>
              </a:rPr>
              <a:t> v</a:t>
            </a:r>
            <a:r>
              <a:rPr lang="es-ES_tradnl" altLang="es-ES" sz="1800" baseline="-25000" dirty="0">
                <a:solidFill>
                  <a:schemeClr val="accent6">
                    <a:lumMod val="10000"/>
                  </a:schemeClr>
                </a:solidFill>
                <a:latin typeface="+mj-lt"/>
              </a:rPr>
              <a:t>0</a:t>
            </a:r>
            <a:r>
              <a:rPr lang="es-ES_tradnl" altLang="es-ES" sz="1800" dirty="0">
                <a:solidFill>
                  <a:schemeClr val="accent6">
                    <a:lumMod val="10000"/>
                  </a:schemeClr>
                </a:solidFill>
                <a:latin typeface="+mj-lt"/>
              </a:rPr>
              <a:t>)</a:t>
            </a:r>
            <a:r>
              <a:rPr lang="es-ES_tradnl" altLang="es-ES" sz="1800" i="1" dirty="0">
                <a:solidFill>
                  <a:schemeClr val="accent6">
                    <a:lumMod val="10000"/>
                  </a:schemeClr>
                </a:solidFill>
                <a:latin typeface="+mj-lt"/>
              </a:rPr>
              <a:t>t	                  </a:t>
            </a:r>
            <a:r>
              <a:rPr lang="es-ES_tradnl" altLang="es-ES" sz="1800" b="1" dirty="0">
                <a:solidFill>
                  <a:schemeClr val="accent6">
                    <a:lumMod val="10000"/>
                  </a:schemeClr>
                </a:solidFill>
                <a:latin typeface="+mj-lt"/>
              </a:rPr>
              <a:t>r</a:t>
            </a:r>
            <a:r>
              <a:rPr lang="es-ES_tradnl" altLang="es-ES" sz="1800" dirty="0">
                <a:solidFill>
                  <a:schemeClr val="accent6">
                    <a:lumMod val="10000"/>
                  </a:schemeClr>
                </a:solidFill>
                <a:latin typeface="+mj-lt"/>
              </a:rPr>
              <a:t> = </a:t>
            </a:r>
            <a:r>
              <a:rPr lang="es-ES_tradnl" altLang="es-ES" sz="1800" b="1" dirty="0">
                <a:solidFill>
                  <a:schemeClr val="accent6">
                    <a:lumMod val="10000"/>
                  </a:schemeClr>
                </a:solidFill>
                <a:latin typeface="+mj-lt"/>
              </a:rPr>
              <a:t>r</a:t>
            </a:r>
            <a:r>
              <a:rPr lang="es-ES_tradnl" altLang="es-ES" sz="1800" baseline="-25000" dirty="0">
                <a:solidFill>
                  <a:schemeClr val="accent6">
                    <a:lumMod val="10000"/>
                  </a:schemeClr>
                </a:solidFill>
                <a:latin typeface="+mj-lt"/>
              </a:rPr>
              <a:t>0</a:t>
            </a:r>
            <a:r>
              <a:rPr lang="es-ES_tradnl" altLang="es-ES" sz="1800" dirty="0">
                <a:solidFill>
                  <a:schemeClr val="accent6">
                    <a:lumMod val="10000"/>
                  </a:schemeClr>
                </a:solidFill>
                <a:latin typeface="+mj-lt"/>
              </a:rPr>
              <a:t> + </a:t>
            </a:r>
            <a:r>
              <a:rPr lang="es-ES_tradnl" altLang="es-ES" sz="1800" b="1" dirty="0">
                <a:solidFill>
                  <a:schemeClr val="accent6">
                    <a:lumMod val="10000"/>
                  </a:schemeClr>
                </a:solidFill>
                <a:latin typeface="+mj-lt"/>
              </a:rPr>
              <a:t>v</a:t>
            </a:r>
            <a:r>
              <a:rPr lang="es-ES_tradnl" altLang="es-ES" sz="1800" baseline="-25000" dirty="0">
                <a:solidFill>
                  <a:schemeClr val="accent6">
                    <a:lumMod val="10000"/>
                  </a:schemeClr>
                </a:solidFill>
                <a:latin typeface="+mj-lt"/>
              </a:rPr>
              <a:t>0</a:t>
            </a:r>
            <a:r>
              <a:rPr lang="es-ES_tradnl" altLang="es-ES" sz="1800" i="1" dirty="0">
                <a:solidFill>
                  <a:schemeClr val="accent6">
                    <a:lumMod val="10000"/>
                  </a:schemeClr>
                </a:solidFill>
                <a:latin typeface="+mj-lt"/>
              </a:rPr>
              <a:t>t</a:t>
            </a:r>
            <a:r>
              <a:rPr lang="es-ES_tradnl" altLang="es-ES" sz="1800" dirty="0">
                <a:solidFill>
                  <a:schemeClr val="accent6">
                    <a:lumMod val="10000"/>
                  </a:schemeClr>
                </a:solidFill>
                <a:latin typeface="+mj-lt"/>
              </a:rPr>
              <a:t> + 1/2 </a:t>
            </a:r>
            <a:r>
              <a:rPr lang="es-ES_tradnl" altLang="es-ES" sz="1800" b="1" dirty="0">
                <a:solidFill>
                  <a:schemeClr val="accent6">
                    <a:lumMod val="10000"/>
                  </a:schemeClr>
                </a:solidFill>
                <a:latin typeface="+mj-lt"/>
              </a:rPr>
              <a:t>a</a:t>
            </a:r>
            <a:r>
              <a:rPr lang="es-ES_tradnl" altLang="es-ES" sz="1800" dirty="0">
                <a:solidFill>
                  <a:schemeClr val="accent6">
                    <a:lumMod val="10000"/>
                  </a:schemeClr>
                </a:solidFill>
                <a:latin typeface="+mj-lt"/>
              </a:rPr>
              <a:t> </a:t>
            </a:r>
            <a:r>
              <a:rPr lang="es-ES_tradnl" altLang="es-ES" sz="1800" i="1" dirty="0">
                <a:solidFill>
                  <a:schemeClr val="accent6">
                    <a:lumMod val="10000"/>
                  </a:schemeClr>
                </a:solidFill>
                <a:latin typeface="+mj-lt"/>
              </a:rPr>
              <a:t>t</a:t>
            </a:r>
            <a:r>
              <a:rPr lang="es-ES_tradnl" altLang="es-ES" sz="1800" i="1" baseline="30000" dirty="0">
                <a:solidFill>
                  <a:schemeClr val="accent6">
                    <a:lumMod val="10000"/>
                  </a:schemeClr>
                </a:solidFill>
                <a:latin typeface="+mj-lt"/>
              </a:rPr>
              <a:t>2</a:t>
            </a:r>
            <a:endParaRPr lang="es-ES_tradnl" altLang="es-ES" sz="1800" dirty="0">
              <a:solidFill>
                <a:schemeClr val="accent6">
                  <a:lumMod val="10000"/>
                </a:schemeClr>
              </a:solidFill>
              <a:latin typeface="+mj-lt"/>
            </a:endParaRP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8D355DFA-7EAD-4616-B9D3-7E95B4CD6D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9139" y="2235658"/>
            <a:ext cx="4115157" cy="3694496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1CC27FE4-5DD1-4E69-B77B-EC3F15A197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19986" y="2241483"/>
            <a:ext cx="3590855" cy="3694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97035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071A263B-6DD8-4F31-80BA-F1260F33CC86}"/>
              </a:ext>
            </a:extLst>
          </p:cNvPr>
          <p:cNvSpPr txBox="1"/>
          <p:nvPr/>
        </p:nvSpPr>
        <p:spPr>
          <a:xfrm>
            <a:off x="446649" y="216263"/>
            <a:ext cx="609834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2400" b="0" dirty="0">
                <a:latin typeface="+mj-lt"/>
              </a:rPr>
              <a:t>Movimiento de proyectiles</a:t>
            </a:r>
            <a:endParaRPr lang="es-CO" sz="2400" dirty="0">
              <a:latin typeface="+mj-lt"/>
            </a:endParaRPr>
          </a:p>
        </p:txBody>
      </p:sp>
      <p:sp>
        <p:nvSpPr>
          <p:cNvPr id="8" name="Text Box 3">
            <a:extLst>
              <a:ext uri="{FF2B5EF4-FFF2-40B4-BE49-F238E27FC236}">
                <a16:creationId xmlns:a16="http://schemas.microsoft.com/office/drawing/2014/main" id="{AD296C41-7E9E-43BE-AB60-3E9FC6073E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89116" y="850125"/>
            <a:ext cx="7991475" cy="16158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 eaLnBrk="0" hangingPunct="0">
              <a:spcBef>
                <a:spcPts val="25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 eaLnBrk="0" hangingPunct="0">
              <a:spcBef>
                <a:spcPts val="250"/>
              </a:spcBef>
              <a:buClr>
                <a:schemeClr val="accent1"/>
              </a:buClr>
              <a:buSzPct val="100000"/>
              <a:buFont typeface="Verdana" panose="020B0604030504040204" pitchFamily="34" charset="0"/>
              <a:buChar char="◦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 eaLnBrk="0" hangingPunct="0">
              <a:spcBef>
                <a:spcPts val="250"/>
              </a:spcBef>
              <a:buClr>
                <a:srgbClr val="ED3742"/>
              </a:buClr>
              <a:buSzPct val="100000"/>
              <a:buFont typeface="Wingdings 2" panose="05020102010507070707" pitchFamily="18" charset="2"/>
              <a:buChar char="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 eaLnBrk="0" hangingPunct="0">
              <a:spcBef>
                <a:spcPts val="225"/>
              </a:spcBef>
              <a:buClr>
                <a:srgbClr val="ED3742"/>
              </a:buClr>
              <a:buSzPct val="112000"/>
              <a:buFont typeface="Verdana" panose="020B0604030504040204" pitchFamily="34" charset="0"/>
              <a:buChar char="◦"/>
              <a:defRPr sz="19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 eaLnBrk="0" hangingPunct="0">
              <a:spcBef>
                <a:spcPts val="250"/>
              </a:spcBef>
              <a:buClr>
                <a:srgbClr val="4A85BF"/>
              </a:buClr>
              <a:buSzPct val="100000"/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ts val="250"/>
              </a:spcBef>
              <a:spcAft>
                <a:spcPct val="0"/>
              </a:spcAft>
              <a:buClr>
                <a:srgbClr val="4A85BF"/>
              </a:buClr>
              <a:buSzPct val="100000"/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ts val="250"/>
              </a:spcBef>
              <a:spcAft>
                <a:spcPct val="0"/>
              </a:spcAft>
              <a:buClr>
                <a:srgbClr val="4A85BF"/>
              </a:buClr>
              <a:buSzPct val="100000"/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ts val="250"/>
              </a:spcBef>
              <a:spcAft>
                <a:spcPct val="0"/>
              </a:spcAft>
              <a:buClr>
                <a:srgbClr val="4A85BF"/>
              </a:buClr>
              <a:buSzPct val="100000"/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ts val="250"/>
              </a:spcBef>
              <a:spcAft>
                <a:spcPct val="0"/>
              </a:spcAft>
              <a:buClr>
                <a:srgbClr val="4A85BF"/>
              </a:buClr>
              <a:buSzPct val="100000"/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s-MX" altLang="es-ES" sz="1800" dirty="0">
                <a:solidFill>
                  <a:schemeClr val="accent6">
                    <a:lumMod val="10000"/>
                  </a:schemeClr>
                </a:solidFill>
                <a:latin typeface="+mj-lt"/>
              </a:rPr>
              <a:t>Para el movimiento de proyectiles supondremos que:</a:t>
            </a:r>
          </a:p>
          <a:p>
            <a:pPr algn="just" eaLnBrk="1" hangingPunct="1">
              <a:spcBef>
                <a:spcPct val="50000"/>
              </a:spcBef>
              <a:buClrTx/>
              <a:buSzTx/>
              <a:buFontTx/>
              <a:buAutoNum type="arabicPeriod"/>
            </a:pPr>
            <a:r>
              <a:rPr lang="es-MX" altLang="es-ES" sz="1800" dirty="0">
                <a:solidFill>
                  <a:schemeClr val="accent6">
                    <a:lumMod val="10000"/>
                  </a:schemeClr>
                </a:solidFill>
                <a:latin typeface="+mj-lt"/>
              </a:rPr>
              <a:t>La aceleración es constante y dirigida hacia abajo.</a:t>
            </a:r>
          </a:p>
          <a:p>
            <a:pPr algn="just" eaLnBrk="1" hangingPunct="1">
              <a:spcBef>
                <a:spcPct val="50000"/>
              </a:spcBef>
              <a:buClrTx/>
              <a:buSzTx/>
              <a:buFontTx/>
              <a:buAutoNum type="arabicPeriod"/>
            </a:pPr>
            <a:r>
              <a:rPr lang="es-MX" altLang="es-ES" sz="1800" dirty="0">
                <a:solidFill>
                  <a:schemeClr val="accent6">
                    <a:lumMod val="10000"/>
                  </a:schemeClr>
                </a:solidFill>
                <a:latin typeface="+mj-lt"/>
              </a:rPr>
              <a:t>Despreciaremos la resistencia del aire.</a:t>
            </a:r>
          </a:p>
          <a:p>
            <a:pPr algn="just" eaLnBrk="1" hangingPunct="1">
              <a:spcBef>
                <a:spcPct val="50000"/>
              </a:spcBef>
              <a:buClrTx/>
              <a:buSzTx/>
              <a:buFontTx/>
              <a:buAutoNum type="arabicPeriod"/>
            </a:pPr>
            <a:endParaRPr lang="es-MX" altLang="es-ES" sz="1800" dirty="0">
              <a:solidFill>
                <a:schemeClr val="accent6">
                  <a:lumMod val="10000"/>
                </a:schemeClr>
              </a:solidFill>
              <a:latin typeface="+mj-lt"/>
            </a:endParaRP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7E501FAE-067D-4889-8344-5868EEE6FF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17861" y="2177340"/>
            <a:ext cx="6480320" cy="3725773"/>
          </a:xfrm>
          <a:prstGeom prst="rect">
            <a:avLst/>
          </a:prstGeom>
        </p:spPr>
      </p:pic>
      <p:sp>
        <p:nvSpPr>
          <p:cNvPr id="10" name="Text Box 5">
            <a:extLst>
              <a:ext uri="{FF2B5EF4-FFF2-40B4-BE49-F238E27FC236}">
                <a16:creationId xmlns:a16="http://schemas.microsoft.com/office/drawing/2014/main" id="{288334C0-E43E-4B3C-8D07-B6C1B5A1A4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80199" y="5903113"/>
            <a:ext cx="75438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ts val="25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 eaLnBrk="0" hangingPunct="0">
              <a:spcBef>
                <a:spcPts val="250"/>
              </a:spcBef>
              <a:buClr>
                <a:schemeClr val="accent1"/>
              </a:buClr>
              <a:buSzPct val="100000"/>
              <a:buFont typeface="Verdana" panose="020B0604030504040204" pitchFamily="34" charset="0"/>
              <a:buChar char="◦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 eaLnBrk="0" hangingPunct="0">
              <a:spcBef>
                <a:spcPts val="250"/>
              </a:spcBef>
              <a:buClr>
                <a:srgbClr val="ED3742"/>
              </a:buClr>
              <a:buSzPct val="100000"/>
              <a:buFont typeface="Wingdings 2" panose="05020102010507070707" pitchFamily="18" charset="2"/>
              <a:buChar char="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 eaLnBrk="0" hangingPunct="0">
              <a:spcBef>
                <a:spcPts val="225"/>
              </a:spcBef>
              <a:buClr>
                <a:srgbClr val="ED3742"/>
              </a:buClr>
              <a:buSzPct val="112000"/>
              <a:buFont typeface="Verdana" panose="020B0604030504040204" pitchFamily="34" charset="0"/>
              <a:buChar char="◦"/>
              <a:defRPr sz="19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 eaLnBrk="0" hangingPunct="0">
              <a:spcBef>
                <a:spcPts val="250"/>
              </a:spcBef>
              <a:buClr>
                <a:srgbClr val="4A85BF"/>
              </a:buClr>
              <a:buSzPct val="100000"/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ts val="250"/>
              </a:spcBef>
              <a:spcAft>
                <a:spcPct val="0"/>
              </a:spcAft>
              <a:buClr>
                <a:srgbClr val="4A85BF"/>
              </a:buClr>
              <a:buSzPct val="100000"/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ts val="250"/>
              </a:spcBef>
              <a:spcAft>
                <a:spcPct val="0"/>
              </a:spcAft>
              <a:buClr>
                <a:srgbClr val="4A85BF"/>
              </a:buClr>
              <a:buSzPct val="100000"/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ts val="250"/>
              </a:spcBef>
              <a:spcAft>
                <a:spcPct val="0"/>
              </a:spcAft>
              <a:buClr>
                <a:srgbClr val="4A85BF"/>
              </a:buClr>
              <a:buSzPct val="100000"/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ts val="250"/>
              </a:spcBef>
              <a:spcAft>
                <a:spcPct val="0"/>
              </a:spcAft>
              <a:buClr>
                <a:srgbClr val="4A85BF"/>
              </a:buClr>
              <a:buSzPct val="100000"/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s-MX" altLang="es-ES" sz="1800" dirty="0">
                <a:solidFill>
                  <a:schemeClr val="accent6">
                    <a:lumMod val="10000"/>
                  </a:schemeClr>
                </a:solidFill>
                <a:latin typeface="+mj-lt"/>
              </a:rPr>
              <a:t>Trayectoria de un proyectil arrojado con una velocidad inicial </a:t>
            </a:r>
            <a:r>
              <a:rPr lang="es-MX" altLang="es-ES" sz="1800" b="1" dirty="0">
                <a:solidFill>
                  <a:schemeClr val="accent6">
                    <a:lumMod val="10000"/>
                  </a:schemeClr>
                </a:solidFill>
                <a:latin typeface="+mj-lt"/>
              </a:rPr>
              <a:t>v</a:t>
            </a:r>
            <a:r>
              <a:rPr lang="es-MX" altLang="es-ES" sz="1800" baseline="-25000" dirty="0">
                <a:solidFill>
                  <a:schemeClr val="accent6">
                    <a:lumMod val="10000"/>
                  </a:schemeClr>
                </a:solidFill>
                <a:latin typeface="+mj-lt"/>
              </a:rPr>
              <a:t>0</a:t>
            </a:r>
            <a:r>
              <a:rPr lang="es-MX" altLang="es-ES" sz="1800" dirty="0">
                <a:solidFill>
                  <a:schemeClr val="accent6">
                    <a:lumMod val="10000"/>
                  </a:schemeClr>
                </a:solidFill>
                <a:latin typeface="+mj-lt"/>
              </a:rPr>
              <a:t>.</a:t>
            </a:r>
          </a:p>
        </p:txBody>
      </p:sp>
      <p:sp>
        <p:nvSpPr>
          <p:cNvPr id="11" name="CuadroTexto 10">
            <a:hlinkClick r:id="rId4"/>
            <a:extLst>
              <a:ext uri="{FF2B5EF4-FFF2-40B4-BE49-F238E27FC236}">
                <a16:creationId xmlns:a16="http://schemas.microsoft.com/office/drawing/2014/main" id="{E081D25E-D767-4300-B81A-1D5D4B0FE288}"/>
              </a:ext>
            </a:extLst>
          </p:cNvPr>
          <p:cNvSpPr txBox="1"/>
          <p:nvPr/>
        </p:nvSpPr>
        <p:spPr>
          <a:xfrm>
            <a:off x="896475" y="2848886"/>
            <a:ext cx="2232248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dirty="0"/>
              <a:t>https://phet.colorado.edu/sims/html/projectile-motion/latest/projectile-motion_es.html</a:t>
            </a:r>
          </a:p>
        </p:txBody>
      </p:sp>
    </p:spTree>
    <p:extLst>
      <p:ext uri="{BB962C8B-B14F-4D97-AF65-F5344CB8AC3E}">
        <p14:creationId xmlns:p14="http://schemas.microsoft.com/office/powerpoint/2010/main" val="17925668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0" grpId="0"/>
      <p:bldP spid="1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4631C031-A3E3-4918-ABB2-75F1B012346E}"/>
              </a:ext>
            </a:extLst>
          </p:cNvPr>
          <p:cNvSpPr txBox="1"/>
          <p:nvPr/>
        </p:nvSpPr>
        <p:spPr>
          <a:xfrm>
            <a:off x="376310" y="131857"/>
            <a:ext cx="609834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2400" b="0" dirty="0">
                <a:latin typeface="+mj-lt"/>
              </a:rPr>
              <a:t>Ecuaciones del movimiento</a:t>
            </a:r>
            <a:endParaRPr lang="es-CO" sz="2400" dirty="0">
              <a:latin typeface="+mj-lt"/>
            </a:endParaRPr>
          </a:p>
        </p:txBody>
      </p:sp>
      <p:sp>
        <p:nvSpPr>
          <p:cNvPr id="4" name="Text Box 3">
            <a:extLst>
              <a:ext uri="{FF2B5EF4-FFF2-40B4-BE49-F238E27FC236}">
                <a16:creationId xmlns:a16="http://schemas.microsoft.com/office/drawing/2014/main" id="{901C02AB-25CF-405B-AF32-2A0DF050CB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30437" y="729179"/>
            <a:ext cx="7731125" cy="2031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ts val="25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 eaLnBrk="0" hangingPunct="0">
              <a:spcBef>
                <a:spcPts val="250"/>
              </a:spcBef>
              <a:buClr>
                <a:schemeClr val="accent1"/>
              </a:buClr>
              <a:buSzPct val="100000"/>
              <a:buFont typeface="Verdana" panose="020B0604030504040204" pitchFamily="34" charset="0"/>
              <a:buChar char="◦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 eaLnBrk="0" hangingPunct="0">
              <a:spcBef>
                <a:spcPts val="250"/>
              </a:spcBef>
              <a:buClr>
                <a:srgbClr val="ED3742"/>
              </a:buClr>
              <a:buSzPct val="100000"/>
              <a:buFont typeface="Wingdings 2" panose="05020102010507070707" pitchFamily="18" charset="2"/>
              <a:buChar char="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 eaLnBrk="0" hangingPunct="0">
              <a:spcBef>
                <a:spcPts val="225"/>
              </a:spcBef>
              <a:buClr>
                <a:srgbClr val="ED3742"/>
              </a:buClr>
              <a:buSzPct val="112000"/>
              <a:buFont typeface="Verdana" panose="020B0604030504040204" pitchFamily="34" charset="0"/>
              <a:buChar char="◦"/>
              <a:defRPr sz="19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 eaLnBrk="0" hangingPunct="0">
              <a:spcBef>
                <a:spcPts val="250"/>
              </a:spcBef>
              <a:buClr>
                <a:srgbClr val="4A85BF"/>
              </a:buClr>
              <a:buSzPct val="100000"/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ts val="250"/>
              </a:spcBef>
              <a:spcAft>
                <a:spcPct val="0"/>
              </a:spcAft>
              <a:buClr>
                <a:srgbClr val="4A85BF"/>
              </a:buClr>
              <a:buSzPct val="100000"/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ts val="250"/>
              </a:spcBef>
              <a:spcAft>
                <a:spcPct val="0"/>
              </a:spcAft>
              <a:buClr>
                <a:srgbClr val="4A85BF"/>
              </a:buClr>
              <a:buSzPct val="100000"/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ts val="250"/>
              </a:spcBef>
              <a:spcAft>
                <a:spcPct val="0"/>
              </a:spcAft>
              <a:buClr>
                <a:srgbClr val="4A85BF"/>
              </a:buClr>
              <a:buSzPct val="100000"/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ts val="250"/>
              </a:spcBef>
              <a:spcAft>
                <a:spcPct val="0"/>
              </a:spcAft>
              <a:buClr>
                <a:srgbClr val="4A85BF"/>
              </a:buClr>
              <a:buSzPct val="100000"/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s-MX" altLang="es-ES" sz="1800" dirty="0">
                <a:solidFill>
                  <a:schemeClr val="accent6">
                    <a:lumMod val="10000"/>
                  </a:schemeClr>
                </a:solidFill>
                <a:latin typeface="+mj-lt"/>
              </a:rPr>
              <a:t>Las ecuaciones del movimiento de un proyectil en cualquier tiempo son: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s-MX" altLang="es-ES" sz="1800" i="1" dirty="0" err="1">
                <a:solidFill>
                  <a:schemeClr val="accent6">
                    <a:lumMod val="10000"/>
                  </a:schemeClr>
                </a:solidFill>
                <a:latin typeface="+mj-lt"/>
              </a:rPr>
              <a:t>v</a:t>
            </a:r>
            <a:r>
              <a:rPr lang="es-MX" altLang="es-ES" sz="1800" i="1" baseline="-25000" dirty="0" err="1">
                <a:solidFill>
                  <a:schemeClr val="accent6">
                    <a:lumMod val="10000"/>
                  </a:schemeClr>
                </a:solidFill>
                <a:latin typeface="+mj-lt"/>
              </a:rPr>
              <a:t>x</a:t>
            </a:r>
            <a:r>
              <a:rPr lang="es-MX" altLang="es-ES" sz="1800" dirty="0">
                <a:solidFill>
                  <a:schemeClr val="accent6">
                    <a:lumMod val="10000"/>
                  </a:schemeClr>
                </a:solidFill>
                <a:latin typeface="+mj-lt"/>
              </a:rPr>
              <a:t> = </a:t>
            </a:r>
            <a:r>
              <a:rPr lang="es-MX" altLang="es-ES" sz="1800" i="1" dirty="0">
                <a:solidFill>
                  <a:schemeClr val="accent6">
                    <a:lumMod val="10000"/>
                  </a:schemeClr>
                </a:solidFill>
                <a:latin typeface="+mj-lt"/>
              </a:rPr>
              <a:t>v</a:t>
            </a:r>
            <a:r>
              <a:rPr lang="es-MX" altLang="es-ES" sz="1800" i="1" baseline="-25000" dirty="0">
                <a:solidFill>
                  <a:schemeClr val="accent6">
                    <a:lumMod val="10000"/>
                  </a:schemeClr>
                </a:solidFill>
                <a:latin typeface="+mj-lt"/>
              </a:rPr>
              <a:t>x</a:t>
            </a:r>
            <a:r>
              <a:rPr lang="es-MX" altLang="es-ES" sz="1800" baseline="-25000" dirty="0">
                <a:solidFill>
                  <a:schemeClr val="accent6">
                    <a:lumMod val="10000"/>
                  </a:schemeClr>
                </a:solidFill>
                <a:latin typeface="+mj-lt"/>
              </a:rPr>
              <a:t>0</a:t>
            </a:r>
            <a:r>
              <a:rPr lang="es-MX" altLang="es-ES" sz="1800" dirty="0">
                <a:solidFill>
                  <a:schemeClr val="accent6">
                    <a:lumMod val="10000"/>
                  </a:schemeClr>
                </a:solidFill>
                <a:latin typeface="+mj-lt"/>
              </a:rPr>
              <a:t> = </a:t>
            </a:r>
            <a:r>
              <a:rPr lang="es-MX" altLang="es-ES" sz="1800" i="1" dirty="0">
                <a:solidFill>
                  <a:schemeClr val="accent6">
                    <a:lumMod val="10000"/>
                  </a:schemeClr>
                </a:solidFill>
                <a:latin typeface="+mj-lt"/>
              </a:rPr>
              <a:t>v</a:t>
            </a:r>
            <a:r>
              <a:rPr lang="es-MX" altLang="es-ES" sz="1800" baseline="-25000" dirty="0">
                <a:solidFill>
                  <a:schemeClr val="accent6">
                    <a:lumMod val="10000"/>
                  </a:schemeClr>
                </a:solidFill>
                <a:latin typeface="+mj-lt"/>
              </a:rPr>
              <a:t>0</a:t>
            </a:r>
            <a:r>
              <a:rPr lang="es-MX" altLang="es-ES" sz="1800" dirty="0">
                <a:solidFill>
                  <a:schemeClr val="accent6">
                    <a:lumMod val="10000"/>
                  </a:schemeClr>
                </a:solidFill>
                <a:latin typeface="+mj-lt"/>
              </a:rPr>
              <a:t> cos </a:t>
            </a:r>
            <a:r>
              <a:rPr lang="el-GR" altLang="es-ES" sz="1800" dirty="0">
                <a:solidFill>
                  <a:schemeClr val="accent6">
                    <a:lumMod val="10000"/>
                  </a:schemeClr>
                </a:solidFill>
                <a:latin typeface="+mj-lt"/>
              </a:rPr>
              <a:t>θ</a:t>
            </a:r>
            <a:r>
              <a:rPr lang="es-MX" altLang="es-ES" sz="1800" baseline="-25000" dirty="0">
                <a:solidFill>
                  <a:schemeClr val="accent6">
                    <a:lumMod val="10000"/>
                  </a:schemeClr>
                </a:solidFill>
                <a:latin typeface="+mj-lt"/>
              </a:rPr>
              <a:t>0</a:t>
            </a:r>
            <a:r>
              <a:rPr lang="es-MX" altLang="es-ES" sz="1800" dirty="0">
                <a:solidFill>
                  <a:schemeClr val="accent6">
                    <a:lumMod val="10000"/>
                  </a:schemeClr>
                </a:solidFill>
                <a:latin typeface="+mj-lt"/>
              </a:rPr>
              <a:t> = </a:t>
            </a:r>
            <a:r>
              <a:rPr lang="es-MX" altLang="es-ES" sz="1800" dirty="0" err="1">
                <a:solidFill>
                  <a:schemeClr val="accent6">
                    <a:lumMod val="10000"/>
                  </a:schemeClr>
                </a:solidFill>
                <a:latin typeface="+mj-lt"/>
              </a:rPr>
              <a:t>const.</a:t>
            </a:r>
            <a:r>
              <a:rPr lang="es-MX" altLang="es-ES" sz="1800" dirty="0">
                <a:solidFill>
                  <a:schemeClr val="accent6">
                    <a:lumMod val="10000"/>
                  </a:schemeClr>
                </a:solidFill>
                <a:latin typeface="+mj-lt"/>
              </a:rPr>
              <a:t>                        Con t</a:t>
            </a:r>
            <a:r>
              <a:rPr lang="es-MX" altLang="es-ES" sz="1800" baseline="-25000" dirty="0">
                <a:solidFill>
                  <a:schemeClr val="accent6">
                    <a:lumMod val="10000"/>
                  </a:schemeClr>
                </a:solidFill>
                <a:latin typeface="+mj-lt"/>
              </a:rPr>
              <a:t>0</a:t>
            </a:r>
            <a:r>
              <a:rPr lang="es-MX" altLang="es-ES" sz="1800" dirty="0">
                <a:solidFill>
                  <a:schemeClr val="accent6">
                    <a:lumMod val="10000"/>
                  </a:schemeClr>
                </a:solidFill>
                <a:latin typeface="+mj-lt"/>
              </a:rPr>
              <a:t> y y</a:t>
            </a:r>
            <a:r>
              <a:rPr lang="es-MX" altLang="es-ES" sz="1800" baseline="-25000" dirty="0">
                <a:solidFill>
                  <a:schemeClr val="accent6">
                    <a:lumMod val="10000"/>
                  </a:schemeClr>
                </a:solidFill>
                <a:latin typeface="+mj-lt"/>
              </a:rPr>
              <a:t>0</a:t>
            </a:r>
            <a:r>
              <a:rPr lang="es-MX" altLang="es-ES" sz="1800" dirty="0">
                <a:solidFill>
                  <a:schemeClr val="accent6">
                    <a:lumMod val="10000"/>
                  </a:schemeClr>
                </a:solidFill>
                <a:latin typeface="+mj-lt"/>
              </a:rPr>
              <a:t> igual a 0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s-MX" altLang="es-ES" sz="1800" i="1" dirty="0" err="1">
                <a:solidFill>
                  <a:schemeClr val="accent6">
                    <a:lumMod val="10000"/>
                  </a:schemeClr>
                </a:solidFill>
                <a:latin typeface="+mj-lt"/>
              </a:rPr>
              <a:t>v</a:t>
            </a:r>
            <a:r>
              <a:rPr lang="es-MX" altLang="es-ES" sz="1800" i="1" baseline="-25000" dirty="0" err="1">
                <a:solidFill>
                  <a:schemeClr val="accent6">
                    <a:lumMod val="10000"/>
                  </a:schemeClr>
                </a:solidFill>
                <a:latin typeface="+mj-lt"/>
              </a:rPr>
              <a:t>y</a:t>
            </a:r>
            <a:r>
              <a:rPr lang="es-MX" altLang="es-ES" sz="1800" dirty="0">
                <a:solidFill>
                  <a:schemeClr val="accent6">
                    <a:lumMod val="10000"/>
                  </a:schemeClr>
                </a:solidFill>
                <a:latin typeface="+mj-lt"/>
              </a:rPr>
              <a:t> =  </a:t>
            </a:r>
            <a:r>
              <a:rPr lang="es-MX" altLang="es-ES" sz="1800" i="1" dirty="0">
                <a:solidFill>
                  <a:schemeClr val="accent6">
                    <a:lumMod val="10000"/>
                  </a:schemeClr>
                </a:solidFill>
                <a:latin typeface="+mj-lt"/>
              </a:rPr>
              <a:t>v</a:t>
            </a:r>
            <a:r>
              <a:rPr lang="es-MX" altLang="es-ES" sz="1800" i="1" baseline="-25000" dirty="0">
                <a:solidFill>
                  <a:schemeClr val="accent6">
                    <a:lumMod val="10000"/>
                  </a:schemeClr>
                </a:solidFill>
                <a:latin typeface="+mj-lt"/>
              </a:rPr>
              <a:t>y</a:t>
            </a:r>
            <a:r>
              <a:rPr lang="es-MX" altLang="es-ES" sz="1800" baseline="-25000" dirty="0">
                <a:solidFill>
                  <a:schemeClr val="accent6">
                    <a:lumMod val="10000"/>
                  </a:schemeClr>
                </a:solidFill>
                <a:latin typeface="+mj-lt"/>
              </a:rPr>
              <a:t>0</a:t>
            </a:r>
            <a:r>
              <a:rPr lang="es-MX" altLang="es-ES" sz="1800" dirty="0">
                <a:solidFill>
                  <a:schemeClr val="accent6">
                    <a:lumMod val="10000"/>
                  </a:schemeClr>
                </a:solidFill>
                <a:latin typeface="+mj-lt"/>
              </a:rPr>
              <a:t> – </a:t>
            </a:r>
            <a:r>
              <a:rPr lang="es-MX" altLang="es-ES" sz="1800" i="1" dirty="0" err="1">
                <a:solidFill>
                  <a:schemeClr val="accent6">
                    <a:lumMod val="10000"/>
                  </a:schemeClr>
                </a:solidFill>
                <a:latin typeface="+mj-lt"/>
              </a:rPr>
              <a:t>gt</a:t>
            </a:r>
            <a:r>
              <a:rPr lang="es-MX" altLang="es-ES" sz="1800" dirty="0">
                <a:solidFill>
                  <a:schemeClr val="accent6">
                    <a:lumMod val="10000"/>
                  </a:schemeClr>
                </a:solidFill>
                <a:latin typeface="+mj-lt"/>
              </a:rPr>
              <a:t> = </a:t>
            </a:r>
            <a:r>
              <a:rPr lang="es-MX" altLang="es-ES" sz="1800" i="1" dirty="0">
                <a:solidFill>
                  <a:schemeClr val="accent6">
                    <a:lumMod val="10000"/>
                  </a:schemeClr>
                </a:solidFill>
                <a:latin typeface="+mj-lt"/>
              </a:rPr>
              <a:t>v</a:t>
            </a:r>
            <a:r>
              <a:rPr lang="es-MX" altLang="es-ES" sz="1800" baseline="-25000" dirty="0">
                <a:solidFill>
                  <a:schemeClr val="accent6">
                    <a:lumMod val="10000"/>
                  </a:schemeClr>
                </a:solidFill>
                <a:latin typeface="+mj-lt"/>
              </a:rPr>
              <a:t>0</a:t>
            </a:r>
            <a:r>
              <a:rPr lang="es-MX" altLang="es-ES" sz="1800" dirty="0">
                <a:solidFill>
                  <a:schemeClr val="accent6">
                    <a:lumMod val="10000"/>
                  </a:schemeClr>
                </a:solidFill>
                <a:latin typeface="+mj-lt"/>
              </a:rPr>
              <a:t> sen </a:t>
            </a:r>
            <a:r>
              <a:rPr lang="el-GR" altLang="es-ES" sz="1800" dirty="0">
                <a:solidFill>
                  <a:schemeClr val="accent6">
                    <a:lumMod val="10000"/>
                  </a:schemeClr>
                </a:solidFill>
              </a:rPr>
              <a:t>θ</a:t>
            </a:r>
            <a:r>
              <a:rPr lang="es-MX" altLang="es-ES" sz="1800" baseline="-25000" dirty="0">
                <a:solidFill>
                  <a:schemeClr val="accent6">
                    <a:lumMod val="10000"/>
                  </a:schemeClr>
                </a:solidFill>
                <a:latin typeface="+mj-lt"/>
              </a:rPr>
              <a:t>0</a:t>
            </a:r>
            <a:r>
              <a:rPr lang="es-MX" altLang="es-ES" sz="1800" dirty="0">
                <a:solidFill>
                  <a:schemeClr val="accent6">
                    <a:lumMod val="10000"/>
                  </a:schemeClr>
                </a:solidFill>
                <a:latin typeface="+mj-lt"/>
              </a:rPr>
              <a:t> – </a:t>
            </a:r>
            <a:r>
              <a:rPr lang="es-MX" altLang="es-ES" sz="1800" i="1" dirty="0" err="1">
                <a:solidFill>
                  <a:schemeClr val="accent6">
                    <a:lumMod val="10000"/>
                  </a:schemeClr>
                </a:solidFill>
                <a:latin typeface="+mj-lt"/>
              </a:rPr>
              <a:t>gt</a:t>
            </a:r>
            <a:endParaRPr lang="es-MX" altLang="es-ES" sz="1800" i="1" dirty="0">
              <a:solidFill>
                <a:schemeClr val="accent6">
                  <a:lumMod val="10000"/>
                </a:schemeClr>
              </a:solidFill>
              <a:latin typeface="+mj-lt"/>
            </a:endParaRP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s-MX" altLang="es-ES" sz="1800" i="1" dirty="0">
                <a:solidFill>
                  <a:schemeClr val="accent6">
                    <a:lumMod val="10000"/>
                  </a:schemeClr>
                </a:solidFill>
                <a:latin typeface="+mj-lt"/>
              </a:rPr>
              <a:t>x = v</a:t>
            </a:r>
            <a:r>
              <a:rPr lang="es-MX" altLang="es-ES" sz="1800" i="1" baseline="-25000" dirty="0">
                <a:solidFill>
                  <a:schemeClr val="accent6">
                    <a:lumMod val="10000"/>
                  </a:schemeClr>
                </a:solidFill>
                <a:latin typeface="+mj-lt"/>
              </a:rPr>
              <a:t>x</a:t>
            </a:r>
            <a:r>
              <a:rPr lang="es-MX" altLang="es-ES" sz="1800" baseline="-25000" dirty="0">
                <a:solidFill>
                  <a:schemeClr val="accent6">
                    <a:lumMod val="10000"/>
                  </a:schemeClr>
                </a:solidFill>
                <a:latin typeface="+mj-lt"/>
              </a:rPr>
              <a:t>0</a:t>
            </a:r>
            <a:r>
              <a:rPr lang="es-MX" altLang="es-ES" sz="1800" i="1" dirty="0">
                <a:solidFill>
                  <a:schemeClr val="accent6">
                    <a:lumMod val="10000"/>
                  </a:schemeClr>
                </a:solidFill>
                <a:latin typeface="+mj-lt"/>
              </a:rPr>
              <a:t>t</a:t>
            </a:r>
            <a:r>
              <a:rPr lang="es-MX" altLang="es-ES" sz="1800" dirty="0">
                <a:solidFill>
                  <a:schemeClr val="accent6">
                    <a:lumMod val="10000"/>
                  </a:schemeClr>
                </a:solidFill>
                <a:latin typeface="+mj-lt"/>
              </a:rPr>
              <a:t> = </a:t>
            </a:r>
            <a:r>
              <a:rPr lang="es-MX" altLang="es-ES" sz="1800" i="1" dirty="0">
                <a:solidFill>
                  <a:schemeClr val="accent6">
                    <a:lumMod val="10000"/>
                  </a:schemeClr>
                </a:solidFill>
                <a:latin typeface="+mj-lt"/>
              </a:rPr>
              <a:t>v</a:t>
            </a:r>
            <a:r>
              <a:rPr lang="es-MX" altLang="es-ES" sz="1800" baseline="-25000" dirty="0">
                <a:solidFill>
                  <a:schemeClr val="accent6">
                    <a:lumMod val="10000"/>
                  </a:schemeClr>
                </a:solidFill>
                <a:latin typeface="+mj-lt"/>
              </a:rPr>
              <a:t>0</a:t>
            </a:r>
            <a:r>
              <a:rPr lang="es-MX" altLang="es-ES" sz="1800" dirty="0">
                <a:solidFill>
                  <a:schemeClr val="accent6">
                    <a:lumMod val="10000"/>
                  </a:schemeClr>
                </a:solidFill>
                <a:latin typeface="+mj-lt"/>
              </a:rPr>
              <a:t> (cos </a:t>
            </a:r>
            <a:r>
              <a:rPr lang="el-GR" altLang="es-ES" sz="1800" dirty="0">
                <a:solidFill>
                  <a:schemeClr val="accent6">
                    <a:lumMod val="10000"/>
                  </a:schemeClr>
                </a:solidFill>
              </a:rPr>
              <a:t>θ</a:t>
            </a:r>
            <a:r>
              <a:rPr lang="es-MX" altLang="es-ES" sz="1800" baseline="-25000" dirty="0">
                <a:solidFill>
                  <a:schemeClr val="accent6">
                    <a:lumMod val="10000"/>
                  </a:schemeClr>
                </a:solidFill>
                <a:latin typeface="+mj-lt"/>
              </a:rPr>
              <a:t>0</a:t>
            </a:r>
            <a:r>
              <a:rPr lang="es-MX" altLang="es-ES" sz="1800" dirty="0">
                <a:solidFill>
                  <a:schemeClr val="accent6">
                    <a:lumMod val="10000"/>
                  </a:schemeClr>
                </a:solidFill>
                <a:latin typeface="+mj-lt"/>
              </a:rPr>
              <a:t> )</a:t>
            </a:r>
            <a:r>
              <a:rPr lang="es-MX" altLang="es-ES" sz="1800" i="1" dirty="0">
                <a:solidFill>
                  <a:schemeClr val="accent6">
                    <a:lumMod val="10000"/>
                  </a:schemeClr>
                </a:solidFill>
                <a:latin typeface="+mj-lt"/>
              </a:rPr>
              <a:t>t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s-MX" altLang="es-ES" sz="1800" i="1" dirty="0">
                <a:solidFill>
                  <a:schemeClr val="accent6">
                    <a:lumMod val="10000"/>
                  </a:schemeClr>
                </a:solidFill>
                <a:latin typeface="+mj-lt"/>
              </a:rPr>
              <a:t>y</a:t>
            </a:r>
            <a:r>
              <a:rPr lang="es-MX" altLang="es-ES" sz="1800" dirty="0">
                <a:solidFill>
                  <a:schemeClr val="accent6">
                    <a:lumMod val="10000"/>
                  </a:schemeClr>
                </a:solidFill>
                <a:latin typeface="+mj-lt"/>
              </a:rPr>
              <a:t> =  </a:t>
            </a:r>
            <a:r>
              <a:rPr lang="es-MX" altLang="es-ES" sz="1800" i="1" dirty="0">
                <a:solidFill>
                  <a:schemeClr val="accent6">
                    <a:lumMod val="10000"/>
                  </a:schemeClr>
                </a:solidFill>
                <a:latin typeface="+mj-lt"/>
              </a:rPr>
              <a:t>v</a:t>
            </a:r>
            <a:r>
              <a:rPr lang="es-MX" altLang="es-ES" sz="1800" i="1" baseline="-25000" dirty="0">
                <a:solidFill>
                  <a:schemeClr val="accent6">
                    <a:lumMod val="10000"/>
                  </a:schemeClr>
                </a:solidFill>
                <a:latin typeface="+mj-lt"/>
              </a:rPr>
              <a:t>y</a:t>
            </a:r>
            <a:r>
              <a:rPr lang="es-MX" altLang="es-ES" sz="1800" baseline="-25000" dirty="0">
                <a:solidFill>
                  <a:schemeClr val="accent6">
                    <a:lumMod val="10000"/>
                  </a:schemeClr>
                </a:solidFill>
                <a:latin typeface="+mj-lt"/>
              </a:rPr>
              <a:t>0</a:t>
            </a:r>
            <a:r>
              <a:rPr lang="es-MX" altLang="es-ES" sz="1800" i="1" dirty="0">
                <a:solidFill>
                  <a:schemeClr val="accent6">
                    <a:lumMod val="10000"/>
                  </a:schemeClr>
                </a:solidFill>
                <a:latin typeface="+mj-lt"/>
              </a:rPr>
              <a:t>t</a:t>
            </a:r>
            <a:r>
              <a:rPr lang="es-MX" altLang="es-ES" sz="1800" dirty="0">
                <a:solidFill>
                  <a:schemeClr val="accent6">
                    <a:lumMod val="10000"/>
                  </a:schemeClr>
                </a:solidFill>
                <a:latin typeface="+mj-lt"/>
              </a:rPr>
              <a:t> – </a:t>
            </a:r>
            <a:r>
              <a:rPr lang="es-MX" altLang="es-ES" sz="1800" dirty="0">
                <a:solidFill>
                  <a:schemeClr val="accent6">
                    <a:lumMod val="10000"/>
                  </a:schemeClr>
                </a:solidFill>
                <a:latin typeface="+mj-lt"/>
                <a:cs typeface="Times New Roman" panose="02020603050405020304" pitchFamily="18" charset="0"/>
              </a:rPr>
              <a:t>½</a:t>
            </a:r>
            <a:r>
              <a:rPr lang="es-MX" altLang="es-ES" sz="1800" i="1" dirty="0">
                <a:solidFill>
                  <a:schemeClr val="accent6">
                    <a:lumMod val="10000"/>
                  </a:schemeClr>
                </a:solidFill>
                <a:latin typeface="+mj-lt"/>
              </a:rPr>
              <a:t>gt</a:t>
            </a:r>
            <a:r>
              <a:rPr lang="es-MX" altLang="es-ES" sz="1800" baseline="30000" dirty="0">
                <a:solidFill>
                  <a:schemeClr val="accent6">
                    <a:lumMod val="10000"/>
                  </a:schemeClr>
                </a:solidFill>
                <a:latin typeface="+mj-lt"/>
              </a:rPr>
              <a:t>2</a:t>
            </a:r>
            <a:r>
              <a:rPr lang="es-MX" altLang="es-ES" sz="1800" dirty="0">
                <a:solidFill>
                  <a:schemeClr val="accent6">
                    <a:lumMod val="10000"/>
                  </a:schemeClr>
                </a:solidFill>
                <a:latin typeface="+mj-lt"/>
              </a:rPr>
              <a:t> = </a:t>
            </a:r>
            <a:r>
              <a:rPr lang="es-MX" altLang="es-ES" sz="1800" i="1" dirty="0">
                <a:solidFill>
                  <a:schemeClr val="accent6">
                    <a:lumMod val="10000"/>
                  </a:schemeClr>
                </a:solidFill>
                <a:latin typeface="+mj-lt"/>
              </a:rPr>
              <a:t>v</a:t>
            </a:r>
            <a:r>
              <a:rPr lang="es-MX" altLang="es-ES" sz="1800" baseline="-25000" dirty="0">
                <a:solidFill>
                  <a:schemeClr val="accent6">
                    <a:lumMod val="10000"/>
                  </a:schemeClr>
                </a:solidFill>
                <a:latin typeface="+mj-lt"/>
              </a:rPr>
              <a:t>0</a:t>
            </a:r>
            <a:r>
              <a:rPr lang="es-MX" altLang="es-ES" sz="1800" dirty="0">
                <a:solidFill>
                  <a:schemeClr val="accent6">
                    <a:lumMod val="10000"/>
                  </a:schemeClr>
                </a:solidFill>
                <a:latin typeface="+mj-lt"/>
              </a:rPr>
              <a:t> (sen </a:t>
            </a:r>
            <a:r>
              <a:rPr lang="el-GR" altLang="es-ES" sz="1800" dirty="0">
                <a:solidFill>
                  <a:schemeClr val="accent6">
                    <a:lumMod val="10000"/>
                  </a:schemeClr>
                </a:solidFill>
              </a:rPr>
              <a:t>θ</a:t>
            </a:r>
            <a:r>
              <a:rPr lang="es-MX" altLang="es-ES" sz="1800" baseline="-25000" dirty="0">
                <a:solidFill>
                  <a:schemeClr val="accent6">
                    <a:lumMod val="10000"/>
                  </a:schemeClr>
                </a:solidFill>
                <a:latin typeface="+mj-lt"/>
              </a:rPr>
              <a:t>0</a:t>
            </a:r>
            <a:r>
              <a:rPr lang="es-MX" altLang="es-ES" sz="1800" dirty="0">
                <a:solidFill>
                  <a:schemeClr val="accent6">
                    <a:lumMod val="10000"/>
                  </a:schemeClr>
                </a:solidFill>
                <a:latin typeface="+mj-lt"/>
              </a:rPr>
              <a:t>)</a:t>
            </a:r>
            <a:r>
              <a:rPr lang="es-MX" altLang="es-ES" sz="1800" i="1" dirty="0">
                <a:solidFill>
                  <a:schemeClr val="accent6">
                    <a:lumMod val="10000"/>
                  </a:schemeClr>
                </a:solidFill>
                <a:latin typeface="+mj-lt"/>
              </a:rPr>
              <a:t>t</a:t>
            </a:r>
            <a:r>
              <a:rPr lang="es-MX" altLang="es-ES" sz="1800" dirty="0">
                <a:solidFill>
                  <a:schemeClr val="accent6">
                    <a:lumMod val="10000"/>
                  </a:schemeClr>
                </a:solidFill>
                <a:latin typeface="+mj-lt"/>
              </a:rPr>
              <a:t> – </a:t>
            </a:r>
            <a:r>
              <a:rPr lang="es-MX" altLang="es-ES" sz="1800" dirty="0">
                <a:solidFill>
                  <a:schemeClr val="accent6">
                    <a:lumMod val="10000"/>
                  </a:schemeClr>
                </a:solidFill>
                <a:latin typeface="+mj-lt"/>
                <a:cs typeface="Times New Roman" panose="02020603050405020304" pitchFamily="18" charset="0"/>
              </a:rPr>
              <a:t>½</a:t>
            </a:r>
            <a:r>
              <a:rPr lang="es-MX" altLang="es-ES" sz="1800" dirty="0">
                <a:solidFill>
                  <a:schemeClr val="accent6">
                    <a:lumMod val="10000"/>
                  </a:schemeClr>
                </a:solidFill>
                <a:latin typeface="+mj-lt"/>
              </a:rPr>
              <a:t> </a:t>
            </a:r>
            <a:r>
              <a:rPr lang="es-MX" altLang="es-ES" sz="1800" i="1" dirty="0">
                <a:solidFill>
                  <a:schemeClr val="accent6">
                    <a:lumMod val="10000"/>
                  </a:schemeClr>
                </a:solidFill>
                <a:latin typeface="+mj-lt"/>
              </a:rPr>
              <a:t>gt</a:t>
            </a:r>
            <a:r>
              <a:rPr lang="es-MX" altLang="es-ES" sz="1800" baseline="30000" dirty="0">
                <a:solidFill>
                  <a:schemeClr val="accent6">
                    <a:lumMod val="10000"/>
                  </a:schemeClr>
                </a:solidFill>
                <a:latin typeface="+mj-lt"/>
              </a:rPr>
              <a:t>2</a:t>
            </a:r>
          </a:p>
        </p:txBody>
      </p:sp>
      <p:sp>
        <p:nvSpPr>
          <p:cNvPr id="5" name="1 Título">
            <a:extLst>
              <a:ext uri="{FF2B5EF4-FFF2-40B4-BE49-F238E27FC236}">
                <a16:creationId xmlns:a16="http://schemas.microsoft.com/office/drawing/2014/main" id="{F79BA55B-4053-4D82-B785-1CC590E99CD6}"/>
              </a:ext>
            </a:extLst>
          </p:cNvPr>
          <p:cNvSpPr txBox="1">
            <a:spLocks/>
          </p:cNvSpPr>
          <p:nvPr/>
        </p:nvSpPr>
        <p:spPr bwMode="auto">
          <a:xfrm>
            <a:off x="1646003" y="2794317"/>
            <a:ext cx="8162925" cy="7699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36000" tIns="36000" rIns="36000" bIns="36000" numCol="1" anchor="ctr" anchorCtr="0" compatLnSpc="1">
            <a:prstTxWarp prst="textNoShape">
              <a:avLst/>
            </a:prstTxWarp>
          </a:bodyPr>
          <a:lstStyle>
            <a:lvl1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lang="es-ES_tradnl" sz="2000" b="1" kern="1200" dirty="0">
                <a:solidFill>
                  <a:schemeClr val="bg1"/>
                </a:solidFill>
                <a:latin typeface="+mj-lt"/>
                <a:ea typeface="ＭＳ Ｐゴシック" charset="-128"/>
                <a:cs typeface="ＭＳ Ｐゴシック" charset="-128"/>
              </a:defRPr>
            </a:lvl1pPr>
            <a:lvl2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Trebuchet MS" charset="0"/>
                <a:ea typeface="ＭＳ Ｐゴシック" charset="-128"/>
                <a:cs typeface="ＭＳ Ｐゴシック" charset="-128"/>
              </a:defRPr>
            </a:lvl2pPr>
            <a:lvl3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Trebuchet MS" charset="0"/>
                <a:ea typeface="ＭＳ Ｐゴシック" charset="-128"/>
                <a:cs typeface="ＭＳ Ｐゴシック" charset="-128"/>
              </a:defRPr>
            </a:lvl3pPr>
            <a:lvl4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Trebuchet MS" charset="0"/>
                <a:ea typeface="ＭＳ Ｐゴシック" charset="-128"/>
                <a:cs typeface="ＭＳ Ｐゴシック" charset="-128"/>
              </a:defRPr>
            </a:lvl4pPr>
            <a:lvl5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Trebuchet MS" charset="0"/>
                <a:ea typeface="ＭＳ Ｐゴシック" charset="-128"/>
                <a:cs typeface="ＭＳ Ｐゴシック" charset="-128"/>
              </a:defRPr>
            </a:lvl5pPr>
            <a:lvl6pPr marL="4572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Trebuchet MS" charset="0"/>
                <a:ea typeface="ＭＳ Ｐゴシック" charset="-128"/>
                <a:cs typeface="ＭＳ Ｐゴシック" charset="-128"/>
              </a:defRPr>
            </a:lvl6pPr>
            <a:lvl7pPr marL="9144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Trebuchet MS" charset="0"/>
                <a:ea typeface="ＭＳ Ｐゴシック" charset="-128"/>
                <a:cs typeface="ＭＳ Ｐゴシック" charset="-128"/>
              </a:defRPr>
            </a:lvl7pPr>
            <a:lvl8pPr marL="13716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Trebuchet MS" charset="0"/>
                <a:ea typeface="ＭＳ Ｐゴシック" charset="-128"/>
                <a:cs typeface="ＭＳ Ｐゴシック" charset="-128"/>
              </a:defRPr>
            </a:lvl8pPr>
            <a:lvl9pPr marL="18288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Trebuchet MS" charset="0"/>
                <a:ea typeface="ＭＳ Ｐゴシック" charset="-128"/>
                <a:cs typeface="ＭＳ Ｐゴシック" charset="-128"/>
              </a:defRPr>
            </a:lvl9pPr>
          </a:lstStyle>
          <a:p>
            <a:pPr algn="just" fontAlgn="auto">
              <a:spcAft>
                <a:spcPts val="0"/>
              </a:spcAft>
              <a:defRPr/>
            </a:pPr>
            <a:r>
              <a:rPr lang="es-MX" sz="1800" b="0">
                <a:solidFill>
                  <a:schemeClr val="accent6">
                    <a:lumMod val="10000"/>
                  </a:schemeClr>
                </a:solidFill>
              </a:rPr>
              <a:t>Trayectoria</a:t>
            </a:r>
          </a:p>
        </p:txBody>
      </p:sp>
      <p:sp>
        <p:nvSpPr>
          <p:cNvPr id="6" name="Text Box 3">
            <a:extLst>
              <a:ext uri="{FF2B5EF4-FFF2-40B4-BE49-F238E27FC236}">
                <a16:creationId xmlns:a16="http://schemas.microsoft.com/office/drawing/2014/main" id="{E52924A9-4A53-4D0E-8249-C2D2DDDD52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09250" y="3394541"/>
            <a:ext cx="8307139" cy="2031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ts val="25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 eaLnBrk="0" hangingPunct="0">
              <a:spcBef>
                <a:spcPts val="250"/>
              </a:spcBef>
              <a:buClr>
                <a:schemeClr val="accent1"/>
              </a:buClr>
              <a:buSzPct val="100000"/>
              <a:buFont typeface="Verdana" panose="020B0604030504040204" pitchFamily="34" charset="0"/>
              <a:buChar char="◦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 eaLnBrk="0" hangingPunct="0">
              <a:spcBef>
                <a:spcPts val="250"/>
              </a:spcBef>
              <a:buClr>
                <a:srgbClr val="ED3742"/>
              </a:buClr>
              <a:buSzPct val="100000"/>
              <a:buFont typeface="Wingdings 2" panose="05020102010507070707" pitchFamily="18" charset="2"/>
              <a:buChar char="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 eaLnBrk="0" hangingPunct="0">
              <a:spcBef>
                <a:spcPts val="225"/>
              </a:spcBef>
              <a:buClr>
                <a:srgbClr val="ED3742"/>
              </a:buClr>
              <a:buSzPct val="112000"/>
              <a:buFont typeface="Verdana" panose="020B0604030504040204" pitchFamily="34" charset="0"/>
              <a:buChar char="◦"/>
              <a:defRPr sz="19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 eaLnBrk="0" hangingPunct="0">
              <a:spcBef>
                <a:spcPts val="250"/>
              </a:spcBef>
              <a:buClr>
                <a:srgbClr val="4A85BF"/>
              </a:buClr>
              <a:buSzPct val="100000"/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ts val="250"/>
              </a:spcBef>
              <a:spcAft>
                <a:spcPct val="0"/>
              </a:spcAft>
              <a:buClr>
                <a:srgbClr val="4A85BF"/>
              </a:buClr>
              <a:buSzPct val="100000"/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ts val="250"/>
              </a:spcBef>
              <a:spcAft>
                <a:spcPct val="0"/>
              </a:spcAft>
              <a:buClr>
                <a:srgbClr val="4A85BF"/>
              </a:buClr>
              <a:buSzPct val="100000"/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ts val="250"/>
              </a:spcBef>
              <a:spcAft>
                <a:spcPct val="0"/>
              </a:spcAft>
              <a:buClr>
                <a:srgbClr val="4A85BF"/>
              </a:buClr>
              <a:buSzPct val="100000"/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ts val="250"/>
              </a:spcBef>
              <a:spcAft>
                <a:spcPct val="0"/>
              </a:spcAft>
              <a:buClr>
                <a:srgbClr val="4A85BF"/>
              </a:buClr>
              <a:buSzPct val="100000"/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s-MX" altLang="es-ES" sz="1800" dirty="0">
                <a:solidFill>
                  <a:schemeClr val="accent6">
                    <a:lumMod val="10000"/>
                  </a:schemeClr>
                </a:solidFill>
                <a:latin typeface="+mj-lt"/>
              </a:rPr>
              <a:t>De las ecuaciones para </a:t>
            </a:r>
            <a:r>
              <a:rPr lang="es-MX" altLang="es-ES" sz="1800" i="1" dirty="0">
                <a:solidFill>
                  <a:schemeClr val="accent6">
                    <a:lumMod val="10000"/>
                  </a:schemeClr>
                </a:solidFill>
                <a:latin typeface="+mj-lt"/>
              </a:rPr>
              <a:t>x</a:t>
            </a:r>
            <a:r>
              <a:rPr lang="es-MX" altLang="es-ES" sz="1800" dirty="0">
                <a:solidFill>
                  <a:schemeClr val="accent6">
                    <a:lumMod val="10000"/>
                  </a:schemeClr>
                </a:solidFill>
                <a:latin typeface="+mj-lt"/>
              </a:rPr>
              <a:t> y </a:t>
            </a:r>
            <a:r>
              <a:rPr lang="es-MX" altLang="es-ES" sz="1800" i="1" dirty="0" err="1">
                <a:solidFill>
                  <a:schemeClr val="accent6">
                    <a:lumMod val="10000"/>
                  </a:schemeClr>
                </a:solidFill>
                <a:latin typeface="+mj-lt"/>
              </a:rPr>
              <a:t>y</a:t>
            </a:r>
            <a:r>
              <a:rPr lang="es-MX" altLang="es-ES" sz="1800" i="1" dirty="0">
                <a:solidFill>
                  <a:schemeClr val="accent6">
                    <a:lumMod val="10000"/>
                  </a:schemeClr>
                </a:solidFill>
                <a:latin typeface="+mj-lt"/>
              </a:rPr>
              <a:t> </a:t>
            </a:r>
            <a:r>
              <a:rPr lang="es-MX" altLang="es-ES" sz="1800" dirty="0">
                <a:solidFill>
                  <a:schemeClr val="accent6">
                    <a:lumMod val="10000"/>
                  </a:schemeClr>
                </a:solidFill>
                <a:latin typeface="+mj-lt"/>
              </a:rPr>
              <a:t>podemos obtener la ecuación de la trayectoria.</a:t>
            </a:r>
          </a:p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es-MX" altLang="es-ES" sz="1800" i="1" dirty="0">
              <a:solidFill>
                <a:schemeClr val="accent6">
                  <a:lumMod val="10000"/>
                </a:schemeClr>
              </a:solidFill>
              <a:latin typeface="+mj-lt"/>
            </a:endParaRPr>
          </a:p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s-MX" altLang="es-ES" sz="1800" i="1" dirty="0">
                <a:solidFill>
                  <a:schemeClr val="accent6">
                    <a:lumMod val="10000"/>
                  </a:schemeClr>
                </a:solidFill>
                <a:latin typeface="+mj-lt"/>
              </a:rPr>
              <a:t>x = v</a:t>
            </a:r>
            <a:r>
              <a:rPr lang="es-MX" altLang="es-ES" sz="1800" i="1" baseline="-25000" dirty="0">
                <a:solidFill>
                  <a:schemeClr val="accent6">
                    <a:lumMod val="10000"/>
                  </a:schemeClr>
                </a:solidFill>
                <a:latin typeface="+mj-lt"/>
              </a:rPr>
              <a:t>x</a:t>
            </a:r>
            <a:r>
              <a:rPr lang="es-MX" altLang="es-ES" sz="1800" baseline="-25000" dirty="0">
                <a:solidFill>
                  <a:schemeClr val="accent6">
                    <a:lumMod val="10000"/>
                  </a:schemeClr>
                </a:solidFill>
                <a:latin typeface="+mj-lt"/>
              </a:rPr>
              <a:t>0</a:t>
            </a:r>
            <a:r>
              <a:rPr lang="es-MX" altLang="es-ES" sz="1800" i="1" dirty="0">
                <a:solidFill>
                  <a:schemeClr val="accent6">
                    <a:lumMod val="10000"/>
                  </a:schemeClr>
                </a:solidFill>
                <a:latin typeface="+mj-lt"/>
              </a:rPr>
              <a:t>t</a:t>
            </a:r>
            <a:r>
              <a:rPr lang="es-MX" altLang="es-ES" sz="1800" dirty="0">
                <a:solidFill>
                  <a:schemeClr val="accent6">
                    <a:lumMod val="10000"/>
                  </a:schemeClr>
                </a:solidFill>
                <a:latin typeface="+mj-lt"/>
              </a:rPr>
              <a:t> = </a:t>
            </a:r>
            <a:r>
              <a:rPr lang="es-MX" altLang="es-ES" sz="1800" i="1" dirty="0">
                <a:solidFill>
                  <a:schemeClr val="accent6">
                    <a:lumMod val="10000"/>
                  </a:schemeClr>
                </a:solidFill>
                <a:latin typeface="+mj-lt"/>
              </a:rPr>
              <a:t>v</a:t>
            </a:r>
            <a:r>
              <a:rPr lang="es-MX" altLang="es-ES" sz="1800" baseline="-25000" dirty="0">
                <a:solidFill>
                  <a:schemeClr val="accent6">
                    <a:lumMod val="10000"/>
                  </a:schemeClr>
                </a:solidFill>
                <a:latin typeface="+mj-lt"/>
              </a:rPr>
              <a:t>0</a:t>
            </a:r>
            <a:r>
              <a:rPr lang="es-MX" altLang="es-ES" sz="1800" dirty="0">
                <a:solidFill>
                  <a:schemeClr val="accent6">
                    <a:lumMod val="10000"/>
                  </a:schemeClr>
                </a:solidFill>
                <a:latin typeface="+mj-lt"/>
              </a:rPr>
              <a:t> (cos</a:t>
            </a:r>
            <a:r>
              <a:rPr lang="el-GR" altLang="es-ES" sz="1800" dirty="0">
                <a:solidFill>
                  <a:schemeClr val="accent6">
                    <a:lumMod val="10000"/>
                  </a:schemeClr>
                </a:solidFill>
              </a:rPr>
              <a:t>θ</a:t>
            </a:r>
            <a:r>
              <a:rPr lang="es-MX" altLang="es-ES" sz="1800" baseline="-25000" dirty="0">
                <a:solidFill>
                  <a:schemeClr val="accent6">
                    <a:lumMod val="10000"/>
                  </a:schemeClr>
                </a:solidFill>
                <a:latin typeface="+mj-lt"/>
              </a:rPr>
              <a:t>0</a:t>
            </a:r>
            <a:r>
              <a:rPr lang="es-MX" altLang="es-ES" sz="1800" dirty="0">
                <a:solidFill>
                  <a:schemeClr val="accent6">
                    <a:lumMod val="10000"/>
                  </a:schemeClr>
                </a:solidFill>
                <a:latin typeface="+mj-lt"/>
              </a:rPr>
              <a:t>)</a:t>
            </a:r>
            <a:r>
              <a:rPr lang="es-MX" altLang="es-ES" sz="1800" i="1" dirty="0">
                <a:solidFill>
                  <a:schemeClr val="accent6">
                    <a:lumMod val="10000"/>
                  </a:schemeClr>
                </a:solidFill>
                <a:latin typeface="+mj-lt"/>
              </a:rPr>
              <a:t>t</a:t>
            </a:r>
          </a:p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es-MX" altLang="es-ES" sz="1800" i="1" dirty="0">
              <a:solidFill>
                <a:schemeClr val="accent6">
                  <a:lumMod val="10000"/>
                </a:schemeClr>
              </a:solidFill>
              <a:latin typeface="+mj-lt"/>
            </a:endParaRPr>
          </a:p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s-MX" altLang="es-ES" sz="1800" i="1" dirty="0">
                <a:solidFill>
                  <a:schemeClr val="accent6">
                    <a:lumMod val="10000"/>
                  </a:schemeClr>
                </a:solidFill>
                <a:latin typeface="+mj-lt"/>
              </a:rPr>
              <a:t>y</a:t>
            </a:r>
            <a:r>
              <a:rPr lang="es-MX" altLang="es-ES" sz="1800" dirty="0">
                <a:solidFill>
                  <a:schemeClr val="accent6">
                    <a:lumMod val="10000"/>
                  </a:schemeClr>
                </a:solidFill>
                <a:latin typeface="+mj-lt"/>
              </a:rPr>
              <a:t> =  </a:t>
            </a:r>
            <a:r>
              <a:rPr lang="es-MX" altLang="es-ES" sz="1800" i="1" dirty="0">
                <a:solidFill>
                  <a:schemeClr val="accent6">
                    <a:lumMod val="10000"/>
                  </a:schemeClr>
                </a:solidFill>
                <a:latin typeface="+mj-lt"/>
              </a:rPr>
              <a:t>v</a:t>
            </a:r>
            <a:r>
              <a:rPr lang="es-MX" altLang="es-ES" sz="1800" i="1" baseline="-25000" dirty="0">
                <a:solidFill>
                  <a:schemeClr val="accent6">
                    <a:lumMod val="10000"/>
                  </a:schemeClr>
                </a:solidFill>
                <a:latin typeface="+mj-lt"/>
              </a:rPr>
              <a:t>y</a:t>
            </a:r>
            <a:r>
              <a:rPr lang="es-MX" altLang="es-ES" sz="1800" baseline="-25000" dirty="0">
                <a:solidFill>
                  <a:schemeClr val="accent6">
                    <a:lumMod val="10000"/>
                  </a:schemeClr>
                </a:solidFill>
                <a:latin typeface="+mj-lt"/>
              </a:rPr>
              <a:t>0</a:t>
            </a:r>
            <a:r>
              <a:rPr lang="es-MX" altLang="es-ES" sz="1800" i="1" dirty="0">
                <a:solidFill>
                  <a:schemeClr val="accent6">
                    <a:lumMod val="10000"/>
                  </a:schemeClr>
                </a:solidFill>
                <a:latin typeface="+mj-lt"/>
              </a:rPr>
              <a:t>t</a:t>
            </a:r>
            <a:r>
              <a:rPr lang="es-MX" altLang="es-ES" sz="1800" dirty="0">
                <a:solidFill>
                  <a:schemeClr val="accent6">
                    <a:lumMod val="10000"/>
                  </a:schemeClr>
                </a:solidFill>
                <a:latin typeface="+mj-lt"/>
              </a:rPr>
              <a:t> – </a:t>
            </a:r>
            <a:r>
              <a:rPr lang="es-MX" altLang="es-ES" sz="1800" dirty="0">
                <a:solidFill>
                  <a:schemeClr val="accent6">
                    <a:lumMod val="10000"/>
                  </a:schemeClr>
                </a:solidFill>
                <a:latin typeface="+mj-lt"/>
                <a:cs typeface="Times New Roman" panose="02020603050405020304" pitchFamily="18" charset="0"/>
              </a:rPr>
              <a:t>½</a:t>
            </a:r>
            <a:r>
              <a:rPr lang="es-MX" altLang="es-ES" sz="1800" i="1" dirty="0">
                <a:solidFill>
                  <a:schemeClr val="accent6">
                    <a:lumMod val="10000"/>
                  </a:schemeClr>
                </a:solidFill>
                <a:latin typeface="+mj-lt"/>
              </a:rPr>
              <a:t>gt</a:t>
            </a:r>
            <a:r>
              <a:rPr lang="es-MX" altLang="es-ES" sz="1800" baseline="30000" dirty="0">
                <a:solidFill>
                  <a:schemeClr val="accent6">
                    <a:lumMod val="10000"/>
                  </a:schemeClr>
                </a:solidFill>
                <a:latin typeface="+mj-lt"/>
              </a:rPr>
              <a:t>2</a:t>
            </a:r>
            <a:r>
              <a:rPr lang="es-MX" altLang="es-ES" sz="1800" dirty="0">
                <a:solidFill>
                  <a:schemeClr val="accent6">
                    <a:lumMod val="10000"/>
                  </a:schemeClr>
                </a:solidFill>
                <a:latin typeface="+mj-lt"/>
              </a:rPr>
              <a:t> = </a:t>
            </a:r>
            <a:r>
              <a:rPr lang="es-MX" altLang="es-ES" sz="1800" i="1" dirty="0">
                <a:solidFill>
                  <a:schemeClr val="accent6">
                    <a:lumMod val="10000"/>
                  </a:schemeClr>
                </a:solidFill>
                <a:latin typeface="+mj-lt"/>
              </a:rPr>
              <a:t>v</a:t>
            </a:r>
            <a:r>
              <a:rPr lang="es-MX" altLang="es-ES" sz="1800" baseline="-25000" dirty="0">
                <a:solidFill>
                  <a:schemeClr val="accent6">
                    <a:lumMod val="10000"/>
                  </a:schemeClr>
                </a:solidFill>
                <a:latin typeface="+mj-lt"/>
              </a:rPr>
              <a:t>0</a:t>
            </a:r>
            <a:r>
              <a:rPr lang="es-MX" altLang="es-ES" sz="1800" dirty="0">
                <a:solidFill>
                  <a:schemeClr val="accent6">
                    <a:lumMod val="10000"/>
                  </a:schemeClr>
                </a:solidFill>
                <a:latin typeface="+mj-lt"/>
              </a:rPr>
              <a:t> (sen</a:t>
            </a:r>
            <a:r>
              <a:rPr lang="el-GR" altLang="es-ES" sz="1800" dirty="0">
                <a:solidFill>
                  <a:schemeClr val="accent6">
                    <a:lumMod val="10000"/>
                  </a:schemeClr>
                </a:solidFill>
              </a:rPr>
              <a:t>θ</a:t>
            </a:r>
            <a:r>
              <a:rPr lang="es-MX" altLang="es-ES" sz="1800" baseline="-25000" dirty="0">
                <a:solidFill>
                  <a:schemeClr val="accent6">
                    <a:lumMod val="10000"/>
                  </a:schemeClr>
                </a:solidFill>
                <a:latin typeface="+mj-lt"/>
              </a:rPr>
              <a:t>0</a:t>
            </a:r>
            <a:r>
              <a:rPr lang="es-MX" altLang="es-ES" sz="1800" dirty="0">
                <a:solidFill>
                  <a:schemeClr val="accent6">
                    <a:lumMod val="10000"/>
                  </a:schemeClr>
                </a:solidFill>
                <a:latin typeface="+mj-lt"/>
              </a:rPr>
              <a:t>)</a:t>
            </a:r>
            <a:r>
              <a:rPr lang="es-MX" altLang="es-ES" sz="1800" i="1" dirty="0">
                <a:solidFill>
                  <a:schemeClr val="accent6">
                    <a:lumMod val="10000"/>
                  </a:schemeClr>
                </a:solidFill>
                <a:latin typeface="+mj-lt"/>
              </a:rPr>
              <a:t>t</a:t>
            </a:r>
            <a:r>
              <a:rPr lang="es-MX" altLang="es-ES" sz="1800" dirty="0">
                <a:solidFill>
                  <a:schemeClr val="accent6">
                    <a:lumMod val="10000"/>
                  </a:schemeClr>
                </a:solidFill>
                <a:latin typeface="+mj-lt"/>
              </a:rPr>
              <a:t> – </a:t>
            </a:r>
            <a:r>
              <a:rPr lang="es-MX" altLang="es-ES" sz="1800" dirty="0">
                <a:solidFill>
                  <a:schemeClr val="accent6">
                    <a:lumMod val="10000"/>
                  </a:schemeClr>
                </a:solidFill>
                <a:latin typeface="+mj-lt"/>
                <a:cs typeface="Times New Roman" panose="02020603050405020304" pitchFamily="18" charset="0"/>
              </a:rPr>
              <a:t>½</a:t>
            </a:r>
            <a:r>
              <a:rPr lang="es-MX" altLang="es-ES" sz="1800" dirty="0">
                <a:solidFill>
                  <a:schemeClr val="accent6">
                    <a:lumMod val="10000"/>
                  </a:schemeClr>
                </a:solidFill>
                <a:latin typeface="+mj-lt"/>
              </a:rPr>
              <a:t> </a:t>
            </a:r>
            <a:r>
              <a:rPr lang="es-MX" altLang="es-ES" sz="1800" i="1" dirty="0">
                <a:solidFill>
                  <a:schemeClr val="accent6">
                    <a:lumMod val="10000"/>
                  </a:schemeClr>
                </a:solidFill>
                <a:latin typeface="+mj-lt"/>
              </a:rPr>
              <a:t>gt</a:t>
            </a:r>
            <a:r>
              <a:rPr lang="es-MX" altLang="es-ES" sz="1800" baseline="30000" dirty="0">
                <a:solidFill>
                  <a:schemeClr val="accent6">
                    <a:lumMod val="10000"/>
                  </a:schemeClr>
                </a:solidFill>
                <a:latin typeface="+mj-lt"/>
              </a:rPr>
              <a:t>2</a:t>
            </a:r>
          </a:p>
        </p:txBody>
      </p:sp>
      <p:graphicFrame>
        <p:nvGraphicFramePr>
          <p:cNvPr id="7" name="Object 2">
            <a:extLst>
              <a:ext uri="{FF2B5EF4-FFF2-40B4-BE49-F238E27FC236}">
                <a16:creationId xmlns:a16="http://schemas.microsoft.com/office/drawing/2014/main" id="{521A15BD-1F80-46B8-A93F-A1C96FACDD9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22768012"/>
              </p:ext>
            </p:extLst>
          </p:nvPr>
        </p:nvGraphicFramePr>
        <p:xfrm>
          <a:off x="5120246" y="4124669"/>
          <a:ext cx="1214437" cy="676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5" name="Ecuación" r:id="rId4" imgW="774364" imgH="431613" progId="Equation.3">
                  <p:embed/>
                </p:oleObj>
              </mc:Choice>
              <mc:Fallback>
                <p:oleObj name="Ecuación" r:id="rId4" imgW="774364" imgH="431613" progId="Equation.3">
                  <p:embed/>
                  <p:pic>
                    <p:nvPicPr>
                      <p:cNvPr id="8" name="Object 2">
                        <a:extLst>
                          <a:ext uri="{FF2B5EF4-FFF2-40B4-BE49-F238E27FC236}">
                            <a16:creationId xmlns:a16="http://schemas.microsoft.com/office/drawing/2014/main" id="{6C83CAE7-640E-4C9C-A537-2B216A51180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20246" y="4124669"/>
                        <a:ext cx="1214437" cy="676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3">
            <a:extLst>
              <a:ext uri="{FF2B5EF4-FFF2-40B4-BE49-F238E27FC236}">
                <a16:creationId xmlns:a16="http://schemas.microsoft.com/office/drawing/2014/main" id="{D35E39F2-F8E8-444B-AC5A-C01B50440A0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99222409"/>
              </p:ext>
            </p:extLst>
          </p:nvPr>
        </p:nvGraphicFramePr>
        <p:xfrm>
          <a:off x="6443178" y="4814679"/>
          <a:ext cx="3724275" cy="795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6" name="Ecuación" r:id="rId6" imgW="2374900" imgH="508000" progId="Equation.3">
                  <p:embed/>
                </p:oleObj>
              </mc:Choice>
              <mc:Fallback>
                <p:oleObj name="Ecuación" r:id="rId6" imgW="2374900" imgH="508000" progId="Equation.3">
                  <p:embed/>
                  <p:pic>
                    <p:nvPicPr>
                      <p:cNvPr id="9" name="Object 3">
                        <a:extLst>
                          <a:ext uri="{FF2B5EF4-FFF2-40B4-BE49-F238E27FC236}">
                            <a16:creationId xmlns:a16="http://schemas.microsoft.com/office/drawing/2014/main" id="{29476700-D394-4941-828C-589CE21D09A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43178" y="4814679"/>
                        <a:ext cx="3724275" cy="7953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4">
            <a:extLst>
              <a:ext uri="{FF2B5EF4-FFF2-40B4-BE49-F238E27FC236}">
                <a16:creationId xmlns:a16="http://schemas.microsoft.com/office/drawing/2014/main" id="{AAA67660-555E-4BD5-AE9B-3433C9C9C3B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54899752"/>
              </p:ext>
            </p:extLst>
          </p:nvPr>
        </p:nvGraphicFramePr>
        <p:xfrm>
          <a:off x="2582107" y="5650748"/>
          <a:ext cx="2808288" cy="755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7" name="Ecuación" r:id="rId8" imgW="1790700" imgH="482600" progId="Equation.3">
                  <p:embed/>
                </p:oleObj>
              </mc:Choice>
              <mc:Fallback>
                <p:oleObj name="Ecuación" r:id="rId8" imgW="1790700" imgH="482600" progId="Equation.3">
                  <p:embed/>
                  <p:pic>
                    <p:nvPicPr>
                      <p:cNvPr id="10" name="Object 4">
                        <a:extLst>
                          <a:ext uri="{FF2B5EF4-FFF2-40B4-BE49-F238E27FC236}">
                            <a16:creationId xmlns:a16="http://schemas.microsoft.com/office/drawing/2014/main" id="{5C442009-6ABA-4F67-BC28-A1BB6BC8B70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82107" y="5650748"/>
                        <a:ext cx="2808288" cy="755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6 CuadroTexto">
            <a:extLst>
              <a:ext uri="{FF2B5EF4-FFF2-40B4-BE49-F238E27FC236}">
                <a16:creationId xmlns:a16="http://schemas.microsoft.com/office/drawing/2014/main" id="{7448DCE2-5D7F-4EA8-B334-0B9C3EC2B7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74174" y="5690016"/>
            <a:ext cx="328612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ts val="25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 eaLnBrk="0" hangingPunct="0">
              <a:spcBef>
                <a:spcPts val="250"/>
              </a:spcBef>
              <a:buClr>
                <a:schemeClr val="accent1"/>
              </a:buClr>
              <a:buSzPct val="100000"/>
              <a:buFont typeface="Verdana" panose="020B0604030504040204" pitchFamily="34" charset="0"/>
              <a:buChar char="◦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 eaLnBrk="0" hangingPunct="0">
              <a:spcBef>
                <a:spcPts val="250"/>
              </a:spcBef>
              <a:buClr>
                <a:srgbClr val="ED3742"/>
              </a:buClr>
              <a:buSzPct val="100000"/>
              <a:buFont typeface="Wingdings 2" panose="05020102010507070707" pitchFamily="18" charset="2"/>
              <a:buChar char="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 eaLnBrk="0" hangingPunct="0">
              <a:spcBef>
                <a:spcPts val="225"/>
              </a:spcBef>
              <a:buClr>
                <a:srgbClr val="ED3742"/>
              </a:buClr>
              <a:buSzPct val="112000"/>
              <a:buFont typeface="Verdana" panose="020B0604030504040204" pitchFamily="34" charset="0"/>
              <a:buChar char="◦"/>
              <a:defRPr sz="19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 eaLnBrk="0" hangingPunct="0">
              <a:spcBef>
                <a:spcPts val="250"/>
              </a:spcBef>
              <a:buClr>
                <a:srgbClr val="4A85BF"/>
              </a:buClr>
              <a:buSzPct val="100000"/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ts val="250"/>
              </a:spcBef>
              <a:spcAft>
                <a:spcPct val="0"/>
              </a:spcAft>
              <a:buClr>
                <a:srgbClr val="4A85BF"/>
              </a:buClr>
              <a:buSzPct val="100000"/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ts val="250"/>
              </a:spcBef>
              <a:spcAft>
                <a:spcPct val="0"/>
              </a:spcAft>
              <a:buClr>
                <a:srgbClr val="4A85BF"/>
              </a:buClr>
              <a:buSzPct val="100000"/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ts val="250"/>
              </a:spcBef>
              <a:spcAft>
                <a:spcPct val="0"/>
              </a:spcAft>
              <a:buClr>
                <a:srgbClr val="4A85BF"/>
              </a:buClr>
              <a:buSzPct val="100000"/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ts val="250"/>
              </a:spcBef>
              <a:spcAft>
                <a:spcPct val="0"/>
              </a:spcAft>
              <a:buClr>
                <a:srgbClr val="4A85BF"/>
              </a:buClr>
              <a:buSzPct val="100000"/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s-MX" altLang="es-ES" sz="1800" dirty="0">
                <a:solidFill>
                  <a:schemeClr val="accent6">
                    <a:lumMod val="10000"/>
                  </a:schemeClr>
                </a:solidFill>
                <a:latin typeface="+mj-lt"/>
                <a:cs typeface="Times New Roman" panose="02020603050405020304" pitchFamily="18" charset="0"/>
              </a:rPr>
              <a:t>Representa una parábola</a:t>
            </a:r>
          </a:p>
        </p:txBody>
      </p:sp>
      <p:cxnSp>
        <p:nvCxnSpPr>
          <p:cNvPr id="11" name="8 Conector recto de flecha">
            <a:extLst>
              <a:ext uri="{FF2B5EF4-FFF2-40B4-BE49-F238E27FC236}">
                <a16:creationId xmlns:a16="http://schemas.microsoft.com/office/drawing/2014/main" id="{89B8B8FF-ECD2-4855-BE70-A94B055703EE}"/>
              </a:ext>
            </a:extLst>
          </p:cNvPr>
          <p:cNvCxnSpPr>
            <a:cxnSpLocks noChangeShapeType="1"/>
          </p:cNvCxnSpPr>
          <p:nvPr/>
        </p:nvCxnSpPr>
        <p:spPr bwMode="auto">
          <a:xfrm rot="10800000" flipV="1">
            <a:off x="5467910" y="5914273"/>
            <a:ext cx="1428750" cy="10160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  <p:extLst>
      <p:ext uri="{BB962C8B-B14F-4D97-AF65-F5344CB8AC3E}">
        <p14:creationId xmlns:p14="http://schemas.microsoft.com/office/powerpoint/2010/main" val="11340136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  <p:bldP spid="10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A0B1B25A-76D0-4710-884E-F6C5C9F0812C}"/>
              </a:ext>
            </a:extLst>
          </p:cNvPr>
          <p:cNvSpPr txBox="1"/>
          <p:nvPr/>
        </p:nvSpPr>
        <p:spPr>
          <a:xfrm>
            <a:off x="362243" y="286602"/>
            <a:ext cx="609834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2400" b="0" dirty="0">
                <a:latin typeface="+mj-lt"/>
              </a:rPr>
              <a:t>Vector desplazamiento en el tiro parabólico</a:t>
            </a:r>
            <a:endParaRPr lang="es-CO" sz="2400" dirty="0">
              <a:latin typeface="+mj-lt"/>
            </a:endParaRPr>
          </a:p>
        </p:txBody>
      </p:sp>
      <p:sp>
        <p:nvSpPr>
          <p:cNvPr id="4" name="Text Box 3">
            <a:extLst>
              <a:ext uri="{FF2B5EF4-FFF2-40B4-BE49-F238E27FC236}">
                <a16:creationId xmlns:a16="http://schemas.microsoft.com/office/drawing/2014/main" id="{1662E06E-2F8F-4771-94BB-97B847CD76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45555" y="1460144"/>
            <a:ext cx="2376264" cy="6480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ts val="25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 eaLnBrk="0" hangingPunct="0">
              <a:spcBef>
                <a:spcPts val="250"/>
              </a:spcBef>
              <a:buClr>
                <a:schemeClr val="accent1"/>
              </a:buClr>
              <a:buSzPct val="100000"/>
              <a:buFont typeface="Verdana" panose="020B0604030504040204" pitchFamily="34" charset="0"/>
              <a:buChar char="◦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 eaLnBrk="0" hangingPunct="0">
              <a:spcBef>
                <a:spcPts val="250"/>
              </a:spcBef>
              <a:buClr>
                <a:srgbClr val="ED3742"/>
              </a:buClr>
              <a:buSzPct val="100000"/>
              <a:buFont typeface="Wingdings 2" panose="05020102010507070707" pitchFamily="18" charset="2"/>
              <a:buChar char="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 eaLnBrk="0" hangingPunct="0">
              <a:spcBef>
                <a:spcPts val="225"/>
              </a:spcBef>
              <a:buClr>
                <a:srgbClr val="ED3742"/>
              </a:buClr>
              <a:buSzPct val="112000"/>
              <a:buFont typeface="Verdana" panose="020B0604030504040204" pitchFamily="34" charset="0"/>
              <a:buChar char="◦"/>
              <a:defRPr sz="19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 eaLnBrk="0" hangingPunct="0">
              <a:spcBef>
                <a:spcPts val="250"/>
              </a:spcBef>
              <a:buClr>
                <a:srgbClr val="4A85BF"/>
              </a:buClr>
              <a:buSzPct val="100000"/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ts val="250"/>
              </a:spcBef>
              <a:spcAft>
                <a:spcPct val="0"/>
              </a:spcAft>
              <a:buClr>
                <a:srgbClr val="4A85BF"/>
              </a:buClr>
              <a:buSzPct val="100000"/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ts val="250"/>
              </a:spcBef>
              <a:spcAft>
                <a:spcPct val="0"/>
              </a:spcAft>
              <a:buClr>
                <a:srgbClr val="4A85BF"/>
              </a:buClr>
              <a:buSzPct val="100000"/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ts val="250"/>
              </a:spcBef>
              <a:spcAft>
                <a:spcPct val="0"/>
              </a:spcAft>
              <a:buClr>
                <a:srgbClr val="4A85BF"/>
              </a:buClr>
              <a:buSzPct val="100000"/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ts val="250"/>
              </a:spcBef>
              <a:spcAft>
                <a:spcPct val="0"/>
              </a:spcAft>
              <a:buClr>
                <a:srgbClr val="4A85BF"/>
              </a:buClr>
              <a:buSzPct val="100000"/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s-MX" altLang="es-ES" sz="1800" b="1" dirty="0">
                <a:solidFill>
                  <a:schemeClr val="accent6">
                    <a:lumMod val="10000"/>
                  </a:schemeClr>
                </a:solidFill>
                <a:latin typeface="+mj-lt"/>
              </a:rPr>
              <a:t>r</a:t>
            </a:r>
            <a:r>
              <a:rPr lang="es-MX" altLang="es-ES" sz="1800" dirty="0">
                <a:solidFill>
                  <a:schemeClr val="accent6">
                    <a:lumMod val="10000"/>
                  </a:schemeClr>
                </a:solidFill>
                <a:latin typeface="+mj-lt"/>
              </a:rPr>
              <a:t> puede escribirse como: </a:t>
            </a:r>
            <a:r>
              <a:rPr lang="es-MX" altLang="es-ES" sz="1800" b="1" dirty="0">
                <a:solidFill>
                  <a:schemeClr val="accent6">
                    <a:lumMod val="10000"/>
                  </a:schemeClr>
                </a:solidFill>
                <a:latin typeface="+mj-lt"/>
              </a:rPr>
              <a:t>r</a:t>
            </a:r>
            <a:r>
              <a:rPr lang="es-MX" altLang="es-ES" sz="1800" dirty="0">
                <a:solidFill>
                  <a:schemeClr val="accent6">
                    <a:lumMod val="10000"/>
                  </a:schemeClr>
                </a:solidFill>
                <a:latin typeface="+mj-lt"/>
              </a:rPr>
              <a:t> = </a:t>
            </a:r>
            <a:r>
              <a:rPr lang="es-MX" altLang="es-ES" sz="1800" b="1" dirty="0">
                <a:solidFill>
                  <a:schemeClr val="accent6">
                    <a:lumMod val="10000"/>
                  </a:schemeClr>
                </a:solidFill>
                <a:latin typeface="+mj-lt"/>
              </a:rPr>
              <a:t>v</a:t>
            </a:r>
            <a:r>
              <a:rPr lang="es-MX" altLang="es-ES" sz="1800" baseline="-25000" dirty="0">
                <a:solidFill>
                  <a:schemeClr val="accent6">
                    <a:lumMod val="10000"/>
                  </a:schemeClr>
                </a:solidFill>
                <a:latin typeface="+mj-lt"/>
              </a:rPr>
              <a:t>0</a:t>
            </a:r>
            <a:r>
              <a:rPr lang="es-MX" altLang="es-ES" sz="1800" i="1" dirty="0">
                <a:solidFill>
                  <a:schemeClr val="accent6">
                    <a:lumMod val="10000"/>
                  </a:schemeClr>
                </a:solidFill>
                <a:latin typeface="+mj-lt"/>
              </a:rPr>
              <a:t>t</a:t>
            </a:r>
            <a:r>
              <a:rPr lang="es-MX" altLang="es-ES" sz="1800" dirty="0">
                <a:solidFill>
                  <a:schemeClr val="accent6">
                    <a:lumMod val="10000"/>
                  </a:schemeClr>
                </a:solidFill>
                <a:latin typeface="+mj-lt"/>
              </a:rPr>
              <a:t> + </a:t>
            </a:r>
            <a:r>
              <a:rPr lang="es-MX" altLang="es-ES" sz="1800" dirty="0">
                <a:solidFill>
                  <a:schemeClr val="accent6">
                    <a:lumMod val="10000"/>
                  </a:schemeClr>
                </a:solidFill>
                <a:latin typeface="+mj-lt"/>
                <a:cs typeface="Times New Roman" panose="02020603050405020304" pitchFamily="18" charset="0"/>
              </a:rPr>
              <a:t>½</a:t>
            </a:r>
            <a:r>
              <a:rPr lang="es-MX" altLang="es-ES" sz="1800" b="1" dirty="0">
                <a:solidFill>
                  <a:schemeClr val="accent6">
                    <a:lumMod val="10000"/>
                  </a:schemeClr>
                </a:solidFill>
                <a:latin typeface="+mj-lt"/>
              </a:rPr>
              <a:t>g</a:t>
            </a:r>
            <a:r>
              <a:rPr lang="es-MX" altLang="es-ES" sz="1800" i="1" dirty="0">
                <a:solidFill>
                  <a:schemeClr val="accent6">
                    <a:lumMod val="10000"/>
                  </a:schemeClr>
                </a:solidFill>
                <a:latin typeface="+mj-lt"/>
              </a:rPr>
              <a:t>t</a:t>
            </a:r>
            <a:r>
              <a:rPr lang="es-MX" altLang="es-ES" sz="1800" baseline="30000" dirty="0">
                <a:solidFill>
                  <a:schemeClr val="accent6">
                    <a:lumMod val="10000"/>
                  </a:schemeClr>
                </a:solidFill>
                <a:latin typeface="+mj-lt"/>
              </a:rPr>
              <a:t>2</a:t>
            </a:r>
          </a:p>
        </p:txBody>
      </p:sp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FF81BF88-1634-4249-BF27-77F038DB55C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21618778"/>
              </p:ext>
            </p:extLst>
          </p:nvPr>
        </p:nvGraphicFramePr>
        <p:xfrm>
          <a:off x="5038091" y="748267"/>
          <a:ext cx="5356998" cy="197820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6" name="Imagen de mapa de bits" r:id="rId4" imgW="6552381" imgH="2419048" progId="Paint.Picture">
                  <p:embed/>
                </p:oleObj>
              </mc:Choice>
              <mc:Fallback>
                <p:oleObj name="Imagen de mapa de bits" r:id="rId4" imgW="6552381" imgH="2419048" progId="Paint.Picture">
                  <p:embed/>
                  <p:pic>
                    <p:nvPicPr>
                      <p:cNvPr id="6" name="Object 4">
                        <a:extLst>
                          <a:ext uri="{FF2B5EF4-FFF2-40B4-BE49-F238E27FC236}">
                            <a16:creationId xmlns:a16="http://schemas.microsoft.com/office/drawing/2014/main" id="{764E67BF-E879-482D-88B6-0266F3C5E97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38091" y="748267"/>
                        <a:ext cx="5356998" cy="197820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3">
            <a:extLst>
              <a:ext uri="{FF2B5EF4-FFF2-40B4-BE49-F238E27FC236}">
                <a16:creationId xmlns:a16="http://schemas.microsoft.com/office/drawing/2014/main" id="{EDF4ED6A-FD2D-4DA8-9B8D-CC3B4F8BAEEE}"/>
              </a:ext>
            </a:extLst>
          </p:cNvPr>
          <p:cNvSpPr txBox="1">
            <a:spLocks noChangeArrowheads="1"/>
          </p:cNvSpPr>
          <p:nvPr/>
        </p:nvSpPr>
        <p:spPr>
          <a:xfrm>
            <a:off x="1773969" y="4833165"/>
            <a:ext cx="8600802" cy="1944216"/>
          </a:xfrm>
          <a:prstGeom prst="rect">
            <a:avLst/>
          </a:prstGeom>
        </p:spPr>
        <p:txBody>
          <a:bodyPr/>
          <a:lstStyle>
            <a:lvl1pPr marL="342900" indent="-3429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ＭＳ Ｐゴシック" charset="-128"/>
                <a:cs typeface="ＭＳ Ｐゴシック" charset="-128"/>
              </a:defRPr>
            </a:lvl1pPr>
            <a:lvl2pPr marL="742950" indent="-28575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Arial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2pPr>
            <a:lvl3pPr marL="1143000" indent="-2286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Arial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3pPr>
            <a:lvl4pPr marL="1600200" indent="-2286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Arial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4pPr>
            <a:lvl5pPr marL="2057400" indent="-2286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Arial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609600" indent="-609600" algn="just">
              <a:buFont typeface="Wingdings" panose="05000000000000000000" pitchFamily="2" charset="2"/>
              <a:buNone/>
            </a:pPr>
            <a:r>
              <a:rPr lang="es-ES" altLang="es-ES" sz="1800" dirty="0">
                <a:solidFill>
                  <a:schemeClr val="accent6">
                    <a:lumMod val="10000"/>
                  </a:schemeClr>
                </a:solidFill>
              </a:rPr>
              <a:t>Se puede concluir que el movimiento de proyectil es la superposición de dos Movimientos:</a:t>
            </a:r>
          </a:p>
          <a:p>
            <a:pPr marL="609600" indent="-609600" algn="just">
              <a:buFont typeface="Wingdings" panose="05000000000000000000" pitchFamily="2" charset="2"/>
              <a:buNone/>
            </a:pPr>
            <a:r>
              <a:rPr lang="es-ES" altLang="es-ES" sz="1800" dirty="0">
                <a:solidFill>
                  <a:schemeClr val="accent6">
                    <a:lumMod val="10000"/>
                  </a:schemeClr>
                </a:solidFill>
              </a:rPr>
              <a:t>1. Movimiento con velocidad constante en la dirección x (horizontal).</a:t>
            </a:r>
          </a:p>
          <a:p>
            <a:pPr marL="609600" indent="-609600" algn="just">
              <a:buFont typeface="Wingdings" panose="05000000000000000000" pitchFamily="2" charset="2"/>
              <a:buNone/>
            </a:pPr>
            <a:r>
              <a:rPr lang="es-ES" altLang="es-ES" sz="1800" dirty="0">
                <a:solidFill>
                  <a:schemeClr val="accent6">
                    <a:lumMod val="10000"/>
                  </a:schemeClr>
                </a:solidFill>
              </a:rPr>
              <a:t>2. Movimiento de caída libre en la dirección y (vertical)</a:t>
            </a:r>
          </a:p>
        </p:txBody>
      </p:sp>
      <p:sp>
        <p:nvSpPr>
          <p:cNvPr id="7" name="Text Box 3">
            <a:extLst>
              <a:ext uri="{FF2B5EF4-FFF2-40B4-BE49-F238E27FC236}">
                <a16:creationId xmlns:a16="http://schemas.microsoft.com/office/drawing/2014/main" id="{73981A51-D2D3-4BA4-AC71-21692DAE80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35533" y="2522639"/>
            <a:ext cx="7929563" cy="14773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ts val="25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 eaLnBrk="0" hangingPunct="0">
              <a:spcBef>
                <a:spcPts val="250"/>
              </a:spcBef>
              <a:buClr>
                <a:schemeClr val="accent1"/>
              </a:buClr>
              <a:buSzPct val="100000"/>
              <a:buFont typeface="Verdana" panose="020B0604030504040204" pitchFamily="34" charset="0"/>
              <a:buChar char="◦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 eaLnBrk="0" hangingPunct="0">
              <a:spcBef>
                <a:spcPts val="250"/>
              </a:spcBef>
              <a:buClr>
                <a:srgbClr val="ED3742"/>
              </a:buClr>
              <a:buSzPct val="100000"/>
              <a:buFont typeface="Wingdings 2" panose="05020102010507070707" pitchFamily="18" charset="2"/>
              <a:buChar char="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 eaLnBrk="0" hangingPunct="0">
              <a:spcBef>
                <a:spcPts val="225"/>
              </a:spcBef>
              <a:buClr>
                <a:srgbClr val="ED3742"/>
              </a:buClr>
              <a:buSzPct val="112000"/>
              <a:buFont typeface="Verdana" panose="020B0604030504040204" pitchFamily="34" charset="0"/>
              <a:buChar char="◦"/>
              <a:defRPr sz="19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 eaLnBrk="0" hangingPunct="0">
              <a:spcBef>
                <a:spcPts val="250"/>
              </a:spcBef>
              <a:buClr>
                <a:srgbClr val="4A85BF"/>
              </a:buClr>
              <a:buSzPct val="100000"/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ts val="250"/>
              </a:spcBef>
              <a:spcAft>
                <a:spcPct val="0"/>
              </a:spcAft>
              <a:buClr>
                <a:srgbClr val="4A85BF"/>
              </a:buClr>
              <a:buSzPct val="100000"/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ts val="250"/>
              </a:spcBef>
              <a:spcAft>
                <a:spcPct val="0"/>
              </a:spcAft>
              <a:buClr>
                <a:srgbClr val="4A85BF"/>
              </a:buClr>
              <a:buSzPct val="100000"/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ts val="250"/>
              </a:spcBef>
              <a:spcAft>
                <a:spcPct val="0"/>
              </a:spcAft>
              <a:buClr>
                <a:srgbClr val="4A85BF"/>
              </a:buClr>
              <a:buSzPct val="100000"/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ts val="250"/>
              </a:spcBef>
              <a:spcAft>
                <a:spcPct val="0"/>
              </a:spcAft>
              <a:buClr>
                <a:srgbClr val="4A85BF"/>
              </a:buClr>
              <a:buSzPct val="100000"/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s-MX" altLang="es-ES" sz="1800" i="1" dirty="0">
                <a:solidFill>
                  <a:schemeClr val="accent6">
                    <a:lumMod val="10000"/>
                  </a:schemeClr>
                </a:solidFill>
                <a:latin typeface="+mj-lt"/>
              </a:rPr>
              <a:t>x = v</a:t>
            </a:r>
            <a:r>
              <a:rPr lang="es-MX" altLang="es-ES" sz="1800" i="1" baseline="-25000" dirty="0">
                <a:solidFill>
                  <a:schemeClr val="accent6">
                    <a:lumMod val="10000"/>
                  </a:schemeClr>
                </a:solidFill>
                <a:latin typeface="+mj-lt"/>
              </a:rPr>
              <a:t>x</a:t>
            </a:r>
            <a:r>
              <a:rPr lang="es-MX" altLang="es-ES" sz="1800" baseline="-25000" dirty="0">
                <a:solidFill>
                  <a:schemeClr val="accent6">
                    <a:lumMod val="10000"/>
                  </a:schemeClr>
                </a:solidFill>
                <a:latin typeface="+mj-lt"/>
              </a:rPr>
              <a:t>0</a:t>
            </a:r>
            <a:r>
              <a:rPr lang="es-MX" altLang="es-ES" sz="1800" i="1" dirty="0">
                <a:solidFill>
                  <a:schemeClr val="accent6">
                    <a:lumMod val="10000"/>
                  </a:schemeClr>
                </a:solidFill>
                <a:latin typeface="+mj-lt"/>
              </a:rPr>
              <a:t>t</a:t>
            </a:r>
            <a:r>
              <a:rPr lang="es-MX" altLang="es-ES" sz="1800" dirty="0">
                <a:solidFill>
                  <a:schemeClr val="accent6">
                    <a:lumMod val="10000"/>
                  </a:schemeClr>
                </a:solidFill>
                <a:latin typeface="+mj-lt"/>
              </a:rPr>
              <a:t> = </a:t>
            </a:r>
            <a:r>
              <a:rPr lang="es-MX" altLang="es-ES" sz="1800" i="1" dirty="0">
                <a:solidFill>
                  <a:schemeClr val="accent6">
                    <a:lumMod val="10000"/>
                  </a:schemeClr>
                </a:solidFill>
                <a:latin typeface="+mj-lt"/>
              </a:rPr>
              <a:t>v</a:t>
            </a:r>
            <a:r>
              <a:rPr lang="es-MX" altLang="es-ES" sz="1800" baseline="-25000" dirty="0">
                <a:solidFill>
                  <a:schemeClr val="accent6">
                    <a:lumMod val="10000"/>
                  </a:schemeClr>
                </a:solidFill>
                <a:latin typeface="+mj-lt"/>
              </a:rPr>
              <a:t>0</a:t>
            </a:r>
            <a:r>
              <a:rPr lang="es-MX" altLang="es-ES" sz="1800" dirty="0">
                <a:solidFill>
                  <a:schemeClr val="accent6">
                    <a:lumMod val="10000"/>
                  </a:schemeClr>
                </a:solidFill>
                <a:latin typeface="+mj-lt"/>
              </a:rPr>
              <a:t> (cos </a:t>
            </a:r>
            <a:r>
              <a:rPr lang="el-GR" altLang="es-ES" sz="1800" dirty="0">
                <a:solidFill>
                  <a:schemeClr val="accent6">
                    <a:lumMod val="10000"/>
                  </a:schemeClr>
                </a:solidFill>
              </a:rPr>
              <a:t>θ</a:t>
            </a:r>
            <a:r>
              <a:rPr lang="es-MX" altLang="es-ES" sz="1800" baseline="-25000" dirty="0">
                <a:solidFill>
                  <a:schemeClr val="accent6">
                    <a:lumMod val="10000"/>
                  </a:schemeClr>
                </a:solidFill>
                <a:latin typeface="+mj-lt"/>
              </a:rPr>
              <a:t>0</a:t>
            </a:r>
            <a:r>
              <a:rPr lang="es-MX" altLang="es-ES" sz="1800" dirty="0">
                <a:solidFill>
                  <a:schemeClr val="accent6">
                    <a:lumMod val="10000"/>
                  </a:schemeClr>
                </a:solidFill>
                <a:latin typeface="+mj-lt"/>
              </a:rPr>
              <a:t> )</a:t>
            </a:r>
            <a:r>
              <a:rPr lang="es-MX" altLang="es-ES" sz="1800" i="1" dirty="0">
                <a:solidFill>
                  <a:schemeClr val="accent6">
                    <a:lumMod val="10000"/>
                  </a:schemeClr>
                </a:solidFill>
                <a:latin typeface="+mj-lt"/>
              </a:rPr>
              <a:t>t</a:t>
            </a:r>
          </a:p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s-MX" altLang="es-ES" sz="1800" i="1" dirty="0">
                <a:solidFill>
                  <a:schemeClr val="accent6">
                    <a:lumMod val="10000"/>
                  </a:schemeClr>
                </a:solidFill>
                <a:latin typeface="+mj-lt"/>
              </a:rPr>
              <a:t>y</a:t>
            </a:r>
            <a:r>
              <a:rPr lang="es-MX" altLang="es-ES" sz="1800" dirty="0">
                <a:solidFill>
                  <a:schemeClr val="accent6">
                    <a:lumMod val="10000"/>
                  </a:schemeClr>
                </a:solidFill>
                <a:latin typeface="+mj-lt"/>
              </a:rPr>
              <a:t> =  </a:t>
            </a:r>
            <a:r>
              <a:rPr lang="es-MX" altLang="es-ES" sz="1800" i="1" dirty="0">
                <a:solidFill>
                  <a:schemeClr val="accent6">
                    <a:lumMod val="10000"/>
                  </a:schemeClr>
                </a:solidFill>
                <a:latin typeface="+mj-lt"/>
              </a:rPr>
              <a:t>v</a:t>
            </a:r>
            <a:r>
              <a:rPr lang="es-MX" altLang="es-ES" sz="1800" i="1" baseline="-25000" dirty="0">
                <a:solidFill>
                  <a:schemeClr val="accent6">
                    <a:lumMod val="10000"/>
                  </a:schemeClr>
                </a:solidFill>
                <a:latin typeface="+mj-lt"/>
              </a:rPr>
              <a:t>y</a:t>
            </a:r>
            <a:r>
              <a:rPr lang="es-MX" altLang="es-ES" sz="1800" baseline="-25000" dirty="0">
                <a:solidFill>
                  <a:schemeClr val="accent6">
                    <a:lumMod val="10000"/>
                  </a:schemeClr>
                </a:solidFill>
                <a:latin typeface="+mj-lt"/>
              </a:rPr>
              <a:t>0</a:t>
            </a:r>
            <a:r>
              <a:rPr lang="es-MX" altLang="es-ES" sz="1800" i="1" dirty="0">
                <a:solidFill>
                  <a:schemeClr val="accent6">
                    <a:lumMod val="10000"/>
                  </a:schemeClr>
                </a:solidFill>
                <a:latin typeface="+mj-lt"/>
              </a:rPr>
              <a:t>t</a:t>
            </a:r>
            <a:r>
              <a:rPr lang="es-MX" altLang="es-ES" sz="1800" dirty="0">
                <a:solidFill>
                  <a:schemeClr val="accent6">
                    <a:lumMod val="10000"/>
                  </a:schemeClr>
                </a:solidFill>
                <a:latin typeface="+mj-lt"/>
              </a:rPr>
              <a:t> – </a:t>
            </a:r>
            <a:r>
              <a:rPr lang="es-MX" altLang="es-ES" sz="1800" dirty="0">
                <a:solidFill>
                  <a:schemeClr val="accent6">
                    <a:lumMod val="10000"/>
                  </a:schemeClr>
                </a:solidFill>
                <a:latin typeface="+mj-lt"/>
                <a:cs typeface="Times New Roman" panose="02020603050405020304" pitchFamily="18" charset="0"/>
              </a:rPr>
              <a:t>½</a:t>
            </a:r>
            <a:r>
              <a:rPr lang="es-MX" altLang="es-ES" sz="1800" i="1" dirty="0">
                <a:solidFill>
                  <a:schemeClr val="accent6">
                    <a:lumMod val="10000"/>
                  </a:schemeClr>
                </a:solidFill>
                <a:latin typeface="+mj-lt"/>
              </a:rPr>
              <a:t>gt</a:t>
            </a:r>
            <a:r>
              <a:rPr lang="es-MX" altLang="es-ES" sz="1800" baseline="30000" dirty="0">
                <a:solidFill>
                  <a:schemeClr val="accent6">
                    <a:lumMod val="10000"/>
                  </a:schemeClr>
                </a:solidFill>
                <a:latin typeface="+mj-lt"/>
              </a:rPr>
              <a:t>2</a:t>
            </a:r>
            <a:r>
              <a:rPr lang="es-MX" altLang="es-ES" sz="1800" dirty="0">
                <a:solidFill>
                  <a:schemeClr val="accent6">
                    <a:lumMod val="10000"/>
                  </a:schemeClr>
                </a:solidFill>
                <a:latin typeface="+mj-lt"/>
              </a:rPr>
              <a:t> = </a:t>
            </a:r>
            <a:r>
              <a:rPr lang="es-MX" altLang="es-ES" sz="1800" i="1" dirty="0">
                <a:solidFill>
                  <a:schemeClr val="accent6">
                    <a:lumMod val="10000"/>
                  </a:schemeClr>
                </a:solidFill>
                <a:latin typeface="+mj-lt"/>
              </a:rPr>
              <a:t>v</a:t>
            </a:r>
            <a:r>
              <a:rPr lang="es-MX" altLang="es-ES" sz="1800" baseline="-25000" dirty="0">
                <a:solidFill>
                  <a:schemeClr val="accent6">
                    <a:lumMod val="10000"/>
                  </a:schemeClr>
                </a:solidFill>
                <a:latin typeface="+mj-lt"/>
              </a:rPr>
              <a:t>0</a:t>
            </a:r>
            <a:r>
              <a:rPr lang="es-MX" altLang="es-ES" sz="1800" dirty="0">
                <a:solidFill>
                  <a:schemeClr val="accent6">
                    <a:lumMod val="10000"/>
                  </a:schemeClr>
                </a:solidFill>
                <a:latin typeface="+mj-lt"/>
              </a:rPr>
              <a:t> (sen</a:t>
            </a:r>
            <a:r>
              <a:rPr lang="el-GR" altLang="es-ES" sz="1800" dirty="0">
                <a:solidFill>
                  <a:schemeClr val="accent6">
                    <a:lumMod val="10000"/>
                  </a:schemeClr>
                </a:solidFill>
              </a:rPr>
              <a:t>θ</a:t>
            </a:r>
            <a:r>
              <a:rPr lang="es-MX" altLang="es-ES" sz="1800" baseline="-25000" dirty="0">
                <a:solidFill>
                  <a:schemeClr val="accent6">
                    <a:lumMod val="10000"/>
                  </a:schemeClr>
                </a:solidFill>
                <a:latin typeface="+mj-lt"/>
              </a:rPr>
              <a:t>0</a:t>
            </a:r>
            <a:r>
              <a:rPr lang="es-MX" altLang="es-ES" sz="1800" dirty="0">
                <a:solidFill>
                  <a:schemeClr val="accent6">
                    <a:lumMod val="10000"/>
                  </a:schemeClr>
                </a:solidFill>
                <a:latin typeface="+mj-lt"/>
              </a:rPr>
              <a:t>)</a:t>
            </a:r>
            <a:r>
              <a:rPr lang="es-MX" altLang="es-ES" sz="1800" i="1" dirty="0">
                <a:solidFill>
                  <a:schemeClr val="accent6">
                    <a:lumMod val="10000"/>
                  </a:schemeClr>
                </a:solidFill>
                <a:latin typeface="+mj-lt"/>
              </a:rPr>
              <a:t>t</a:t>
            </a:r>
            <a:r>
              <a:rPr lang="es-MX" altLang="es-ES" sz="1800" dirty="0">
                <a:solidFill>
                  <a:schemeClr val="accent6">
                    <a:lumMod val="10000"/>
                  </a:schemeClr>
                </a:solidFill>
                <a:latin typeface="+mj-lt"/>
              </a:rPr>
              <a:t> – </a:t>
            </a:r>
            <a:r>
              <a:rPr lang="es-MX" altLang="es-ES" sz="1800" dirty="0">
                <a:solidFill>
                  <a:schemeClr val="accent6">
                    <a:lumMod val="10000"/>
                  </a:schemeClr>
                </a:solidFill>
                <a:latin typeface="+mj-lt"/>
                <a:cs typeface="Times New Roman" panose="02020603050405020304" pitchFamily="18" charset="0"/>
              </a:rPr>
              <a:t>½</a:t>
            </a:r>
            <a:r>
              <a:rPr lang="es-MX" altLang="es-ES" sz="1800" dirty="0">
                <a:solidFill>
                  <a:schemeClr val="accent6">
                    <a:lumMod val="10000"/>
                  </a:schemeClr>
                </a:solidFill>
                <a:latin typeface="+mj-lt"/>
              </a:rPr>
              <a:t> </a:t>
            </a:r>
            <a:r>
              <a:rPr lang="es-MX" altLang="es-ES" sz="1800" i="1" dirty="0">
                <a:solidFill>
                  <a:schemeClr val="accent6">
                    <a:lumMod val="10000"/>
                  </a:schemeClr>
                </a:solidFill>
                <a:latin typeface="+mj-lt"/>
              </a:rPr>
              <a:t>gt</a:t>
            </a:r>
            <a:r>
              <a:rPr lang="es-MX" altLang="es-ES" sz="1800" baseline="30000" dirty="0">
                <a:solidFill>
                  <a:schemeClr val="accent6">
                    <a:lumMod val="10000"/>
                  </a:schemeClr>
                </a:solidFill>
                <a:latin typeface="+mj-lt"/>
              </a:rPr>
              <a:t>2</a:t>
            </a:r>
          </a:p>
          <a:p>
            <a:pPr algn="just" eaLnBrk="1" hangingPunct="1">
              <a:spcBef>
                <a:spcPct val="50000"/>
              </a:spcBef>
              <a:buClrTx/>
              <a:buSzTx/>
              <a:buNone/>
            </a:pPr>
            <a:r>
              <a:rPr lang="es-MX" altLang="es-ES" sz="1800" i="1" dirty="0" err="1">
                <a:solidFill>
                  <a:schemeClr val="accent6">
                    <a:lumMod val="10000"/>
                  </a:schemeClr>
                </a:solidFill>
                <a:latin typeface="+mn-lt"/>
              </a:rPr>
              <a:t>v</a:t>
            </a:r>
            <a:r>
              <a:rPr lang="es-MX" altLang="es-ES" sz="1800" i="1" baseline="-25000" dirty="0" err="1">
                <a:solidFill>
                  <a:schemeClr val="accent6">
                    <a:lumMod val="10000"/>
                  </a:schemeClr>
                </a:solidFill>
                <a:latin typeface="+mn-lt"/>
              </a:rPr>
              <a:t>y</a:t>
            </a:r>
            <a:r>
              <a:rPr lang="es-MX" altLang="es-ES" sz="1800" dirty="0">
                <a:solidFill>
                  <a:schemeClr val="accent6">
                    <a:lumMod val="10000"/>
                  </a:schemeClr>
                </a:solidFill>
                <a:latin typeface="+mn-lt"/>
              </a:rPr>
              <a:t> =  </a:t>
            </a:r>
            <a:r>
              <a:rPr lang="es-MX" altLang="es-ES" sz="1800" i="1" dirty="0">
                <a:solidFill>
                  <a:schemeClr val="accent6">
                    <a:lumMod val="10000"/>
                  </a:schemeClr>
                </a:solidFill>
                <a:latin typeface="+mn-lt"/>
              </a:rPr>
              <a:t>v</a:t>
            </a:r>
            <a:r>
              <a:rPr lang="es-MX" altLang="es-ES" sz="1800" i="1" baseline="-25000" dirty="0">
                <a:solidFill>
                  <a:schemeClr val="accent6">
                    <a:lumMod val="10000"/>
                  </a:schemeClr>
                </a:solidFill>
                <a:latin typeface="+mn-lt"/>
              </a:rPr>
              <a:t>y</a:t>
            </a:r>
            <a:r>
              <a:rPr lang="es-MX" altLang="es-ES" sz="1800" baseline="-25000" dirty="0">
                <a:solidFill>
                  <a:schemeClr val="accent6">
                    <a:lumMod val="10000"/>
                  </a:schemeClr>
                </a:solidFill>
                <a:latin typeface="+mn-lt"/>
              </a:rPr>
              <a:t>0</a:t>
            </a:r>
            <a:r>
              <a:rPr lang="es-MX" altLang="es-ES" sz="1800" dirty="0">
                <a:solidFill>
                  <a:schemeClr val="accent6">
                    <a:lumMod val="10000"/>
                  </a:schemeClr>
                </a:solidFill>
                <a:latin typeface="+mn-lt"/>
              </a:rPr>
              <a:t> – </a:t>
            </a:r>
            <a:r>
              <a:rPr lang="es-MX" altLang="es-ES" sz="1800" i="1" dirty="0" err="1">
                <a:solidFill>
                  <a:schemeClr val="accent6">
                    <a:lumMod val="10000"/>
                  </a:schemeClr>
                </a:solidFill>
                <a:latin typeface="+mn-lt"/>
              </a:rPr>
              <a:t>gt</a:t>
            </a:r>
            <a:r>
              <a:rPr lang="es-MX" altLang="es-ES" sz="1800" dirty="0">
                <a:solidFill>
                  <a:schemeClr val="accent6">
                    <a:lumMod val="10000"/>
                  </a:schemeClr>
                </a:solidFill>
                <a:latin typeface="+mn-lt"/>
              </a:rPr>
              <a:t> = </a:t>
            </a:r>
            <a:r>
              <a:rPr lang="es-MX" altLang="es-ES" sz="1800" i="1" dirty="0">
                <a:solidFill>
                  <a:schemeClr val="accent6">
                    <a:lumMod val="10000"/>
                  </a:schemeClr>
                </a:solidFill>
                <a:latin typeface="+mn-lt"/>
              </a:rPr>
              <a:t>v</a:t>
            </a:r>
            <a:r>
              <a:rPr lang="es-MX" altLang="es-ES" sz="1800" baseline="-25000" dirty="0">
                <a:solidFill>
                  <a:schemeClr val="accent6">
                    <a:lumMod val="10000"/>
                  </a:schemeClr>
                </a:solidFill>
                <a:latin typeface="+mn-lt"/>
              </a:rPr>
              <a:t>0</a:t>
            </a:r>
            <a:r>
              <a:rPr lang="es-MX" altLang="es-ES" sz="1800" dirty="0">
                <a:solidFill>
                  <a:schemeClr val="accent6">
                    <a:lumMod val="10000"/>
                  </a:schemeClr>
                </a:solidFill>
                <a:latin typeface="+mn-lt"/>
              </a:rPr>
              <a:t> sen</a:t>
            </a:r>
            <a:r>
              <a:rPr lang="el-GR" altLang="es-ES" sz="1800" dirty="0">
                <a:solidFill>
                  <a:schemeClr val="accent6">
                    <a:lumMod val="10000"/>
                  </a:schemeClr>
                </a:solidFill>
              </a:rPr>
              <a:t>θ</a:t>
            </a:r>
            <a:r>
              <a:rPr lang="es-MX" altLang="es-ES" sz="1800" baseline="-25000" dirty="0">
                <a:solidFill>
                  <a:schemeClr val="accent6">
                    <a:lumMod val="10000"/>
                  </a:schemeClr>
                </a:solidFill>
                <a:latin typeface="+mn-lt"/>
              </a:rPr>
              <a:t>0</a:t>
            </a:r>
            <a:r>
              <a:rPr lang="es-MX" altLang="es-ES" sz="1800" dirty="0">
                <a:solidFill>
                  <a:schemeClr val="accent6">
                    <a:lumMod val="10000"/>
                  </a:schemeClr>
                </a:solidFill>
                <a:latin typeface="+mn-lt"/>
              </a:rPr>
              <a:t> – </a:t>
            </a:r>
            <a:r>
              <a:rPr lang="es-MX" altLang="es-ES" sz="1800" i="1" dirty="0" err="1">
                <a:solidFill>
                  <a:schemeClr val="accent6">
                    <a:lumMod val="10000"/>
                  </a:schemeClr>
                </a:solidFill>
                <a:latin typeface="+mn-lt"/>
              </a:rPr>
              <a:t>gt</a:t>
            </a:r>
            <a:endParaRPr lang="es-MX" altLang="es-ES" sz="1800" i="1" dirty="0">
              <a:solidFill>
                <a:schemeClr val="accent6">
                  <a:lumMod val="10000"/>
                </a:schemeClr>
              </a:solidFill>
              <a:latin typeface="+mn-lt"/>
            </a:endParaRPr>
          </a:p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es-MX" altLang="es-ES" sz="1800" baseline="30000" dirty="0">
              <a:solidFill>
                <a:schemeClr val="accent6">
                  <a:lumMod val="10000"/>
                </a:schemeClr>
              </a:solidFill>
              <a:latin typeface="+mj-lt"/>
            </a:endParaRP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09450E5C-C5AB-4CC6-9C2A-CB1CB72C656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38091" y="2414607"/>
            <a:ext cx="5435848" cy="2004135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A7097477-B3E0-4100-A255-99244DC76D1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78533" y="3928526"/>
            <a:ext cx="1234702" cy="664356"/>
          </a:xfrm>
          <a:prstGeom prst="rect">
            <a:avLst/>
          </a:prstGeom>
        </p:spPr>
      </p:pic>
      <p:graphicFrame>
        <p:nvGraphicFramePr>
          <p:cNvPr id="10" name="Object 6">
            <a:extLst>
              <a:ext uri="{FF2B5EF4-FFF2-40B4-BE49-F238E27FC236}">
                <a16:creationId xmlns:a16="http://schemas.microsoft.com/office/drawing/2014/main" id="{86991083-8189-4B5E-87D4-B2CB7C32CCF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15700064"/>
              </p:ext>
            </p:extLst>
          </p:nvPr>
        </p:nvGraphicFramePr>
        <p:xfrm>
          <a:off x="3322838" y="3928526"/>
          <a:ext cx="1282958" cy="66063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7" name="Ecuación" r:id="rId8" imgW="863225" imgH="444307" progId="Equation.3">
                  <p:embed/>
                </p:oleObj>
              </mc:Choice>
              <mc:Fallback>
                <p:oleObj name="Ecuación" r:id="rId8" imgW="863225" imgH="444307" progId="Equation.3">
                  <p:embed/>
                  <p:pic>
                    <p:nvPicPr>
                      <p:cNvPr id="11" name="Object 6">
                        <a:extLst>
                          <a:ext uri="{FF2B5EF4-FFF2-40B4-BE49-F238E27FC236}">
                            <a16:creationId xmlns:a16="http://schemas.microsoft.com/office/drawing/2014/main" id="{21F7BB76-55F6-48D2-9307-C27325D6A34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22838" y="3928526"/>
                        <a:ext cx="1282958" cy="66063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5605699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56271B3A-A9C4-413B-A225-196878188B32}"/>
              </a:ext>
            </a:extLst>
          </p:cNvPr>
          <p:cNvSpPr txBox="1"/>
          <p:nvPr/>
        </p:nvSpPr>
        <p:spPr>
          <a:xfrm>
            <a:off x="320040" y="145925"/>
            <a:ext cx="609834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2400" b="0" dirty="0">
                <a:latin typeface="+mj-lt"/>
              </a:rPr>
              <a:t>Máximo alcance y altura máxima</a:t>
            </a:r>
            <a:endParaRPr lang="es-CO" sz="2400" dirty="0">
              <a:latin typeface="+mj-lt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48BDAF28-79AB-4392-B3ED-BA0DDEEA5C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82979" y="1142824"/>
            <a:ext cx="7135678" cy="3728964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E41E7442-DCFE-468B-A67C-28562EAB6A2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04688" y="3007306"/>
            <a:ext cx="1457732" cy="784362"/>
          </a:xfrm>
          <a:prstGeom prst="rect">
            <a:avLst/>
          </a:prstGeom>
        </p:spPr>
      </p:pic>
      <p:graphicFrame>
        <p:nvGraphicFramePr>
          <p:cNvPr id="6" name="Object 6">
            <a:extLst>
              <a:ext uri="{FF2B5EF4-FFF2-40B4-BE49-F238E27FC236}">
                <a16:creationId xmlns:a16="http://schemas.microsoft.com/office/drawing/2014/main" id="{03F1EB59-3EE4-4B2D-B3E5-5C95BF93322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7740189"/>
              </p:ext>
            </p:extLst>
          </p:nvPr>
        </p:nvGraphicFramePr>
        <p:xfrm>
          <a:off x="5467934" y="5074442"/>
          <a:ext cx="1424363" cy="733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7" name="Ecuación" r:id="rId6" imgW="863225" imgH="444307" progId="Equation.3">
                  <p:embed/>
                </p:oleObj>
              </mc:Choice>
              <mc:Fallback>
                <p:oleObj name="Ecuación" r:id="rId6" imgW="863225" imgH="444307" progId="Equation.3">
                  <p:embed/>
                  <p:pic>
                    <p:nvPicPr>
                      <p:cNvPr id="7" name="Object 6">
                        <a:extLst>
                          <a:ext uri="{FF2B5EF4-FFF2-40B4-BE49-F238E27FC236}">
                            <a16:creationId xmlns:a16="http://schemas.microsoft.com/office/drawing/2014/main" id="{35174C0E-03BE-4833-A284-C5C4B30967C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67934" y="5074442"/>
                        <a:ext cx="1424363" cy="733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7" name="Conector recto de flecha 6">
            <a:extLst>
              <a:ext uri="{FF2B5EF4-FFF2-40B4-BE49-F238E27FC236}">
                <a16:creationId xmlns:a16="http://schemas.microsoft.com/office/drawing/2014/main" id="{A4D810F8-85CA-4EBD-ABF9-8DD82A695903}"/>
              </a:ext>
            </a:extLst>
          </p:cNvPr>
          <p:cNvCxnSpPr>
            <a:stCxn id="5" idx="0"/>
          </p:cNvCxnSpPr>
          <p:nvPr/>
        </p:nvCxnSpPr>
        <p:spPr>
          <a:xfrm flipH="1" flipV="1">
            <a:off x="2131774" y="1559420"/>
            <a:ext cx="1780" cy="144788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ector recto de flecha 7">
            <a:extLst>
              <a:ext uri="{FF2B5EF4-FFF2-40B4-BE49-F238E27FC236}">
                <a16:creationId xmlns:a16="http://schemas.microsoft.com/office/drawing/2014/main" id="{0B5E5CAA-D2ED-43C8-9589-349D88620B80}"/>
              </a:ext>
            </a:extLst>
          </p:cNvPr>
          <p:cNvCxnSpPr>
            <a:stCxn id="5" idx="2"/>
          </p:cNvCxnSpPr>
          <p:nvPr/>
        </p:nvCxnSpPr>
        <p:spPr>
          <a:xfrm>
            <a:off x="2133554" y="3791668"/>
            <a:ext cx="0" cy="108012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ector recto de flecha 8">
            <a:extLst>
              <a:ext uri="{FF2B5EF4-FFF2-40B4-BE49-F238E27FC236}">
                <a16:creationId xmlns:a16="http://schemas.microsoft.com/office/drawing/2014/main" id="{FCB5A53A-F782-44EA-9746-A5D0E747D0C0}"/>
              </a:ext>
            </a:extLst>
          </p:cNvPr>
          <p:cNvCxnSpPr/>
          <p:nvPr/>
        </p:nvCxnSpPr>
        <p:spPr>
          <a:xfrm flipV="1">
            <a:off x="7028318" y="5375844"/>
            <a:ext cx="2790339" cy="7200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cto de flecha 9">
            <a:extLst>
              <a:ext uri="{FF2B5EF4-FFF2-40B4-BE49-F238E27FC236}">
                <a16:creationId xmlns:a16="http://schemas.microsoft.com/office/drawing/2014/main" id="{61A4BAF5-5137-4803-86A1-976055B88A70}"/>
              </a:ext>
            </a:extLst>
          </p:cNvPr>
          <p:cNvCxnSpPr/>
          <p:nvPr/>
        </p:nvCxnSpPr>
        <p:spPr>
          <a:xfrm flipH="1">
            <a:off x="2682979" y="5447852"/>
            <a:ext cx="278495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413883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3 Título">
            <a:extLst>
              <a:ext uri="{FF2B5EF4-FFF2-40B4-BE49-F238E27FC236}">
                <a16:creationId xmlns:a16="http://schemas.microsoft.com/office/drawing/2014/main" id="{A4AF2BE1-D633-4998-A101-4538C6C0B9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801" y="115888"/>
            <a:ext cx="8640233" cy="792162"/>
          </a:xfrm>
        </p:spPr>
        <p:txBody>
          <a:bodyPr>
            <a:normAutofit/>
          </a:bodyPr>
          <a:lstStyle/>
          <a:p>
            <a:r>
              <a:rPr lang="es-MX" sz="2400" b="0" dirty="0"/>
              <a:t>Ejemplo</a:t>
            </a:r>
            <a:endParaRPr lang="es-CO" sz="2400" dirty="0"/>
          </a:p>
        </p:txBody>
      </p:sp>
      <p:sp>
        <p:nvSpPr>
          <p:cNvPr id="3" name="Text Box 3">
            <a:extLst>
              <a:ext uri="{FF2B5EF4-FFF2-40B4-BE49-F238E27FC236}">
                <a16:creationId xmlns:a16="http://schemas.microsoft.com/office/drawing/2014/main" id="{C62581F8-6055-4034-BBD0-1F0B1E8C64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72626" y="723596"/>
            <a:ext cx="8001000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ts val="25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 eaLnBrk="0" hangingPunct="0">
              <a:spcBef>
                <a:spcPts val="250"/>
              </a:spcBef>
              <a:buClr>
                <a:schemeClr val="accent1"/>
              </a:buClr>
              <a:buSzPct val="100000"/>
              <a:buFont typeface="Verdana" panose="020B0604030504040204" pitchFamily="34" charset="0"/>
              <a:buChar char="◦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 eaLnBrk="0" hangingPunct="0">
              <a:spcBef>
                <a:spcPts val="250"/>
              </a:spcBef>
              <a:buClr>
                <a:srgbClr val="ED3742"/>
              </a:buClr>
              <a:buSzPct val="100000"/>
              <a:buFont typeface="Wingdings 2" panose="05020102010507070707" pitchFamily="18" charset="2"/>
              <a:buChar char="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 eaLnBrk="0" hangingPunct="0">
              <a:spcBef>
                <a:spcPts val="225"/>
              </a:spcBef>
              <a:buClr>
                <a:srgbClr val="ED3742"/>
              </a:buClr>
              <a:buSzPct val="112000"/>
              <a:buFont typeface="Verdana" panose="020B0604030504040204" pitchFamily="34" charset="0"/>
              <a:buChar char="◦"/>
              <a:defRPr sz="19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 eaLnBrk="0" hangingPunct="0">
              <a:spcBef>
                <a:spcPts val="250"/>
              </a:spcBef>
              <a:buClr>
                <a:srgbClr val="4A85BF"/>
              </a:buClr>
              <a:buSzPct val="100000"/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ts val="250"/>
              </a:spcBef>
              <a:spcAft>
                <a:spcPct val="0"/>
              </a:spcAft>
              <a:buClr>
                <a:srgbClr val="4A85BF"/>
              </a:buClr>
              <a:buSzPct val="100000"/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ts val="250"/>
              </a:spcBef>
              <a:spcAft>
                <a:spcPct val="0"/>
              </a:spcAft>
              <a:buClr>
                <a:srgbClr val="4A85BF"/>
              </a:buClr>
              <a:buSzPct val="100000"/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ts val="250"/>
              </a:spcBef>
              <a:spcAft>
                <a:spcPct val="0"/>
              </a:spcAft>
              <a:buClr>
                <a:srgbClr val="4A85BF"/>
              </a:buClr>
              <a:buSzPct val="100000"/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ts val="250"/>
              </a:spcBef>
              <a:spcAft>
                <a:spcPct val="0"/>
              </a:spcAft>
              <a:buClr>
                <a:srgbClr val="4A85BF"/>
              </a:buClr>
              <a:buSzPct val="100000"/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s-MX" altLang="es-ES" sz="1800" dirty="0">
                <a:solidFill>
                  <a:schemeClr val="accent6">
                    <a:lumMod val="10000"/>
                  </a:schemeClr>
                </a:solidFill>
                <a:latin typeface="+mj-lt"/>
              </a:rPr>
              <a:t>Un golfista golpea una pelota en un acantilado a la orilla del mar con una velocidad de 48 m/s y un ángulo de 36°. El acantilado tiene una altura de 52 m. Encontrar la distancia total que avanza la pelota y el tiempo total de vuelo.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2015468-3C04-4BF2-B79C-5CFAECA2C7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20698" y="1923925"/>
            <a:ext cx="6209928" cy="43572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229789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3">
            <a:extLst>
              <a:ext uri="{FF2B5EF4-FFF2-40B4-BE49-F238E27FC236}">
                <a16:creationId xmlns:a16="http://schemas.microsoft.com/office/drawing/2014/main" id="{DF530E6B-2BA5-454C-A05B-26FA1FA046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78716" y="766095"/>
            <a:ext cx="7929562" cy="9233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ts val="25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 eaLnBrk="0" hangingPunct="0">
              <a:spcBef>
                <a:spcPts val="250"/>
              </a:spcBef>
              <a:buClr>
                <a:schemeClr val="accent1"/>
              </a:buClr>
              <a:buSzPct val="100000"/>
              <a:buFont typeface="Verdana" panose="020B0604030504040204" pitchFamily="34" charset="0"/>
              <a:buChar char="◦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 eaLnBrk="0" hangingPunct="0">
              <a:spcBef>
                <a:spcPts val="250"/>
              </a:spcBef>
              <a:buClr>
                <a:srgbClr val="ED3742"/>
              </a:buClr>
              <a:buSzPct val="100000"/>
              <a:buFont typeface="Wingdings 2" panose="05020102010507070707" pitchFamily="18" charset="2"/>
              <a:buChar char="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 eaLnBrk="0" hangingPunct="0">
              <a:spcBef>
                <a:spcPts val="225"/>
              </a:spcBef>
              <a:buClr>
                <a:srgbClr val="ED3742"/>
              </a:buClr>
              <a:buSzPct val="112000"/>
              <a:buFont typeface="Verdana" panose="020B0604030504040204" pitchFamily="34" charset="0"/>
              <a:buChar char="◦"/>
              <a:defRPr sz="19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 eaLnBrk="0" hangingPunct="0">
              <a:spcBef>
                <a:spcPts val="250"/>
              </a:spcBef>
              <a:buClr>
                <a:srgbClr val="4A85BF"/>
              </a:buClr>
              <a:buSzPct val="100000"/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ts val="250"/>
              </a:spcBef>
              <a:spcAft>
                <a:spcPct val="0"/>
              </a:spcAft>
              <a:buClr>
                <a:srgbClr val="4A85BF"/>
              </a:buClr>
              <a:buSzPct val="100000"/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ts val="250"/>
              </a:spcBef>
              <a:spcAft>
                <a:spcPct val="0"/>
              </a:spcAft>
              <a:buClr>
                <a:srgbClr val="4A85BF"/>
              </a:buClr>
              <a:buSzPct val="100000"/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ts val="250"/>
              </a:spcBef>
              <a:spcAft>
                <a:spcPct val="0"/>
              </a:spcAft>
              <a:buClr>
                <a:srgbClr val="4A85BF"/>
              </a:buClr>
              <a:buSzPct val="100000"/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ts val="250"/>
              </a:spcBef>
              <a:spcAft>
                <a:spcPct val="0"/>
              </a:spcAft>
              <a:buClr>
                <a:srgbClr val="4A85BF"/>
              </a:buClr>
              <a:buSzPct val="100000"/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s-MX" altLang="es-ES" sz="1800" dirty="0">
                <a:solidFill>
                  <a:schemeClr val="accent6">
                    <a:lumMod val="10000"/>
                  </a:schemeClr>
                </a:solidFill>
                <a:latin typeface="+mj-lt"/>
              </a:rPr>
              <a:t>Podemos calcular la coordenada x en que la pelota choca con el mar resolviendo la ecuación de la trayectoria para </a:t>
            </a:r>
            <a:r>
              <a:rPr lang="es-MX" altLang="es-ES" sz="1800" i="1" dirty="0">
                <a:solidFill>
                  <a:schemeClr val="accent6">
                    <a:lumMod val="10000"/>
                  </a:schemeClr>
                </a:solidFill>
                <a:latin typeface="+mj-lt"/>
              </a:rPr>
              <a:t>y</a:t>
            </a:r>
            <a:r>
              <a:rPr lang="es-MX" altLang="es-ES" sz="1800" dirty="0">
                <a:solidFill>
                  <a:schemeClr val="accent6">
                    <a:lumMod val="10000"/>
                  </a:schemeClr>
                </a:solidFill>
                <a:latin typeface="+mj-lt"/>
              </a:rPr>
              <a:t> = –52 m, </a:t>
            </a:r>
            <a:r>
              <a:rPr lang="el-GR" altLang="es-ES" sz="1800">
                <a:solidFill>
                  <a:schemeClr val="accent6">
                    <a:lumMod val="10000"/>
                  </a:schemeClr>
                </a:solidFill>
                <a:latin typeface="+mj-lt"/>
              </a:rPr>
              <a:t>θ</a:t>
            </a:r>
            <a:r>
              <a:rPr lang="es-MX" altLang="es-ES" sz="1800" baseline="-25000">
                <a:solidFill>
                  <a:schemeClr val="accent6">
                    <a:lumMod val="10000"/>
                  </a:schemeClr>
                </a:solidFill>
                <a:latin typeface="+mj-lt"/>
              </a:rPr>
              <a:t>0</a:t>
            </a:r>
            <a:r>
              <a:rPr lang="es-MX" altLang="es-ES" sz="1800">
                <a:solidFill>
                  <a:schemeClr val="accent6">
                    <a:lumMod val="10000"/>
                  </a:schemeClr>
                </a:solidFill>
                <a:latin typeface="+mj-lt"/>
              </a:rPr>
              <a:t> </a:t>
            </a:r>
            <a:r>
              <a:rPr lang="es-MX" altLang="es-ES" sz="1800" dirty="0">
                <a:solidFill>
                  <a:schemeClr val="accent6">
                    <a:lumMod val="10000"/>
                  </a:schemeClr>
                </a:solidFill>
                <a:latin typeface="+mj-lt"/>
              </a:rPr>
              <a:t>= 36°, </a:t>
            </a:r>
            <a:r>
              <a:rPr lang="es-MX" altLang="es-ES" sz="1800" i="1" dirty="0">
                <a:solidFill>
                  <a:schemeClr val="accent6">
                    <a:lumMod val="10000"/>
                  </a:schemeClr>
                </a:solidFill>
                <a:latin typeface="+mj-lt"/>
              </a:rPr>
              <a:t>v</a:t>
            </a:r>
            <a:r>
              <a:rPr lang="es-MX" altLang="es-ES" sz="1800" baseline="-25000" dirty="0">
                <a:solidFill>
                  <a:schemeClr val="accent6">
                    <a:lumMod val="10000"/>
                  </a:schemeClr>
                </a:solidFill>
                <a:latin typeface="+mj-lt"/>
              </a:rPr>
              <a:t>0</a:t>
            </a:r>
            <a:r>
              <a:rPr lang="es-MX" altLang="es-ES" sz="1800" dirty="0">
                <a:solidFill>
                  <a:schemeClr val="accent6">
                    <a:lumMod val="10000"/>
                  </a:schemeClr>
                </a:solidFill>
                <a:latin typeface="+mj-lt"/>
              </a:rPr>
              <a:t> = 48 m/s.</a:t>
            </a:r>
          </a:p>
        </p:txBody>
      </p:sp>
      <p:sp>
        <p:nvSpPr>
          <p:cNvPr id="3" name="Text Box 3">
            <a:extLst>
              <a:ext uri="{FF2B5EF4-FFF2-40B4-BE49-F238E27FC236}">
                <a16:creationId xmlns:a16="http://schemas.microsoft.com/office/drawing/2014/main" id="{AD24715F-1C7F-47BC-B13E-E5ACB84FF4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07278" y="2409157"/>
            <a:ext cx="7929563" cy="3278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ts val="25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 eaLnBrk="0" hangingPunct="0">
              <a:spcBef>
                <a:spcPts val="250"/>
              </a:spcBef>
              <a:buClr>
                <a:schemeClr val="accent1"/>
              </a:buClr>
              <a:buSzPct val="100000"/>
              <a:buFont typeface="Verdana" panose="020B0604030504040204" pitchFamily="34" charset="0"/>
              <a:buChar char="◦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 eaLnBrk="0" hangingPunct="0">
              <a:spcBef>
                <a:spcPts val="250"/>
              </a:spcBef>
              <a:buClr>
                <a:srgbClr val="ED3742"/>
              </a:buClr>
              <a:buSzPct val="100000"/>
              <a:buFont typeface="Wingdings 2" panose="05020102010507070707" pitchFamily="18" charset="2"/>
              <a:buChar char="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 eaLnBrk="0" hangingPunct="0">
              <a:spcBef>
                <a:spcPts val="225"/>
              </a:spcBef>
              <a:buClr>
                <a:srgbClr val="ED3742"/>
              </a:buClr>
              <a:buSzPct val="112000"/>
              <a:buFont typeface="Verdana" panose="020B0604030504040204" pitchFamily="34" charset="0"/>
              <a:buChar char="◦"/>
              <a:defRPr sz="19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 eaLnBrk="0" hangingPunct="0">
              <a:spcBef>
                <a:spcPts val="250"/>
              </a:spcBef>
              <a:buClr>
                <a:srgbClr val="4A85BF"/>
              </a:buClr>
              <a:buSzPct val="100000"/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ts val="250"/>
              </a:spcBef>
              <a:spcAft>
                <a:spcPct val="0"/>
              </a:spcAft>
              <a:buClr>
                <a:srgbClr val="4A85BF"/>
              </a:buClr>
              <a:buSzPct val="100000"/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ts val="250"/>
              </a:spcBef>
              <a:spcAft>
                <a:spcPct val="0"/>
              </a:spcAft>
              <a:buClr>
                <a:srgbClr val="4A85BF"/>
              </a:buClr>
              <a:buSzPct val="100000"/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ts val="250"/>
              </a:spcBef>
              <a:spcAft>
                <a:spcPct val="0"/>
              </a:spcAft>
              <a:buClr>
                <a:srgbClr val="4A85BF"/>
              </a:buClr>
              <a:buSzPct val="100000"/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ts val="250"/>
              </a:spcBef>
              <a:spcAft>
                <a:spcPct val="0"/>
              </a:spcAft>
              <a:buClr>
                <a:srgbClr val="4A85BF"/>
              </a:buClr>
              <a:buSzPct val="100000"/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s-MX" altLang="es-ES" sz="1800" dirty="0">
                <a:solidFill>
                  <a:schemeClr val="accent6">
                    <a:lumMod val="10000"/>
                  </a:schemeClr>
                </a:solidFill>
                <a:latin typeface="+mj-lt"/>
              </a:rPr>
              <a:t>Sustituyendo obtenemos la siguiente ecuación:</a:t>
            </a:r>
          </a:p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s-MX" altLang="es-ES" sz="1800" dirty="0">
                <a:solidFill>
                  <a:schemeClr val="accent6">
                    <a:lumMod val="10000"/>
                  </a:schemeClr>
                </a:solidFill>
                <a:latin typeface="+mj-lt"/>
              </a:rPr>
              <a:t>		–0.00325</a:t>
            </a:r>
            <a:r>
              <a:rPr lang="es-MX" altLang="es-ES" sz="1800" i="1" dirty="0">
                <a:solidFill>
                  <a:schemeClr val="accent6">
                    <a:lumMod val="10000"/>
                  </a:schemeClr>
                </a:solidFill>
                <a:latin typeface="+mj-lt"/>
              </a:rPr>
              <a:t>x</a:t>
            </a:r>
            <a:r>
              <a:rPr lang="es-MX" altLang="es-ES" sz="1800" baseline="30000" dirty="0">
                <a:solidFill>
                  <a:schemeClr val="accent6">
                    <a:lumMod val="10000"/>
                  </a:schemeClr>
                </a:solidFill>
                <a:latin typeface="+mj-lt"/>
              </a:rPr>
              <a:t>2</a:t>
            </a:r>
            <a:r>
              <a:rPr lang="es-MX" altLang="es-ES" sz="1800" dirty="0">
                <a:solidFill>
                  <a:schemeClr val="accent6">
                    <a:lumMod val="10000"/>
                  </a:schemeClr>
                </a:solidFill>
                <a:latin typeface="+mj-lt"/>
              </a:rPr>
              <a:t> + 0.72654</a:t>
            </a:r>
            <a:r>
              <a:rPr lang="es-MX" altLang="es-ES" sz="1800" i="1" dirty="0">
                <a:solidFill>
                  <a:schemeClr val="accent6">
                    <a:lumMod val="10000"/>
                  </a:schemeClr>
                </a:solidFill>
                <a:latin typeface="+mj-lt"/>
              </a:rPr>
              <a:t>x</a:t>
            </a:r>
            <a:r>
              <a:rPr lang="es-MX" altLang="es-ES" sz="1800" dirty="0">
                <a:solidFill>
                  <a:schemeClr val="accent6">
                    <a:lumMod val="10000"/>
                  </a:schemeClr>
                </a:solidFill>
                <a:latin typeface="+mj-lt"/>
              </a:rPr>
              <a:t> + 52 = 0</a:t>
            </a:r>
          </a:p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s-MX" altLang="es-ES" sz="1800" dirty="0">
                <a:solidFill>
                  <a:schemeClr val="accent6">
                    <a:lumMod val="10000"/>
                  </a:schemeClr>
                </a:solidFill>
                <a:latin typeface="+mj-lt"/>
              </a:rPr>
              <a:t>Las soluciones son:</a:t>
            </a:r>
          </a:p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s-MX" altLang="es-ES" sz="1800" dirty="0">
                <a:solidFill>
                  <a:schemeClr val="accent6">
                    <a:lumMod val="10000"/>
                  </a:schemeClr>
                </a:solidFill>
                <a:latin typeface="+mj-lt"/>
              </a:rPr>
              <a:t>		</a:t>
            </a:r>
            <a:r>
              <a:rPr lang="es-MX" altLang="es-ES" sz="1800" i="1" dirty="0">
                <a:solidFill>
                  <a:schemeClr val="accent6">
                    <a:lumMod val="10000"/>
                  </a:schemeClr>
                </a:solidFill>
                <a:latin typeface="+mj-lt"/>
              </a:rPr>
              <a:t>x</a:t>
            </a:r>
            <a:r>
              <a:rPr lang="es-MX" altLang="es-ES" sz="1800" dirty="0">
                <a:solidFill>
                  <a:schemeClr val="accent6">
                    <a:lumMod val="10000"/>
                  </a:schemeClr>
                </a:solidFill>
                <a:latin typeface="+mj-lt"/>
              </a:rPr>
              <a:t> = –57.0272487 y </a:t>
            </a:r>
            <a:r>
              <a:rPr lang="es-MX" altLang="es-ES" sz="1800" i="1" dirty="0">
                <a:solidFill>
                  <a:schemeClr val="accent6">
                    <a:lumMod val="10000"/>
                  </a:schemeClr>
                </a:solidFill>
                <a:latin typeface="+mj-lt"/>
              </a:rPr>
              <a:t>x</a:t>
            </a:r>
            <a:r>
              <a:rPr lang="es-MX" altLang="es-ES" sz="1800" dirty="0">
                <a:solidFill>
                  <a:schemeClr val="accent6">
                    <a:lumMod val="10000"/>
                  </a:schemeClr>
                </a:solidFill>
                <a:latin typeface="+mj-lt"/>
              </a:rPr>
              <a:t> = 280.6225766 </a:t>
            </a:r>
          </a:p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s-MX" altLang="es-ES" sz="1800" dirty="0">
                <a:solidFill>
                  <a:schemeClr val="accent6">
                    <a:lumMod val="10000"/>
                  </a:schemeClr>
                </a:solidFill>
                <a:latin typeface="+mj-lt"/>
              </a:rPr>
              <a:t>La raíz aceptable se la segunda. El tiempo de vuelo lo calculamos con:</a:t>
            </a:r>
          </a:p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es-MX" altLang="es-ES" sz="1800" dirty="0">
              <a:solidFill>
                <a:schemeClr val="accent6">
                  <a:lumMod val="10000"/>
                </a:schemeClr>
              </a:solidFill>
              <a:latin typeface="+mj-lt"/>
            </a:endParaRPr>
          </a:p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es-MX" altLang="es-ES" sz="1800" dirty="0">
              <a:solidFill>
                <a:schemeClr val="accent6">
                  <a:lumMod val="10000"/>
                </a:schemeClr>
              </a:solidFill>
              <a:latin typeface="+mj-lt"/>
            </a:endParaRPr>
          </a:p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s-MX" altLang="es-ES" sz="1800" i="1" dirty="0">
                <a:solidFill>
                  <a:schemeClr val="accent6">
                    <a:lumMod val="10000"/>
                  </a:schemeClr>
                </a:solidFill>
                <a:latin typeface="+mj-lt"/>
              </a:rPr>
              <a:t>			t</a:t>
            </a:r>
            <a:r>
              <a:rPr lang="es-MX" altLang="es-ES" sz="1800" dirty="0">
                <a:solidFill>
                  <a:schemeClr val="accent6">
                    <a:lumMod val="10000"/>
                  </a:schemeClr>
                </a:solidFill>
                <a:latin typeface="+mj-lt"/>
              </a:rPr>
              <a:t> = 7.23 s</a:t>
            </a:r>
          </a:p>
        </p:txBody>
      </p:sp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D3711D1E-241B-4F90-8507-62D402683D8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69114699"/>
              </p:ext>
            </p:extLst>
          </p:nvPr>
        </p:nvGraphicFramePr>
        <p:xfrm>
          <a:off x="4521841" y="1551907"/>
          <a:ext cx="2808287" cy="755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4" name="Ecuación" r:id="rId4" imgW="1790700" imgH="482600" progId="Equation.3">
                  <p:embed/>
                </p:oleObj>
              </mc:Choice>
              <mc:Fallback>
                <p:oleObj name="Ecuación" r:id="rId4" imgW="1790700" imgH="482600" progId="Equation.3">
                  <p:embed/>
                  <p:pic>
                    <p:nvPicPr>
                      <p:cNvPr id="6" name="Object 3">
                        <a:extLst>
                          <a:ext uri="{FF2B5EF4-FFF2-40B4-BE49-F238E27FC236}">
                            <a16:creationId xmlns:a16="http://schemas.microsoft.com/office/drawing/2014/main" id="{3655815A-0230-4D49-A6E1-22F73A71D25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21841" y="1551907"/>
                        <a:ext cx="2808287" cy="755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14AEACB2-8A00-4652-B63A-DEDA1BF7799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55173439"/>
              </p:ext>
            </p:extLst>
          </p:nvPr>
        </p:nvGraphicFramePr>
        <p:xfrm>
          <a:off x="4879028" y="4480845"/>
          <a:ext cx="1214438" cy="676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5" name="Ecuación" r:id="rId6" imgW="774364" imgH="431613" progId="Equation.3">
                  <p:embed/>
                </p:oleObj>
              </mc:Choice>
              <mc:Fallback>
                <p:oleObj name="Ecuación" r:id="rId6" imgW="774364" imgH="431613" progId="Equation.3">
                  <p:embed/>
                  <p:pic>
                    <p:nvPicPr>
                      <p:cNvPr id="7" name="Object 4">
                        <a:extLst>
                          <a:ext uri="{FF2B5EF4-FFF2-40B4-BE49-F238E27FC236}">
                            <a16:creationId xmlns:a16="http://schemas.microsoft.com/office/drawing/2014/main" id="{151C65CE-9F71-4858-BFA9-AB89366CB5C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79028" y="4480845"/>
                        <a:ext cx="1214438" cy="676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9518484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3">
            <a:extLst>
              <a:ext uri="{FF2B5EF4-FFF2-40B4-BE49-F238E27FC236}">
                <a16:creationId xmlns:a16="http://schemas.microsoft.com/office/drawing/2014/main" id="{92090BE4-B93C-45EA-80AC-E9D4E36A27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31219" y="855077"/>
            <a:ext cx="7929562" cy="14773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ts val="25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 eaLnBrk="0" hangingPunct="0">
              <a:spcBef>
                <a:spcPts val="250"/>
              </a:spcBef>
              <a:buClr>
                <a:schemeClr val="accent1"/>
              </a:buClr>
              <a:buSzPct val="100000"/>
              <a:buFont typeface="Verdana" panose="020B0604030504040204" pitchFamily="34" charset="0"/>
              <a:buChar char="◦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 eaLnBrk="0" hangingPunct="0">
              <a:spcBef>
                <a:spcPts val="250"/>
              </a:spcBef>
              <a:buClr>
                <a:srgbClr val="ED3742"/>
              </a:buClr>
              <a:buSzPct val="100000"/>
              <a:buFont typeface="Wingdings 2" panose="05020102010507070707" pitchFamily="18" charset="2"/>
              <a:buChar char="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 eaLnBrk="0" hangingPunct="0">
              <a:spcBef>
                <a:spcPts val="225"/>
              </a:spcBef>
              <a:buClr>
                <a:srgbClr val="ED3742"/>
              </a:buClr>
              <a:buSzPct val="112000"/>
              <a:buFont typeface="Verdana" panose="020B0604030504040204" pitchFamily="34" charset="0"/>
              <a:buChar char="◦"/>
              <a:defRPr sz="19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 eaLnBrk="0" hangingPunct="0">
              <a:spcBef>
                <a:spcPts val="250"/>
              </a:spcBef>
              <a:buClr>
                <a:srgbClr val="4A85BF"/>
              </a:buClr>
              <a:buSzPct val="100000"/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ts val="250"/>
              </a:spcBef>
              <a:spcAft>
                <a:spcPct val="0"/>
              </a:spcAft>
              <a:buClr>
                <a:srgbClr val="4A85BF"/>
              </a:buClr>
              <a:buSzPct val="100000"/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ts val="250"/>
              </a:spcBef>
              <a:spcAft>
                <a:spcPct val="0"/>
              </a:spcAft>
              <a:buClr>
                <a:srgbClr val="4A85BF"/>
              </a:buClr>
              <a:buSzPct val="100000"/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ts val="250"/>
              </a:spcBef>
              <a:spcAft>
                <a:spcPct val="0"/>
              </a:spcAft>
              <a:buClr>
                <a:srgbClr val="4A85BF"/>
              </a:buClr>
              <a:buSzPct val="100000"/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ts val="250"/>
              </a:spcBef>
              <a:spcAft>
                <a:spcPct val="0"/>
              </a:spcAft>
              <a:buClr>
                <a:srgbClr val="4A85BF"/>
              </a:buClr>
              <a:buSzPct val="100000"/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s-MX" altLang="es-ES" sz="1800" dirty="0">
                <a:solidFill>
                  <a:schemeClr val="accent6">
                    <a:lumMod val="10000"/>
                  </a:schemeClr>
                </a:solidFill>
                <a:latin typeface="+mj-lt"/>
              </a:rPr>
              <a:t>Un cañón dispara una bala con una velocidad de 670 m/s. Si se apunta con un ángulo de 35° calcule a) la altura máxima que alcanza la bala, b) el alcance y c) el tiempo de vuelo. Si el ángulo se cambia a un ángulo mayor de 45° de tal manera que se tenga el mismo alcance, calcule d) el nuevo ángulo, e) el tiempo de vuelo en ese caso y f) la máxima altura.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6EB6C557-EC8D-4C7A-8A4D-CA5D3143EBBE}"/>
              </a:ext>
            </a:extLst>
          </p:cNvPr>
          <p:cNvSpPr/>
          <p:nvPr/>
        </p:nvSpPr>
        <p:spPr>
          <a:xfrm>
            <a:off x="2131219" y="2511261"/>
            <a:ext cx="7929562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s-CO" dirty="0">
                <a:solidFill>
                  <a:schemeClr val="accent6">
                    <a:lumMod val="10000"/>
                  </a:schemeClr>
                </a:solidFill>
                <a:latin typeface="+mj-lt"/>
              </a:rPr>
              <a:t>Un avión que vuela a 2.000 m de altura con una velocidad de 800 km/h suelta una bomba cuando se encuentra a 5.000 m del objetivo. Determinar:</a:t>
            </a:r>
          </a:p>
          <a:p>
            <a:pPr algn="just"/>
            <a:r>
              <a:rPr lang="es-CO" dirty="0">
                <a:solidFill>
                  <a:schemeClr val="accent6">
                    <a:lumMod val="10000"/>
                  </a:schemeClr>
                </a:solidFill>
                <a:latin typeface="+mj-lt"/>
              </a:rPr>
              <a:t>a) ¿A qué distancia del objetivo cae la bomba?</a:t>
            </a:r>
          </a:p>
          <a:p>
            <a:pPr algn="just"/>
            <a:r>
              <a:rPr lang="es-CO" dirty="0">
                <a:solidFill>
                  <a:schemeClr val="accent6">
                    <a:lumMod val="10000"/>
                  </a:schemeClr>
                </a:solidFill>
                <a:latin typeface="+mj-lt"/>
              </a:rPr>
              <a:t>b) ¿Cuánto tarda la bomba en llegar al suelo?</a:t>
            </a:r>
          </a:p>
          <a:p>
            <a:pPr algn="just"/>
            <a:r>
              <a:rPr lang="es-CO" dirty="0">
                <a:solidFill>
                  <a:schemeClr val="accent6">
                    <a:lumMod val="10000"/>
                  </a:schemeClr>
                </a:solidFill>
                <a:latin typeface="+mj-lt"/>
              </a:rPr>
              <a:t>c) ¿Dónde esta el avión al explotar la bomba?</a:t>
            </a:r>
            <a:endParaRPr lang="es-CO" b="0" i="0" dirty="0">
              <a:solidFill>
                <a:schemeClr val="accent6">
                  <a:lumMod val="10000"/>
                </a:schemeClr>
              </a:solidFill>
              <a:effectLst/>
              <a:latin typeface="+mj-lt"/>
            </a:endParaRP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B6F61465-2D23-48A8-A6A6-7B63C44C8354}"/>
              </a:ext>
            </a:extLst>
          </p:cNvPr>
          <p:cNvSpPr/>
          <p:nvPr/>
        </p:nvSpPr>
        <p:spPr>
          <a:xfrm>
            <a:off x="2102371" y="4443580"/>
            <a:ext cx="795841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s-CO" dirty="0">
                <a:solidFill>
                  <a:schemeClr val="accent6">
                    <a:lumMod val="10000"/>
                  </a:schemeClr>
                </a:solidFill>
                <a:latin typeface="+mj-lt"/>
              </a:rPr>
              <a:t>Un proyectil se lanza con una velocidad inicial v</a:t>
            </a:r>
            <a:r>
              <a:rPr lang="es-CO" baseline="-25000" dirty="0">
                <a:solidFill>
                  <a:schemeClr val="accent6">
                    <a:lumMod val="10000"/>
                  </a:schemeClr>
                </a:solidFill>
                <a:latin typeface="+mj-lt"/>
              </a:rPr>
              <a:t>0</a:t>
            </a:r>
            <a:r>
              <a:rPr lang="es-CO" dirty="0">
                <a:solidFill>
                  <a:schemeClr val="accent6">
                    <a:lumMod val="10000"/>
                  </a:schemeClr>
                </a:solidFill>
                <a:latin typeface="+mj-lt"/>
              </a:rPr>
              <a:t> = 95 m/s y un ángulo θ</a:t>
            </a:r>
            <a:r>
              <a:rPr lang="es-CO" baseline="-25000" dirty="0">
                <a:solidFill>
                  <a:schemeClr val="accent6">
                    <a:lumMod val="10000"/>
                  </a:schemeClr>
                </a:solidFill>
                <a:latin typeface="+mj-lt"/>
              </a:rPr>
              <a:t>0</a:t>
            </a:r>
            <a:r>
              <a:rPr lang="es-CO" dirty="0">
                <a:solidFill>
                  <a:schemeClr val="accent6">
                    <a:lumMod val="10000"/>
                  </a:schemeClr>
                </a:solidFill>
                <a:latin typeface="+mj-lt"/>
              </a:rPr>
              <a:t> = 50 grados. Al cabo de 5 s alcanza la cumbre de una colina. ¿Cuál es la altura de la colina?. ¿Cuál es la distancia (en horizontal) del cañón a la colina?</a:t>
            </a:r>
          </a:p>
        </p:txBody>
      </p:sp>
    </p:spTree>
    <p:extLst>
      <p:ext uri="{BB962C8B-B14F-4D97-AF65-F5344CB8AC3E}">
        <p14:creationId xmlns:p14="http://schemas.microsoft.com/office/powerpoint/2010/main" val="8826691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C64BC029-4F37-49A7-BF6C-C586658418FB}"/>
              </a:ext>
            </a:extLst>
          </p:cNvPr>
          <p:cNvSpPr txBox="1"/>
          <p:nvPr/>
        </p:nvSpPr>
        <p:spPr>
          <a:xfrm>
            <a:off x="362242" y="188128"/>
            <a:ext cx="609834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altLang="es-CO" sz="2400" dirty="0">
                <a:latin typeface="+mj-lt"/>
              </a:rPr>
              <a:t>Movimiento circular</a:t>
            </a:r>
            <a:endParaRPr lang="es-CO" sz="2400" dirty="0">
              <a:latin typeface="+mj-lt"/>
            </a:endParaRPr>
          </a:p>
        </p:txBody>
      </p:sp>
      <p:sp>
        <p:nvSpPr>
          <p:cNvPr id="4" name="Text Box 3">
            <a:extLst>
              <a:ext uri="{FF2B5EF4-FFF2-40B4-BE49-F238E27FC236}">
                <a16:creationId xmlns:a16="http://schemas.microsoft.com/office/drawing/2014/main" id="{E8569017-8A61-4345-B13C-8DD6870A6D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06989" y="1041140"/>
            <a:ext cx="5688632" cy="36933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s-MX" altLang="es-CO" sz="1800" dirty="0">
                <a:latin typeface="+mn-lt"/>
              </a:rPr>
              <a:t>Existen muchos ejemplos de movimiento circular: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s-MX" altLang="es-CO" sz="1800" dirty="0">
                <a:latin typeface="+mn-lt"/>
              </a:rPr>
              <a:t>Discos de música de acetato (33, 45, 78)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s-MX" altLang="es-CO" sz="1800" dirty="0">
                <a:latin typeface="+mn-lt"/>
              </a:rPr>
              <a:t>Discos compactos y discos duros magnéticos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s-MX" altLang="es-CO" sz="1800" dirty="0">
                <a:latin typeface="+mn-lt"/>
              </a:rPr>
              <a:t>Rueda de la fortuna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s-MX" altLang="es-CO" sz="1800" dirty="0">
                <a:latin typeface="+mn-lt"/>
              </a:rPr>
              <a:t>Etc.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s-MX" altLang="es-CO" sz="1800" dirty="0">
                <a:latin typeface="+mn-lt"/>
              </a:rPr>
              <a:t>El </a:t>
            </a:r>
            <a:r>
              <a:rPr lang="es-MX" altLang="es-CO" sz="1800" b="1" u="sng" dirty="0">
                <a:latin typeface="+mn-lt"/>
              </a:rPr>
              <a:t>movimiento circular uniforme </a:t>
            </a:r>
            <a:r>
              <a:rPr lang="es-MX" altLang="es-CO" sz="1800" dirty="0">
                <a:latin typeface="+mn-lt"/>
              </a:rPr>
              <a:t>se refiere a movimiento a rapidez constante.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s-MX" altLang="es-CO" sz="1800" dirty="0">
                <a:latin typeface="+mn-lt"/>
              </a:rPr>
              <a:t>En el movimiento circular se utilizan las coordenadas polares, estas se especifican mediante una distancia </a:t>
            </a:r>
            <a:r>
              <a:rPr lang="es-MX" altLang="es-CO" sz="1800" b="1" dirty="0">
                <a:latin typeface="+mn-lt"/>
              </a:rPr>
              <a:t>r</a:t>
            </a:r>
            <a:r>
              <a:rPr lang="es-MX" altLang="es-CO" sz="1800" dirty="0">
                <a:latin typeface="+mn-lt"/>
              </a:rPr>
              <a:t> y un ángulo </a:t>
            </a:r>
            <a:r>
              <a:rPr lang="el-GR" altLang="es-CO" sz="1800" dirty="0">
                <a:latin typeface="+mn-lt"/>
              </a:rPr>
              <a:t>θ</a:t>
            </a:r>
            <a:r>
              <a:rPr lang="es-MX" altLang="es-CO" sz="1800" dirty="0">
                <a:latin typeface="+mn-lt"/>
              </a:rPr>
              <a:t>.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A26E387D-6498-4D5F-A84C-27D9EFE6AF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54785" y="1151510"/>
            <a:ext cx="3481612" cy="3312368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280F8791-103B-484E-86D8-8D438C16BD44}"/>
              </a:ext>
            </a:extLst>
          </p:cNvPr>
          <p:cNvSpPr txBox="1"/>
          <p:nvPr/>
        </p:nvSpPr>
        <p:spPr>
          <a:xfrm>
            <a:off x="2765151" y="5398827"/>
            <a:ext cx="82089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dirty="0"/>
              <a:t>https://www.</a:t>
            </a:r>
            <a:r>
              <a:rPr lang="es-CO" dirty="0">
                <a:hlinkClick r:id="rId4"/>
              </a:rPr>
              <a:t>educaplus</a:t>
            </a:r>
            <a:r>
              <a:rPr lang="es-CO" dirty="0"/>
              <a:t>.org/game/movimiento-circular-uniforme</a:t>
            </a:r>
          </a:p>
        </p:txBody>
      </p:sp>
    </p:spTree>
    <p:extLst>
      <p:ext uri="{BB962C8B-B14F-4D97-AF65-F5344CB8AC3E}">
        <p14:creationId xmlns:p14="http://schemas.microsoft.com/office/powerpoint/2010/main" val="11136434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3 Título">
            <a:extLst>
              <a:ext uri="{FF2B5EF4-FFF2-40B4-BE49-F238E27FC236}">
                <a16:creationId xmlns:a16="http://schemas.microsoft.com/office/drawing/2014/main" id="{33F97646-F90B-486E-ABDC-66F831510F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801" y="115888"/>
            <a:ext cx="8640233" cy="792162"/>
          </a:xfrm>
        </p:spPr>
        <p:txBody>
          <a:bodyPr>
            <a:normAutofit/>
          </a:bodyPr>
          <a:lstStyle/>
          <a:p>
            <a:r>
              <a:rPr lang="es-MX" altLang="es-CO" sz="2400" dirty="0"/>
              <a:t>Longitud de arco</a:t>
            </a:r>
            <a:endParaRPr lang="es-CO" sz="2400" dirty="0"/>
          </a:p>
        </p:txBody>
      </p:sp>
      <p:sp>
        <p:nvSpPr>
          <p:cNvPr id="3" name="Text Box 3">
            <a:extLst>
              <a:ext uri="{FF2B5EF4-FFF2-40B4-BE49-F238E27FC236}">
                <a16:creationId xmlns:a16="http://schemas.microsoft.com/office/drawing/2014/main" id="{0CB087DA-7DBB-4BE3-BC13-B37D59C894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98652" y="1432046"/>
            <a:ext cx="7929562" cy="6309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s-MX" altLang="es-CO" sz="1400" dirty="0">
                <a:latin typeface="+mn-lt"/>
              </a:rPr>
              <a:t>La longitud de arco se define como: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s-MX" altLang="es-CO" sz="1400" dirty="0">
                <a:latin typeface="+mn-lt"/>
              </a:rPr>
              <a:t>	Longitud de arco =       (Circunferencia del círculo) x </a:t>
            </a:r>
          </a:p>
        </p:txBody>
      </p:sp>
      <p:sp>
        <p:nvSpPr>
          <p:cNvPr id="4" name="Text Box 3">
            <a:extLst>
              <a:ext uri="{FF2B5EF4-FFF2-40B4-BE49-F238E27FC236}">
                <a16:creationId xmlns:a16="http://schemas.microsoft.com/office/drawing/2014/main" id="{79A34336-5DA4-4665-B638-CA6CA86063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70714" y="1646358"/>
            <a:ext cx="2500313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s-MX" altLang="es-CO" sz="1400">
                <a:latin typeface="+mn-lt"/>
              </a:rPr>
              <a:t>Ángulo formado por el arco</a:t>
            </a:r>
          </a:p>
        </p:txBody>
      </p:sp>
      <p:sp>
        <p:nvSpPr>
          <p:cNvPr id="5" name="Text Box 3">
            <a:extLst>
              <a:ext uri="{FF2B5EF4-FFF2-40B4-BE49-F238E27FC236}">
                <a16:creationId xmlns:a16="http://schemas.microsoft.com/office/drawing/2014/main" id="{79A9DC5F-F6B3-4C37-9CDB-D2F7315F0E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70714" y="2003546"/>
            <a:ext cx="3071813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s-MX" altLang="es-CO" sz="1400">
                <a:latin typeface="+mn-lt"/>
              </a:rPr>
              <a:t>Ángulo alrededor del círculo total</a:t>
            </a:r>
          </a:p>
        </p:txBody>
      </p:sp>
      <p:cxnSp>
        <p:nvCxnSpPr>
          <p:cNvPr id="6" name="6 Conector recto">
            <a:extLst>
              <a:ext uri="{FF2B5EF4-FFF2-40B4-BE49-F238E27FC236}">
                <a16:creationId xmlns:a16="http://schemas.microsoft.com/office/drawing/2014/main" id="{7D2C1A39-F4E3-4DF9-8901-7F0B750A502C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7442152" y="2003546"/>
            <a:ext cx="2786062" cy="1587"/>
          </a:xfrm>
          <a:prstGeom prst="line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aphicFrame>
        <p:nvGraphicFramePr>
          <p:cNvPr id="7" name="Object 3">
            <a:extLst>
              <a:ext uri="{FF2B5EF4-FFF2-40B4-BE49-F238E27FC236}">
                <a16:creationId xmlns:a16="http://schemas.microsoft.com/office/drawing/2014/main" id="{93D67E7E-5235-48B0-A86B-A7137E1E152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86335059"/>
              </p:ext>
            </p:extLst>
          </p:nvPr>
        </p:nvGraphicFramePr>
        <p:xfrm>
          <a:off x="4759276" y="2575046"/>
          <a:ext cx="2611437" cy="715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8" name="Ecuación" r:id="rId4" imgW="1371600" imgH="457200" progId="Equation.3">
                  <p:embed/>
                </p:oleObj>
              </mc:Choice>
              <mc:Fallback>
                <p:oleObj name="Ecuación" r:id="rId4" imgW="1371600" imgH="457200" progId="Equation.3">
                  <p:embed/>
                  <p:pic>
                    <p:nvPicPr>
                      <p:cNvPr id="9" name="Object 3">
                        <a:extLst>
                          <a:ext uri="{FF2B5EF4-FFF2-40B4-BE49-F238E27FC236}">
                            <a16:creationId xmlns:a16="http://schemas.microsoft.com/office/drawing/2014/main" id="{85F56CF1-F9ED-472D-AEE6-9FD394629C3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59276" y="2575046"/>
                        <a:ext cx="2611437" cy="7159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 Box 3">
            <a:extLst>
              <a:ext uri="{FF2B5EF4-FFF2-40B4-BE49-F238E27FC236}">
                <a16:creationId xmlns:a16="http://schemas.microsoft.com/office/drawing/2014/main" id="{D59631AC-B3F4-4541-A9DB-B6CB98522E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41527" y="3503733"/>
            <a:ext cx="7929562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s-MX" altLang="es-CO" sz="1400" dirty="0">
                <a:latin typeface="+mn-lt"/>
              </a:rPr>
              <a:t>Cuando el ángulo q se mide en radianes, el ángulo total es 2p y la longitud del arco es</a:t>
            </a:r>
          </a:p>
        </p:txBody>
      </p:sp>
      <p:graphicFrame>
        <p:nvGraphicFramePr>
          <p:cNvPr id="9" name="Object 3">
            <a:extLst>
              <a:ext uri="{FF2B5EF4-FFF2-40B4-BE49-F238E27FC236}">
                <a16:creationId xmlns:a16="http://schemas.microsoft.com/office/drawing/2014/main" id="{7C505DB1-6668-4E1B-A14A-2667F971013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61870372"/>
              </p:ext>
            </p:extLst>
          </p:nvPr>
        </p:nvGraphicFramePr>
        <p:xfrm>
          <a:off x="4202064" y="4338758"/>
          <a:ext cx="3785220" cy="617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9" name="Ecuación" r:id="rId6" imgW="2133600" imgH="393700" progId="Equation.3">
                  <p:embed/>
                </p:oleObj>
              </mc:Choice>
              <mc:Fallback>
                <p:oleObj name="Ecuación" r:id="rId6" imgW="2133600" imgH="393700" progId="Equation.3">
                  <p:embed/>
                  <p:pic>
                    <p:nvPicPr>
                      <p:cNvPr id="11" name="Object 3">
                        <a:extLst>
                          <a:ext uri="{FF2B5EF4-FFF2-40B4-BE49-F238E27FC236}">
                            <a16:creationId xmlns:a16="http://schemas.microsoft.com/office/drawing/2014/main" id="{F55EA1D7-8CA5-4B73-ACF5-65F6BD322C2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02064" y="4338758"/>
                        <a:ext cx="3785220" cy="6175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9498266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8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FFA9E23D-0527-4A08-808D-B1D2109C9B1A}"/>
              </a:ext>
            </a:extLst>
          </p:cNvPr>
          <p:cNvSpPr txBox="1"/>
          <p:nvPr/>
        </p:nvSpPr>
        <p:spPr>
          <a:xfrm>
            <a:off x="249702" y="174060"/>
            <a:ext cx="609834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altLang="es-CO" sz="2400" dirty="0">
                <a:latin typeface="+mj-lt"/>
              </a:rPr>
              <a:t>Movimiento alrededor de un círculo</a:t>
            </a:r>
            <a:endParaRPr lang="es-CO" sz="2400" dirty="0">
              <a:latin typeface="+mj-lt"/>
            </a:endParaRPr>
          </a:p>
        </p:txBody>
      </p:sp>
      <p:sp>
        <p:nvSpPr>
          <p:cNvPr id="4" name="Text Box 3">
            <a:extLst>
              <a:ext uri="{FF2B5EF4-FFF2-40B4-BE49-F238E27FC236}">
                <a16:creationId xmlns:a16="http://schemas.microsoft.com/office/drawing/2014/main" id="{A9F3583E-E0FC-48E6-83FD-E9B6F04CF1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68847" y="1224176"/>
            <a:ext cx="7929562" cy="14773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s-MX" altLang="es-CO" sz="1800" dirty="0">
                <a:latin typeface="+mn-lt"/>
              </a:rPr>
              <a:t>Alrededor de un círculo r  = </a:t>
            </a:r>
            <a:r>
              <a:rPr lang="es-MX" altLang="es-CO" sz="1800" i="1" dirty="0">
                <a:latin typeface="+mn-lt"/>
              </a:rPr>
              <a:t>R</a:t>
            </a:r>
            <a:r>
              <a:rPr lang="es-MX" altLang="es-CO" sz="1800" dirty="0">
                <a:latin typeface="+mn-lt"/>
              </a:rPr>
              <a:t> y solo </a:t>
            </a:r>
            <a:r>
              <a:rPr lang="el-GR" altLang="es-ES" sz="1800" dirty="0">
                <a:solidFill>
                  <a:schemeClr val="accent6">
                    <a:lumMod val="10000"/>
                  </a:schemeClr>
                </a:solidFill>
              </a:rPr>
              <a:t>θ</a:t>
            </a:r>
            <a:r>
              <a:rPr lang="es-MX" altLang="es-CO" sz="1800" dirty="0">
                <a:latin typeface="+mn-lt"/>
              </a:rPr>
              <a:t> cambia. En un intervalo de tiempo </a:t>
            </a:r>
            <a:r>
              <a:rPr lang="es-MX" altLang="es-CO" sz="1800" i="1" dirty="0" err="1">
                <a:latin typeface="+mn-lt"/>
              </a:rPr>
              <a:t>dt</a:t>
            </a:r>
            <a:r>
              <a:rPr lang="es-MX" altLang="es-CO" sz="1800" i="1" dirty="0">
                <a:latin typeface="+mn-lt"/>
              </a:rPr>
              <a:t> </a:t>
            </a:r>
            <a:r>
              <a:rPr lang="es-MX" altLang="es-CO" sz="1800" dirty="0">
                <a:latin typeface="+mn-lt"/>
              </a:rPr>
              <a:t>se recorre un arco dado por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s-MX" altLang="es-CO" sz="1800" dirty="0">
                <a:latin typeface="+mn-lt"/>
              </a:rPr>
              <a:t>			</a:t>
            </a:r>
            <a:r>
              <a:rPr lang="es-MX" altLang="es-CO" sz="1800" i="1" dirty="0" err="1">
                <a:latin typeface="+mn-lt"/>
              </a:rPr>
              <a:t>ds</a:t>
            </a:r>
            <a:r>
              <a:rPr lang="es-MX" altLang="es-CO" sz="1800" dirty="0">
                <a:latin typeface="+mn-lt"/>
              </a:rPr>
              <a:t> =</a:t>
            </a:r>
            <a:r>
              <a:rPr lang="es-MX" altLang="es-CO" sz="1800" i="1" dirty="0">
                <a:latin typeface="+mn-lt"/>
              </a:rPr>
              <a:t> R d</a:t>
            </a:r>
            <a:r>
              <a:rPr lang="el-GR" altLang="es-ES" sz="1800" dirty="0">
                <a:solidFill>
                  <a:schemeClr val="accent6">
                    <a:lumMod val="10000"/>
                  </a:schemeClr>
                </a:solidFill>
              </a:rPr>
              <a:t>θ</a:t>
            </a:r>
            <a:endParaRPr lang="es-MX" altLang="es-CO" sz="1800" dirty="0">
              <a:latin typeface="+mn-lt"/>
            </a:endParaRP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s-MX" altLang="es-CO" sz="1800" dirty="0">
                <a:latin typeface="+mn-lt"/>
              </a:rPr>
              <a:t>La velocidad es</a:t>
            </a:r>
          </a:p>
        </p:txBody>
      </p:sp>
      <p:graphicFrame>
        <p:nvGraphicFramePr>
          <p:cNvPr id="5" name="Object 2">
            <a:extLst>
              <a:ext uri="{FF2B5EF4-FFF2-40B4-BE49-F238E27FC236}">
                <a16:creationId xmlns:a16="http://schemas.microsoft.com/office/drawing/2014/main" id="{C1E6F1B0-754A-4F0B-AEE8-E105B44229A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02875915"/>
              </p:ext>
            </p:extLst>
          </p:nvPr>
        </p:nvGraphicFramePr>
        <p:xfrm>
          <a:off x="5126347" y="2724363"/>
          <a:ext cx="1823020" cy="617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52" name="Ecuación" r:id="rId4" imgW="914400" imgH="393700" progId="Equation.3">
                  <p:embed/>
                </p:oleObj>
              </mc:Choice>
              <mc:Fallback>
                <p:oleObj name="Ecuación" r:id="rId4" imgW="914400" imgH="393700" progId="Equation.3">
                  <p:embed/>
                  <p:pic>
                    <p:nvPicPr>
                      <p:cNvPr id="5" name="Object 2">
                        <a:extLst>
                          <a:ext uri="{FF2B5EF4-FFF2-40B4-BE49-F238E27FC236}">
                            <a16:creationId xmlns:a16="http://schemas.microsoft.com/office/drawing/2014/main" id="{61A6AFFF-5791-4323-98B1-5437DC4AF3C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26347" y="2724363"/>
                        <a:ext cx="1823020" cy="6175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 Box 3">
            <a:extLst>
              <a:ext uri="{FF2B5EF4-FFF2-40B4-BE49-F238E27FC236}">
                <a16:creationId xmlns:a16="http://schemas.microsoft.com/office/drawing/2014/main" id="{02ED2AAA-0CEE-48E3-9187-AAAE9F137B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97409" y="3438738"/>
            <a:ext cx="792956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s-MX" altLang="es-CO" sz="1800" dirty="0">
                <a:latin typeface="+mn-lt"/>
              </a:rPr>
              <a:t>Definimos la rapidez angular como</a:t>
            </a:r>
          </a:p>
        </p:txBody>
      </p:sp>
      <p:graphicFrame>
        <p:nvGraphicFramePr>
          <p:cNvPr id="7" name="Object 3">
            <a:extLst>
              <a:ext uri="{FF2B5EF4-FFF2-40B4-BE49-F238E27FC236}">
                <a16:creationId xmlns:a16="http://schemas.microsoft.com/office/drawing/2014/main" id="{08DF5C98-B819-44DC-9C57-81EE8916AC5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63855104"/>
              </p:ext>
            </p:extLst>
          </p:nvPr>
        </p:nvGraphicFramePr>
        <p:xfrm>
          <a:off x="5626409" y="4010238"/>
          <a:ext cx="1034926" cy="617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53" name="Ecuación" r:id="rId6" imgW="507780" imgH="393529" progId="Equation.3">
                  <p:embed/>
                </p:oleObj>
              </mc:Choice>
              <mc:Fallback>
                <p:oleObj name="Ecuación" r:id="rId6" imgW="507780" imgH="393529" progId="Equation.3">
                  <p:embed/>
                  <p:pic>
                    <p:nvPicPr>
                      <p:cNvPr id="7" name="Object 3">
                        <a:extLst>
                          <a:ext uri="{FF2B5EF4-FFF2-40B4-BE49-F238E27FC236}">
                            <a16:creationId xmlns:a16="http://schemas.microsoft.com/office/drawing/2014/main" id="{B1EED4D0-9DA8-4343-A325-5D41C60483F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26409" y="4010238"/>
                        <a:ext cx="1034926" cy="6175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 Box 3">
            <a:extLst>
              <a:ext uri="{FF2B5EF4-FFF2-40B4-BE49-F238E27FC236}">
                <a16:creationId xmlns:a16="http://schemas.microsoft.com/office/drawing/2014/main" id="{07CFD97E-CABE-4A51-B605-CF2C57A8A0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97409" y="4796051"/>
            <a:ext cx="7929563" cy="7848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s-MX" altLang="es-CO" sz="1800" dirty="0">
                <a:latin typeface="+mn-lt"/>
              </a:rPr>
              <a:t>Entonces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s-MX" altLang="es-CO" sz="1800" dirty="0">
                <a:latin typeface="+mn-lt"/>
              </a:rPr>
              <a:t>			</a:t>
            </a:r>
            <a:r>
              <a:rPr lang="es-MX" altLang="es-CO" sz="1800" i="1" dirty="0">
                <a:latin typeface="+mn-lt"/>
              </a:rPr>
              <a:t>v</a:t>
            </a:r>
            <a:r>
              <a:rPr lang="es-MX" altLang="es-CO" sz="1800" dirty="0">
                <a:latin typeface="+mn-lt"/>
              </a:rPr>
              <a:t> = </a:t>
            </a:r>
            <a:r>
              <a:rPr lang="el-GR" altLang="es-CO" sz="1800" dirty="0">
                <a:latin typeface="+mn-lt"/>
              </a:rPr>
              <a:t>ω</a:t>
            </a:r>
            <a:r>
              <a:rPr lang="es-MX" altLang="es-CO" sz="1800" dirty="0">
                <a:latin typeface="+mn-lt"/>
              </a:rPr>
              <a:t> </a:t>
            </a:r>
            <a:r>
              <a:rPr lang="es-MX" altLang="es-CO" sz="1800" i="1" dirty="0">
                <a:latin typeface="+mn-lt"/>
              </a:rPr>
              <a:t>R</a:t>
            </a:r>
          </a:p>
        </p:txBody>
      </p:sp>
    </p:spTree>
    <p:extLst>
      <p:ext uri="{BB962C8B-B14F-4D97-AF65-F5344CB8AC3E}">
        <p14:creationId xmlns:p14="http://schemas.microsoft.com/office/powerpoint/2010/main" val="3247000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  <p:bldP spid="8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3 Título">
            <a:extLst>
              <a:ext uri="{FF2B5EF4-FFF2-40B4-BE49-F238E27FC236}">
                <a16:creationId xmlns:a16="http://schemas.microsoft.com/office/drawing/2014/main" id="{0E6879ED-B516-442F-ACBE-3D852F161D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801" y="115888"/>
            <a:ext cx="8640233" cy="792162"/>
          </a:xfrm>
        </p:spPr>
        <p:txBody>
          <a:bodyPr>
            <a:normAutofit/>
          </a:bodyPr>
          <a:lstStyle/>
          <a:p>
            <a:r>
              <a:rPr lang="es-MX" altLang="es-CO" sz="2400" dirty="0"/>
              <a:t>Periodo y frecuencia</a:t>
            </a:r>
            <a:endParaRPr lang="es-CO" sz="2400" dirty="0"/>
          </a:p>
        </p:txBody>
      </p:sp>
      <p:sp>
        <p:nvSpPr>
          <p:cNvPr id="3" name="Text Box 3">
            <a:extLst>
              <a:ext uri="{FF2B5EF4-FFF2-40B4-BE49-F238E27FC236}">
                <a16:creationId xmlns:a16="http://schemas.microsoft.com/office/drawing/2014/main" id="{8888D204-2878-4460-8FA9-241F3A52C4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09381" y="908050"/>
            <a:ext cx="7929562" cy="10618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s-MX" altLang="es-CO" sz="1800" dirty="0">
                <a:latin typeface="+mn-lt"/>
              </a:rPr>
              <a:t>Al tiempo en que tarda un objeto en dar una vuelta completa se le llama periodo (</a:t>
            </a:r>
            <a:r>
              <a:rPr lang="es-MX" altLang="es-CO" sz="1800" i="1" dirty="0">
                <a:latin typeface="+mn-lt"/>
              </a:rPr>
              <a:t>T</a:t>
            </a:r>
            <a:r>
              <a:rPr lang="es-MX" altLang="es-CO" sz="1800" dirty="0">
                <a:latin typeface="+mn-lt"/>
              </a:rPr>
              <a:t>) está dado por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s-MX" altLang="es-CO" sz="1800" dirty="0">
                <a:latin typeface="+mn-lt"/>
              </a:rPr>
              <a:t>			2</a:t>
            </a:r>
            <a:r>
              <a:rPr lang="el-GR" altLang="es-CO" sz="1800" dirty="0">
                <a:latin typeface="+mn-lt"/>
              </a:rPr>
              <a:t>π</a:t>
            </a:r>
            <a:r>
              <a:rPr lang="es-MX" altLang="es-CO" sz="1800" i="1" dirty="0">
                <a:latin typeface="+mn-lt"/>
              </a:rPr>
              <a:t>R</a:t>
            </a:r>
            <a:r>
              <a:rPr lang="es-MX" altLang="es-CO" sz="1800" dirty="0">
                <a:latin typeface="+mn-lt"/>
              </a:rPr>
              <a:t> =</a:t>
            </a:r>
            <a:r>
              <a:rPr lang="es-MX" altLang="es-CO" sz="1800" i="1" dirty="0">
                <a:latin typeface="+mn-lt"/>
              </a:rPr>
              <a:t> </a:t>
            </a:r>
            <a:r>
              <a:rPr lang="es-MX" altLang="es-CO" sz="1800" i="1" dirty="0" err="1">
                <a:latin typeface="+mn-lt"/>
              </a:rPr>
              <a:t>vT</a:t>
            </a:r>
            <a:r>
              <a:rPr lang="es-MX" altLang="es-CO" sz="1800" i="1" dirty="0">
                <a:latin typeface="+mn-lt"/>
              </a:rPr>
              <a:t> </a:t>
            </a:r>
            <a:endParaRPr lang="es-MX" altLang="es-CO" sz="1800" dirty="0">
              <a:latin typeface="+mn-lt"/>
            </a:endParaRPr>
          </a:p>
        </p:txBody>
      </p:sp>
      <p:graphicFrame>
        <p:nvGraphicFramePr>
          <p:cNvPr id="4" name="Object 2">
            <a:extLst>
              <a:ext uri="{FF2B5EF4-FFF2-40B4-BE49-F238E27FC236}">
                <a16:creationId xmlns:a16="http://schemas.microsoft.com/office/drawing/2014/main" id="{D5A0F6BA-7403-4EC4-A9AD-391BA04C6CE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00549219"/>
              </p:ext>
            </p:extLst>
          </p:nvPr>
        </p:nvGraphicFramePr>
        <p:xfrm>
          <a:off x="4471556" y="2122487"/>
          <a:ext cx="2806377" cy="617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2" name="Ecuación" r:id="rId4" imgW="1345616" imgH="393529" progId="Equation.3">
                  <p:embed/>
                </p:oleObj>
              </mc:Choice>
              <mc:Fallback>
                <p:oleObj name="Ecuación" r:id="rId4" imgW="1345616" imgH="393529" progId="Equation.3">
                  <p:embed/>
                  <p:pic>
                    <p:nvPicPr>
                      <p:cNvPr id="5" name="Object 2">
                        <a:extLst>
                          <a:ext uri="{FF2B5EF4-FFF2-40B4-BE49-F238E27FC236}">
                            <a16:creationId xmlns:a16="http://schemas.microsoft.com/office/drawing/2014/main" id="{44DBB59A-B5BB-4898-829F-97C0F7F454E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71556" y="2122487"/>
                        <a:ext cx="2806377" cy="6175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 Box 3">
            <a:extLst>
              <a:ext uri="{FF2B5EF4-FFF2-40B4-BE49-F238E27FC236}">
                <a16:creationId xmlns:a16="http://schemas.microsoft.com/office/drawing/2014/main" id="{787851D1-2F5A-4EBD-9AA6-7BBCF2979E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09381" y="2908300"/>
            <a:ext cx="7929562" cy="7848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s-MX" altLang="es-CO" sz="1800" dirty="0">
                <a:latin typeface="+mn-lt"/>
              </a:rPr>
              <a:t>La frecuencia es el recíproco del periodo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s-MX" altLang="es-CO" sz="1800" dirty="0">
                <a:latin typeface="+mn-lt"/>
              </a:rPr>
              <a:t>			</a:t>
            </a:r>
            <a:r>
              <a:rPr lang="es-MX" altLang="es-CO" sz="1800" i="1" dirty="0">
                <a:latin typeface="+mn-lt"/>
              </a:rPr>
              <a:t>f</a:t>
            </a:r>
            <a:r>
              <a:rPr lang="es-MX" altLang="es-CO" sz="1800" dirty="0">
                <a:latin typeface="+mn-lt"/>
              </a:rPr>
              <a:t> =</a:t>
            </a:r>
            <a:r>
              <a:rPr lang="es-MX" altLang="es-CO" sz="1800" i="1" dirty="0">
                <a:latin typeface="+mn-lt"/>
              </a:rPr>
              <a:t> </a:t>
            </a:r>
            <a:r>
              <a:rPr lang="es-MX" altLang="es-CO" sz="1800" dirty="0">
                <a:latin typeface="+mn-lt"/>
              </a:rPr>
              <a:t>1/</a:t>
            </a:r>
            <a:r>
              <a:rPr lang="es-MX" altLang="es-CO" sz="1800" i="1" dirty="0">
                <a:latin typeface="+mn-lt"/>
              </a:rPr>
              <a:t>T  =</a:t>
            </a:r>
            <a:r>
              <a:rPr lang="es-MX" altLang="es-CO" sz="1800" dirty="0">
                <a:latin typeface="+mn-lt"/>
              </a:rPr>
              <a:t> </a:t>
            </a:r>
            <a:r>
              <a:rPr lang="el-GR" altLang="es-CO" sz="1800" dirty="0">
                <a:latin typeface="+mn-lt"/>
                <a:cs typeface="Tahoma" panose="020B0604030504040204" pitchFamily="34" charset="0"/>
              </a:rPr>
              <a:t>ω</a:t>
            </a:r>
            <a:r>
              <a:rPr lang="es-MX" altLang="es-CO" sz="1800" dirty="0">
                <a:latin typeface="+mn-lt"/>
              </a:rPr>
              <a:t>/2</a:t>
            </a:r>
            <a:r>
              <a:rPr lang="el-GR" altLang="es-CO" sz="1800" dirty="0">
                <a:latin typeface="+mn-lt"/>
              </a:rPr>
              <a:t>π</a:t>
            </a:r>
            <a:endParaRPr lang="es-MX" altLang="es-CO" sz="1800" dirty="0">
              <a:latin typeface="+mn-lt"/>
            </a:endParaRPr>
          </a:p>
        </p:txBody>
      </p:sp>
      <p:sp>
        <p:nvSpPr>
          <p:cNvPr id="6" name="Text Box 3">
            <a:extLst>
              <a:ext uri="{FF2B5EF4-FFF2-40B4-BE49-F238E27FC236}">
                <a16:creationId xmlns:a16="http://schemas.microsoft.com/office/drawing/2014/main" id="{6C48B8FC-806C-4650-A169-0B3BC58D10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09381" y="3836987"/>
            <a:ext cx="7929562" cy="10618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s-MX" altLang="es-CO" sz="1800">
                <a:latin typeface="+mn-lt"/>
              </a:rPr>
              <a:t>La frecuencia es el número de revoluciones por segundo, se mide en hertz (Hz) que se define como un ciclo por segundo (cps).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s-MX" altLang="es-CO" sz="1800">
                <a:latin typeface="+mn-lt"/>
              </a:rPr>
              <a:t>Otra unidad es las revoluciones por minuto rev/min o rpm.</a:t>
            </a:r>
          </a:p>
        </p:txBody>
      </p:sp>
    </p:spTree>
    <p:extLst>
      <p:ext uri="{BB962C8B-B14F-4D97-AF65-F5344CB8AC3E}">
        <p14:creationId xmlns:p14="http://schemas.microsoft.com/office/powerpoint/2010/main" val="29387826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/>
      <p:bldP spid="6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3 Título">
            <a:extLst>
              <a:ext uri="{FF2B5EF4-FFF2-40B4-BE49-F238E27FC236}">
                <a16:creationId xmlns:a16="http://schemas.microsoft.com/office/drawing/2014/main" id="{780CC8A9-59AB-4A61-89D7-5A857EDC6D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801" y="115888"/>
            <a:ext cx="8640233" cy="792162"/>
          </a:xfrm>
        </p:spPr>
        <p:txBody>
          <a:bodyPr>
            <a:normAutofit/>
          </a:bodyPr>
          <a:lstStyle/>
          <a:p>
            <a:r>
              <a:rPr lang="es-MX" altLang="es-CO" sz="2400" dirty="0"/>
              <a:t>Aceleración radial</a:t>
            </a:r>
            <a:endParaRPr lang="es-CO" sz="2400" dirty="0"/>
          </a:p>
        </p:txBody>
      </p:sp>
      <p:graphicFrame>
        <p:nvGraphicFramePr>
          <p:cNvPr id="3" name="Object 0">
            <a:extLst>
              <a:ext uri="{FF2B5EF4-FFF2-40B4-BE49-F238E27FC236}">
                <a16:creationId xmlns:a16="http://schemas.microsoft.com/office/drawing/2014/main" id="{79421287-B5A6-42E4-BDDE-43D4C6DFACA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29298740"/>
              </p:ext>
            </p:extLst>
          </p:nvPr>
        </p:nvGraphicFramePr>
        <p:xfrm>
          <a:off x="3237450" y="2379268"/>
          <a:ext cx="1295400" cy="773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98" r:id="rId4" imgW="685502" imgH="406224" progId="Equation.3">
                  <p:embed/>
                </p:oleObj>
              </mc:Choice>
              <mc:Fallback>
                <p:oleObj r:id="rId4" imgW="685502" imgH="406224" progId="Equation.3">
                  <p:embed/>
                  <p:pic>
                    <p:nvPicPr>
                      <p:cNvPr id="3" name="Object 0">
                        <a:extLst>
                          <a:ext uri="{FF2B5EF4-FFF2-40B4-BE49-F238E27FC236}">
                            <a16:creationId xmlns:a16="http://schemas.microsoft.com/office/drawing/2014/main" id="{E36D478B-B18E-4447-877F-2C7EFB5087C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37450" y="2379268"/>
                        <a:ext cx="1295400" cy="7731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 Box 31">
            <a:extLst>
              <a:ext uri="{FF2B5EF4-FFF2-40B4-BE49-F238E27FC236}">
                <a16:creationId xmlns:a16="http://schemas.microsoft.com/office/drawing/2014/main" id="{EABE08F9-2F97-4409-94B2-B4C3DBCF18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49276" y="908050"/>
            <a:ext cx="815340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s-ES_tradnl" altLang="es-CO" sz="1800" dirty="0">
                <a:latin typeface="+mn-lt"/>
                <a:cs typeface="Times New Roman" panose="02020603050405020304" pitchFamily="18" charset="0"/>
              </a:rPr>
              <a:t>Los triángulos OPQ y ABC son ambos triángulos isósceles con ángulos iguales. Así,</a:t>
            </a:r>
            <a:r>
              <a:rPr lang="es-MX" altLang="es-CO" sz="1800" dirty="0">
                <a:latin typeface="+mn-lt"/>
              </a:rPr>
              <a:t> </a:t>
            </a:r>
          </a:p>
        </p:txBody>
      </p:sp>
      <p:sp>
        <p:nvSpPr>
          <p:cNvPr id="5" name="Text Box 32">
            <a:extLst>
              <a:ext uri="{FF2B5EF4-FFF2-40B4-BE49-F238E27FC236}">
                <a16:creationId xmlns:a16="http://schemas.microsoft.com/office/drawing/2014/main" id="{13087EC4-2BC3-4386-8A71-ECF3E099BE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03578" y="4181217"/>
            <a:ext cx="6334472" cy="9233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s-ES_tradnl" altLang="es-CO" sz="1800" dirty="0">
                <a:latin typeface="+mn-lt"/>
                <a:cs typeface="Times New Roman" panose="02020603050405020304" pitchFamily="18" charset="0"/>
              </a:rPr>
              <a:t>de donde se obtiene |</a:t>
            </a:r>
            <a:r>
              <a:rPr lang="el-GR" altLang="es-CO" sz="1800" dirty="0">
                <a:latin typeface="+mn-lt"/>
                <a:cs typeface="Times New Roman" panose="02020603050405020304" pitchFamily="18" charset="0"/>
              </a:rPr>
              <a:t>Δ</a:t>
            </a:r>
            <a:r>
              <a:rPr lang="es-ES_tradnl" altLang="es-CO" sz="1800" b="1" dirty="0">
                <a:latin typeface="+mn-lt"/>
                <a:cs typeface="Times New Roman" panose="02020603050405020304" pitchFamily="18" charset="0"/>
              </a:rPr>
              <a:t>v</a:t>
            </a:r>
            <a:r>
              <a:rPr lang="es-ES_tradnl" altLang="es-CO" sz="1800" dirty="0">
                <a:latin typeface="+mn-lt"/>
                <a:cs typeface="Times New Roman" panose="02020603050405020304" pitchFamily="18" charset="0"/>
              </a:rPr>
              <a:t>| = (</a:t>
            </a:r>
            <a:r>
              <a:rPr lang="es-ES_tradnl" altLang="es-CO" sz="1800" i="1" dirty="0">
                <a:latin typeface="+mn-lt"/>
                <a:cs typeface="Times New Roman" panose="02020603050405020304" pitchFamily="18" charset="0"/>
              </a:rPr>
              <a:t>v</a:t>
            </a:r>
            <a:r>
              <a:rPr lang="es-ES_tradnl" altLang="es-CO" sz="1800" dirty="0">
                <a:latin typeface="+mn-lt"/>
                <a:cs typeface="Times New Roman" panose="02020603050405020304" pitchFamily="18" charset="0"/>
              </a:rPr>
              <a:t>/</a:t>
            </a:r>
            <a:r>
              <a:rPr lang="es-ES_tradnl" altLang="es-CO" sz="1800" i="1" dirty="0">
                <a:latin typeface="+mn-lt"/>
                <a:cs typeface="Times New Roman" panose="02020603050405020304" pitchFamily="18" charset="0"/>
              </a:rPr>
              <a:t>r</a:t>
            </a:r>
            <a:r>
              <a:rPr lang="es-ES_tradnl" altLang="es-CO" sz="1800" dirty="0">
                <a:latin typeface="+mn-lt"/>
                <a:cs typeface="Times New Roman" panose="02020603050405020304" pitchFamily="18" charset="0"/>
              </a:rPr>
              <a:t>)|</a:t>
            </a:r>
            <a:r>
              <a:rPr lang="el-GR" altLang="es-CO" sz="1800" dirty="0">
                <a:latin typeface="+mn-lt"/>
                <a:cs typeface="Times New Roman" panose="02020603050405020304" pitchFamily="18" charset="0"/>
              </a:rPr>
              <a:t>Δ</a:t>
            </a:r>
            <a:r>
              <a:rPr lang="es-ES_tradnl" altLang="es-CO" sz="1800" b="1" dirty="0">
                <a:latin typeface="+mn-lt"/>
                <a:cs typeface="Times New Roman" panose="02020603050405020304" pitchFamily="18" charset="0"/>
              </a:rPr>
              <a:t>r</a:t>
            </a:r>
            <a:r>
              <a:rPr lang="es-ES_tradnl" altLang="es-CO" sz="1800" dirty="0">
                <a:latin typeface="+mn-lt"/>
                <a:cs typeface="Times New Roman" panose="02020603050405020304" pitchFamily="18" charset="0"/>
              </a:rPr>
              <a:t>| . Ya que |</a:t>
            </a:r>
            <a:r>
              <a:rPr lang="el-GR" altLang="es-CO" sz="1800" dirty="0">
                <a:latin typeface="+mn-lt"/>
                <a:cs typeface="Times New Roman" panose="02020603050405020304" pitchFamily="18" charset="0"/>
              </a:rPr>
              <a:t>Δ</a:t>
            </a:r>
            <a:r>
              <a:rPr lang="es-ES_tradnl" altLang="es-CO" sz="1800" b="1" dirty="0">
                <a:latin typeface="+mn-lt"/>
                <a:cs typeface="Times New Roman" panose="02020603050405020304" pitchFamily="18" charset="0"/>
              </a:rPr>
              <a:t>r</a:t>
            </a:r>
            <a:r>
              <a:rPr lang="es-ES_tradnl" altLang="es-CO" sz="1800" dirty="0">
                <a:latin typeface="+mn-lt"/>
                <a:cs typeface="Times New Roman" panose="02020603050405020304" pitchFamily="18" charset="0"/>
              </a:rPr>
              <a:t>| </a:t>
            </a:r>
            <a:r>
              <a:rPr lang="es-ES_tradnl" altLang="es-CO" sz="1800" dirty="0">
                <a:latin typeface="+mn-lt"/>
                <a:cs typeface="Times New Roman" panose="02020603050405020304" pitchFamily="18" charset="0"/>
                <a:sym typeface="Symbol" panose="05050102010706020507" pitchFamily="18" charset="2"/>
              </a:rPr>
              <a:t></a:t>
            </a:r>
            <a:r>
              <a:rPr lang="es-ES_tradnl" altLang="es-CO" sz="1800" dirty="0">
                <a:latin typeface="+mn-lt"/>
                <a:cs typeface="Times New Roman" panose="02020603050405020304" pitchFamily="18" charset="0"/>
              </a:rPr>
              <a:t> </a:t>
            </a:r>
            <a:r>
              <a:rPr lang="es-ES_tradnl" altLang="es-CO" sz="1800" i="1" dirty="0">
                <a:latin typeface="+mn-lt"/>
                <a:cs typeface="Times New Roman" panose="02020603050405020304" pitchFamily="18" charset="0"/>
              </a:rPr>
              <a:t>v</a:t>
            </a:r>
            <a:r>
              <a:rPr lang="el-GR" altLang="es-CO" sz="1800" dirty="0">
                <a:cs typeface="Times New Roman" panose="02020603050405020304" pitchFamily="18" charset="0"/>
              </a:rPr>
              <a:t> Δ</a:t>
            </a:r>
            <a:r>
              <a:rPr lang="es-ES_tradnl" altLang="es-CO" sz="1800" i="1" dirty="0">
                <a:latin typeface="+mn-lt"/>
                <a:cs typeface="Times New Roman" panose="02020603050405020304" pitchFamily="18" charset="0"/>
              </a:rPr>
              <a:t>t</a:t>
            </a:r>
            <a:r>
              <a:rPr lang="es-ES_tradnl" altLang="es-CO" sz="1800" dirty="0">
                <a:latin typeface="+mn-lt"/>
                <a:cs typeface="Times New Roman" panose="02020603050405020304" pitchFamily="18" charset="0"/>
              </a:rPr>
              <a:t>, vemos que |</a:t>
            </a:r>
            <a:r>
              <a:rPr lang="el-GR" altLang="es-CO" sz="1800" dirty="0">
                <a:cs typeface="Times New Roman" panose="02020603050405020304" pitchFamily="18" charset="0"/>
              </a:rPr>
              <a:t>Δ</a:t>
            </a:r>
            <a:r>
              <a:rPr lang="es-ES_tradnl" altLang="es-CO" sz="1800" b="1" dirty="0">
                <a:latin typeface="+mn-lt"/>
                <a:cs typeface="Times New Roman" panose="02020603050405020304" pitchFamily="18" charset="0"/>
              </a:rPr>
              <a:t>v</a:t>
            </a:r>
            <a:r>
              <a:rPr lang="es-ES_tradnl" altLang="es-CO" sz="1800" dirty="0">
                <a:latin typeface="+mn-lt"/>
                <a:cs typeface="Times New Roman" panose="02020603050405020304" pitchFamily="18" charset="0"/>
              </a:rPr>
              <a:t>|/</a:t>
            </a:r>
            <a:r>
              <a:rPr lang="el-GR" altLang="es-CO" sz="1800" dirty="0">
                <a:cs typeface="Times New Roman" panose="02020603050405020304" pitchFamily="18" charset="0"/>
              </a:rPr>
              <a:t>Δ</a:t>
            </a:r>
            <a:r>
              <a:rPr lang="es-ES_tradnl" altLang="es-CO" sz="1800" i="1" dirty="0">
                <a:latin typeface="+mn-lt"/>
                <a:cs typeface="Times New Roman" panose="02020603050405020304" pitchFamily="18" charset="0"/>
              </a:rPr>
              <a:t>t</a:t>
            </a:r>
            <a:r>
              <a:rPr lang="es-ES_tradnl" altLang="es-CO" sz="1800" dirty="0">
                <a:latin typeface="+mn-lt"/>
                <a:cs typeface="Times New Roman" panose="02020603050405020304" pitchFamily="18" charset="0"/>
              </a:rPr>
              <a:t> </a:t>
            </a:r>
            <a:r>
              <a:rPr lang="es-ES_tradnl" altLang="es-CO" sz="1800" dirty="0">
                <a:latin typeface="+mn-lt"/>
                <a:cs typeface="Times New Roman" panose="02020603050405020304" pitchFamily="18" charset="0"/>
                <a:sym typeface="Symbol" panose="05050102010706020507" pitchFamily="18" charset="2"/>
              </a:rPr>
              <a:t></a:t>
            </a:r>
            <a:r>
              <a:rPr lang="es-ES_tradnl" altLang="es-CO" sz="1800" dirty="0">
                <a:latin typeface="+mn-lt"/>
                <a:cs typeface="Times New Roman" panose="02020603050405020304" pitchFamily="18" charset="0"/>
              </a:rPr>
              <a:t> </a:t>
            </a:r>
            <a:r>
              <a:rPr lang="es-ES_tradnl" altLang="es-CO" sz="1800" i="1" dirty="0">
                <a:latin typeface="+mn-lt"/>
                <a:cs typeface="Times New Roman" panose="02020603050405020304" pitchFamily="18" charset="0"/>
              </a:rPr>
              <a:t>v</a:t>
            </a:r>
            <a:r>
              <a:rPr lang="es-ES_tradnl" altLang="es-CO" sz="1800" baseline="30000" dirty="0">
                <a:latin typeface="+mn-lt"/>
                <a:cs typeface="Times New Roman" panose="02020603050405020304" pitchFamily="18" charset="0"/>
              </a:rPr>
              <a:t>2</a:t>
            </a:r>
            <a:r>
              <a:rPr lang="es-ES_tradnl" altLang="es-CO" sz="1800" dirty="0">
                <a:latin typeface="+mn-lt"/>
                <a:cs typeface="Times New Roman" panose="02020603050405020304" pitchFamily="18" charset="0"/>
              </a:rPr>
              <a:t>/</a:t>
            </a:r>
            <a:r>
              <a:rPr lang="es-ES_tradnl" altLang="es-CO" sz="1800" i="1" dirty="0">
                <a:latin typeface="+mn-lt"/>
                <a:cs typeface="Times New Roman" panose="02020603050405020304" pitchFamily="18" charset="0"/>
              </a:rPr>
              <a:t>r</a:t>
            </a:r>
            <a:r>
              <a:rPr lang="es-ES_tradnl" altLang="es-CO" sz="1800" dirty="0">
                <a:latin typeface="+mn-lt"/>
                <a:cs typeface="Times New Roman" panose="02020603050405020304" pitchFamily="18" charset="0"/>
              </a:rPr>
              <a:t>. De la definición de , tenemos que la aceleración es</a:t>
            </a:r>
            <a:r>
              <a:rPr lang="es-MX" altLang="es-CO" sz="1800" dirty="0">
                <a:latin typeface="+mn-lt"/>
              </a:rPr>
              <a:t> </a:t>
            </a:r>
          </a:p>
        </p:txBody>
      </p:sp>
      <p:graphicFrame>
        <p:nvGraphicFramePr>
          <p:cNvPr id="6" name="Object 1">
            <a:extLst>
              <a:ext uri="{FF2B5EF4-FFF2-40B4-BE49-F238E27FC236}">
                <a16:creationId xmlns:a16="http://schemas.microsoft.com/office/drawing/2014/main" id="{240715E1-5354-4FB3-9960-AE4B385B31D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86209442"/>
              </p:ext>
            </p:extLst>
          </p:nvPr>
        </p:nvGraphicFramePr>
        <p:xfrm>
          <a:off x="9199493" y="4105888"/>
          <a:ext cx="11430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99" r:id="rId6" imgW="520700" imgH="419100" progId="Equation.3">
                  <p:embed/>
                </p:oleObj>
              </mc:Choice>
              <mc:Fallback>
                <p:oleObj r:id="rId6" imgW="520700" imgH="419100" progId="Equation.3">
                  <p:embed/>
                  <p:pic>
                    <p:nvPicPr>
                      <p:cNvPr id="7" name="Object 1">
                        <a:extLst>
                          <a:ext uri="{FF2B5EF4-FFF2-40B4-BE49-F238E27FC236}">
                            <a16:creationId xmlns:a16="http://schemas.microsoft.com/office/drawing/2014/main" id="{38B8A30D-18F4-4428-91ED-980FFA8D3BA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99493" y="4105888"/>
                        <a:ext cx="1143000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 Box 35">
            <a:extLst>
              <a:ext uri="{FF2B5EF4-FFF2-40B4-BE49-F238E27FC236}">
                <a16:creationId xmlns:a16="http://schemas.microsoft.com/office/drawing/2014/main" id="{2675A502-F545-4F4B-B69D-5A0994FC37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03578" y="5529263"/>
            <a:ext cx="774382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s-ES_tradnl" altLang="es-CO" sz="1800" dirty="0">
                <a:latin typeface="+mn-lt"/>
                <a:cs typeface="Times New Roman" panose="02020603050405020304" pitchFamily="18" charset="0"/>
              </a:rPr>
              <a:t>Esta es llamada </a:t>
            </a:r>
            <a:r>
              <a:rPr lang="es-ES_tradnl" altLang="es-CO" sz="1800" b="1" dirty="0">
                <a:latin typeface="+mn-lt"/>
                <a:cs typeface="Times New Roman" panose="02020603050405020304" pitchFamily="18" charset="0"/>
              </a:rPr>
              <a:t>aceleración centrípeta o radial</a:t>
            </a:r>
            <a:r>
              <a:rPr lang="es-MX" altLang="es-CO" sz="1800" dirty="0">
                <a:latin typeface="+mn-lt"/>
              </a:rPr>
              <a:t>.</a:t>
            </a: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F7446110-7FFC-4B46-9CFC-5CF095B527B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79833" y="1381510"/>
            <a:ext cx="4267570" cy="2651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52305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7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3 Título">
            <a:extLst>
              <a:ext uri="{FF2B5EF4-FFF2-40B4-BE49-F238E27FC236}">
                <a16:creationId xmlns:a16="http://schemas.microsoft.com/office/drawing/2014/main" id="{04CE38DD-5749-4741-8F4F-D6FA47C5D8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801" y="115888"/>
            <a:ext cx="8640233" cy="792162"/>
          </a:xfrm>
        </p:spPr>
        <p:txBody>
          <a:bodyPr>
            <a:normAutofit/>
          </a:bodyPr>
          <a:lstStyle/>
          <a:p>
            <a:r>
              <a:rPr lang="es-MX" altLang="es-CO" sz="2400" dirty="0"/>
              <a:t>Aceleración radial</a:t>
            </a:r>
            <a:endParaRPr lang="es-CO" sz="2400" dirty="0"/>
          </a:p>
        </p:txBody>
      </p:sp>
      <p:sp>
        <p:nvSpPr>
          <p:cNvPr id="3" name="Text Box 3">
            <a:extLst>
              <a:ext uri="{FF2B5EF4-FFF2-40B4-BE49-F238E27FC236}">
                <a16:creationId xmlns:a16="http://schemas.microsoft.com/office/drawing/2014/main" id="{FEAC2B9F-0A52-4FB8-B321-5E83B4C073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95268" y="1083437"/>
            <a:ext cx="868680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s-ES_tradnl" altLang="es-CO" sz="1800" dirty="0">
                <a:latin typeface="+mn-lt"/>
                <a:cs typeface="Times New Roman" panose="02020603050405020304" pitchFamily="18" charset="0"/>
              </a:rPr>
              <a:t>El subíndice </a:t>
            </a:r>
            <a:r>
              <a:rPr lang="es-ES_tradnl" altLang="es-CO" sz="1800" i="1" dirty="0">
                <a:latin typeface="+mn-lt"/>
                <a:cs typeface="Times New Roman" panose="02020603050405020304" pitchFamily="18" charset="0"/>
              </a:rPr>
              <a:t>r</a:t>
            </a:r>
            <a:r>
              <a:rPr lang="es-ES_tradnl" altLang="es-CO" sz="1800" dirty="0">
                <a:latin typeface="+mn-lt"/>
                <a:cs typeface="Times New Roman" panose="02020603050405020304" pitchFamily="18" charset="0"/>
              </a:rPr>
              <a:t> indica que la aceleración es radial. Vectorialmente se escribirá como</a:t>
            </a:r>
            <a:r>
              <a:rPr lang="es-MX" altLang="es-CO" sz="1800" dirty="0">
                <a:latin typeface="+mn-lt"/>
              </a:rPr>
              <a:t> </a:t>
            </a:r>
          </a:p>
        </p:txBody>
      </p:sp>
      <p:graphicFrame>
        <p:nvGraphicFramePr>
          <p:cNvPr id="4" name="Object 4">
            <a:extLst>
              <a:ext uri="{FF2B5EF4-FFF2-40B4-BE49-F238E27FC236}">
                <a16:creationId xmlns:a16="http://schemas.microsoft.com/office/drawing/2014/main" id="{5FE7A384-2B1F-4D56-9D87-E7DB24E0D74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50258424"/>
              </p:ext>
            </p:extLst>
          </p:nvPr>
        </p:nvGraphicFramePr>
        <p:xfrm>
          <a:off x="5729068" y="1616837"/>
          <a:ext cx="1281113" cy="715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24" r:id="rId4" imgW="736280" imgH="406224" progId="Equation.3">
                  <p:embed/>
                </p:oleObj>
              </mc:Choice>
              <mc:Fallback>
                <p:oleObj r:id="rId4" imgW="736280" imgH="406224" progId="Equation.3">
                  <p:embed/>
                  <p:pic>
                    <p:nvPicPr>
                      <p:cNvPr id="5" name="Object 4">
                        <a:extLst>
                          <a:ext uri="{FF2B5EF4-FFF2-40B4-BE49-F238E27FC236}">
                            <a16:creationId xmlns:a16="http://schemas.microsoft.com/office/drawing/2014/main" id="{280B4BC2-5F15-4423-B9B1-C6B1EEFB523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29068" y="1616837"/>
                        <a:ext cx="1281113" cy="7159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 Box 6">
            <a:extLst>
              <a:ext uri="{FF2B5EF4-FFF2-40B4-BE49-F238E27FC236}">
                <a16:creationId xmlns:a16="http://schemas.microsoft.com/office/drawing/2014/main" id="{B2328440-71E2-4845-95E9-E2D881DFB3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95268" y="2531237"/>
            <a:ext cx="843528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s-ES_tradnl" altLang="es-CO" sz="1800" dirty="0">
                <a:latin typeface="+mn-lt"/>
                <a:cs typeface="Times New Roman" panose="02020603050405020304" pitchFamily="18" charset="0"/>
              </a:rPr>
              <a:t>En donde </a:t>
            </a:r>
            <a:r>
              <a:rPr lang="es-ES_tradnl" altLang="es-CO" sz="1800" b="1" dirty="0">
                <a:latin typeface="+mn-lt"/>
                <a:cs typeface="Times New Roman" panose="02020603050405020304" pitchFamily="18" charset="0"/>
              </a:rPr>
              <a:t> </a:t>
            </a:r>
            <a:r>
              <a:rPr lang="es-ES_tradnl" altLang="es-CO" sz="1800" dirty="0">
                <a:latin typeface="+mn-lt"/>
                <a:cs typeface="Times New Roman" panose="02020603050405020304" pitchFamily="18" charset="0"/>
              </a:rPr>
              <a:t>    es el vector unitario en la dirección del radio del círculo. Este vector cambia de dirección conforme la partícula se mueve en la trayectoria circular.</a:t>
            </a:r>
            <a:endParaRPr lang="es-MX" altLang="es-CO" sz="1800" dirty="0">
              <a:latin typeface="+mn-lt"/>
            </a:endParaRPr>
          </a:p>
        </p:txBody>
      </p:sp>
      <p:sp>
        <p:nvSpPr>
          <p:cNvPr id="6" name="Text Box 7">
            <a:extLst>
              <a:ext uri="{FF2B5EF4-FFF2-40B4-BE49-F238E27FC236}">
                <a16:creationId xmlns:a16="http://schemas.microsoft.com/office/drawing/2014/main" id="{44FA1618-9881-43AF-8BD2-FA62D3D443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57168" y="3674237"/>
            <a:ext cx="83058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s-ES_tradnl" altLang="es-CO" sz="1800">
                <a:latin typeface="+mn-lt"/>
                <a:cs typeface="Times New Roman" panose="02020603050405020304" pitchFamily="18" charset="0"/>
              </a:rPr>
              <a:t>La aceleración se puede expresar como</a:t>
            </a:r>
            <a:r>
              <a:rPr lang="es-MX" altLang="es-CO" sz="1800">
                <a:latin typeface="+mn-lt"/>
              </a:rPr>
              <a:t> </a:t>
            </a:r>
          </a:p>
        </p:txBody>
      </p:sp>
      <p:graphicFrame>
        <p:nvGraphicFramePr>
          <p:cNvPr id="7" name="Object 8">
            <a:extLst>
              <a:ext uri="{FF2B5EF4-FFF2-40B4-BE49-F238E27FC236}">
                <a16:creationId xmlns:a16="http://schemas.microsoft.com/office/drawing/2014/main" id="{1A91D3AE-4CB9-477C-9E2B-68AF0FFAA28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76775646"/>
              </p:ext>
            </p:extLst>
          </p:nvPr>
        </p:nvGraphicFramePr>
        <p:xfrm>
          <a:off x="5395693" y="4317175"/>
          <a:ext cx="1285875" cy="779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25" r:id="rId6" imgW="672808" imgH="406224" progId="Equation.3">
                  <p:embed/>
                </p:oleObj>
              </mc:Choice>
              <mc:Fallback>
                <p:oleObj r:id="rId6" imgW="672808" imgH="406224" progId="Equation.3">
                  <p:embed/>
                  <p:pic>
                    <p:nvPicPr>
                      <p:cNvPr id="8" name="Object 8">
                        <a:extLst>
                          <a:ext uri="{FF2B5EF4-FFF2-40B4-BE49-F238E27FC236}">
                            <a16:creationId xmlns:a16="http://schemas.microsoft.com/office/drawing/2014/main" id="{F8012FE5-F5EA-4C32-949F-426813C30B9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95693" y="4317175"/>
                        <a:ext cx="1285875" cy="7794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10">
            <a:extLst>
              <a:ext uri="{FF2B5EF4-FFF2-40B4-BE49-F238E27FC236}">
                <a16:creationId xmlns:a16="http://schemas.microsoft.com/office/drawing/2014/main" id="{836E98F6-3EDD-448F-8BB8-D9C4F090A9D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53416628"/>
              </p:ext>
            </p:extLst>
          </p:nvPr>
        </p:nvGraphicFramePr>
        <p:xfrm>
          <a:off x="3033283" y="2567859"/>
          <a:ext cx="198437" cy="268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26" name="Ecuación" r:id="rId8" imgW="114151" imgH="152202" progId="Equation.3">
                  <p:embed/>
                </p:oleObj>
              </mc:Choice>
              <mc:Fallback>
                <p:oleObj name="Ecuación" r:id="rId8" imgW="114151" imgH="152202" progId="Equation.3">
                  <p:embed/>
                  <p:pic>
                    <p:nvPicPr>
                      <p:cNvPr id="9" name="Object 10">
                        <a:extLst>
                          <a:ext uri="{FF2B5EF4-FFF2-40B4-BE49-F238E27FC236}">
                            <a16:creationId xmlns:a16="http://schemas.microsoft.com/office/drawing/2014/main" id="{2F52B36A-1CAD-44DB-92D5-7212B1BCC4C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33283" y="2567859"/>
                        <a:ext cx="198437" cy="2682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CuadroTexto 8">
            <a:hlinkClick r:id="rId10"/>
            <a:extLst>
              <a:ext uri="{FF2B5EF4-FFF2-40B4-BE49-F238E27FC236}">
                <a16:creationId xmlns:a16="http://schemas.microsoft.com/office/drawing/2014/main" id="{B74E0213-949A-41BF-9949-299A0BC78EEB}"/>
              </a:ext>
            </a:extLst>
          </p:cNvPr>
          <p:cNvSpPr txBox="1"/>
          <p:nvPr/>
        </p:nvSpPr>
        <p:spPr>
          <a:xfrm>
            <a:off x="1816134" y="5370243"/>
            <a:ext cx="97665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dirty="0"/>
              <a:t>https://www.vascak.cz/data/android/physicsatschool/template.php?s=mech_kruznice&amp;l=es</a:t>
            </a:r>
          </a:p>
        </p:txBody>
      </p:sp>
    </p:spTree>
    <p:extLst>
      <p:ext uri="{BB962C8B-B14F-4D97-AF65-F5344CB8AC3E}">
        <p14:creationId xmlns:p14="http://schemas.microsoft.com/office/powerpoint/2010/main" val="421356300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41C41968-E9D8-4EA8-B095-525EF0743FBC}"/>
              </a:ext>
            </a:extLst>
          </p:cNvPr>
          <p:cNvSpPr txBox="1"/>
          <p:nvPr/>
        </p:nvSpPr>
        <p:spPr>
          <a:xfrm>
            <a:off x="446649" y="188128"/>
            <a:ext cx="609834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altLang="es-CO" sz="2400" dirty="0">
                <a:latin typeface="+mj-lt"/>
              </a:rPr>
              <a:t>Ejemplo</a:t>
            </a:r>
            <a:endParaRPr lang="es-CO" sz="2400" dirty="0">
              <a:latin typeface="+mj-lt"/>
            </a:endParaRPr>
          </a:p>
        </p:txBody>
      </p:sp>
      <p:sp>
        <p:nvSpPr>
          <p:cNvPr id="4" name="Text Box 3">
            <a:extLst>
              <a:ext uri="{FF2B5EF4-FFF2-40B4-BE49-F238E27FC236}">
                <a16:creationId xmlns:a16="http://schemas.microsoft.com/office/drawing/2014/main" id="{C17611E9-06D8-44CC-B118-9C2F506D3A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31219" y="1028343"/>
            <a:ext cx="7929562" cy="48013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s-MX" altLang="es-CO" sz="1800" dirty="0">
                <a:latin typeface="+mn-lt"/>
              </a:rPr>
              <a:t>Calcule la rapidez angular, la rapidez, la frecuencia, el periodo y la aceleración correspondiente en un punto del ecuador de la tierra.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s-MX" altLang="es-CO" sz="1800" dirty="0">
                <a:latin typeface="+mn-lt"/>
              </a:rPr>
              <a:t>El periodo es 24 h o sea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s-MX" altLang="es-CO" sz="1800" dirty="0">
                <a:latin typeface="+mn-lt"/>
              </a:rPr>
              <a:t>	</a:t>
            </a:r>
            <a:r>
              <a:rPr lang="es-MX" altLang="es-CO" sz="1800" i="1" dirty="0">
                <a:latin typeface="+mn-lt"/>
              </a:rPr>
              <a:t>T</a:t>
            </a:r>
            <a:r>
              <a:rPr lang="es-MX" altLang="es-CO" sz="1800" dirty="0">
                <a:latin typeface="+mn-lt"/>
              </a:rPr>
              <a:t> = 24h (60 min/h)(60 s/min) = 86,400 s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s-MX" altLang="es-CO" sz="1800" dirty="0">
                <a:latin typeface="+mn-lt"/>
              </a:rPr>
              <a:t>La frecuencia es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s-MX" altLang="es-CO" sz="1800" dirty="0">
                <a:latin typeface="+mn-lt"/>
              </a:rPr>
              <a:t>	</a:t>
            </a:r>
            <a:r>
              <a:rPr lang="es-MX" altLang="es-CO" sz="1800" i="1" dirty="0">
                <a:latin typeface="+mn-lt"/>
              </a:rPr>
              <a:t>f</a:t>
            </a:r>
            <a:r>
              <a:rPr lang="es-MX" altLang="es-CO" sz="1800" dirty="0">
                <a:latin typeface="+mn-lt"/>
              </a:rPr>
              <a:t> = 1/</a:t>
            </a:r>
            <a:r>
              <a:rPr lang="es-MX" altLang="es-CO" sz="1800" i="1" dirty="0">
                <a:latin typeface="+mn-lt"/>
              </a:rPr>
              <a:t>T</a:t>
            </a:r>
            <a:r>
              <a:rPr lang="es-MX" altLang="es-CO" sz="1800" dirty="0">
                <a:latin typeface="+mn-lt"/>
              </a:rPr>
              <a:t> = 1.16 x 10</a:t>
            </a:r>
            <a:r>
              <a:rPr lang="es-MX" altLang="es-CO" sz="1800" baseline="30000" dirty="0">
                <a:latin typeface="+mn-lt"/>
              </a:rPr>
              <a:t>–5</a:t>
            </a:r>
            <a:r>
              <a:rPr lang="es-MX" altLang="es-CO" sz="1800" dirty="0">
                <a:latin typeface="+mn-lt"/>
              </a:rPr>
              <a:t> Hz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s-MX" altLang="es-CO" sz="1800" dirty="0">
                <a:latin typeface="+mn-lt"/>
              </a:rPr>
              <a:t>El radio de la tierra es </a:t>
            </a:r>
            <a:r>
              <a:rPr lang="es-MX" altLang="es-CO" sz="1800" i="1" dirty="0">
                <a:latin typeface="+mn-lt"/>
              </a:rPr>
              <a:t>R</a:t>
            </a:r>
            <a:r>
              <a:rPr lang="es-MX" altLang="es-CO" sz="1800" dirty="0">
                <a:latin typeface="+mn-lt"/>
              </a:rPr>
              <a:t> = 6.4  x 10</a:t>
            </a:r>
            <a:r>
              <a:rPr lang="es-MX" altLang="es-CO" sz="1800" baseline="30000" dirty="0">
                <a:latin typeface="+mn-lt"/>
              </a:rPr>
              <a:t>6</a:t>
            </a:r>
            <a:r>
              <a:rPr lang="es-MX" altLang="es-CO" sz="1800" dirty="0">
                <a:latin typeface="+mn-lt"/>
              </a:rPr>
              <a:t> m, la velocidad es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s-MX" altLang="es-CO" sz="1800" dirty="0">
                <a:latin typeface="+mn-lt"/>
              </a:rPr>
              <a:t>	</a:t>
            </a:r>
            <a:r>
              <a:rPr lang="es-MX" altLang="es-CO" sz="1800" i="1" dirty="0">
                <a:latin typeface="+mn-lt"/>
              </a:rPr>
              <a:t>v</a:t>
            </a:r>
            <a:r>
              <a:rPr lang="es-MX" altLang="es-CO" sz="1800" dirty="0">
                <a:latin typeface="+mn-lt"/>
              </a:rPr>
              <a:t> = 2</a:t>
            </a:r>
            <a:r>
              <a:rPr lang="el-GR" altLang="es-CO" sz="1800" dirty="0">
                <a:latin typeface="+mn-lt"/>
              </a:rPr>
              <a:t>π</a:t>
            </a:r>
            <a:r>
              <a:rPr lang="es-MX" altLang="es-CO" sz="1800" i="1" dirty="0">
                <a:latin typeface="+mn-lt"/>
              </a:rPr>
              <a:t>R</a:t>
            </a:r>
            <a:r>
              <a:rPr lang="es-MX" altLang="es-CO" sz="1800" dirty="0">
                <a:latin typeface="+mn-lt"/>
              </a:rPr>
              <a:t>/</a:t>
            </a:r>
            <a:r>
              <a:rPr lang="es-MX" altLang="es-CO" sz="1800" i="1" dirty="0">
                <a:latin typeface="+mn-lt"/>
              </a:rPr>
              <a:t>T</a:t>
            </a:r>
            <a:r>
              <a:rPr lang="es-MX" altLang="es-CO" sz="1800" dirty="0">
                <a:latin typeface="+mn-lt"/>
              </a:rPr>
              <a:t> = (2</a:t>
            </a:r>
            <a:r>
              <a:rPr lang="el-GR" altLang="es-CO" sz="1800" dirty="0"/>
              <a:t>π</a:t>
            </a:r>
            <a:r>
              <a:rPr lang="es-MX" altLang="es-CO" sz="1800" dirty="0">
                <a:latin typeface="+mn-lt"/>
              </a:rPr>
              <a:t>)(6.4  x 10</a:t>
            </a:r>
            <a:r>
              <a:rPr lang="es-MX" altLang="es-CO" sz="1800" baseline="30000" dirty="0">
                <a:latin typeface="+mn-lt"/>
              </a:rPr>
              <a:t>6</a:t>
            </a:r>
            <a:r>
              <a:rPr lang="es-MX" altLang="es-CO" sz="1800" dirty="0">
                <a:latin typeface="+mn-lt"/>
              </a:rPr>
              <a:t>)/86,400 = 465 m/s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s-MX" altLang="es-CO" sz="1800" dirty="0">
                <a:latin typeface="+mn-lt"/>
              </a:rPr>
              <a:t>La rapidez angular es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s-MX" altLang="es-CO" sz="1800" dirty="0">
                <a:latin typeface="+mn-lt"/>
              </a:rPr>
              <a:t>	</a:t>
            </a:r>
            <a:r>
              <a:rPr lang="el-GR" altLang="es-CO" sz="1800" dirty="0">
                <a:latin typeface="+mn-lt"/>
              </a:rPr>
              <a:t>ω</a:t>
            </a:r>
            <a:r>
              <a:rPr lang="es-MX" altLang="es-CO" sz="1800" dirty="0">
                <a:latin typeface="+mn-lt"/>
              </a:rPr>
              <a:t> = 2</a:t>
            </a:r>
            <a:r>
              <a:rPr lang="el-GR" altLang="es-CO" sz="1800" dirty="0"/>
              <a:t>π</a:t>
            </a:r>
            <a:r>
              <a:rPr lang="es-MX" altLang="es-CO" sz="1800" i="1" dirty="0">
                <a:latin typeface="+mn-lt"/>
              </a:rPr>
              <a:t>f</a:t>
            </a:r>
            <a:r>
              <a:rPr lang="es-MX" altLang="es-CO" sz="1800" dirty="0">
                <a:latin typeface="+mn-lt"/>
              </a:rPr>
              <a:t> = 2</a:t>
            </a:r>
            <a:r>
              <a:rPr lang="el-GR" altLang="es-CO" sz="1800" dirty="0">
                <a:latin typeface="+mn-lt"/>
              </a:rPr>
              <a:t>π</a:t>
            </a:r>
            <a:r>
              <a:rPr lang="es-MX" altLang="es-CO" sz="1800" dirty="0">
                <a:latin typeface="+mn-lt"/>
              </a:rPr>
              <a:t>(1.16 x 10</a:t>
            </a:r>
            <a:r>
              <a:rPr lang="es-MX" altLang="es-CO" sz="1800" baseline="30000" dirty="0">
                <a:latin typeface="+mn-lt"/>
              </a:rPr>
              <a:t>–5</a:t>
            </a:r>
            <a:r>
              <a:rPr lang="es-MX" altLang="es-CO" sz="1800" dirty="0">
                <a:latin typeface="+mn-lt"/>
              </a:rPr>
              <a:t>) = 7.3  x </a:t>
            </a:r>
            <a:r>
              <a:rPr lang="es-MX" altLang="es-CO" sz="1800">
                <a:latin typeface="+mn-lt"/>
              </a:rPr>
              <a:t>10</a:t>
            </a:r>
            <a:r>
              <a:rPr lang="es-MX" altLang="es-CO" sz="1800" baseline="30000">
                <a:latin typeface="+mn-lt"/>
              </a:rPr>
              <a:t>–5</a:t>
            </a:r>
            <a:r>
              <a:rPr lang="es-MX" altLang="es-CO" sz="1800">
                <a:latin typeface="+mn-lt"/>
              </a:rPr>
              <a:t> rad/s</a:t>
            </a:r>
            <a:endParaRPr lang="es-MX" altLang="es-CO" sz="1800" dirty="0">
              <a:latin typeface="+mn-lt"/>
            </a:endParaRP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s-MX" altLang="es-CO" sz="1800" dirty="0">
                <a:latin typeface="+mn-lt"/>
              </a:rPr>
              <a:t>La aceleración es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s-MX" altLang="es-CO" sz="1800" dirty="0">
                <a:latin typeface="+mn-lt"/>
              </a:rPr>
              <a:t>	</a:t>
            </a:r>
            <a:r>
              <a:rPr lang="es-MX" altLang="es-CO" sz="1800" i="1" dirty="0">
                <a:latin typeface="+mn-lt"/>
              </a:rPr>
              <a:t>a</a:t>
            </a:r>
            <a:r>
              <a:rPr lang="es-MX" altLang="es-CO" sz="1800" dirty="0">
                <a:latin typeface="+mn-lt"/>
              </a:rPr>
              <a:t> = </a:t>
            </a:r>
            <a:r>
              <a:rPr lang="es-MX" altLang="es-CO" sz="1800" i="1" dirty="0">
                <a:latin typeface="+mn-lt"/>
              </a:rPr>
              <a:t>v</a:t>
            </a:r>
            <a:r>
              <a:rPr lang="es-MX" altLang="es-CO" sz="1800" baseline="30000" dirty="0">
                <a:latin typeface="+mn-lt"/>
              </a:rPr>
              <a:t>2</a:t>
            </a:r>
            <a:r>
              <a:rPr lang="es-MX" altLang="es-CO" sz="1800" dirty="0">
                <a:latin typeface="+mn-lt"/>
              </a:rPr>
              <a:t>/</a:t>
            </a:r>
            <a:r>
              <a:rPr lang="es-MX" altLang="es-CO" sz="1800" i="1" dirty="0">
                <a:latin typeface="+mn-lt"/>
              </a:rPr>
              <a:t>R</a:t>
            </a:r>
            <a:r>
              <a:rPr lang="es-MX" altLang="es-CO" sz="1800" dirty="0">
                <a:latin typeface="+mn-lt"/>
              </a:rPr>
              <a:t> = (465)/(6.4  x 10</a:t>
            </a:r>
            <a:r>
              <a:rPr lang="es-MX" altLang="es-CO" sz="1800" baseline="30000" dirty="0">
                <a:latin typeface="+mn-lt"/>
              </a:rPr>
              <a:t>6</a:t>
            </a:r>
            <a:r>
              <a:rPr lang="es-MX" altLang="es-CO" sz="1800" dirty="0">
                <a:latin typeface="+mn-lt"/>
              </a:rPr>
              <a:t>) = 0.034 m/s</a:t>
            </a:r>
            <a:r>
              <a:rPr lang="es-MX" altLang="es-CO" sz="1800" baseline="30000" dirty="0">
                <a:latin typeface="+mn-lt"/>
              </a:rPr>
              <a:t>2</a:t>
            </a:r>
            <a:endParaRPr lang="es-MX" altLang="es-CO" sz="18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30521676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AF7F8BA3-33D5-47A4-BE56-ED477CDB5BA7}"/>
              </a:ext>
            </a:extLst>
          </p:cNvPr>
          <p:cNvSpPr txBox="1"/>
          <p:nvPr/>
        </p:nvSpPr>
        <p:spPr>
          <a:xfrm>
            <a:off x="390379" y="244398"/>
            <a:ext cx="609834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altLang="es-CO" sz="2400" dirty="0">
                <a:latin typeface="+mj-lt"/>
              </a:rPr>
              <a:t>Tarea</a:t>
            </a:r>
            <a:endParaRPr lang="es-CO" sz="2400" dirty="0">
              <a:latin typeface="+mj-lt"/>
            </a:endParaRPr>
          </a:p>
        </p:txBody>
      </p:sp>
      <p:sp>
        <p:nvSpPr>
          <p:cNvPr id="4" name="Text Box 3">
            <a:extLst>
              <a:ext uri="{FF2B5EF4-FFF2-40B4-BE49-F238E27FC236}">
                <a16:creationId xmlns:a16="http://schemas.microsoft.com/office/drawing/2014/main" id="{95E6F780-C370-432A-9278-94B451C336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2327" y="1589936"/>
            <a:ext cx="10992791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s-MX" altLang="es-CO" sz="2000" dirty="0">
                <a:latin typeface="Times New Roman" panose="02020603050405020304" pitchFamily="18" charset="0"/>
              </a:rPr>
              <a:t>El transbordador espacial sigue una órbita circular a 220 km de la superficie terrestre y hace una revolución alrededor de la Tierra cada 89 min. Calcule la rapidez angular, la rapidez y la aceleración.</a:t>
            </a:r>
          </a:p>
        </p:txBody>
      </p:sp>
      <p:graphicFrame>
        <p:nvGraphicFramePr>
          <p:cNvPr id="5" name="Object 1">
            <a:extLst>
              <a:ext uri="{FF2B5EF4-FFF2-40B4-BE49-F238E27FC236}">
                <a16:creationId xmlns:a16="http://schemas.microsoft.com/office/drawing/2014/main" id="{2987D5ED-68DE-45CD-9EA3-B23FCF8EAB3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98485066"/>
              </p:ext>
            </p:extLst>
          </p:nvPr>
        </p:nvGraphicFramePr>
        <p:xfrm>
          <a:off x="5315816" y="3013470"/>
          <a:ext cx="11430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44" r:id="rId4" imgW="520700" imgH="419100" progId="Equation.3">
                  <p:embed/>
                </p:oleObj>
              </mc:Choice>
              <mc:Fallback>
                <p:oleObj r:id="rId4" imgW="520700" imgH="419100" progId="Equation.3">
                  <p:embed/>
                  <p:pic>
                    <p:nvPicPr>
                      <p:cNvPr id="5" name="Object 1">
                        <a:extLst>
                          <a:ext uri="{FF2B5EF4-FFF2-40B4-BE49-F238E27FC236}">
                            <a16:creationId xmlns:a16="http://schemas.microsoft.com/office/drawing/2014/main" id="{26FE5FDC-6415-4D80-B61D-97862670894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15816" y="3013470"/>
                        <a:ext cx="1143000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4 Rectángulo">
            <a:extLst>
              <a:ext uri="{FF2B5EF4-FFF2-40B4-BE49-F238E27FC236}">
                <a16:creationId xmlns:a16="http://schemas.microsoft.com/office/drawing/2014/main" id="{42E05096-76AE-4C58-8B03-A25507EE79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94092" y="2463854"/>
            <a:ext cx="32512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s-MX" altLang="es-CO" sz="1800" i="1" dirty="0">
                <a:latin typeface="Times New Roman" panose="02020603050405020304" pitchFamily="18" charset="0"/>
              </a:rPr>
              <a:t>Radio de la Tierra </a:t>
            </a:r>
            <a:r>
              <a:rPr lang="es-MX" altLang="es-CO" sz="1800" dirty="0">
                <a:latin typeface="Times New Roman" panose="02020603050405020304" pitchFamily="18" charset="0"/>
              </a:rPr>
              <a:t>= 6.4  x 10</a:t>
            </a:r>
            <a:r>
              <a:rPr lang="es-MX" altLang="es-CO" sz="1800" baseline="30000" dirty="0">
                <a:latin typeface="Times New Roman" panose="02020603050405020304" pitchFamily="18" charset="0"/>
              </a:rPr>
              <a:t>6</a:t>
            </a:r>
            <a:r>
              <a:rPr lang="es-MX" altLang="es-CO" sz="1800" dirty="0">
                <a:latin typeface="Times New Roman" panose="02020603050405020304" pitchFamily="18" charset="0"/>
              </a:rPr>
              <a:t> m</a:t>
            </a:r>
            <a:endParaRPr lang="es-MX" altLang="es-CO" sz="1800" dirty="0"/>
          </a:p>
        </p:txBody>
      </p:sp>
    </p:spTree>
    <p:extLst>
      <p:ext uri="{BB962C8B-B14F-4D97-AF65-F5344CB8AC3E}">
        <p14:creationId xmlns:p14="http://schemas.microsoft.com/office/powerpoint/2010/main" val="59296588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7318431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Tema de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82</TotalTime>
  <Words>1352</Words>
  <Application>Microsoft Office PowerPoint</Application>
  <PresentationFormat>Panorámica</PresentationFormat>
  <Paragraphs>109</Paragraphs>
  <Slides>19</Slides>
  <Notes>0</Notes>
  <HiddenSlides>0</HiddenSlides>
  <MMClips>0</MMClips>
  <ScaleCrop>false</ScaleCrop>
  <HeadingPairs>
    <vt:vector size="8" baseType="variant">
      <vt:variant>
        <vt:lpstr>Fuentes usadas</vt:lpstr>
      </vt:variant>
      <vt:variant>
        <vt:i4>9</vt:i4>
      </vt:variant>
      <vt:variant>
        <vt:lpstr>Tema</vt:lpstr>
      </vt:variant>
      <vt:variant>
        <vt:i4>1</vt:i4>
      </vt:variant>
      <vt:variant>
        <vt:lpstr>Servidores OLE incrustados</vt:lpstr>
      </vt:variant>
      <vt:variant>
        <vt:i4>3</vt:i4>
      </vt:variant>
      <vt:variant>
        <vt:lpstr>Títulos de diapositiva</vt:lpstr>
      </vt:variant>
      <vt:variant>
        <vt:i4>19</vt:i4>
      </vt:variant>
    </vt:vector>
  </HeadingPairs>
  <TitlesOfParts>
    <vt:vector size="32" baseType="lpstr">
      <vt:lpstr>Aptos</vt:lpstr>
      <vt:lpstr>Aptos Display</vt:lpstr>
      <vt:lpstr>Arial</vt:lpstr>
      <vt:lpstr>Bell MT</vt:lpstr>
      <vt:lpstr>Helvetica</vt:lpstr>
      <vt:lpstr>Times New Roman</vt:lpstr>
      <vt:lpstr>Verdana</vt:lpstr>
      <vt:lpstr>Wingdings</vt:lpstr>
      <vt:lpstr>Wingdings 2</vt:lpstr>
      <vt:lpstr>Tema de Office</vt:lpstr>
      <vt:lpstr>Ecuación</vt:lpstr>
      <vt:lpstr>Imagen de mapa de bits</vt:lpstr>
      <vt:lpstr>Equation.3</vt:lpstr>
      <vt:lpstr>Física Mecánica Movimiento en dos dimensiones</vt:lpstr>
      <vt:lpstr>Movimiento en dos y tres dimensiones</vt:lpstr>
      <vt:lpstr>Movimiento en dos dimensiones con aceleración constante</vt:lpstr>
      <vt:lpstr>Presentación de PowerPoint</vt:lpstr>
      <vt:lpstr>Presentación de PowerPoint</vt:lpstr>
      <vt:lpstr>Presentación de PowerPoint</vt:lpstr>
      <vt:lpstr>Presentación de PowerPoint</vt:lpstr>
      <vt:lpstr>Ejemplo</vt:lpstr>
      <vt:lpstr>Presentación de PowerPoint</vt:lpstr>
      <vt:lpstr>Presentación de PowerPoint</vt:lpstr>
      <vt:lpstr>Presentación de PowerPoint</vt:lpstr>
      <vt:lpstr>Longitud de arco</vt:lpstr>
      <vt:lpstr>Presentación de PowerPoint</vt:lpstr>
      <vt:lpstr>Periodo y frecuencia</vt:lpstr>
      <vt:lpstr>Aceleración radial</vt:lpstr>
      <vt:lpstr>Aceleración radial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ANDREA CAROLINA VELASCO CALDERON</dc:creator>
  <cp:lastModifiedBy>LUIS ENRIQUE  MEALLA SANCHEZ</cp:lastModifiedBy>
  <cp:revision>11</cp:revision>
  <dcterms:created xsi:type="dcterms:W3CDTF">2024-07-29T16:18:31Z</dcterms:created>
  <dcterms:modified xsi:type="dcterms:W3CDTF">2024-10-22T14:13:52Z</dcterms:modified>
</cp:coreProperties>
</file>